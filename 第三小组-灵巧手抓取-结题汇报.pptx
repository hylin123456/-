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sldIdLst>
    <p:sldId id="349" r:id="rId3"/>
    <p:sldId id="350" r:id="rId5"/>
    <p:sldId id="351" r:id="rId6"/>
    <p:sldId id="352" r:id="rId7"/>
    <p:sldId id="353" r:id="rId8"/>
    <p:sldId id="373" r:id="rId9"/>
    <p:sldId id="375" r:id="rId10"/>
    <p:sldId id="377" r:id="rId11"/>
    <p:sldId id="354" r:id="rId12"/>
    <p:sldId id="355" r:id="rId13"/>
    <p:sldId id="360" r:id="rId14"/>
    <p:sldId id="387" r:id="rId15"/>
    <p:sldId id="436" r:id="rId16"/>
    <p:sldId id="437" r:id="rId17"/>
    <p:sldId id="438" r:id="rId18"/>
    <p:sldId id="439" r:id="rId19"/>
    <p:sldId id="440" r:id="rId20"/>
    <p:sldId id="441" r:id="rId21"/>
    <p:sldId id="454" r:id="rId22"/>
    <p:sldId id="455" r:id="rId23"/>
    <p:sldId id="456" r:id="rId24"/>
    <p:sldId id="457" r:id="rId25"/>
    <p:sldId id="470" r:id="rId26"/>
    <p:sldId id="471" r:id="rId27"/>
    <p:sldId id="472" r:id="rId28"/>
    <p:sldId id="473" r:id="rId29"/>
    <p:sldId id="420" r:id="rId30"/>
    <p:sldId id="443" r:id="rId31"/>
    <p:sldId id="445" r:id="rId32"/>
    <p:sldId id="446" r:id="rId33"/>
    <p:sldId id="447" r:id="rId34"/>
    <p:sldId id="448" r:id="rId35"/>
    <p:sldId id="449" r:id="rId36"/>
    <p:sldId id="450" r:id="rId37"/>
    <p:sldId id="421" r:id="rId38"/>
    <p:sldId id="424" r:id="rId39"/>
    <p:sldId id="462" r:id="rId40"/>
    <p:sldId id="463" r:id="rId41"/>
    <p:sldId id="464" r:id="rId42"/>
    <p:sldId id="465" r:id="rId43"/>
    <p:sldId id="466" r:id="rId44"/>
    <p:sldId id="468" r:id="rId45"/>
    <p:sldId id="469" r:id="rId46"/>
    <p:sldId id="460" r:id="rId47"/>
    <p:sldId id="461" r:id="rId48"/>
    <p:sldId id="409" r:id="rId49"/>
    <p:sldId id="474" r:id="rId50"/>
    <p:sldId id="475" r:id="rId51"/>
    <p:sldId id="484" r:id="rId52"/>
    <p:sldId id="476" r:id="rId53"/>
    <p:sldId id="477" r:id="rId54"/>
    <p:sldId id="478" r:id="rId55"/>
    <p:sldId id="479" r:id="rId56"/>
    <p:sldId id="480" r:id="rId57"/>
    <p:sldId id="481" r:id="rId58"/>
    <p:sldId id="482" r:id="rId59"/>
    <p:sldId id="483" r:id="rId60"/>
    <p:sldId id="371" r:id="rId6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3C67"/>
    <a:srgbClr val="557F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6190" autoAdjust="0"/>
  </p:normalViewPr>
  <p:slideViewPr>
    <p:cSldViewPr snapToGrid="0" showGuides="1">
      <p:cViewPr varScale="1">
        <p:scale>
          <a:sx n="123" d="100"/>
          <a:sy n="123" d="100"/>
        </p:scale>
        <p:origin x="736" y="184"/>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34"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935"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4A5EBB-10F6-463D-A1C9-2FF04F725E4C}" type="datetimeFigureOut">
              <a:rPr lang="zh-CN" altLang="en-US" smtClean="0"/>
            </a:fld>
            <a:endParaRPr lang="zh-CN" altLang="en-US"/>
          </a:p>
        </p:txBody>
      </p:sp>
      <p:sp>
        <p:nvSpPr>
          <p:cNvPr id="1048936"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937"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38"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939"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611CF7-5005-43FE-83F8-F59B6FC0F0A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幻灯片图像占位符 1"/>
          <p:cNvSpPr>
            <a:spLocks noGrp="1" noRot="1" noChangeAspect="1"/>
          </p:cNvSpPr>
          <p:nvPr>
            <p:ph type="sldImg"/>
          </p:nvPr>
        </p:nvSpPr>
        <p:spPr/>
      </p:sp>
      <p:sp>
        <p:nvSpPr>
          <p:cNvPr id="1048587" name="备注占位符 2"/>
          <p:cNvSpPr>
            <a:spLocks noGrp="1"/>
          </p:cNvSpPr>
          <p:nvPr>
            <p:ph type="body" idx="1"/>
          </p:nvPr>
        </p:nvSpPr>
        <p:spPr/>
        <p:txBody>
          <a:bodyPr/>
          <a:lstStyle/>
          <a:p>
            <a:endParaRPr lang="zh-CN" altLang="en-US" dirty="0"/>
          </a:p>
        </p:txBody>
      </p:sp>
      <p:sp>
        <p:nvSpPr>
          <p:cNvPr id="1048588"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幻灯片图像占位符 1"/>
          <p:cNvSpPr>
            <a:spLocks noGrp="1" noRot="1" noChangeAspect="1"/>
          </p:cNvSpPr>
          <p:nvPr>
            <p:ph type="sldImg"/>
          </p:nvPr>
        </p:nvSpPr>
        <p:spPr/>
      </p:sp>
      <p:sp>
        <p:nvSpPr>
          <p:cNvPr id="1048604" name="备注占位符 2"/>
          <p:cNvSpPr>
            <a:spLocks noGrp="1"/>
          </p:cNvSpPr>
          <p:nvPr>
            <p:ph type="body" idx="1"/>
          </p:nvPr>
        </p:nvSpPr>
        <p:spPr/>
        <p:txBody>
          <a:bodyPr/>
          <a:lstStyle/>
          <a:p>
            <a:endParaRPr lang="zh-CN" altLang="en-US" dirty="0"/>
          </a:p>
        </p:txBody>
      </p:sp>
      <p:sp>
        <p:nvSpPr>
          <p:cNvPr id="1048605"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幻灯片图像占位符 1"/>
          <p:cNvSpPr>
            <a:spLocks noGrp="1" noRot="1" noChangeAspect="1"/>
          </p:cNvSpPr>
          <p:nvPr>
            <p:ph type="sldImg"/>
          </p:nvPr>
        </p:nvSpPr>
        <p:spPr/>
      </p:sp>
      <p:sp>
        <p:nvSpPr>
          <p:cNvPr id="104861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en-US" altLang="zh-CN" sz="1200" dirty="0">
              <a:solidFill>
                <a:schemeClr val="bg1"/>
              </a:solidFill>
              <a:latin typeface="Times New Roman" panose="02020603050405020304" pitchFamily="18" charset="0"/>
              <a:ea typeface="造字工房力黑（非商用）常规体" pitchFamily="50" charset="-122"/>
              <a:cs typeface="Times New Roman" panose="02020603050405020304" pitchFamily="18" charset="0"/>
              <a:sym typeface="+mn-lt"/>
            </a:endParaRPr>
          </a:p>
        </p:txBody>
      </p:sp>
      <p:sp>
        <p:nvSpPr>
          <p:cNvPr id="104861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幻灯片图像占位符 1"/>
          <p:cNvSpPr>
            <a:spLocks noGrp="1" noRot="1" noChangeAspect="1"/>
          </p:cNvSpPr>
          <p:nvPr>
            <p:ph type="sldImg"/>
          </p:nvPr>
        </p:nvSpPr>
        <p:spPr/>
      </p:sp>
      <p:sp>
        <p:nvSpPr>
          <p:cNvPr id="1048638" name="备注占位符 2"/>
          <p:cNvSpPr>
            <a:spLocks noGrp="1"/>
          </p:cNvSpPr>
          <p:nvPr>
            <p:ph type="body" idx="1"/>
          </p:nvPr>
        </p:nvSpPr>
        <p:spPr/>
        <p:txBody>
          <a:bodyPr/>
          <a:lstStyle/>
          <a:p>
            <a:endParaRPr lang="zh-CN" altLang="en-US" dirty="0"/>
          </a:p>
        </p:txBody>
      </p:sp>
      <p:sp>
        <p:nvSpPr>
          <p:cNvPr id="1048639"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lstStyle/>
          <a:p>
            <a:endParaRPr lang="zh-CN" altLang="en-US" dirty="0"/>
          </a:p>
        </p:txBody>
      </p:sp>
      <p:sp>
        <p:nvSpPr>
          <p:cNvPr id="104865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lstStyle/>
          <a:p>
            <a:endParaRPr lang="zh-CN" altLang="en-US" dirty="0"/>
          </a:p>
        </p:txBody>
      </p:sp>
      <p:sp>
        <p:nvSpPr>
          <p:cNvPr id="104865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lstStyle/>
          <a:p>
            <a:endParaRPr lang="zh-CN" altLang="en-US" dirty="0"/>
          </a:p>
        </p:txBody>
      </p:sp>
      <p:sp>
        <p:nvSpPr>
          <p:cNvPr id="104865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lstStyle/>
          <a:p>
            <a:endParaRPr lang="zh-CN" altLang="en-US" dirty="0"/>
          </a:p>
        </p:txBody>
      </p:sp>
      <p:sp>
        <p:nvSpPr>
          <p:cNvPr id="104865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幻灯片图像占位符 1"/>
          <p:cNvSpPr>
            <a:spLocks noGrp="1" noRot="1" noChangeAspect="1"/>
          </p:cNvSpPr>
          <p:nvPr>
            <p:ph type="sldImg"/>
          </p:nvPr>
        </p:nvSpPr>
        <p:spPr/>
      </p:sp>
      <p:sp>
        <p:nvSpPr>
          <p:cNvPr id="1048662"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en-US" altLang="zh-CN" sz="1200" dirty="0">
              <a:solidFill>
                <a:schemeClr val="bg1"/>
              </a:solidFill>
              <a:latin typeface="Times New Roman" panose="02020603050405020304" pitchFamily="18" charset="0"/>
              <a:ea typeface="造字工房力黑（非商用）常规体" pitchFamily="50" charset="-122"/>
              <a:cs typeface="Times New Roman" panose="02020603050405020304" pitchFamily="18" charset="0"/>
              <a:sym typeface="+mn-lt"/>
            </a:endParaRPr>
          </a:p>
        </p:txBody>
      </p:sp>
      <p:sp>
        <p:nvSpPr>
          <p:cNvPr id="104866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幻灯片图像占位符 1"/>
          <p:cNvSpPr>
            <a:spLocks noGrp="1" noRot="1" noChangeAspect="1"/>
          </p:cNvSpPr>
          <p:nvPr>
            <p:ph type="sldImg"/>
          </p:nvPr>
        </p:nvSpPr>
        <p:spPr/>
      </p:sp>
      <p:sp>
        <p:nvSpPr>
          <p:cNvPr id="1048676" name="备注占位符 2"/>
          <p:cNvSpPr>
            <a:spLocks noGrp="1"/>
          </p:cNvSpPr>
          <p:nvPr>
            <p:ph type="body" idx="1"/>
          </p:nvPr>
        </p:nvSpPr>
        <p:spPr/>
        <p:txBody>
          <a:bodyPr/>
          <a:lstStyle/>
          <a:p>
            <a:endParaRPr lang="zh-CN" altLang="en-US" dirty="0"/>
          </a:p>
        </p:txBody>
      </p:sp>
      <p:sp>
        <p:nvSpPr>
          <p:cNvPr id="1048677"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8" name="幻灯片图像占位符 1"/>
          <p:cNvSpPr>
            <a:spLocks noGrp="1" noRot="1" noChangeAspect="1"/>
          </p:cNvSpPr>
          <p:nvPr>
            <p:ph type="sldImg"/>
          </p:nvPr>
        </p:nvSpPr>
        <p:spPr/>
      </p:sp>
      <p:sp>
        <p:nvSpPr>
          <p:cNvPr id="1048729"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en-US" altLang="zh-CN" sz="1200" spc="600" dirty="0">
              <a:solidFill>
                <a:schemeClr val="bg1"/>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sp>
        <p:nvSpPr>
          <p:cNvPr id="1048730"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9" name="幻灯片图像占位符 1"/>
          <p:cNvSpPr>
            <a:spLocks noGrp="1" noRot="1" noChangeAspect="1"/>
          </p:cNvSpPr>
          <p:nvPr>
            <p:ph type="sldImg"/>
          </p:nvPr>
        </p:nvSpPr>
        <p:spPr/>
      </p:sp>
      <p:sp>
        <p:nvSpPr>
          <p:cNvPr id="1048780" name="备注占位符 2"/>
          <p:cNvSpPr>
            <a:spLocks noGrp="1"/>
          </p:cNvSpPr>
          <p:nvPr>
            <p:ph type="body" idx="1"/>
          </p:nvPr>
        </p:nvSpPr>
        <p:spPr/>
        <p:txBody>
          <a:bodyPr/>
          <a:lstStyle/>
          <a:p>
            <a:endParaRPr lang="zh-CN" altLang="en-US" dirty="0"/>
          </a:p>
        </p:txBody>
      </p:sp>
      <p:sp>
        <p:nvSpPr>
          <p:cNvPr id="1048781"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9" name="幻灯片图像占位符 1"/>
          <p:cNvSpPr>
            <a:spLocks noGrp="1" noRot="1" noChangeAspect="1"/>
          </p:cNvSpPr>
          <p:nvPr>
            <p:ph type="sldImg"/>
          </p:nvPr>
        </p:nvSpPr>
        <p:spPr/>
      </p:sp>
      <p:sp>
        <p:nvSpPr>
          <p:cNvPr id="1048780" name="备注占位符 2"/>
          <p:cNvSpPr>
            <a:spLocks noGrp="1"/>
          </p:cNvSpPr>
          <p:nvPr>
            <p:ph type="body" idx="1"/>
          </p:nvPr>
        </p:nvSpPr>
        <p:spPr/>
        <p:txBody>
          <a:bodyPr/>
          <a:lstStyle/>
          <a:p>
            <a:endParaRPr lang="zh-CN" altLang="en-US" dirty="0"/>
          </a:p>
        </p:txBody>
      </p:sp>
      <p:sp>
        <p:nvSpPr>
          <p:cNvPr id="1048781"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884"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1048885"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48886"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887"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88"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84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1048843" name="内容占位符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44"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84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46"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909"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1048910"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1048911"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912"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913"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914"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1048915" name="内容占位符 2"/>
          <p:cNvSpPr>
            <a:spLocks noGrp="1"/>
          </p:cNvSpPr>
          <p:nvPr>
            <p:ph sz="half" idx="1" hasCustomPrompt="1"/>
          </p:nvPr>
        </p:nvSpPr>
        <p:spPr>
          <a:xfrm>
            <a:off x="838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16" name="内容占位符 3"/>
          <p:cNvSpPr>
            <a:spLocks noGrp="1"/>
          </p:cNvSpPr>
          <p:nvPr>
            <p:ph sz="half" idx="2" hasCustomPrompt="1"/>
          </p:nvPr>
        </p:nvSpPr>
        <p:spPr>
          <a:xfrm>
            <a:off x="6172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17" name="日期占位符 4"/>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918"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919" name="灯片编号占位符 6"/>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920"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1048921"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48922"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23"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48924"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25" name="日期占位符 6"/>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926"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927" name="灯片编号占位符 8"/>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889"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1048890" name="日期占位符 2"/>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891"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92" name="灯片编号占位符 4"/>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577" name="日期占位符 1"/>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578"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579" name="灯片编号占位符 3"/>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928"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1048929"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30"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48931" name="日期占位符 4"/>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932"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933" name="灯片编号占位符 6"/>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898"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1048899"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900"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48901" name="日期占位符 4"/>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902"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903" name="灯片编号占位符 6"/>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904"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1048905" name="竖排文字占位符 2"/>
          <p:cNvSpPr>
            <a:spLocks noGrp="1"/>
          </p:cNvSpPr>
          <p:nvPr>
            <p:ph type="body" orient="vert" idx="1" hasCustomPrompt="1"/>
          </p:nvPr>
        </p:nvSpPr>
        <p:spPr>
          <a:xfrm>
            <a:off x="838200" y="1825625"/>
            <a:ext cx="10515600" cy="43513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06"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907"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908"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893"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1048894"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95"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896"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97"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文本框 2"/>
          <p:cNvSpPr txBox="1"/>
          <p:nvPr userDrawn="1"/>
        </p:nvSpPr>
        <p:spPr>
          <a:xfrm>
            <a:off x="1909192" y="2652141"/>
            <a:ext cx="7406640" cy="230832"/>
          </a:xfrm>
          <a:prstGeom prst="rect">
            <a:avLst/>
          </a:prstGeom>
          <a:noFill/>
        </p:spPr>
        <p:txBody>
          <a:bodyPr wrap="square" rtlCol="0">
            <a:spAutoFit/>
          </a:bodyPr>
          <a:lstStyle/>
          <a:p>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雷锋</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网</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-WWW.LFPPT.COM</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平台上提供的</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作品，雷锋</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网</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-WWW.LFPPT.COM</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每天更新</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模板</a:t>
            </a:r>
            <a:endParaRPr lang="zh-CN" altLang="en-US" sz="900" dirty="0">
              <a:noFill/>
              <a:latin typeface="微软雅黑" panose="020B0503020204020204" pitchFamily="34" charset="-122"/>
              <a:ea typeface="微软雅黑" panose="020B0503020204020204" pitchFamily="34" charset="-122"/>
              <a:sym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themeOverride" Target="../theme/themeOverride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notesSlide" Target="../notesSlides/notesSlide2.xml"/><Relationship Id="rId14" Type="http://schemas.openxmlformats.org/officeDocument/2006/relationships/slideLayout" Target="../slideLayouts/slideLayout7.xml"/><Relationship Id="rId13" Type="http://schemas.openxmlformats.org/officeDocument/2006/relationships/themeOverride" Target="../theme/themeOverride2.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image" Target="../media/image2.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themeOverride" Target="../theme/themeOverride3.xml"/><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7.xml"/><Relationship Id="rId6" Type="http://schemas.openxmlformats.org/officeDocument/2006/relationships/tags" Target="../tags/tag13.xml"/><Relationship Id="rId5" Type="http://schemas.openxmlformats.org/officeDocument/2006/relationships/image" Target="../media/image6.jpeg"/><Relationship Id="rId4" Type="http://schemas.openxmlformats.org/officeDocument/2006/relationships/image" Target="../media/image5.jpeg"/><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7.jpeg"/><Relationship Id="rId2" Type="http://schemas.openxmlformats.org/officeDocument/2006/relationships/tags" Target="../tags/tag14.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themeOverride" Target="../theme/themeOverride4.xml"/><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image" Target="../media/image13.jpeg"/><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7.xml"/><Relationship Id="rId4" Type="http://schemas.openxmlformats.org/officeDocument/2006/relationships/themeOverride" Target="../theme/themeOverride5.xml"/><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7.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7.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7.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7.xml"/><Relationship Id="rId2" Type="http://schemas.openxmlformats.org/officeDocument/2006/relationships/image" Target="../media/image34.pn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7.xml"/><Relationship Id="rId2" Type="http://schemas.openxmlformats.org/officeDocument/2006/relationships/image" Target="../media/image36.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7.xml"/><Relationship Id="rId2" Type="http://schemas.openxmlformats.org/officeDocument/2006/relationships/image" Target="../media/image37.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7.xml"/><Relationship Id="rId2" Type="http://schemas.openxmlformats.org/officeDocument/2006/relationships/image" Target="../media/image38.png"/><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36.xml"/><Relationship Id="rId7"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7.xml"/><Relationship Id="rId2" Type="http://schemas.openxmlformats.org/officeDocument/2006/relationships/image" Target="../media/image44.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7.xml"/><Relationship Id="rId2" Type="http://schemas.openxmlformats.org/officeDocument/2006/relationships/image" Target="../media/image45.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7.xml"/><Relationship Id="rId2" Type="http://schemas.openxmlformats.org/officeDocument/2006/relationships/image" Target="../media/image46.png"/><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7.xml"/><Relationship Id="rId2" Type="http://schemas.openxmlformats.org/officeDocument/2006/relationships/image" Target="../media/image47.png"/><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7.xml"/><Relationship Id="rId2" Type="http://schemas.openxmlformats.org/officeDocument/2006/relationships/image" Target="../media/image48.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slideLayout" Target="../slideLayouts/slideLayout7.xml"/><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7.xml"/><Relationship Id="rId2" Type="http://schemas.openxmlformats.org/officeDocument/2006/relationships/image" Target="../media/image51.png"/><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7.xml"/><Relationship Id="rId2" Type="http://schemas.openxmlformats.org/officeDocument/2006/relationships/image" Target="../media/image52.png"/><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2.jpe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7.xml"/><Relationship Id="rId2" Type="http://schemas.openxmlformats.org/officeDocument/2006/relationships/image" Target="../media/image53.png"/><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7.xml"/><Relationship Id="rId2" Type="http://schemas.openxmlformats.org/officeDocument/2006/relationships/image" Target="../media/image54.png"/><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7.xml"/><Relationship Id="rId2" Type="http://schemas.openxmlformats.org/officeDocument/2006/relationships/image" Target="../media/image55.png"/><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7.xml"/><Relationship Id="rId2" Type="http://schemas.openxmlformats.org/officeDocument/2006/relationships/image" Target="../media/image56.png"/><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7.xml"/><Relationship Id="rId2" Type="http://schemas.openxmlformats.org/officeDocument/2006/relationships/image" Target="../media/image57.png"/><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2.jpe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7.xml"/><Relationship Id="rId2" Type="http://schemas.openxmlformats.org/officeDocument/2006/relationships/image" Target="../media/image58.png"/><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7.xml"/><Relationship Id="rId2" Type="http://schemas.openxmlformats.org/officeDocument/2006/relationships/image" Target="../media/image59.png"/><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6" Type="http://schemas.openxmlformats.org/officeDocument/2006/relationships/notesSlide" Target="../notesSlides/notesSlide55.xml"/><Relationship Id="rId5" Type="http://schemas.openxmlformats.org/officeDocument/2006/relationships/slideLayout" Target="../slideLayouts/slideLayout7.xml"/><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7.xml"/><Relationship Id="rId2" Type="http://schemas.openxmlformats.org/officeDocument/2006/relationships/image" Target="../media/image63.png"/><Relationship Id="rId1" Type="http://schemas.openxmlformats.org/officeDocument/2006/relationships/image" Target="../media/image2.png"/></Relationships>
</file>

<file path=ppt/slides/_rels/slide57.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7" Type="http://schemas.openxmlformats.org/officeDocument/2006/relationships/notesSlide" Target="../notesSlides/notesSlide57.xml"/><Relationship Id="rId26" Type="http://schemas.openxmlformats.org/officeDocument/2006/relationships/slideLayout" Target="../slideLayouts/slideLayout7.xml"/><Relationship Id="rId25" Type="http://schemas.openxmlformats.org/officeDocument/2006/relationships/tags" Target="../tags/tag48.xml"/><Relationship Id="rId24" Type="http://schemas.openxmlformats.org/officeDocument/2006/relationships/image" Target="../media/image2.png"/><Relationship Id="rId23" Type="http://schemas.openxmlformats.org/officeDocument/2006/relationships/tags" Target="../tags/tag47.xml"/><Relationship Id="rId22" Type="http://schemas.openxmlformats.org/officeDocument/2006/relationships/tags" Target="../tags/tag46.xml"/><Relationship Id="rId21" Type="http://schemas.openxmlformats.org/officeDocument/2006/relationships/tags" Target="../tags/tag45.xml"/><Relationship Id="rId20" Type="http://schemas.openxmlformats.org/officeDocument/2006/relationships/tags" Target="../tags/tag44.xml"/><Relationship Id="rId2" Type="http://schemas.openxmlformats.org/officeDocument/2006/relationships/tags" Target="../tags/tag26.xml"/><Relationship Id="rId19" Type="http://schemas.openxmlformats.org/officeDocument/2006/relationships/tags" Target="../tags/tag43.xml"/><Relationship Id="rId18" Type="http://schemas.openxmlformats.org/officeDocument/2006/relationships/tags" Target="../tags/tag42.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1048580"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小组成员</a:t>
            </a:r>
            <a:r>
              <a:rPr lang="en-US" altLang="zh-CN">
                <a:cs typeface="+mn-ea"/>
                <a:sym typeface="+mn-lt"/>
              </a:rPr>
              <a:t>(</a:t>
            </a:r>
            <a:r>
              <a:rPr lang="zh-CN" altLang="en-US">
                <a:cs typeface="+mn-ea"/>
                <a:sym typeface="+mn-lt"/>
              </a:rPr>
              <a:t>汇报顺序</a:t>
            </a:r>
            <a:r>
              <a:rPr lang="en-US" altLang="zh-CN">
                <a:cs typeface="+mn-ea"/>
                <a:sym typeface="+mn-lt"/>
              </a:rPr>
              <a:t>)</a:t>
            </a:r>
            <a:r>
              <a:rPr lang="zh-CN" altLang="en-US">
                <a:cs typeface="+mn-ea"/>
                <a:sym typeface="+mn-lt"/>
              </a:rPr>
              <a:t>：钟子俊、沈仕伟、王宝乐、林宜升、赵雄</a:t>
            </a:r>
            <a:endParaRPr lang="zh-CN" altLang="en-US">
              <a:cs typeface="+mn-ea"/>
              <a:sym typeface="+mn-lt"/>
            </a:endParaRPr>
          </a:p>
          <a:p>
            <a:pPr algn="ctr"/>
            <a:endParaRPr lang="zh-CN" altLang="en-US">
              <a:cs typeface="+mn-ea"/>
              <a:sym typeface="+mn-lt"/>
            </a:endParaRPr>
          </a:p>
        </p:txBody>
      </p:sp>
      <p:grpSp>
        <p:nvGrpSpPr>
          <p:cNvPr id="26" name="组合 25"/>
          <p:cNvGrpSpPr/>
          <p:nvPr/>
        </p:nvGrpSpPr>
        <p:grpSpPr>
          <a:xfrm>
            <a:off x="0" y="1205865"/>
            <a:ext cx="12192000" cy="3091815"/>
            <a:chOff x="0" y="1407160"/>
            <a:chExt cx="4064000" cy="4043680"/>
          </a:xfrm>
          <a:solidFill>
            <a:schemeClr val="accent1"/>
          </a:solidFill>
          <a:effectLst>
            <a:outerShdw blurRad="50800" dist="38100" dir="13500000" algn="br" rotWithShape="0">
              <a:prstClr val="black">
                <a:alpha val="40000"/>
              </a:prstClr>
            </a:outerShdw>
          </a:effectLst>
        </p:grpSpPr>
        <p:sp>
          <p:nvSpPr>
            <p:cNvPr id="1048581" name="矩形 31"/>
            <p:cNvSpPr/>
            <p:nvPr/>
          </p:nvSpPr>
          <p:spPr>
            <a:xfrm>
              <a:off x="0" y="1407160"/>
              <a:ext cx="4064000" cy="4043680"/>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582" name="文本框 33"/>
            <p:cNvSpPr txBox="1"/>
            <p:nvPr/>
          </p:nvSpPr>
          <p:spPr>
            <a:xfrm>
              <a:off x="106468" y="2826079"/>
              <a:ext cx="3812752" cy="1205879"/>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lstStyle/>
            <a:p>
              <a:pPr algn="ctr"/>
              <a:r>
                <a:rPr lang="zh-CN" altLang="en-US" sz="5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结题汇报</a:t>
              </a:r>
              <a:r>
                <a:rPr lang="en-US" altLang="zh-CN" sz="5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5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灵巧手物抓取生成</a:t>
              </a:r>
              <a:endParaRPr lang="zh-CN" altLang="en-US" sz="5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pic>
        <p:nvPicPr>
          <p:cNvPr id="2097152" name="图片 14"/>
          <p:cNvPicPr>
            <a:picLocks noChangeAspect="1"/>
          </p:cNvPicPr>
          <p:nvPr/>
        </p:nvPicPr>
        <p:blipFill>
          <a:blip r:embed="rId2" cstate="print"/>
          <a:srcRect/>
          <a:stretch>
            <a:fillRect/>
          </a:stretch>
        </p:blipFill>
        <p:spPr>
          <a:xfrm>
            <a:off x="5003162" y="374347"/>
            <a:ext cx="2174882" cy="456069"/>
          </a:xfrm>
          <a:prstGeom prst="rect">
            <a:avLst/>
          </a:prstGeom>
        </p:spPr>
      </p:pic>
      <p:sp>
        <p:nvSpPr>
          <p:cNvPr id="1048583" name="文本框 1"/>
          <p:cNvSpPr txBox="1"/>
          <p:nvPr/>
        </p:nvSpPr>
        <p:spPr>
          <a:xfrm>
            <a:off x="556203" y="4858385"/>
            <a:ext cx="7197090" cy="645160"/>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小组成员</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汇报顺序</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：沈仕伟、王玉峰、韩育霖</a:t>
            </a:r>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584" name="文本框 3"/>
          <p:cNvSpPr txBox="1"/>
          <p:nvPr/>
        </p:nvSpPr>
        <p:spPr>
          <a:xfrm>
            <a:off x="5409565" y="6225540"/>
            <a:ext cx="1372235" cy="368300"/>
          </a:xfrm>
          <a:prstGeom prst="rect">
            <a:avLst/>
          </a:prstGeom>
          <a:noFill/>
        </p:spPr>
        <p:txBody>
          <a:bodyPr wrap="square" rtlCol="0">
            <a:spAutoFit/>
          </a:bodyPr>
          <a:lstStyle/>
          <a:p>
            <a:r>
              <a:rPr 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2026.5.27</a:t>
            </a:r>
            <a:endParaRPr 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585" name="文本框 4"/>
          <p:cNvSpPr txBox="1"/>
          <p:nvPr/>
        </p:nvSpPr>
        <p:spPr>
          <a:xfrm>
            <a:off x="9238672" y="4858443"/>
            <a:ext cx="2397125" cy="368300"/>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汇报小组：第三组</a:t>
            </a:r>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9000" b="-9000"/>
          </a:stretch>
        </a:blipFill>
        <a:effectLst/>
      </p:bgPr>
    </p:bg>
    <p:spTree>
      <p:nvGrpSpPr>
        <p:cNvPr id="1" name=""/>
        <p:cNvGrpSpPr/>
        <p:nvPr/>
      </p:nvGrpSpPr>
      <p:grpSpPr>
        <a:xfrm>
          <a:off x="0" y="0"/>
          <a:ext cx="0" cy="0"/>
          <a:chOff x="0" y="0"/>
          <a:chExt cx="0" cy="0"/>
        </a:xfrm>
      </p:grpSpPr>
      <p:sp>
        <p:nvSpPr>
          <p:cNvPr id="1048589" name="矩形 13"/>
          <p:cNvSpPr/>
          <p:nvPr/>
        </p:nvSpPr>
        <p:spPr>
          <a:xfrm>
            <a:off x="0" y="0"/>
            <a:ext cx="8178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gency FB" panose="020B0503020202020204" pitchFamily="34" charset="0"/>
              <a:ea typeface="微软雅黑 Light" panose="020B0502040204020203" pitchFamily="34" charset="-122"/>
              <a:sym typeface="Agency FB" panose="020B0503020202020204" pitchFamily="34" charset="0"/>
            </a:endParaRPr>
          </a:p>
        </p:txBody>
      </p:sp>
      <p:grpSp>
        <p:nvGrpSpPr>
          <p:cNvPr id="42" name="组合 14"/>
          <p:cNvGrpSpPr/>
          <p:nvPr/>
        </p:nvGrpSpPr>
        <p:grpSpPr>
          <a:xfrm>
            <a:off x="7498080" y="2702560"/>
            <a:ext cx="4043680" cy="1737360"/>
            <a:chOff x="7498080" y="2702560"/>
            <a:chExt cx="4043680" cy="1737360"/>
          </a:xfrm>
        </p:grpSpPr>
        <p:sp>
          <p:nvSpPr>
            <p:cNvPr id="1048590" name="矩形 15"/>
            <p:cNvSpPr/>
            <p:nvPr/>
          </p:nvSpPr>
          <p:spPr>
            <a:xfrm>
              <a:off x="7498080" y="2702560"/>
              <a:ext cx="3759200" cy="1452880"/>
            </a:xfrm>
            <a:prstGeom prst="rect">
              <a:avLst/>
            </a:prstGeom>
            <a:solidFill>
              <a:schemeClr val="accent1">
                <a:alpha val="75000"/>
              </a:schemeClr>
            </a:solidFill>
            <a:ln>
              <a:noFill/>
            </a:ln>
            <a:effectLst>
              <a:outerShdw blurRad="508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造字工房力黑（非商用）常规体" pitchFamily="50" charset="-122"/>
                <a:ea typeface="造字工房力黑（非商用）常规体" pitchFamily="50" charset="-122"/>
                <a:sym typeface="Agency FB" panose="020B0503020202020204" pitchFamily="34" charset="0"/>
              </a:endParaRPr>
            </a:p>
          </p:txBody>
        </p:sp>
        <p:sp>
          <p:nvSpPr>
            <p:cNvPr id="1048591" name="矩形 16"/>
            <p:cNvSpPr/>
            <p:nvPr/>
          </p:nvSpPr>
          <p:spPr>
            <a:xfrm>
              <a:off x="10754360" y="3652520"/>
              <a:ext cx="787400" cy="787400"/>
            </a:xfrm>
            <a:prstGeom prst="rect">
              <a:avLst/>
            </a:prstGeom>
            <a:noFill/>
            <a:ln w="38100">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造字工房力黑（非商用）常规体" pitchFamily="50" charset="-122"/>
                <a:ea typeface="造字工房力黑（非商用）常规体" pitchFamily="50" charset="-122"/>
                <a:sym typeface="Agency FB" panose="020B0503020202020204" pitchFamily="34" charset="0"/>
              </a:endParaRPr>
            </a:p>
          </p:txBody>
        </p:sp>
        <p:sp>
          <p:nvSpPr>
            <p:cNvPr id="1048592" name="文本框 17"/>
            <p:cNvSpPr txBox="1"/>
            <p:nvPr/>
          </p:nvSpPr>
          <p:spPr>
            <a:xfrm>
              <a:off x="7675418" y="3059668"/>
              <a:ext cx="3353262" cy="583565"/>
            </a:xfrm>
            <a:prstGeom prst="rect">
              <a:avLst/>
            </a:prstGeom>
            <a:noFill/>
          </p:spPr>
          <p:txBody>
            <a:bodyPr wrap="square" rtlCol="0">
              <a:spAutoFit/>
            </a:bodyPr>
            <a:lstStyle/>
            <a:p>
              <a:r>
                <a:rPr lang="zh-CN" altLang="en-US" sz="3200" spc="300" dirty="0">
                  <a:solidFill>
                    <a:schemeClr val="bg1"/>
                  </a:solidFill>
                  <a:latin typeface="黑体" panose="02010609060101010101" charset="-122"/>
                  <a:ea typeface="黑体" panose="02010609060101010101" charset="-122"/>
                  <a:sym typeface="Agency FB" panose="020B0503020202020204" pitchFamily="34" charset="0"/>
                </a:rPr>
                <a:t>目录</a:t>
              </a:r>
              <a:endParaRPr lang="zh-CN" altLang="en-US" sz="3200" spc="300" dirty="0">
                <a:solidFill>
                  <a:schemeClr val="bg1"/>
                </a:solidFill>
                <a:latin typeface="黑体" panose="02010609060101010101" charset="-122"/>
                <a:ea typeface="黑体" panose="02010609060101010101" charset="-122"/>
                <a:sym typeface="Agency FB" panose="020B0503020202020204" pitchFamily="34" charset="0"/>
              </a:endParaRPr>
            </a:p>
          </p:txBody>
        </p:sp>
      </p:grpSp>
      <p:sp>
        <p:nvSpPr>
          <p:cNvPr id="1048593" name="Diamond 286"/>
          <p:cNvSpPr/>
          <p:nvPr>
            <p:custDataLst>
              <p:tags r:id="rId2"/>
            </p:custDataLst>
          </p:nvPr>
        </p:nvSpPr>
        <p:spPr>
          <a:xfrm>
            <a:off x="1926590" y="4408170"/>
            <a:ext cx="759460" cy="759460"/>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04</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594" name="TextBox 300"/>
          <p:cNvSpPr txBox="1"/>
          <p:nvPr>
            <p:custDataLst>
              <p:tags r:id="rId3"/>
            </p:custDataLst>
          </p:nvPr>
        </p:nvSpPr>
        <p:spPr>
          <a:xfrm>
            <a:off x="2495550" y="4601845"/>
            <a:ext cx="4821555" cy="369570"/>
          </a:xfrm>
          <a:prstGeom prst="rect">
            <a:avLst/>
          </a:prstGeom>
          <a:noFill/>
        </p:spPr>
        <p:txBody>
          <a:bodyPr wrap="none" lIns="360000" tIns="0" rIns="0" bIns="0" anchor="b" anchorCtr="0">
            <a:noAutofit/>
          </a:bodyPr>
          <a:lstStyle/>
          <a:p>
            <a:pPr algn="l"/>
            <a:r>
              <a:rPr lang="zh-CN" altLang="en-US" sz="2400" spc="600" dirty="0">
                <a:solidFill>
                  <a:schemeClr val="accent4">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采用</a:t>
            </a:r>
            <a:r>
              <a:rPr lang="zh-CN" altLang="en-US" sz="2400" spc="600" dirty="0">
                <a:solidFill>
                  <a:schemeClr val="accent4">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的方法</a:t>
            </a:r>
            <a:endParaRPr lang="zh-CN" altLang="en-US" sz="2400" spc="600" dirty="0">
              <a:solidFill>
                <a:schemeClr val="accent4">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sp>
        <p:nvSpPr>
          <p:cNvPr id="1048595" name="Diamond 288"/>
          <p:cNvSpPr/>
          <p:nvPr>
            <p:custDataLst>
              <p:tags r:id="rId4"/>
            </p:custDataLst>
          </p:nvPr>
        </p:nvSpPr>
        <p:spPr>
          <a:xfrm>
            <a:off x="1926590" y="3338830"/>
            <a:ext cx="759460" cy="759460"/>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03</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596" name="TextBox 298"/>
          <p:cNvSpPr txBox="1"/>
          <p:nvPr>
            <p:custDataLst>
              <p:tags r:id="rId5"/>
            </p:custDataLst>
          </p:nvPr>
        </p:nvSpPr>
        <p:spPr>
          <a:xfrm>
            <a:off x="2495550" y="3533140"/>
            <a:ext cx="4821555" cy="369570"/>
          </a:xfrm>
          <a:prstGeom prst="rect">
            <a:avLst/>
          </a:prstGeom>
          <a:noFill/>
        </p:spPr>
        <p:txBody>
          <a:bodyPr wrap="none" lIns="360000" tIns="0" rIns="0" bIns="0" anchor="b" anchorCtr="0">
            <a:noAutofit/>
          </a:bodyPr>
          <a:lstStyle/>
          <a:p>
            <a:pPr algn="l"/>
            <a:r>
              <a:rPr lang="zh-CN" altLang="en-US" sz="2400" spc="600" dirty="0">
                <a:solidFill>
                  <a:schemeClr val="accent3">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相关</a:t>
            </a:r>
            <a:r>
              <a:rPr lang="zh-CN" altLang="en-US" sz="2400" spc="600" dirty="0">
                <a:solidFill>
                  <a:schemeClr val="accent3">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工作</a:t>
            </a:r>
            <a:endParaRPr lang="zh-CN" altLang="en-US" sz="2400" spc="600" dirty="0">
              <a:solidFill>
                <a:schemeClr val="accent3">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sp>
        <p:nvSpPr>
          <p:cNvPr id="1048597" name="Diamond 290"/>
          <p:cNvSpPr/>
          <p:nvPr>
            <p:custDataLst>
              <p:tags r:id="rId6"/>
            </p:custDataLst>
          </p:nvPr>
        </p:nvSpPr>
        <p:spPr>
          <a:xfrm>
            <a:off x="1926590" y="2270125"/>
            <a:ext cx="759460" cy="75946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02</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598" name="TextBox 296"/>
          <p:cNvSpPr txBox="1"/>
          <p:nvPr>
            <p:custDataLst>
              <p:tags r:id="rId7"/>
            </p:custDataLst>
          </p:nvPr>
        </p:nvSpPr>
        <p:spPr>
          <a:xfrm>
            <a:off x="2495550" y="2464435"/>
            <a:ext cx="4821555" cy="369570"/>
          </a:xfrm>
          <a:prstGeom prst="rect">
            <a:avLst/>
          </a:prstGeom>
          <a:noFill/>
        </p:spPr>
        <p:txBody>
          <a:bodyPr wrap="none" lIns="360000" tIns="0" rIns="0" bIns="0" anchor="b" anchorCtr="0">
            <a:noAutofit/>
          </a:bodyPr>
          <a:lstStyle/>
          <a:p>
            <a:pPr algn="l"/>
            <a:r>
              <a:rPr lang="zh-CN" altLang="en-US" sz="2400" spc="600" dirty="0">
                <a:solidFill>
                  <a:schemeClr val="accent2">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预期目标</a:t>
            </a:r>
            <a:endParaRPr lang="zh-CN" altLang="en-US" sz="2400" spc="600" dirty="0">
              <a:solidFill>
                <a:schemeClr val="accent2">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sp>
        <p:nvSpPr>
          <p:cNvPr id="1048599" name="Diamond 292"/>
          <p:cNvSpPr/>
          <p:nvPr>
            <p:custDataLst>
              <p:tags r:id="rId8"/>
            </p:custDataLst>
          </p:nvPr>
        </p:nvSpPr>
        <p:spPr>
          <a:xfrm>
            <a:off x="1926590" y="1200785"/>
            <a:ext cx="759460" cy="75946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01</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600" name="TextBox 294"/>
          <p:cNvSpPr txBox="1"/>
          <p:nvPr>
            <p:custDataLst>
              <p:tags r:id="rId9"/>
            </p:custDataLst>
          </p:nvPr>
        </p:nvSpPr>
        <p:spPr>
          <a:xfrm>
            <a:off x="2495550" y="1395730"/>
            <a:ext cx="4821555" cy="369570"/>
          </a:xfrm>
          <a:prstGeom prst="rect">
            <a:avLst/>
          </a:prstGeom>
          <a:noFill/>
        </p:spPr>
        <p:txBody>
          <a:bodyPr wrap="none" lIns="360000" tIns="0" rIns="0" bIns="0" anchor="b" anchorCtr="0">
            <a:noAutofit/>
          </a:bodyPr>
          <a:lstStyle/>
          <a:p>
            <a:pPr algn="l"/>
            <a:r>
              <a:rPr lang="zh-CN" altLang="en-US" sz="2400" spc="600" dirty="0">
                <a:solidFill>
                  <a:schemeClr val="accent1">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选题背景和意义</a:t>
            </a:r>
            <a:endParaRPr lang="zh-CN" altLang="en-US" sz="2400" spc="600" dirty="0">
              <a:solidFill>
                <a:schemeClr val="accent1">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pic>
        <p:nvPicPr>
          <p:cNvPr id="2097153" name="图片 24"/>
          <p:cNvPicPr>
            <a:picLocks noChangeAspect="1"/>
          </p:cNvPicPr>
          <p:nvPr/>
        </p:nvPicPr>
        <p:blipFill>
          <a:blip r:embed="rId10" cstate="print"/>
          <a:srcRect/>
          <a:stretch>
            <a:fillRect/>
          </a:stretch>
        </p:blipFill>
        <p:spPr>
          <a:xfrm>
            <a:off x="511168" y="372358"/>
            <a:ext cx="2174882" cy="456069"/>
          </a:xfrm>
          <a:prstGeom prst="rect">
            <a:avLst/>
          </a:prstGeom>
        </p:spPr>
      </p:pic>
      <p:sp>
        <p:nvSpPr>
          <p:cNvPr id="1048601" name="Diamond 286"/>
          <p:cNvSpPr/>
          <p:nvPr>
            <p:custDataLst>
              <p:tags r:id="rId11"/>
            </p:custDataLst>
          </p:nvPr>
        </p:nvSpPr>
        <p:spPr>
          <a:xfrm>
            <a:off x="1926590" y="5551805"/>
            <a:ext cx="759460" cy="759460"/>
          </a:xfrm>
          <a:prstGeom prst="diamond">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05</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602" name="TextBox 300"/>
          <p:cNvSpPr txBox="1"/>
          <p:nvPr>
            <p:custDataLst>
              <p:tags r:id="rId12"/>
            </p:custDataLst>
          </p:nvPr>
        </p:nvSpPr>
        <p:spPr>
          <a:xfrm>
            <a:off x="2495550" y="5746750"/>
            <a:ext cx="4821555" cy="369570"/>
          </a:xfrm>
          <a:prstGeom prst="rect">
            <a:avLst/>
          </a:prstGeom>
          <a:noFill/>
        </p:spPr>
        <p:txBody>
          <a:bodyPr wrap="none" lIns="360000" tIns="0" rIns="0" bIns="0" anchor="b" anchorCtr="0">
            <a:noAutofit/>
          </a:bodyPr>
          <a:lstStyle/>
          <a:p>
            <a:pPr algn="l"/>
            <a:r>
              <a:rPr lang="zh-CN" altLang="en-US" sz="2400" spc="600" dirty="0">
                <a:solidFill>
                  <a:schemeClr val="accent4">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成果和</a:t>
            </a:r>
            <a:r>
              <a:rPr lang="zh-CN" altLang="en-US" sz="2400" spc="600" dirty="0">
                <a:solidFill>
                  <a:schemeClr val="accent4">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分工</a:t>
            </a:r>
            <a:endParaRPr lang="zh-CN" altLang="en-US" sz="2400" spc="600" dirty="0">
              <a:solidFill>
                <a:schemeClr val="accent4">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1048606"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097154" name="图片 1"/>
          <p:cNvPicPr/>
          <p:nvPr/>
        </p:nvPicPr>
        <p:blipFill>
          <a:blip r:embed="rId2"/>
          <a:srcRect r="17832"/>
          <a:stretch>
            <a:fillRect/>
          </a:stretch>
        </p:blipFill>
        <p:spPr>
          <a:xfrm>
            <a:off x="4064000" y="1407160"/>
            <a:ext cx="8128000" cy="4043680"/>
          </a:xfrm>
          <a:prstGeom prst="rect">
            <a:avLst/>
          </a:prstGeom>
        </p:spPr>
      </p:pic>
      <p:grpSp>
        <p:nvGrpSpPr>
          <p:cNvPr id="46" name="组合 22"/>
          <p:cNvGrpSpPr/>
          <p:nvPr/>
        </p:nvGrpSpPr>
        <p:grpSpPr>
          <a:xfrm>
            <a:off x="0" y="478155"/>
            <a:ext cx="12192001" cy="4972685"/>
            <a:chOff x="0" y="478155"/>
            <a:chExt cx="12192001" cy="4972685"/>
          </a:xfrm>
        </p:grpSpPr>
        <p:grpSp>
          <p:nvGrpSpPr>
            <p:cNvPr id="47" name="组合 25"/>
            <p:cNvGrpSpPr/>
            <p:nvPr/>
          </p:nvGrpSpPr>
          <p:grpSpPr>
            <a:xfrm>
              <a:off x="0" y="1407160"/>
              <a:ext cx="4064000" cy="4043680"/>
              <a:chOff x="0" y="1407160"/>
              <a:chExt cx="4064000" cy="4043680"/>
            </a:xfrm>
          </p:grpSpPr>
          <p:sp>
            <p:nvSpPr>
              <p:cNvPr id="1048607"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608" name="文本框 33"/>
              <p:cNvSpPr txBox="1"/>
              <p:nvPr/>
            </p:nvSpPr>
            <p:spPr>
              <a:xfrm>
                <a:off x="127000" y="3210560"/>
                <a:ext cx="3810000" cy="1260475"/>
              </a:xfrm>
              <a:prstGeom prst="rect">
                <a:avLst/>
              </a:prstGeom>
              <a:noFill/>
            </p:spPr>
            <p:txBody>
              <a:bodyPr wrap="square" rtlCol="0">
                <a:noAutofit/>
              </a:bodyPr>
              <a:lstStyle/>
              <a:p>
                <a:pPr algn="ctr"/>
                <a:r>
                  <a:rPr lang="zh-CN" altLang="en-US" sz="4000" dirty="0">
                    <a:solidFill>
                      <a:schemeClr val="bg1"/>
                    </a:solidFill>
                    <a:latin typeface="黑体" panose="02010609060101010101" charset="-122"/>
                    <a:ea typeface="黑体" panose="02010609060101010101" charset="-122"/>
                    <a:cs typeface="Times New Roman" panose="02020603050405020304" pitchFamily="18" charset="0"/>
                    <a:sym typeface="+mn-lt"/>
                  </a:rPr>
                  <a:t>选题背景和意义</a:t>
                </a:r>
                <a:endParaRPr lang="en-US" altLang="zh-CN" sz="4000" dirty="0">
                  <a:solidFill>
                    <a:schemeClr val="bg1"/>
                  </a:solidFill>
                  <a:latin typeface="黑体" panose="02010609060101010101" charset="-122"/>
                  <a:ea typeface="黑体" panose="02010609060101010101" charset="-122"/>
                  <a:cs typeface="Times New Roman" panose="02020603050405020304" pitchFamily="18" charset="0"/>
                  <a:sym typeface="+mn-lt"/>
                </a:endParaRPr>
              </a:p>
            </p:txBody>
          </p:sp>
        </p:grpSp>
        <p:grpSp>
          <p:nvGrpSpPr>
            <p:cNvPr id="48" name="组合 26"/>
            <p:cNvGrpSpPr/>
            <p:nvPr/>
          </p:nvGrpSpPr>
          <p:grpSpPr>
            <a:xfrm>
              <a:off x="7564229" y="478155"/>
              <a:ext cx="4627772" cy="1386840"/>
              <a:chOff x="7564229" y="478155"/>
              <a:chExt cx="4627772" cy="1386840"/>
            </a:xfrm>
          </p:grpSpPr>
          <p:sp>
            <p:nvSpPr>
              <p:cNvPr id="1048609" name="任意多边形 28"/>
              <p:cNvSpPr/>
              <p:nvPr/>
            </p:nvSpPr>
            <p:spPr>
              <a:xfrm flipH="1" flipV="1">
                <a:off x="7564229" y="478155"/>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610" name="文本框 30"/>
              <p:cNvSpPr txBox="1"/>
              <p:nvPr/>
            </p:nvSpPr>
            <p:spPr>
              <a:xfrm>
                <a:off x="7712365" y="756076"/>
                <a:ext cx="4479636" cy="764540"/>
              </a:xfrm>
              <a:prstGeom prst="rect">
                <a:avLst/>
              </a:prstGeom>
              <a:noFill/>
            </p:spPr>
            <p:txBody>
              <a:bodyPr wrap="square" rtlCol="0">
                <a:spAutoFit/>
              </a:bodyPr>
              <a:lstStyle/>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ONE</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611" name="文本框 27"/>
            <p:cNvSpPr txBox="1"/>
            <p:nvPr/>
          </p:nvSpPr>
          <p:spPr>
            <a:xfrm>
              <a:off x="9550399" y="3052435"/>
              <a:ext cx="2349194" cy="1577339"/>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01</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55" name="图片 13"/>
          <p:cNvPicPr>
            <a:picLocks noChangeAspect="1"/>
          </p:cNvPicPr>
          <p:nvPr/>
        </p:nvPicPr>
        <p:blipFill>
          <a:blip r:embed="rId3"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组合 43"/>
          <p:cNvGrpSpPr/>
          <p:nvPr/>
        </p:nvGrpSpPr>
        <p:grpSpPr>
          <a:xfrm>
            <a:off x="0" y="156335"/>
            <a:ext cx="11940390" cy="497839"/>
            <a:chOff x="0" y="156335"/>
            <a:chExt cx="11940390" cy="497839"/>
          </a:xfrm>
        </p:grpSpPr>
        <p:grpSp>
          <p:nvGrpSpPr>
            <p:cNvPr id="60" name="组合 44"/>
            <p:cNvGrpSpPr/>
            <p:nvPr/>
          </p:nvGrpSpPr>
          <p:grpSpPr>
            <a:xfrm>
              <a:off x="0" y="156335"/>
              <a:ext cx="9666514" cy="497839"/>
              <a:chOff x="0" y="248698"/>
              <a:chExt cx="9666514" cy="497839"/>
            </a:xfrm>
          </p:grpSpPr>
          <p:grpSp>
            <p:nvGrpSpPr>
              <p:cNvPr id="61" name="组合 46"/>
              <p:cNvGrpSpPr/>
              <p:nvPr/>
            </p:nvGrpSpPr>
            <p:grpSpPr>
              <a:xfrm>
                <a:off x="0" y="294640"/>
                <a:ext cx="880552" cy="375920"/>
                <a:chOff x="0" y="294640"/>
                <a:chExt cx="1094740" cy="467360"/>
              </a:xfrm>
              <a:solidFill>
                <a:srgbClr val="EE8A10"/>
              </a:solidFill>
            </p:grpSpPr>
            <p:sp>
              <p:nvSpPr>
                <p:cNvPr id="1048626"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27"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28"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629" name="文本框 47"/>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2" name="组合 48"/>
              <p:cNvGrpSpPr/>
              <p:nvPr/>
            </p:nvGrpSpPr>
            <p:grpSpPr>
              <a:xfrm>
                <a:off x="3356076" y="408709"/>
                <a:ext cx="1749361" cy="147782"/>
                <a:chOff x="635462" y="775854"/>
                <a:chExt cx="1749361" cy="147782"/>
              </a:xfrm>
              <a:solidFill>
                <a:srgbClr val="EE8A10"/>
              </a:solidFill>
            </p:grpSpPr>
            <p:sp>
              <p:nvSpPr>
                <p:cNvPr id="1048630"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31"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32"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33"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34"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28"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6"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9" name="标题 8"/>
          <p:cNvSpPr>
            <a:spLocks noGrp="1"/>
          </p:cNvSpPr>
          <p:nvPr>
            <p:custDataLst>
              <p:tags r:id="rId2"/>
            </p:custDataLst>
          </p:nvPr>
        </p:nvSpPr>
        <p:spPr>
          <a:xfrm>
            <a:off x="335280" y="709295"/>
            <a:ext cx="8285480" cy="609600"/>
          </a:xfrm>
          <a:prstGeom prst="rect">
            <a:avLst/>
          </a:prstGeom>
          <a:noFill/>
        </p:spPr>
        <p:txBody>
          <a:bodyPr vert="horz" lIns="0" tIns="0" rIns="0" bIns="0" rtlCol="0" anchor="t" anchorCtr="0">
            <a:no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通用机器人的灵巧抓取在现实中的运用</a:t>
            </a:r>
            <a:endParaRPr lang="zh-CN" altLang="en-US" sz="2800">
              <a:latin typeface="黑体" panose="02010609060101010101" charset="-122"/>
              <a:ea typeface="黑体" panose="02010609060101010101" charset="-122"/>
            </a:endParaRPr>
          </a:p>
        </p:txBody>
      </p:sp>
      <p:sp>
        <p:nvSpPr>
          <p:cNvPr id="11" name="文本占位符 10"/>
          <p:cNvSpPr>
            <a:spLocks noGrp="1"/>
          </p:cNvSpPr>
          <p:nvPr>
            <p:custDataLst>
              <p:tags r:id="rId3"/>
            </p:custDataLst>
          </p:nvPr>
        </p:nvSpPr>
        <p:spPr>
          <a:xfrm>
            <a:off x="641350" y="4792345"/>
            <a:ext cx="5080000" cy="1266825"/>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随着具身智能与机器人技术的快速发展，研发一个能够抓取现实世界中任何物体的灵巧手，已成为通用具身智能机器人发展的核心关键。相较于传统的平行夹持器或真空吸盘等简单末端执行器，五指灵巧手在结构上高度还原了人类的手部构造，这赋予了它们在操作灵活性、运动精确度以及任务多功能性上无可比拟的显著优势。</a:t>
            </a:r>
            <a:endParaRPr lang="zh-CN" altLang="en-US"/>
          </a:p>
        </p:txBody>
      </p:sp>
      <p:pic>
        <p:nvPicPr>
          <p:cNvPr id="2" name="图片 1" descr="AA1ZtP0x"/>
          <p:cNvPicPr>
            <a:picLocks noChangeAspect="1"/>
          </p:cNvPicPr>
          <p:nvPr/>
        </p:nvPicPr>
        <p:blipFill>
          <a:blip r:embed="rId4"/>
          <a:stretch>
            <a:fillRect/>
          </a:stretch>
        </p:blipFill>
        <p:spPr>
          <a:xfrm>
            <a:off x="6849110" y="1573530"/>
            <a:ext cx="4387215" cy="2863850"/>
          </a:xfrm>
          <a:prstGeom prst="rect">
            <a:avLst/>
          </a:prstGeom>
        </p:spPr>
      </p:pic>
      <p:pic>
        <p:nvPicPr>
          <p:cNvPr id="3" name="图片 2" descr="images"/>
          <p:cNvPicPr>
            <a:picLocks noChangeAspect="1"/>
          </p:cNvPicPr>
          <p:nvPr/>
        </p:nvPicPr>
        <p:blipFill>
          <a:blip r:embed="rId5"/>
          <a:stretch>
            <a:fillRect/>
          </a:stretch>
        </p:blipFill>
        <p:spPr>
          <a:xfrm>
            <a:off x="560070" y="1567180"/>
            <a:ext cx="5077460" cy="2870200"/>
          </a:xfrm>
          <a:prstGeom prst="rect">
            <a:avLst/>
          </a:prstGeom>
        </p:spPr>
      </p:pic>
      <p:sp>
        <p:nvSpPr>
          <p:cNvPr id="13" name="文本占位符 12"/>
          <p:cNvSpPr>
            <a:spLocks noGrp="1"/>
          </p:cNvSpPr>
          <p:nvPr>
            <p:custDataLst>
              <p:tags r:id="rId6"/>
            </p:custDataLst>
          </p:nvPr>
        </p:nvSpPr>
        <p:spPr>
          <a:xfrm>
            <a:off x="6753225" y="4792345"/>
            <a:ext cx="4829175" cy="2019935"/>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如今，智能机器人正越来越密集地被部署在充满人类活动的生活与工作环境中。这意味着，机器人需要像人类一样去交互、接触广泛多样的常见物体，甚至需要熟练使用那些专门为人类手部设计的工具。因此，开发一种高精度且具备通用适配能力的灵巧抓取生成算法，构成了具身智能物理交互的最底层基石。</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43"/>
          <p:cNvGrpSpPr/>
          <p:nvPr/>
        </p:nvGrpSpPr>
        <p:grpSpPr>
          <a:xfrm>
            <a:off x="0" y="156335"/>
            <a:ext cx="11940390" cy="497839"/>
            <a:chOff x="0" y="156335"/>
            <a:chExt cx="11940390" cy="497839"/>
          </a:xfrm>
        </p:grpSpPr>
        <p:grpSp>
          <p:nvGrpSpPr>
            <p:cNvPr id="67" name="组合 44"/>
            <p:cNvGrpSpPr/>
            <p:nvPr/>
          </p:nvGrpSpPr>
          <p:grpSpPr>
            <a:xfrm>
              <a:off x="0" y="156335"/>
              <a:ext cx="9666514" cy="497839"/>
              <a:chOff x="0" y="248698"/>
              <a:chExt cx="9666514" cy="497839"/>
            </a:xfrm>
          </p:grpSpPr>
          <p:grpSp>
            <p:nvGrpSpPr>
              <p:cNvPr id="68" name="组合 46"/>
              <p:cNvGrpSpPr/>
              <p:nvPr/>
            </p:nvGrpSpPr>
            <p:grpSpPr>
              <a:xfrm>
                <a:off x="0" y="294640"/>
                <a:ext cx="880552" cy="375920"/>
                <a:chOff x="0" y="294640"/>
                <a:chExt cx="1094740" cy="467360"/>
              </a:xfrm>
              <a:solidFill>
                <a:srgbClr val="EE8A10"/>
              </a:solidFill>
            </p:grpSpPr>
            <p:sp>
              <p:nvSpPr>
                <p:cNvPr id="1048641"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2"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3"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644" name="文本框 47"/>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9" name="组合 48"/>
              <p:cNvGrpSpPr/>
              <p:nvPr/>
            </p:nvGrpSpPr>
            <p:grpSpPr>
              <a:xfrm>
                <a:off x="3356076" y="408709"/>
                <a:ext cx="1749361" cy="147782"/>
                <a:chOff x="635462" y="775854"/>
                <a:chExt cx="1749361" cy="147782"/>
              </a:xfrm>
              <a:solidFill>
                <a:srgbClr val="EE8A10"/>
              </a:solidFill>
            </p:grpSpPr>
            <p:sp>
              <p:nvSpPr>
                <p:cNvPr id="1048645"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6"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7"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8"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9"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29"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7"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578485" y="702945"/>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cs typeface="黑体" panose="02010609060101010101" charset="-122"/>
              </a:rPr>
              <a:t>机器手是如何</a:t>
            </a:r>
            <a:r>
              <a:rPr lang="en-US" altLang="zh-CN" sz="2800">
                <a:latin typeface="黑体" panose="02010609060101010101" charset="-122"/>
                <a:ea typeface="黑体" panose="02010609060101010101" charset="-122"/>
                <a:cs typeface="黑体" panose="02010609060101010101" charset="-122"/>
              </a:rPr>
              <a:t>“</a:t>
            </a:r>
            <a:r>
              <a:rPr lang="zh-CN" altLang="en-US" sz="2800">
                <a:latin typeface="黑体" panose="02010609060101010101" charset="-122"/>
                <a:ea typeface="黑体" panose="02010609060101010101" charset="-122"/>
                <a:cs typeface="黑体" panose="02010609060101010101" charset="-122"/>
              </a:rPr>
              <a:t>拿</a:t>
            </a:r>
            <a:r>
              <a:rPr lang="en-US" altLang="zh-CN" sz="2800">
                <a:latin typeface="黑体" panose="02010609060101010101" charset="-122"/>
                <a:ea typeface="黑体" panose="02010609060101010101" charset="-122"/>
                <a:cs typeface="黑体" panose="02010609060101010101" charset="-122"/>
              </a:rPr>
              <a:t>”</a:t>
            </a:r>
            <a:r>
              <a:rPr lang="zh-CN" altLang="en-US" sz="2800">
                <a:latin typeface="黑体" panose="02010609060101010101" charset="-122"/>
                <a:ea typeface="黑体" panose="02010609060101010101" charset="-122"/>
                <a:cs typeface="黑体" panose="02010609060101010101" charset="-122"/>
              </a:rPr>
              <a:t>起物体的？</a:t>
            </a:r>
            <a:endParaRPr lang="zh-CN" altLang="en-US" sz="2800">
              <a:latin typeface="黑体" panose="02010609060101010101" charset="-122"/>
              <a:ea typeface="黑体" panose="02010609060101010101" charset="-122"/>
              <a:cs typeface="黑体" panose="02010609060101010101" charset="-122"/>
            </a:endParaRPr>
          </a:p>
        </p:txBody>
      </p:sp>
      <p:sp>
        <p:nvSpPr>
          <p:cNvPr id="16" name="文本框 15"/>
          <p:cNvSpPr txBox="1"/>
          <p:nvPr/>
        </p:nvSpPr>
        <p:spPr>
          <a:xfrm>
            <a:off x="7324725" y="1233805"/>
            <a:ext cx="4751705" cy="1814830"/>
          </a:xfrm>
          <a:prstGeom prst="rect">
            <a:avLst/>
          </a:prstGeom>
          <a:noFill/>
        </p:spPr>
        <p:txBody>
          <a:bodyPr wrap="square" rtlCol="0">
            <a:spAutoFit/>
          </a:bodyPr>
          <a:lstStyle/>
          <a:p>
            <a:r>
              <a:rPr lang="zh-CN" altLang="en-US" sz="1600"/>
              <a:t>机器人抓取在原理上可以拆解为几个简单易懂的步骤。首先，机器人需要</a:t>
            </a:r>
            <a:r>
              <a:rPr lang="en-US" altLang="zh-CN" sz="1600"/>
              <a:t>“</a:t>
            </a:r>
            <a:r>
              <a:rPr lang="zh-CN" altLang="en-US" sz="1600"/>
              <a:t>看到</a:t>
            </a:r>
            <a:r>
              <a:rPr lang="en-US" altLang="zh-CN" sz="1600"/>
              <a:t>”</a:t>
            </a:r>
            <a:r>
              <a:rPr lang="zh-CN" altLang="en-US" sz="1600"/>
              <a:t>并理解物体，通常通过提取</a:t>
            </a:r>
            <a:r>
              <a:rPr lang="en-US" altLang="zh-CN" sz="1600"/>
              <a:t>3D</a:t>
            </a:r>
            <a:r>
              <a:rPr lang="zh-CN" altLang="en-US" sz="1600"/>
              <a:t>点云等形式来获取物体的形状特征</a:t>
            </a:r>
            <a:r>
              <a:rPr lang="en-US" altLang="zh-CN" sz="1600"/>
              <a:t> </a:t>
            </a:r>
            <a:r>
              <a:rPr lang="zh-CN" altLang="en-US" sz="1600"/>
              <a:t>。接着，算法大脑要计算出一个精准的</a:t>
            </a:r>
            <a:r>
              <a:rPr lang="en-US" altLang="zh-CN" sz="1600"/>
              <a:t>“</a:t>
            </a:r>
            <a:r>
              <a:rPr lang="zh-CN" altLang="en-US" sz="1600"/>
              <a:t>抓取姿态</a:t>
            </a:r>
            <a:r>
              <a:rPr lang="en-US" altLang="zh-CN" sz="1600"/>
              <a:t>”——</a:t>
            </a:r>
            <a:r>
              <a:rPr lang="zh-CN" altLang="en-US" sz="1600"/>
              <a:t>这就好比决定手要放在空间中的哪个位置（平移）、手腕怎么转动（旋转）、以及每根手指的关节需要弯曲多少度（关节角度）</a:t>
            </a:r>
            <a:r>
              <a:rPr lang="en-US" altLang="zh-CN" sz="1600"/>
              <a:t> </a:t>
            </a:r>
            <a:r>
              <a:rPr lang="zh-CN" altLang="en-US" sz="1600"/>
              <a:t>。</a:t>
            </a:r>
            <a:endParaRPr lang="zh-CN" altLang="en-US" sz="1600"/>
          </a:p>
        </p:txBody>
      </p:sp>
      <p:sp>
        <p:nvSpPr>
          <p:cNvPr id="17" name="文本框 16"/>
          <p:cNvSpPr txBox="1"/>
          <p:nvPr/>
        </p:nvSpPr>
        <p:spPr>
          <a:xfrm>
            <a:off x="7325360" y="3261995"/>
            <a:ext cx="4445000" cy="3046095"/>
          </a:xfrm>
          <a:prstGeom prst="rect">
            <a:avLst/>
          </a:prstGeom>
          <a:noFill/>
        </p:spPr>
        <p:txBody>
          <a:bodyPr wrap="square" rtlCol="0">
            <a:spAutoFit/>
          </a:bodyPr>
          <a:lstStyle/>
          <a:p>
            <a:r>
              <a:rPr lang="zh-CN" altLang="en-US" sz="1600"/>
              <a:t>在过去，科学家主要靠</a:t>
            </a:r>
            <a:r>
              <a:rPr lang="en-US" altLang="zh-CN" sz="1600"/>
              <a:t>“</a:t>
            </a:r>
            <a:r>
              <a:rPr lang="zh-CN" altLang="en-US" sz="1600"/>
              <a:t>硬算</a:t>
            </a:r>
            <a:r>
              <a:rPr lang="en-US" altLang="zh-CN" sz="1600"/>
              <a:t>”</a:t>
            </a:r>
            <a:r>
              <a:rPr lang="zh-CN" altLang="en-US" sz="1600"/>
              <a:t>（分析法），利用复杂的力学公式来计算手指施加的力是否能稳稳锁住物体并满足特定物理约束</a:t>
            </a:r>
            <a:r>
              <a:rPr lang="en-US" altLang="zh-CN" sz="1600"/>
              <a:t> </a:t>
            </a:r>
            <a:r>
              <a:rPr lang="zh-CN" altLang="en-US" sz="1600"/>
              <a:t>。但这种方法计算量极大且成功率低</a:t>
            </a:r>
            <a:r>
              <a:rPr lang="en-US" altLang="zh-CN" sz="1600"/>
              <a:t> </a:t>
            </a:r>
            <a:r>
              <a:rPr lang="zh-CN" altLang="en-US" sz="1600"/>
              <a:t>。如今，主流方法转为了</a:t>
            </a:r>
            <a:r>
              <a:rPr lang="en-US" altLang="zh-CN" sz="1600"/>
              <a:t>“</a:t>
            </a:r>
            <a:r>
              <a:rPr lang="zh-CN" altLang="en-US" sz="1600"/>
              <a:t>数据学习</a:t>
            </a:r>
            <a:r>
              <a:rPr lang="en-US" altLang="zh-CN" sz="1600"/>
              <a:t>”</a:t>
            </a:r>
            <a:r>
              <a:rPr lang="zh-CN" altLang="en-US" sz="1600"/>
              <a:t>（数据驱动法），即让</a:t>
            </a:r>
            <a:r>
              <a:rPr lang="en-US" altLang="zh-CN" sz="1600"/>
              <a:t>AI</a:t>
            </a:r>
            <a:r>
              <a:rPr lang="zh-CN" altLang="en-US" sz="1600"/>
              <a:t>学习海量成功抓取的例子，直接预测抓取动作</a:t>
            </a:r>
            <a:r>
              <a:rPr lang="en-US" altLang="zh-CN" sz="1600"/>
              <a:t> </a:t>
            </a:r>
            <a:r>
              <a:rPr lang="zh-CN" altLang="en-US" sz="1600"/>
              <a:t>。无论用哪种方法，一个成功的抓取都必须满足三大常识：第一，手指内侧要紧紧贴合甚至拉近物体表面</a:t>
            </a:r>
            <a:r>
              <a:rPr lang="en-US" altLang="zh-CN" sz="1600"/>
              <a:t> </a:t>
            </a:r>
            <a:r>
              <a:rPr lang="zh-CN" altLang="en-US" sz="1600"/>
              <a:t>；第二，机器人的手不能不合常理地</a:t>
            </a:r>
            <a:r>
              <a:rPr lang="en-US" altLang="zh-CN" sz="1600"/>
              <a:t>“</a:t>
            </a:r>
            <a:r>
              <a:rPr lang="zh-CN" altLang="en-US" sz="1600"/>
              <a:t>穿透</a:t>
            </a:r>
            <a:r>
              <a:rPr lang="en-US" altLang="zh-CN" sz="1600"/>
              <a:t>”</a:t>
            </a:r>
            <a:r>
              <a:rPr lang="zh-CN" altLang="en-US" sz="1600"/>
              <a:t>到物体内部</a:t>
            </a:r>
            <a:r>
              <a:rPr lang="en-US" altLang="zh-CN" sz="1600"/>
              <a:t> </a:t>
            </a:r>
            <a:r>
              <a:rPr lang="zh-CN" altLang="en-US" sz="1600"/>
              <a:t>；第三，手指和手指之间不能互相碰撞</a:t>
            </a:r>
            <a:r>
              <a:rPr lang="en-US" altLang="zh-CN" sz="1600"/>
              <a:t>“</a:t>
            </a:r>
            <a:r>
              <a:rPr lang="zh-CN" altLang="en-US" sz="1600"/>
              <a:t>打架</a:t>
            </a:r>
            <a:r>
              <a:rPr lang="en-US" altLang="zh-CN" sz="1600"/>
              <a:t>” </a:t>
            </a:r>
            <a:r>
              <a:rPr lang="zh-CN" altLang="en-US" sz="1600"/>
              <a:t>。满足了这些，机器人就能像人一样稳稳拿起物体。</a:t>
            </a:r>
            <a:endParaRPr lang="zh-CN" altLang="en-US" sz="1600"/>
          </a:p>
        </p:txBody>
      </p:sp>
      <p:pic>
        <p:nvPicPr>
          <p:cNvPr id="3" name="图片 2" descr="v2-24074fb0dc8a56e248cc708d33958eb9_r"/>
          <p:cNvPicPr>
            <a:picLocks noChangeAspect="1"/>
          </p:cNvPicPr>
          <p:nvPr/>
        </p:nvPicPr>
        <p:blipFill>
          <a:blip r:embed="rId3"/>
          <a:stretch>
            <a:fillRect/>
          </a:stretch>
        </p:blipFill>
        <p:spPr>
          <a:xfrm>
            <a:off x="304800" y="1509395"/>
            <a:ext cx="6786880" cy="46843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43"/>
          <p:cNvGrpSpPr/>
          <p:nvPr/>
        </p:nvGrpSpPr>
        <p:grpSpPr>
          <a:xfrm>
            <a:off x="0" y="156335"/>
            <a:ext cx="11940390" cy="497839"/>
            <a:chOff x="0" y="156335"/>
            <a:chExt cx="11940390" cy="497839"/>
          </a:xfrm>
        </p:grpSpPr>
        <p:grpSp>
          <p:nvGrpSpPr>
            <p:cNvPr id="67" name="组合 44"/>
            <p:cNvGrpSpPr/>
            <p:nvPr/>
          </p:nvGrpSpPr>
          <p:grpSpPr>
            <a:xfrm>
              <a:off x="0" y="156335"/>
              <a:ext cx="9666514" cy="497839"/>
              <a:chOff x="0" y="248698"/>
              <a:chExt cx="9666514" cy="497839"/>
            </a:xfrm>
          </p:grpSpPr>
          <p:grpSp>
            <p:nvGrpSpPr>
              <p:cNvPr id="68" name="组合 46"/>
              <p:cNvGrpSpPr/>
              <p:nvPr/>
            </p:nvGrpSpPr>
            <p:grpSpPr>
              <a:xfrm>
                <a:off x="0" y="294640"/>
                <a:ext cx="880552" cy="375920"/>
                <a:chOff x="0" y="294640"/>
                <a:chExt cx="1094740" cy="467360"/>
              </a:xfrm>
              <a:solidFill>
                <a:srgbClr val="EE8A10"/>
              </a:solidFill>
            </p:grpSpPr>
            <p:sp>
              <p:nvSpPr>
                <p:cNvPr id="1048641"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2"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3"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644" name="文本框 47"/>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9" name="组合 48"/>
              <p:cNvGrpSpPr/>
              <p:nvPr/>
            </p:nvGrpSpPr>
            <p:grpSpPr>
              <a:xfrm>
                <a:off x="3356076" y="408709"/>
                <a:ext cx="1749361" cy="147782"/>
                <a:chOff x="635462" y="775854"/>
                <a:chExt cx="1749361" cy="147782"/>
              </a:xfrm>
              <a:solidFill>
                <a:srgbClr val="EE8A10"/>
              </a:solidFill>
            </p:grpSpPr>
            <p:sp>
              <p:nvSpPr>
                <p:cNvPr id="1048645"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6"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7"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8"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9"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29"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7"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483235" y="685800"/>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现有方法的缺点和局限性</a:t>
            </a:r>
            <a:endParaRPr lang="zh-CN" altLang="en-US" sz="2800">
              <a:latin typeface="黑体" panose="02010609060101010101" charset="-122"/>
              <a:ea typeface="黑体" panose="02010609060101010101" charset="-122"/>
            </a:endParaRPr>
          </a:p>
        </p:txBody>
      </p:sp>
      <p:sp>
        <p:nvSpPr>
          <p:cNvPr id="5" name="文本占位符 4"/>
          <p:cNvSpPr>
            <a:spLocks noGrp="1"/>
          </p:cNvSpPr>
          <p:nvPr>
            <p:custDataLst>
              <p:tags r:id="rId3"/>
            </p:custDataLst>
          </p:nvPr>
        </p:nvSpPr>
        <p:spPr>
          <a:xfrm>
            <a:off x="6632575" y="1362710"/>
            <a:ext cx="4906645" cy="152400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回顾当前的灵巧抓取技术，虽然已有许多尝试，但面临着严峻的挑战。早期的分析学方法主要依赖物理引擎约束来优化抓取姿态，但由于灵巧手自身具有极高的运动自由度，加之需要搜索的构型空间极其庞大，导致这类优化算法的过程极为复杂且抓取成功率偏低。近年来，数据驱动的方法逐渐兴起，特别是基于回归的方法，试图直接从物体的</a:t>
            </a:r>
            <a:r>
              <a:rPr lang="en-US" altLang="zh-CN"/>
              <a:t>3D</a:t>
            </a:r>
            <a:r>
              <a:rPr lang="zh-CN" altLang="en-US"/>
              <a:t>输入中预测抓取参数。</a:t>
            </a:r>
            <a:endParaRPr lang="zh-CN" altLang="en-US"/>
          </a:p>
        </p:txBody>
      </p:sp>
      <p:sp>
        <p:nvSpPr>
          <p:cNvPr id="7" name="文本占位符 6"/>
          <p:cNvSpPr>
            <a:spLocks noGrp="1"/>
          </p:cNvSpPr>
          <p:nvPr>
            <p:custDataLst>
              <p:tags r:id="rId4"/>
            </p:custDataLst>
          </p:nvPr>
        </p:nvSpPr>
        <p:spPr>
          <a:xfrm>
            <a:off x="6631940" y="4044315"/>
            <a:ext cx="4907280" cy="152400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然而，这类回归模型经常遭遇</a:t>
            </a:r>
            <a:r>
              <a:rPr lang="en-US" altLang="zh-CN"/>
              <a:t>“</a:t>
            </a:r>
            <a:r>
              <a:rPr lang="zh-CN" altLang="en-US"/>
              <a:t>模式崩溃（</a:t>
            </a:r>
            <a:r>
              <a:rPr lang="en-US" altLang="zh-CN"/>
              <a:t>mode collapse</a:t>
            </a:r>
            <a:r>
              <a:rPr lang="zh-CN" altLang="en-US"/>
              <a:t>）</a:t>
            </a:r>
            <a:r>
              <a:rPr lang="en-US" altLang="zh-CN"/>
              <a:t>”</a:t>
            </a:r>
            <a:r>
              <a:rPr lang="zh-CN" altLang="en-US"/>
              <a:t>和预测平均化的问题，导致它们生成的抓取姿态严重缺乏多样性，只能生成几种固定套路。此外，由于现实世界中物体的几何形状具备浩如烟海的多样性，如何稳健、高效地为各种异形物体生成高质量、且具有高度可用性的抓取姿态，仍然是目前整个机器人视觉与控制领域的一大技术鸿沟。</a:t>
            </a:r>
            <a:endParaRPr lang="zh-CN" altLang="en-US"/>
          </a:p>
        </p:txBody>
      </p:sp>
      <p:pic>
        <p:nvPicPr>
          <p:cNvPr id="9" name="图片 8" descr="v2-fca0fd59431d292f22246cfa015f6880_1440w"/>
          <p:cNvPicPr>
            <a:picLocks noChangeAspect="1"/>
          </p:cNvPicPr>
          <p:nvPr/>
        </p:nvPicPr>
        <p:blipFill>
          <a:blip r:embed="rId5"/>
          <a:stretch>
            <a:fillRect/>
          </a:stretch>
        </p:blipFill>
        <p:spPr>
          <a:xfrm>
            <a:off x="284480" y="1484630"/>
            <a:ext cx="6083300" cy="46291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43"/>
          <p:cNvGrpSpPr/>
          <p:nvPr/>
        </p:nvGrpSpPr>
        <p:grpSpPr>
          <a:xfrm>
            <a:off x="0" y="156335"/>
            <a:ext cx="11940390" cy="497839"/>
            <a:chOff x="0" y="156335"/>
            <a:chExt cx="11940390" cy="497839"/>
          </a:xfrm>
        </p:grpSpPr>
        <p:grpSp>
          <p:nvGrpSpPr>
            <p:cNvPr id="67" name="组合 44"/>
            <p:cNvGrpSpPr/>
            <p:nvPr/>
          </p:nvGrpSpPr>
          <p:grpSpPr>
            <a:xfrm>
              <a:off x="0" y="156335"/>
              <a:ext cx="9666514" cy="497839"/>
              <a:chOff x="0" y="248698"/>
              <a:chExt cx="9666514" cy="497839"/>
            </a:xfrm>
          </p:grpSpPr>
          <p:grpSp>
            <p:nvGrpSpPr>
              <p:cNvPr id="68" name="组合 46"/>
              <p:cNvGrpSpPr/>
              <p:nvPr/>
            </p:nvGrpSpPr>
            <p:grpSpPr>
              <a:xfrm>
                <a:off x="0" y="294640"/>
                <a:ext cx="880552" cy="375920"/>
                <a:chOff x="0" y="294640"/>
                <a:chExt cx="1094740" cy="467360"/>
              </a:xfrm>
              <a:solidFill>
                <a:srgbClr val="EE8A10"/>
              </a:solidFill>
            </p:grpSpPr>
            <p:sp>
              <p:nvSpPr>
                <p:cNvPr id="1048641"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2"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3"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644" name="文本框 47"/>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9" name="组合 48"/>
              <p:cNvGrpSpPr/>
              <p:nvPr/>
            </p:nvGrpSpPr>
            <p:grpSpPr>
              <a:xfrm>
                <a:off x="3356076" y="408709"/>
                <a:ext cx="1749361" cy="147782"/>
                <a:chOff x="635462" y="775854"/>
                <a:chExt cx="1749361" cy="147782"/>
              </a:xfrm>
              <a:solidFill>
                <a:srgbClr val="EE8A10"/>
              </a:solidFill>
            </p:grpSpPr>
            <p:sp>
              <p:nvSpPr>
                <p:cNvPr id="1048645"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6"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7"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8"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9"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29"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7"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564515" y="707390"/>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现有工作的的部分解决方案</a:t>
            </a:r>
            <a:endParaRPr lang="zh-CN" altLang="en-US" sz="2800">
              <a:latin typeface="黑体" panose="02010609060101010101" charset="-122"/>
              <a:ea typeface="黑体" panose="02010609060101010101" charset="-122"/>
            </a:endParaRPr>
          </a:p>
        </p:txBody>
      </p:sp>
      <p:sp>
        <p:nvSpPr>
          <p:cNvPr id="4" name="文本占位符 4"/>
          <p:cNvSpPr>
            <a:spLocks noGrp="1"/>
          </p:cNvSpPr>
          <p:nvPr>
            <p:custDataLst>
              <p:tags r:id="rId3"/>
            </p:custDataLst>
          </p:nvPr>
        </p:nvSpPr>
        <p:spPr>
          <a:xfrm>
            <a:off x="6632575" y="1621790"/>
            <a:ext cx="4906645" cy="211582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为了解决抓取多样性的问题，学术界近期将目光投向了生成式模型。其中，扩散模型因其能够通过迭代去噪机制，将简单的各向同性高斯分布完美映射为复杂的高维数据分布，展现出了在捕获灵巧抓取复杂性上的巨大潜力。然而，现有的文献表明，直接将扩散模型应用于抓取参数生成时，往往会产生次优的抓取结果。</a:t>
            </a:r>
            <a:endParaRPr lang="zh-CN" altLang="en-US"/>
          </a:p>
        </p:txBody>
      </p:sp>
      <p:sp>
        <p:nvSpPr>
          <p:cNvPr id="6" name="文本占位符 6"/>
          <p:cNvSpPr>
            <a:spLocks noGrp="1"/>
          </p:cNvSpPr>
          <p:nvPr>
            <p:custDataLst>
              <p:tags r:id="rId4"/>
            </p:custDataLst>
          </p:nvPr>
        </p:nvSpPr>
        <p:spPr>
          <a:xfrm>
            <a:off x="6632575" y="4081145"/>
            <a:ext cx="4907280" cy="2291715"/>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最严重的问题在于，由于纯粹的数据驱动网络在训练和采样过程中缺乏强制执行物理规则的约束机制，模型频繁生成具有严重</a:t>
            </a:r>
            <a:r>
              <a:rPr lang="en-US" altLang="zh-CN"/>
              <a:t>“</a:t>
            </a:r>
            <a:r>
              <a:rPr lang="zh-CN" altLang="en-US"/>
              <a:t>穿透（</a:t>
            </a:r>
            <a:r>
              <a:rPr lang="en-US" altLang="zh-CN"/>
              <a:t>Penetration</a:t>
            </a:r>
            <a:r>
              <a:rPr lang="zh-CN" altLang="en-US"/>
              <a:t>）</a:t>
            </a:r>
            <a:r>
              <a:rPr lang="en-US" altLang="zh-CN"/>
              <a:t>”</a:t>
            </a:r>
            <a:r>
              <a:rPr lang="zh-CN" altLang="en-US"/>
              <a:t>现象的姿态（即机器人的手模进入了物体内部），或者导致手指与物体接触不充分。换言之，不讲物理定律的生成模型无法直接用于真实的物理机器人。如何将显式的物理定律融合进扩散模型，是现有文献亟待攻克的难关。</a:t>
            </a:r>
            <a:endParaRPr lang="zh-CN" altLang="en-US"/>
          </a:p>
        </p:txBody>
      </p:sp>
      <p:pic>
        <p:nvPicPr>
          <p:cNvPr id="8" name="图片 7"/>
          <p:cNvPicPr>
            <a:picLocks noChangeAspect="1"/>
          </p:cNvPicPr>
          <p:nvPr/>
        </p:nvPicPr>
        <p:blipFill>
          <a:blip r:embed="rId5"/>
          <a:stretch>
            <a:fillRect/>
          </a:stretch>
        </p:blipFill>
        <p:spPr>
          <a:xfrm>
            <a:off x="335280" y="2318385"/>
            <a:ext cx="5969635" cy="28663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43"/>
          <p:cNvGrpSpPr/>
          <p:nvPr/>
        </p:nvGrpSpPr>
        <p:grpSpPr>
          <a:xfrm>
            <a:off x="0" y="156335"/>
            <a:ext cx="11940390" cy="497839"/>
            <a:chOff x="0" y="156335"/>
            <a:chExt cx="11940390" cy="497839"/>
          </a:xfrm>
        </p:grpSpPr>
        <p:grpSp>
          <p:nvGrpSpPr>
            <p:cNvPr id="67" name="组合 44"/>
            <p:cNvGrpSpPr/>
            <p:nvPr/>
          </p:nvGrpSpPr>
          <p:grpSpPr>
            <a:xfrm>
              <a:off x="0" y="156335"/>
              <a:ext cx="9666514" cy="497839"/>
              <a:chOff x="0" y="248698"/>
              <a:chExt cx="9666514" cy="497839"/>
            </a:xfrm>
          </p:grpSpPr>
          <p:grpSp>
            <p:nvGrpSpPr>
              <p:cNvPr id="68" name="组合 46"/>
              <p:cNvGrpSpPr/>
              <p:nvPr/>
            </p:nvGrpSpPr>
            <p:grpSpPr>
              <a:xfrm>
                <a:off x="0" y="294640"/>
                <a:ext cx="880552" cy="375920"/>
                <a:chOff x="0" y="294640"/>
                <a:chExt cx="1094740" cy="467360"/>
              </a:xfrm>
              <a:solidFill>
                <a:srgbClr val="EE8A10"/>
              </a:solidFill>
            </p:grpSpPr>
            <p:sp>
              <p:nvSpPr>
                <p:cNvPr id="1048641"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2"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3"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644" name="文本框 47"/>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9" name="组合 48"/>
              <p:cNvGrpSpPr/>
              <p:nvPr/>
            </p:nvGrpSpPr>
            <p:grpSpPr>
              <a:xfrm>
                <a:off x="3356076" y="408709"/>
                <a:ext cx="1749361" cy="147782"/>
                <a:chOff x="635462" y="775854"/>
                <a:chExt cx="1749361" cy="147782"/>
              </a:xfrm>
              <a:solidFill>
                <a:srgbClr val="EE8A10"/>
              </a:solidFill>
            </p:grpSpPr>
            <p:sp>
              <p:nvSpPr>
                <p:cNvPr id="1048645"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6"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7"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8"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9"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29"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7"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652780" y="737870"/>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选题意义与核心研究价值</a:t>
            </a:r>
            <a:endParaRPr lang="zh-CN" altLang="en-US" sz="2800">
              <a:latin typeface="黑体" panose="02010609060101010101" charset="-122"/>
              <a:ea typeface="黑体" panose="02010609060101010101" charset="-122"/>
            </a:endParaRPr>
          </a:p>
        </p:txBody>
      </p:sp>
      <p:sp>
        <p:nvSpPr>
          <p:cNvPr id="7" name="文本占位符 6"/>
          <p:cNvSpPr>
            <a:spLocks noGrp="1"/>
          </p:cNvSpPr>
          <p:nvPr>
            <p:custDataLst>
              <p:tags r:id="rId3"/>
            </p:custDataLst>
          </p:nvPr>
        </p:nvSpPr>
        <p:spPr>
          <a:xfrm>
            <a:off x="652780" y="5022215"/>
            <a:ext cx="10714355" cy="1226185"/>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本研究具有较高的应用工程意义。目前开源的抓取数据集普遍存在数据分布狭窄、物体类别局限以及难以大规模扩展等致命缺陷。本研究计划构建一个规模较大、多样性强的灵巧抓取数据集，这不仅能显著提升基于扩散生成算法的上限，也将极大促进整个机器人控制与机器视觉交叉领域的长远发展，向着通用化灵巧抓取迈出关键一步。同时设计一个相应的算法，来使得对应抓取的灵活度上升，使得能够灵活抓取到相应的目标。</a:t>
            </a:r>
            <a:endParaRPr lang="zh-CN" altLang="en-US"/>
          </a:p>
        </p:txBody>
      </p:sp>
      <p:pic>
        <p:nvPicPr>
          <p:cNvPr id="3" name="图片 2" descr="images (1)"/>
          <p:cNvPicPr>
            <a:picLocks noChangeAspect="1"/>
          </p:cNvPicPr>
          <p:nvPr/>
        </p:nvPicPr>
        <p:blipFill>
          <a:blip r:embed="rId4"/>
          <a:stretch>
            <a:fillRect/>
          </a:stretch>
        </p:blipFill>
        <p:spPr>
          <a:xfrm>
            <a:off x="593090" y="1620520"/>
            <a:ext cx="5175885" cy="2835910"/>
          </a:xfrm>
          <a:prstGeom prst="rect">
            <a:avLst/>
          </a:prstGeom>
        </p:spPr>
      </p:pic>
      <p:pic>
        <p:nvPicPr>
          <p:cNvPr id="5" name="图片 4" descr="v2_4dad3dea97f84f7abae9fa7c5e99fa21@5888275_oswg509055oswg1080oswg609_img_000"/>
          <p:cNvPicPr>
            <a:picLocks noChangeAspect="1"/>
          </p:cNvPicPr>
          <p:nvPr/>
        </p:nvPicPr>
        <p:blipFill>
          <a:blip r:embed="rId5"/>
          <a:stretch>
            <a:fillRect/>
          </a:stretch>
        </p:blipFill>
        <p:spPr>
          <a:xfrm>
            <a:off x="6261735" y="1620520"/>
            <a:ext cx="4937125" cy="27844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1048655"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097158" name="Picture 2"/>
          <p:cNvPicPr>
            <a:picLocks noChangeAspect="1" noChangeArrowheads="1"/>
          </p:cNvPicPr>
          <p:nvPr/>
        </p:nvPicPr>
        <p:blipFill rotWithShape="1">
          <a:blip r:embed="rId2" cstate="print"/>
          <a:srcRect/>
          <a:stretch>
            <a:fillRect/>
          </a:stretch>
        </p:blipFill>
        <p:spPr bwMode="auto">
          <a:xfrm>
            <a:off x="4191000" y="1407160"/>
            <a:ext cx="8001000" cy="4043680"/>
          </a:xfrm>
          <a:prstGeom prst="rect">
            <a:avLst/>
          </a:prstGeom>
          <a:noFill/>
        </p:spPr>
      </p:pic>
      <p:grpSp>
        <p:nvGrpSpPr>
          <p:cNvPr id="73" name="雷锋PPT网www.lfppt.com"/>
          <p:cNvGrpSpPr/>
          <p:nvPr/>
        </p:nvGrpSpPr>
        <p:grpSpPr>
          <a:xfrm>
            <a:off x="0" y="713740"/>
            <a:ext cx="12192001" cy="4737100"/>
            <a:chOff x="0" y="713740"/>
            <a:chExt cx="12192001" cy="4737100"/>
          </a:xfrm>
        </p:grpSpPr>
        <p:grpSp>
          <p:nvGrpSpPr>
            <p:cNvPr id="74" name="组合 25"/>
            <p:cNvGrpSpPr/>
            <p:nvPr/>
          </p:nvGrpSpPr>
          <p:grpSpPr>
            <a:xfrm>
              <a:off x="0" y="1407160"/>
              <a:ext cx="4064000" cy="4043680"/>
              <a:chOff x="0" y="1407160"/>
              <a:chExt cx="4064000" cy="4043680"/>
            </a:xfrm>
          </p:grpSpPr>
          <p:sp>
            <p:nvSpPr>
              <p:cNvPr id="1048656"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657" name="文本框 33"/>
              <p:cNvSpPr txBox="1"/>
              <p:nvPr/>
            </p:nvSpPr>
            <p:spPr>
              <a:xfrm>
                <a:off x="104775" y="3052624"/>
                <a:ext cx="3810000" cy="706755"/>
              </a:xfrm>
              <a:prstGeom prst="rect">
                <a:avLst/>
              </a:prstGeom>
              <a:noFill/>
            </p:spPr>
            <p:txBody>
              <a:bodyPr wrap="square" rtlCol="0">
                <a:spAutoFit/>
              </a:bodyPr>
              <a:lstStyle/>
              <a:p>
                <a:pPr algn="ctr"/>
                <a:r>
                  <a:rPr lang="zh-CN" altLang="en-US" sz="4000" spc="600" dirty="0">
                    <a:solidFill>
                      <a:schemeClr val="bg1"/>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预期目标</a:t>
                </a:r>
                <a:endParaRPr lang="zh-CN" altLang="en-US" sz="4000" spc="600" dirty="0">
                  <a:solidFill>
                    <a:schemeClr val="bg1"/>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grpSp>
        <p:grpSp>
          <p:nvGrpSpPr>
            <p:cNvPr id="75" name="组合 26"/>
            <p:cNvGrpSpPr/>
            <p:nvPr/>
          </p:nvGrpSpPr>
          <p:grpSpPr>
            <a:xfrm>
              <a:off x="7564229" y="713740"/>
              <a:ext cx="4627772" cy="1386840"/>
              <a:chOff x="7564229" y="713740"/>
              <a:chExt cx="4627772" cy="1386840"/>
            </a:xfrm>
          </p:grpSpPr>
          <p:sp>
            <p:nvSpPr>
              <p:cNvPr id="1048658" name="任意多边形 28"/>
              <p:cNvSpPr/>
              <p:nvPr/>
            </p:nvSpPr>
            <p:spPr>
              <a:xfrm flipH="1" flipV="1">
                <a:off x="7564229" y="713740"/>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659" name="文本框 30"/>
              <p:cNvSpPr txBox="1"/>
              <p:nvPr/>
            </p:nvSpPr>
            <p:spPr>
              <a:xfrm>
                <a:off x="7712365" y="991661"/>
                <a:ext cx="4479636" cy="764540"/>
              </a:xfrm>
              <a:prstGeom prst="rect">
                <a:avLst/>
              </a:prstGeom>
              <a:noFill/>
            </p:spPr>
            <p:txBody>
              <a:bodyPr wrap="square" rtlCol="0">
                <a:spAutoFit/>
              </a:bodyPr>
              <a:lstStyle/>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TWO</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660" name="文本框 27"/>
            <p:cNvSpPr txBox="1"/>
            <p:nvPr/>
          </p:nvSpPr>
          <p:spPr>
            <a:xfrm>
              <a:off x="9550399" y="3052435"/>
              <a:ext cx="2349194" cy="1577340"/>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02</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59" name="图片 14"/>
          <p:cNvPicPr>
            <a:picLocks noChangeAspect="1"/>
          </p:cNvPicPr>
          <p:nvPr/>
        </p:nvPicPr>
        <p:blipFill>
          <a:blip r:embed="rId3"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组合 2"/>
          <p:cNvGrpSpPr/>
          <p:nvPr/>
        </p:nvGrpSpPr>
        <p:grpSpPr>
          <a:xfrm>
            <a:off x="0" y="156335"/>
            <a:ext cx="11940390" cy="497839"/>
            <a:chOff x="0" y="156335"/>
            <a:chExt cx="11940390" cy="497839"/>
          </a:xfrm>
        </p:grpSpPr>
        <p:grpSp>
          <p:nvGrpSpPr>
            <p:cNvPr id="80" name="组合 3"/>
            <p:cNvGrpSpPr/>
            <p:nvPr/>
          </p:nvGrpSpPr>
          <p:grpSpPr>
            <a:xfrm>
              <a:off x="0" y="156335"/>
              <a:ext cx="9666514" cy="497839"/>
              <a:chOff x="0" y="248698"/>
              <a:chExt cx="9666514" cy="497839"/>
            </a:xfrm>
          </p:grpSpPr>
          <p:grpSp>
            <p:nvGrpSpPr>
              <p:cNvPr id="81" name="组合 4"/>
              <p:cNvGrpSpPr/>
              <p:nvPr/>
            </p:nvGrpSpPr>
            <p:grpSpPr>
              <a:xfrm>
                <a:off x="0" y="294640"/>
                <a:ext cx="880552" cy="375920"/>
                <a:chOff x="0" y="294640"/>
                <a:chExt cx="1094740" cy="467360"/>
              </a:xfrm>
              <a:solidFill>
                <a:srgbClr val="EE8A10"/>
              </a:solidFill>
            </p:grpSpPr>
            <p:sp>
              <p:nvSpPr>
                <p:cNvPr id="1048665"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66"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67"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668"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two</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82" name="组合 6"/>
              <p:cNvGrpSpPr/>
              <p:nvPr/>
            </p:nvGrpSpPr>
            <p:grpSpPr>
              <a:xfrm>
                <a:off x="3356076" y="408709"/>
                <a:ext cx="1749361" cy="147782"/>
                <a:chOff x="635462" y="775854"/>
                <a:chExt cx="1749361" cy="147782"/>
              </a:xfrm>
              <a:solidFill>
                <a:srgbClr val="EE8A10"/>
              </a:solidFill>
            </p:grpSpPr>
            <p:sp>
              <p:nvSpPr>
                <p:cNvPr id="1048669"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0"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1"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2"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3"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0"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60"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652780" y="650875"/>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预期研究目标</a:t>
            </a:r>
            <a:endParaRPr lang="zh-CN" altLang="en-US" sz="2800">
              <a:latin typeface="黑体" panose="02010609060101010101" charset="-122"/>
              <a:ea typeface="黑体" panose="02010609060101010101" charset="-122"/>
            </a:endParaRPr>
          </a:p>
        </p:txBody>
      </p:sp>
      <p:sp>
        <p:nvSpPr>
          <p:cNvPr id="7" name="文本占位符 6"/>
          <p:cNvSpPr>
            <a:spLocks noGrp="1"/>
          </p:cNvSpPr>
          <p:nvPr>
            <p:custDataLst>
              <p:tags r:id="rId3"/>
            </p:custDataLst>
          </p:nvPr>
        </p:nvSpPr>
        <p:spPr>
          <a:xfrm>
            <a:off x="648018" y="4866005"/>
            <a:ext cx="10714355" cy="160401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本研究旨在围绕灵巧手抓取问题，系统梳理当前主流方法在数据构建、抓取表示、物理建模与策略学习等方面的关键技术进展，重点分析以</a:t>
            </a:r>
            <a:r>
              <a:rPr lang="en-US" altLang="zh-CN" dirty="0" err="1"/>
              <a:t>DexGraspNet、D</a:t>
            </a:r>
            <a:r>
              <a:rPr lang="en-US" altLang="zh-CN" dirty="0"/>
              <a:t>(R,O) </a:t>
            </a:r>
            <a:r>
              <a:rPr lang="en-US" altLang="zh-CN" dirty="0" err="1"/>
              <a:t>Grasp、DexGrasp</a:t>
            </a:r>
            <a:r>
              <a:rPr lang="en-US" altLang="zh-CN" dirty="0"/>
              <a:t> Anything</a:t>
            </a:r>
            <a:r>
              <a:rPr lang="zh-CN" altLang="en-US" dirty="0"/>
              <a:t>和</a:t>
            </a:r>
            <a:r>
              <a:rPr lang="en-US" altLang="zh-CN" dirty="0" err="1"/>
              <a:t>UniDexGrasp</a:t>
            </a:r>
            <a:r>
              <a:rPr lang="en-US" altLang="zh-CN" dirty="0"/>
              <a:t>++</a:t>
            </a:r>
            <a:r>
              <a:rPr lang="zh-CN" altLang="en-US" dirty="0"/>
              <a:t>为代表的方法在提升抓取泛化能力、物理可行性与学习效率方面的核心思想与局限性。在此基础上，构建一个统一的分析框架，总结不同技术路线之间的内在联系与发展趋势，归纳当前方法在跨物体、跨结构泛化以及真实场景部署中的关键瓶颈，并进一步明确未来可能的研究方向，如表示与物理约束的融合建模。最终形成一篇具有系统性、对比性与前瞻性的综述论文，为后续灵巧操作与具身智能研究提供理论参考与方法指导。</a:t>
            </a:r>
            <a:endParaRPr lang="zh-CN" altLang="en-US" dirty="0"/>
          </a:p>
        </p:txBody>
      </p:sp>
      <p:pic>
        <p:nvPicPr>
          <p:cNvPr id="3" name="图片 2" descr="A2SSnJNlu9JVBGi5EiIC6y0qVS80DMG5NfwECQSMHVT6k3Gmrm3XNPZ_BXTOqek9DuG3k-Eme7ygoBa4ZStS2pS-hNXL-xl_MD4jb325ntHl60iHHpP4VAMthkUx98eAse0ZuiDiK-2fjdDZegm9Y7m-jUZC_qWDE2fuae6sG23vJxwjylOorPzFO0NEpw_1"/>
          <p:cNvPicPr>
            <a:picLocks noChangeAspect="1"/>
          </p:cNvPicPr>
          <p:nvPr/>
        </p:nvPicPr>
        <p:blipFill>
          <a:blip r:embed="rId4"/>
          <a:stretch>
            <a:fillRect/>
          </a:stretch>
        </p:blipFill>
        <p:spPr>
          <a:xfrm>
            <a:off x="2722245" y="1148080"/>
            <a:ext cx="6431280" cy="36131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1048722"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097169" name="Picture 2"/>
          <p:cNvPicPr>
            <a:picLocks noChangeAspect="1" noChangeArrowheads="1"/>
          </p:cNvPicPr>
          <p:nvPr/>
        </p:nvPicPr>
        <p:blipFill rotWithShape="1">
          <a:blip r:embed="rId2" cstate="print"/>
          <a:srcRect/>
          <a:stretch>
            <a:fillRect/>
          </a:stretch>
        </p:blipFill>
        <p:spPr bwMode="auto">
          <a:xfrm>
            <a:off x="4191000" y="1407160"/>
            <a:ext cx="8001000" cy="4043680"/>
          </a:xfrm>
          <a:prstGeom prst="rect">
            <a:avLst/>
          </a:prstGeom>
          <a:noFill/>
        </p:spPr>
      </p:pic>
      <p:grpSp>
        <p:nvGrpSpPr>
          <p:cNvPr id="107" name="组合 22"/>
          <p:cNvGrpSpPr/>
          <p:nvPr/>
        </p:nvGrpSpPr>
        <p:grpSpPr>
          <a:xfrm>
            <a:off x="0" y="713740"/>
            <a:ext cx="12192001" cy="4737100"/>
            <a:chOff x="0" y="713740"/>
            <a:chExt cx="12192001" cy="4737100"/>
          </a:xfrm>
        </p:grpSpPr>
        <p:grpSp>
          <p:nvGrpSpPr>
            <p:cNvPr id="108" name="组合 25"/>
            <p:cNvGrpSpPr/>
            <p:nvPr/>
          </p:nvGrpSpPr>
          <p:grpSpPr>
            <a:xfrm>
              <a:off x="0" y="1407160"/>
              <a:ext cx="4064000" cy="4043680"/>
              <a:chOff x="0" y="1407160"/>
              <a:chExt cx="4064000" cy="4043680"/>
            </a:xfrm>
          </p:grpSpPr>
          <p:sp>
            <p:nvSpPr>
              <p:cNvPr id="1048723"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24" name="文本框 33"/>
              <p:cNvSpPr txBox="1"/>
              <p:nvPr/>
            </p:nvSpPr>
            <p:spPr>
              <a:xfrm>
                <a:off x="127000" y="3052564"/>
                <a:ext cx="3810000" cy="706755"/>
              </a:xfrm>
              <a:prstGeom prst="rect">
                <a:avLst/>
              </a:prstGeom>
              <a:noFill/>
            </p:spPr>
            <p:txBody>
              <a:bodyPr wrap="square" rtlCol="0">
                <a:spAutoFit/>
              </a:bodyPr>
              <a:lstStyle/>
              <a:p>
                <a:pPr algn="ctr"/>
                <a:r>
                  <a:rPr lang="zh-CN" altLang="en-US" sz="4000" spc="600" dirty="0">
                    <a:solidFill>
                      <a:schemeClr val="bg1"/>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相关</a:t>
                </a:r>
                <a:r>
                  <a:rPr lang="zh-CN" altLang="en-US" sz="4000" spc="600" dirty="0">
                    <a:solidFill>
                      <a:schemeClr val="bg1"/>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工作</a:t>
                </a:r>
                <a:endParaRPr lang="zh-CN" altLang="en-US" sz="4000" spc="600" dirty="0">
                  <a:solidFill>
                    <a:schemeClr val="bg1"/>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grpSp>
        <p:grpSp>
          <p:nvGrpSpPr>
            <p:cNvPr id="109" name="组合 26"/>
            <p:cNvGrpSpPr/>
            <p:nvPr/>
          </p:nvGrpSpPr>
          <p:grpSpPr>
            <a:xfrm>
              <a:off x="7130472" y="713740"/>
              <a:ext cx="5061529" cy="1386840"/>
              <a:chOff x="7130472" y="713740"/>
              <a:chExt cx="5061529" cy="1386840"/>
            </a:xfrm>
          </p:grpSpPr>
          <p:sp>
            <p:nvSpPr>
              <p:cNvPr id="1048725" name="任意多边形 28"/>
              <p:cNvSpPr/>
              <p:nvPr/>
            </p:nvSpPr>
            <p:spPr>
              <a:xfrm flipH="1" flipV="1">
                <a:off x="7130472" y="713740"/>
                <a:ext cx="5061527"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26" name="文本框 30"/>
              <p:cNvSpPr txBox="1"/>
              <p:nvPr/>
            </p:nvSpPr>
            <p:spPr>
              <a:xfrm>
                <a:off x="7564229" y="991661"/>
                <a:ext cx="4627772" cy="701040"/>
              </a:xfrm>
              <a:prstGeom prst="rect">
                <a:avLst/>
              </a:prstGeom>
              <a:noFill/>
            </p:spPr>
            <p:txBody>
              <a:bodyPr wrap="square" rtlCol="0">
                <a:spAutoFit/>
              </a:bodyPr>
              <a:lstStyle/>
              <a:p>
                <a:pPr algn="r"/>
                <a:r>
                  <a:rPr lang="en-US" altLang="zh-CN" sz="3600" spc="300" dirty="0">
                    <a:solidFill>
                      <a:schemeClr val="bg1"/>
                    </a:solidFill>
                    <a:latin typeface="造字工房力黑（非商用）常规体" pitchFamily="50" charset="-122"/>
                    <a:ea typeface="造字工房力黑（非商用）常规体" pitchFamily="50" charset="-122"/>
                    <a:cs typeface="+mn-ea"/>
                    <a:sym typeface="+mn-lt"/>
                  </a:rPr>
                  <a:t>PART THREE</a:t>
                </a:r>
                <a:endParaRPr lang="zh-CN" altLang="en-US" sz="36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727" name="文本框 27"/>
            <p:cNvSpPr txBox="1"/>
            <p:nvPr/>
          </p:nvSpPr>
          <p:spPr>
            <a:xfrm>
              <a:off x="9550399" y="3052435"/>
              <a:ext cx="2349194" cy="1577340"/>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03</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70" name="图片 14"/>
          <p:cNvPicPr>
            <a:picLocks noChangeAspect="1"/>
          </p:cNvPicPr>
          <p:nvPr/>
        </p:nvPicPr>
        <p:blipFill>
          <a:blip r:embed="rId3"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335280" y="754380"/>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灵巧手数据集分析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——DexGraspNet 2.0</a:t>
            </a:r>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pic>
        <p:nvPicPr>
          <p:cNvPr id="4" name="图片 3" descr="teaser"/>
          <p:cNvPicPr>
            <a:picLocks noChangeAspect="1"/>
          </p:cNvPicPr>
          <p:nvPr/>
        </p:nvPicPr>
        <p:blipFill>
          <a:blip r:embed="rId2"/>
          <a:stretch>
            <a:fillRect/>
          </a:stretch>
        </p:blipFill>
        <p:spPr>
          <a:xfrm>
            <a:off x="416560" y="1566545"/>
            <a:ext cx="6054725" cy="4411980"/>
          </a:xfrm>
          <a:prstGeom prst="rect">
            <a:avLst/>
          </a:prstGeom>
        </p:spPr>
      </p:pic>
      <p:sp>
        <p:nvSpPr>
          <p:cNvPr id="5" name="文本框 18"/>
          <p:cNvSpPr txBox="1"/>
          <p:nvPr/>
        </p:nvSpPr>
        <p:spPr>
          <a:xfrm>
            <a:off x="7062470" y="1065530"/>
            <a:ext cx="4920615" cy="5561965"/>
          </a:xfrm>
          <a:prstGeom prst="rect">
            <a:avLst/>
          </a:prstGeom>
          <a:noFill/>
        </p:spPr>
        <p:txBody>
          <a:bodyPr wrap="square">
            <a:noAutofit/>
          </a:bodyPr>
          <a:lstStyle/>
          <a:p>
            <a:pPr indent="457200" algn="l" fontAlgn="auto">
              <a:lnSpc>
                <a:spcPct val="150000"/>
              </a:lnSpc>
              <a:buFont typeface="+mj-lt"/>
              <a:buNone/>
            </a:pPr>
            <a:r>
              <a:rPr lang="en-US" altLang="zh-CN" sz="1600" dirty="0">
                <a:effectLst/>
                <a:latin typeface="微软雅黑" panose="020B0503020204020204" pitchFamily="34" charset="-122"/>
                <a:ea typeface="微软雅黑" panose="020B0503020204020204" pitchFamily="34" charset="-122"/>
                <a:sym typeface="+mn-ea"/>
              </a:rPr>
              <a:t>DexGraspNet 2.0 </a:t>
            </a:r>
            <a:r>
              <a:rPr lang="zh-CN" altLang="en-US" sz="1600" dirty="0">
                <a:effectLst/>
                <a:latin typeface="微软雅黑" panose="020B0503020204020204" pitchFamily="34" charset="-122"/>
                <a:ea typeface="微软雅黑" panose="020B0503020204020204" pitchFamily="34" charset="-122"/>
                <a:sym typeface="+mn-ea"/>
              </a:rPr>
              <a:t>进一步扩展到 </a:t>
            </a:r>
            <a:r>
              <a:rPr lang="en-US" altLang="zh-CN" sz="1600" dirty="0">
                <a:effectLst/>
                <a:latin typeface="微软雅黑" panose="020B0503020204020204" pitchFamily="34" charset="-122"/>
                <a:ea typeface="微软雅黑" panose="020B0503020204020204" pitchFamily="34" charset="-122"/>
                <a:sym typeface="+mn-ea"/>
              </a:rPr>
              <a:t>cluttered scenes，</a:t>
            </a:r>
            <a:r>
              <a:rPr lang="zh-CN" altLang="en-US" sz="1600" dirty="0">
                <a:effectLst/>
                <a:latin typeface="微软雅黑" panose="020B0503020204020204" pitchFamily="34" charset="-122"/>
                <a:ea typeface="微软雅黑" panose="020B0503020204020204" pitchFamily="34" charset="-122"/>
                <a:sym typeface="+mn-ea"/>
              </a:rPr>
              <a:t>即杂乱场景中的灵巧手抓取。</a:t>
            </a:r>
            <a:endParaRPr lang="zh-CN" altLang="en-US" sz="1600" dirty="0">
              <a:effectLst/>
              <a:latin typeface="微软雅黑" panose="020B0503020204020204" pitchFamily="34" charset="-122"/>
              <a:ea typeface="微软雅黑" panose="020B0503020204020204" pitchFamily="34" charset="-122"/>
              <a:sym typeface="+mn-ea"/>
            </a:endParaRPr>
          </a:p>
          <a:p>
            <a:pPr indent="457200" algn="l" fontAlgn="auto">
              <a:lnSpc>
                <a:spcPct val="150000"/>
              </a:lnSpc>
              <a:buFont typeface="+mj-lt"/>
              <a:buNone/>
            </a:pPr>
            <a:r>
              <a:rPr lang="zh-CN" altLang="en-US" sz="1600" dirty="0">
                <a:effectLst/>
                <a:latin typeface="微软雅黑" panose="020B0503020204020204" pitchFamily="34" charset="-122"/>
                <a:ea typeface="微软雅黑" panose="020B0503020204020204" pitchFamily="34" charset="-122"/>
                <a:sym typeface="+mn-ea"/>
              </a:rPr>
              <a:t>相比 </a:t>
            </a:r>
            <a:r>
              <a:rPr lang="en-US" altLang="zh-CN" sz="1600" dirty="0">
                <a:effectLst/>
                <a:latin typeface="微软雅黑" panose="020B0503020204020204" pitchFamily="34" charset="-122"/>
                <a:ea typeface="微软雅黑" panose="020B0503020204020204" pitchFamily="34" charset="-122"/>
                <a:sym typeface="+mn-ea"/>
              </a:rPr>
              <a:t>DexGraspNet </a:t>
            </a:r>
            <a:r>
              <a:rPr lang="zh-CN" altLang="en-US" sz="1600" dirty="0">
                <a:effectLst/>
                <a:latin typeface="微软雅黑" panose="020B0503020204020204" pitchFamily="34" charset="-122"/>
                <a:ea typeface="微软雅黑" panose="020B0503020204020204" pitchFamily="34" charset="-122"/>
                <a:sym typeface="+mn-ea"/>
              </a:rPr>
              <a:t>主要面向单个物体抓取，</a:t>
            </a:r>
            <a:r>
              <a:rPr lang="en-US" altLang="zh-CN" sz="1600" dirty="0">
                <a:effectLst/>
                <a:latin typeface="微软雅黑" panose="020B0503020204020204" pitchFamily="34" charset="-122"/>
                <a:ea typeface="微软雅黑" panose="020B0503020204020204" pitchFamily="34" charset="-122"/>
                <a:sym typeface="+mn-ea"/>
              </a:rPr>
              <a:t>DexGraspNet 2.0 </a:t>
            </a:r>
            <a:r>
              <a:rPr lang="zh-CN" altLang="en-US" sz="1600" dirty="0">
                <a:effectLst/>
                <a:latin typeface="微软雅黑" panose="020B0503020204020204" pitchFamily="34" charset="-122"/>
                <a:ea typeface="微软雅黑" panose="020B0503020204020204" pitchFamily="34" charset="-122"/>
                <a:sym typeface="+mn-ea"/>
              </a:rPr>
              <a:t>构建了包含 1319 个物体、8270 个场景、约 426/427</a:t>
            </a:r>
            <a:r>
              <a:rPr lang="en-US" altLang="zh-CN" sz="1600" dirty="0">
                <a:effectLst/>
                <a:latin typeface="微软雅黑" panose="020B0503020204020204" pitchFamily="34" charset="-122"/>
                <a:ea typeface="微软雅黑" panose="020B0503020204020204" pitchFamily="34" charset="-122"/>
                <a:sym typeface="+mn-ea"/>
              </a:rPr>
              <a:t>M </a:t>
            </a:r>
            <a:r>
              <a:rPr lang="zh-CN" altLang="en-US" sz="1600" dirty="0">
                <a:effectLst/>
                <a:latin typeface="微软雅黑" panose="020B0503020204020204" pitchFamily="34" charset="-122"/>
                <a:ea typeface="微软雅黑" panose="020B0503020204020204" pitchFamily="34" charset="-122"/>
                <a:sym typeface="+mn-ea"/>
              </a:rPr>
              <a:t>抓取的大规模合成 </a:t>
            </a:r>
            <a:r>
              <a:rPr lang="en-US" altLang="zh-CN" sz="1600" dirty="0">
                <a:effectLst/>
                <a:latin typeface="微软雅黑" panose="020B0503020204020204" pitchFamily="34" charset="-122"/>
                <a:ea typeface="微软雅黑" panose="020B0503020204020204" pitchFamily="34" charset="-122"/>
                <a:sym typeface="+mn-ea"/>
              </a:rPr>
              <a:t>benchmark，</a:t>
            </a:r>
            <a:r>
              <a:rPr lang="zh-CN" altLang="en-US" sz="1600" dirty="0">
                <a:effectLst/>
                <a:latin typeface="微软雅黑" panose="020B0503020204020204" pitchFamily="34" charset="-122"/>
                <a:ea typeface="微软雅黑" panose="020B0503020204020204" pitchFamily="34" charset="-122"/>
                <a:sym typeface="+mn-ea"/>
              </a:rPr>
              <a:t>并提出基于局部几何条件的扩散模型抓取方法。论文还报告了通过 </a:t>
            </a:r>
            <a:r>
              <a:rPr lang="en-US" altLang="zh-CN" sz="1600" dirty="0">
                <a:effectLst/>
                <a:latin typeface="微软雅黑" panose="020B0503020204020204" pitchFamily="34" charset="-122"/>
                <a:ea typeface="微软雅黑" panose="020B0503020204020204" pitchFamily="34" charset="-122"/>
                <a:sym typeface="+mn-ea"/>
              </a:rPr>
              <a:t>test-time depth restoration </a:t>
            </a:r>
            <a:r>
              <a:rPr lang="zh-CN" altLang="en-US" sz="1600" dirty="0">
                <a:effectLst/>
                <a:latin typeface="微软雅黑" panose="020B0503020204020204" pitchFamily="34" charset="-122"/>
                <a:ea typeface="微软雅黑" panose="020B0503020204020204" pitchFamily="34" charset="-122"/>
                <a:sym typeface="+mn-ea"/>
              </a:rPr>
              <a:t>实现零样本 </a:t>
            </a:r>
            <a:r>
              <a:rPr lang="en-US" altLang="zh-CN" sz="1600" dirty="0">
                <a:effectLst/>
                <a:latin typeface="微软雅黑" panose="020B0503020204020204" pitchFamily="34" charset="-122"/>
                <a:ea typeface="微软雅黑" panose="020B0503020204020204" pitchFamily="34" charset="-122"/>
                <a:sym typeface="+mn-ea"/>
              </a:rPr>
              <a:t>sim-to-real </a:t>
            </a:r>
            <a:r>
              <a:rPr lang="zh-CN" altLang="en-US" sz="1600" dirty="0">
                <a:effectLst/>
                <a:latin typeface="微软雅黑" panose="020B0503020204020204" pitchFamily="34" charset="-122"/>
                <a:ea typeface="微软雅黑" panose="020B0503020204020204" pitchFamily="34" charset="-122"/>
                <a:sym typeface="+mn-ea"/>
              </a:rPr>
              <a:t>迁移，在真实杂乱场景中达到约 90.7%/91% 的灵巧手抓取成功率。</a:t>
            </a:r>
            <a:endParaRPr lang="zh-CN" altLang="en-US" sz="1600" dirty="0">
              <a:effectLst/>
              <a:latin typeface="微软雅黑" panose="020B0503020204020204" pitchFamily="34" charset="-122"/>
              <a:ea typeface="微软雅黑" panose="020B0503020204020204" pitchFamily="34" charset="-122"/>
              <a:sym typeface="+mn-ea"/>
            </a:endParaRPr>
          </a:p>
          <a:p>
            <a:pPr indent="457200" algn="l" fontAlgn="auto">
              <a:lnSpc>
                <a:spcPct val="150000"/>
              </a:lnSpc>
              <a:buFont typeface="+mj-lt"/>
              <a:buNone/>
            </a:pPr>
            <a:r>
              <a:rPr lang="en-US" altLang="zh-CN" sz="1600" i="0" dirty="0">
                <a:effectLst/>
                <a:latin typeface="微软雅黑" panose="020B0503020204020204" pitchFamily="34" charset="-122"/>
                <a:ea typeface="微软雅黑" panose="020B0503020204020204" pitchFamily="34" charset="-122"/>
              </a:rPr>
              <a:t>DexGraspNet 2.0 </a:t>
            </a:r>
            <a:r>
              <a:rPr lang="zh-CN" altLang="en-US" sz="1600" i="0" dirty="0">
                <a:effectLst/>
                <a:latin typeface="微软雅黑" panose="020B0503020204020204" pitchFamily="34" charset="-122"/>
                <a:ea typeface="微软雅黑" panose="020B0503020204020204" pitchFamily="34" charset="-122"/>
              </a:rPr>
              <a:t>将灵巧手抓取数据集从“</a:t>
            </a:r>
            <a:r>
              <a:rPr lang="zh-CN" altLang="en-US" sz="1600" b="1" i="0" dirty="0">
                <a:effectLst/>
                <a:latin typeface="微软雅黑" panose="020B0503020204020204" pitchFamily="34" charset="-122"/>
                <a:ea typeface="微软雅黑" panose="020B0503020204020204" pitchFamily="34" charset="-122"/>
              </a:rPr>
              <a:t>单物体静态抓取”推进到“多物体杂乱场景抓取”</a:t>
            </a:r>
            <a:r>
              <a:rPr lang="zh-CN" altLang="en-US" sz="1600" i="0" dirty="0">
                <a:effectLst/>
                <a:latin typeface="微软雅黑" panose="020B0503020204020204" pitchFamily="34" charset="-122"/>
                <a:ea typeface="微软雅黑" panose="020B0503020204020204" pitchFamily="34" charset="-122"/>
              </a:rPr>
              <a:t>，更接近实际桌面抓取任务。其核心价值不仅在于数据规模扩大，还在于引入场景级几何复杂性，为真实环境中的灵巧手抓取泛化提供了更合适的训练基础</a:t>
            </a:r>
            <a:endParaRPr lang="zh-CN" altLang="en-US" sz="1600"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335280" y="754380"/>
            <a:ext cx="11696700" cy="953135"/>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灵巧手数据集分析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——RealDex: Towards Human-like Grasping for Robotic Dexterous Hand</a:t>
            </a:r>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5" name="文本框 18"/>
          <p:cNvSpPr txBox="1"/>
          <p:nvPr/>
        </p:nvSpPr>
        <p:spPr>
          <a:xfrm>
            <a:off x="6983095" y="1997710"/>
            <a:ext cx="4920615" cy="4381500"/>
          </a:xfrm>
          <a:prstGeom prst="rect">
            <a:avLst/>
          </a:prstGeom>
          <a:noFill/>
        </p:spPr>
        <p:txBody>
          <a:bodyPr wrap="square">
            <a:noAutofit/>
          </a:bodyPr>
          <a:lstStyle/>
          <a:p>
            <a:pPr indent="457200" algn="l" fontAlgn="auto">
              <a:lnSpc>
                <a:spcPct val="150000"/>
              </a:lnSpc>
              <a:buFont typeface="+mj-lt"/>
              <a:buNone/>
            </a:pPr>
            <a:r>
              <a:rPr lang="en-US" altLang="zh-CN" sz="1600" dirty="0">
                <a:effectLst/>
                <a:latin typeface="微软雅黑" panose="020B0503020204020204" pitchFamily="34" charset="-122"/>
                <a:ea typeface="微软雅黑" panose="020B0503020204020204" pitchFamily="34" charset="-122"/>
                <a:sym typeface="+mn-ea"/>
              </a:rPr>
              <a:t>RealDex </a:t>
            </a:r>
            <a:r>
              <a:rPr lang="zh-CN" altLang="en-US" sz="1600" dirty="0">
                <a:effectLst/>
                <a:latin typeface="微软雅黑" panose="020B0503020204020204" pitchFamily="34" charset="-122"/>
                <a:ea typeface="微软雅黑" panose="020B0503020204020204" pitchFamily="34" charset="-122"/>
                <a:sym typeface="+mn-ea"/>
              </a:rPr>
              <a:t>的贡献在于采集真实世界中</a:t>
            </a:r>
            <a:r>
              <a:rPr lang="zh-CN" altLang="en-US" sz="1600" b="1" dirty="0">
                <a:effectLst/>
                <a:latin typeface="微软雅黑" panose="020B0503020204020204" pitchFamily="34" charset="-122"/>
                <a:ea typeface="微软雅黑" panose="020B0503020204020204" pitchFamily="34" charset="-122"/>
                <a:sym typeface="+mn-ea"/>
              </a:rPr>
              <a:t>带有人类行为模式的机器人灵巧手抓取运动</a:t>
            </a:r>
            <a:r>
              <a:rPr lang="zh-CN" altLang="en-US" sz="1600" dirty="0">
                <a:effectLst/>
                <a:latin typeface="微软雅黑" panose="020B0503020204020204" pitchFamily="34" charset="-122"/>
                <a:ea typeface="微软雅黑" panose="020B0503020204020204" pitchFamily="34" charset="-122"/>
                <a:sym typeface="+mn-ea"/>
              </a:rPr>
              <a:t>。它通过遥操作系统实时同步人手与机器人手姿态，并结合多视角、多模态视觉数据，用于学习更自然、更类人的机器人抓取动作</a:t>
            </a:r>
            <a:r>
              <a:rPr lang="zh-CN" altLang="en-US" sz="1600" dirty="0">
                <a:effectLst/>
                <a:latin typeface="微软雅黑" panose="020B0503020204020204" pitchFamily="34" charset="-122"/>
                <a:ea typeface="微软雅黑" panose="020B0503020204020204" pitchFamily="34" charset="-122"/>
                <a:sym typeface="+mn-ea"/>
              </a:rPr>
              <a:t>。</a:t>
            </a:r>
            <a:endParaRPr lang="zh-CN" altLang="en-US" sz="1600" dirty="0">
              <a:effectLst/>
              <a:latin typeface="微软雅黑" panose="020B0503020204020204" pitchFamily="34" charset="-122"/>
              <a:ea typeface="微软雅黑" panose="020B0503020204020204" pitchFamily="34" charset="-122"/>
              <a:sym typeface="+mn-ea"/>
            </a:endParaRPr>
          </a:p>
          <a:p>
            <a:pPr indent="457200" algn="l" fontAlgn="auto">
              <a:lnSpc>
                <a:spcPct val="150000"/>
              </a:lnSpc>
              <a:buFont typeface="+mj-lt"/>
              <a:buNone/>
            </a:pPr>
            <a:r>
              <a:rPr lang="en-US" altLang="zh-CN" sz="1600" i="0" dirty="0">
                <a:effectLst/>
                <a:latin typeface="微软雅黑" panose="020B0503020204020204" pitchFamily="34" charset="-122"/>
                <a:ea typeface="微软雅黑" panose="020B0503020204020204" pitchFamily="34" charset="-122"/>
              </a:rPr>
              <a:t>RealDex </a:t>
            </a:r>
            <a:r>
              <a:rPr lang="zh-CN" altLang="en-US" sz="1600" i="0" dirty="0">
                <a:effectLst/>
                <a:latin typeface="微软雅黑" panose="020B0503020204020204" pitchFamily="34" charset="-122"/>
                <a:ea typeface="微软雅黑" panose="020B0503020204020204" pitchFamily="34" charset="-122"/>
              </a:rPr>
              <a:t>关注的是“机器人灵巧手如何像人一样抓取”，其数据来源不再只是仿真优化，而是通过</a:t>
            </a:r>
            <a:r>
              <a:rPr lang="zh-CN" altLang="en-US" sz="1600" b="1" i="0" dirty="0">
                <a:effectLst/>
                <a:latin typeface="微软雅黑" panose="020B0503020204020204" pitchFamily="34" charset="-122"/>
                <a:ea typeface="微软雅黑" panose="020B0503020204020204" pitchFamily="34" charset="-122"/>
              </a:rPr>
              <a:t>遥操作采集真实运动轨迹</a:t>
            </a:r>
            <a:r>
              <a:rPr lang="zh-CN" altLang="en-US" sz="1600" i="0" dirty="0">
                <a:effectLst/>
                <a:latin typeface="微软雅黑" panose="020B0503020204020204" pitchFamily="34" charset="-122"/>
                <a:ea typeface="微软雅黑" panose="020B0503020204020204" pitchFamily="34" charset="-122"/>
              </a:rPr>
              <a:t>。相比纯仿真数据，</a:t>
            </a:r>
            <a:r>
              <a:rPr lang="en-US" altLang="zh-CN" sz="1600" i="0" dirty="0">
                <a:effectLst/>
                <a:latin typeface="微软雅黑" panose="020B0503020204020204" pitchFamily="34" charset="-122"/>
                <a:ea typeface="微软雅黑" panose="020B0503020204020204" pitchFamily="34" charset="-122"/>
              </a:rPr>
              <a:t>RealDex </a:t>
            </a:r>
            <a:r>
              <a:rPr lang="zh-CN" altLang="en-US" sz="1600" i="0" dirty="0">
                <a:effectLst/>
                <a:latin typeface="微软雅黑" panose="020B0503020204020204" pitchFamily="34" charset="-122"/>
                <a:ea typeface="微软雅黑" panose="020B0503020204020204" pitchFamily="34" charset="-122"/>
              </a:rPr>
              <a:t>更强调人类抓取策略、手指协同模式和真实感知输入，因此适合用于类人化抓取运动生成研究。</a:t>
            </a:r>
            <a:endParaRPr lang="zh-CN" altLang="en-US" sz="1600" i="0" dirty="0">
              <a:effectLst/>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416560" y="2180590"/>
            <a:ext cx="6016625" cy="36976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335280" y="754380"/>
            <a:ext cx="11696700" cy="1383665"/>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灵巧手数据集分析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——DexFuncGrasp: A Robotic Dexterous Functional Grasp Dataset Constructed from a Cost-Effective Real-Simulation Annotation System</a:t>
            </a:r>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5" name="文本框 18"/>
          <p:cNvSpPr txBox="1"/>
          <p:nvPr/>
        </p:nvSpPr>
        <p:spPr>
          <a:xfrm>
            <a:off x="7019925" y="2001520"/>
            <a:ext cx="4920615" cy="4918710"/>
          </a:xfrm>
          <a:prstGeom prst="rect">
            <a:avLst/>
          </a:prstGeom>
          <a:noFill/>
        </p:spPr>
        <p:txBody>
          <a:bodyPr wrap="square">
            <a:noAutofit/>
          </a:bodyPr>
          <a:lstStyle/>
          <a:p>
            <a:pPr indent="457200" algn="l" fontAlgn="auto">
              <a:lnSpc>
                <a:spcPct val="150000"/>
              </a:lnSpc>
              <a:buFont typeface="+mj-lt"/>
              <a:buNone/>
            </a:pPr>
            <a:r>
              <a:rPr lang="en-US" altLang="zh-CN" sz="1600" dirty="0">
                <a:effectLst/>
                <a:latin typeface="微软雅黑" panose="020B0503020204020204" pitchFamily="34" charset="-122"/>
                <a:ea typeface="微软雅黑" panose="020B0503020204020204" pitchFamily="34" charset="-122"/>
                <a:sym typeface="+mn-ea"/>
              </a:rPr>
              <a:t>DexFuncGrasp </a:t>
            </a:r>
            <a:r>
              <a:rPr lang="zh-CN" altLang="en-US" sz="1600" dirty="0">
                <a:effectLst/>
                <a:latin typeface="微软雅黑" panose="020B0503020204020204" pitchFamily="34" charset="-122"/>
                <a:ea typeface="微软雅黑" panose="020B0503020204020204" pitchFamily="34" charset="-122"/>
                <a:sym typeface="+mn-ea"/>
              </a:rPr>
              <a:t>针对</a:t>
            </a:r>
            <a:r>
              <a:rPr lang="zh-CN" altLang="en-US" sz="1600" b="1" dirty="0">
                <a:effectLst/>
                <a:latin typeface="微软雅黑" panose="020B0503020204020204" pitchFamily="34" charset="-122"/>
                <a:ea typeface="微软雅黑" panose="020B0503020204020204" pitchFamily="34" charset="-122"/>
                <a:sym typeface="+mn-ea"/>
              </a:rPr>
              <a:t>“稳定抓住”和“功能性抓取”之间的差异提出数据集</a:t>
            </a:r>
            <a:r>
              <a:rPr lang="zh-CN" altLang="en-US" sz="1600" dirty="0">
                <a:effectLst/>
                <a:latin typeface="微软雅黑" panose="020B0503020204020204" pitchFamily="34" charset="-122"/>
                <a:ea typeface="微软雅黑" panose="020B0503020204020204" pitchFamily="34" charset="-122"/>
                <a:sym typeface="+mn-ea"/>
              </a:rPr>
              <a:t>。很多传统抓取数据集只关注是否能抓稳物体，但真实任务中机器人需要以合适方式抓取物体以完成后续操作，例如抓杯子的把手、按下手电筒按钮等。</a:t>
            </a:r>
            <a:r>
              <a:rPr lang="en-US" altLang="zh-CN" sz="1600" dirty="0">
                <a:effectLst/>
                <a:latin typeface="微软雅黑" panose="020B0503020204020204" pitchFamily="34" charset="-122"/>
                <a:ea typeface="微软雅黑" panose="020B0503020204020204" pitchFamily="34" charset="-122"/>
                <a:sym typeface="+mn-ea"/>
              </a:rPr>
              <a:t>DexFuncGrasp </a:t>
            </a:r>
            <a:r>
              <a:rPr lang="zh-CN" altLang="en-US" sz="1600" dirty="0">
                <a:effectLst/>
                <a:latin typeface="微软雅黑" panose="020B0503020204020204" pitchFamily="34" charset="-122"/>
                <a:ea typeface="微软雅黑" panose="020B0503020204020204" pitchFamily="34" charset="-122"/>
                <a:sym typeface="+mn-ea"/>
              </a:rPr>
              <a:t>通过低成本真实-仿真标注系统构建功能性抓取姿态数据，并提供官方代码。</a:t>
            </a:r>
            <a:endParaRPr lang="zh-CN" altLang="en-US" sz="1600" dirty="0">
              <a:effectLst/>
              <a:latin typeface="微软雅黑" panose="020B0503020204020204" pitchFamily="34" charset="-122"/>
              <a:ea typeface="微软雅黑" panose="020B0503020204020204" pitchFamily="34" charset="-122"/>
              <a:sym typeface="+mn-ea"/>
            </a:endParaRPr>
          </a:p>
          <a:p>
            <a:pPr indent="457200" algn="l" fontAlgn="auto">
              <a:lnSpc>
                <a:spcPct val="150000"/>
              </a:lnSpc>
              <a:buFont typeface="+mj-lt"/>
              <a:buNone/>
            </a:pPr>
            <a:r>
              <a:rPr lang="en-US" altLang="zh-CN" sz="1600" i="0" dirty="0">
                <a:effectLst/>
                <a:latin typeface="微软雅黑" panose="020B0503020204020204" pitchFamily="34" charset="-122"/>
                <a:ea typeface="微软雅黑" panose="020B0503020204020204" pitchFamily="34" charset="-122"/>
              </a:rPr>
              <a:t>DexFuncGrasp </a:t>
            </a:r>
            <a:r>
              <a:rPr lang="zh-CN" altLang="en-US" sz="1600" i="0" dirty="0">
                <a:effectLst/>
                <a:latin typeface="微软雅黑" panose="020B0503020204020204" pitchFamily="34" charset="-122"/>
                <a:ea typeface="微软雅黑" panose="020B0503020204020204" pitchFamily="34" charset="-122"/>
              </a:rPr>
              <a:t>的重要性在于把灵巧手抓取从</a:t>
            </a:r>
            <a:r>
              <a:rPr lang="zh-CN" altLang="en-US" sz="1600" b="1" i="0" dirty="0">
                <a:effectLst/>
                <a:latin typeface="微软雅黑" panose="020B0503020204020204" pitchFamily="34" charset="-122"/>
                <a:ea typeface="微软雅黑" panose="020B0503020204020204" pitchFamily="34" charset="-122"/>
              </a:rPr>
              <a:t>“稳定性目标”推进到“任务功能目标”</a:t>
            </a:r>
            <a:r>
              <a:rPr lang="zh-CN" altLang="en-US" sz="1600" i="0" dirty="0">
                <a:effectLst/>
                <a:latin typeface="微软雅黑" panose="020B0503020204020204" pitchFamily="34" charset="-122"/>
                <a:ea typeface="微软雅黑" panose="020B0503020204020204" pitchFamily="34" charset="-122"/>
              </a:rPr>
              <a:t>。这类数据集更适合服务机器人、工具使用、家居操作等任务，因为抓取姿态不仅要满足力闭合，还要满足物体 </a:t>
            </a:r>
            <a:r>
              <a:rPr lang="en-US" altLang="zh-CN" sz="1600" i="0" dirty="0">
                <a:effectLst/>
                <a:latin typeface="微软雅黑" panose="020B0503020204020204" pitchFamily="34" charset="-122"/>
                <a:ea typeface="微软雅黑" panose="020B0503020204020204" pitchFamily="34" charset="-122"/>
              </a:rPr>
              <a:t>affordance </a:t>
            </a:r>
            <a:r>
              <a:rPr lang="zh-CN" altLang="en-US" sz="1600" i="0" dirty="0">
                <a:effectLst/>
                <a:latin typeface="微软雅黑" panose="020B0503020204020204" pitchFamily="34" charset="-122"/>
                <a:ea typeface="微软雅黑" panose="020B0503020204020204" pitchFamily="34" charset="-122"/>
              </a:rPr>
              <a:t>和后续操作需求</a:t>
            </a:r>
            <a:r>
              <a:rPr lang="zh-CN" altLang="en-US" sz="1600" i="0" dirty="0">
                <a:effectLst/>
                <a:latin typeface="微软雅黑" panose="020B0503020204020204" pitchFamily="34" charset="-122"/>
                <a:ea typeface="微软雅黑" panose="020B0503020204020204" pitchFamily="34" charset="-122"/>
              </a:rPr>
              <a:t>。</a:t>
            </a:r>
            <a:endParaRPr lang="zh-CN" altLang="en-US" sz="1600" i="0" dirty="0">
              <a:effectLst/>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335280" y="3237230"/>
            <a:ext cx="6353810" cy="25768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335280" y="754380"/>
            <a:ext cx="11696700" cy="953135"/>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灵巧手数据集分析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——OakInk: A Large-scale Knowledge Repository for Understanding Hand-Object Interaction</a:t>
            </a:r>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5" name="文本框 18"/>
          <p:cNvSpPr txBox="1"/>
          <p:nvPr/>
        </p:nvSpPr>
        <p:spPr>
          <a:xfrm>
            <a:off x="7019925" y="1844040"/>
            <a:ext cx="4920615" cy="4585335"/>
          </a:xfrm>
          <a:prstGeom prst="rect">
            <a:avLst/>
          </a:prstGeom>
          <a:noFill/>
        </p:spPr>
        <p:txBody>
          <a:bodyPr wrap="square">
            <a:noAutofit/>
          </a:bodyPr>
          <a:lstStyle/>
          <a:p>
            <a:pPr indent="457200" algn="l" fontAlgn="auto">
              <a:lnSpc>
                <a:spcPct val="150000"/>
              </a:lnSpc>
              <a:buFont typeface="+mj-lt"/>
              <a:buNone/>
            </a:pPr>
            <a:r>
              <a:rPr lang="en-US" altLang="zh-CN" sz="1600" dirty="0">
                <a:effectLst/>
                <a:latin typeface="微软雅黑" panose="020B0503020204020204" pitchFamily="34" charset="-122"/>
                <a:ea typeface="微软雅黑" panose="020B0503020204020204" pitchFamily="34" charset="-122"/>
                <a:sym typeface="+mn-ea"/>
              </a:rPr>
              <a:t>OakInk </a:t>
            </a:r>
            <a:r>
              <a:rPr lang="zh-CN" altLang="en-US" sz="1600" dirty="0">
                <a:effectLst/>
                <a:latin typeface="微软雅黑" panose="020B0503020204020204" pitchFamily="34" charset="-122"/>
                <a:ea typeface="微软雅黑" panose="020B0503020204020204" pitchFamily="34" charset="-122"/>
                <a:sym typeface="+mn-ea"/>
              </a:rPr>
              <a:t>是大规模手物交互知识库，包含 </a:t>
            </a:r>
            <a:r>
              <a:rPr lang="en-US" altLang="zh-CN" sz="1600" dirty="0">
                <a:effectLst/>
                <a:latin typeface="微软雅黑" panose="020B0503020204020204" pitchFamily="34" charset="-122"/>
                <a:ea typeface="微软雅黑" panose="020B0503020204020204" pitchFamily="34" charset="-122"/>
                <a:sym typeface="+mn-ea"/>
              </a:rPr>
              <a:t>OakBase、OakInk-Image </a:t>
            </a:r>
            <a:r>
              <a:rPr lang="zh-CN" altLang="en-US" sz="1600" dirty="0">
                <a:effectLst/>
                <a:latin typeface="微软雅黑" panose="020B0503020204020204" pitchFamily="34" charset="-122"/>
                <a:ea typeface="微软雅黑" panose="020B0503020204020204" pitchFamily="34" charset="-122"/>
                <a:sym typeface="+mn-ea"/>
              </a:rPr>
              <a:t>和 </a:t>
            </a:r>
            <a:r>
              <a:rPr lang="en-US" altLang="zh-CN" sz="1600" dirty="0">
                <a:effectLst/>
                <a:latin typeface="微软雅黑" panose="020B0503020204020204" pitchFamily="34" charset="-122"/>
                <a:ea typeface="微软雅黑" panose="020B0503020204020204" pitchFamily="34" charset="-122"/>
                <a:sym typeface="+mn-ea"/>
              </a:rPr>
              <a:t>OakInk-Shape </a:t>
            </a:r>
            <a:r>
              <a:rPr lang="zh-CN" altLang="en-US" sz="1600" dirty="0">
                <a:effectLst/>
                <a:latin typeface="微软雅黑" panose="020B0503020204020204" pitchFamily="34" charset="-122"/>
                <a:ea typeface="微软雅黑" panose="020B0503020204020204" pitchFamily="34" charset="-122"/>
                <a:sym typeface="+mn-ea"/>
              </a:rPr>
              <a:t>三部分。其中 </a:t>
            </a:r>
            <a:r>
              <a:rPr lang="en-US" altLang="zh-CN" sz="1600" dirty="0">
                <a:effectLst/>
                <a:latin typeface="微软雅黑" panose="020B0503020204020204" pitchFamily="34" charset="-122"/>
                <a:ea typeface="微软雅黑" panose="020B0503020204020204" pitchFamily="34" charset="-122"/>
                <a:sym typeface="+mn-ea"/>
              </a:rPr>
              <a:t>OakInk-Shape </a:t>
            </a:r>
            <a:r>
              <a:rPr lang="zh-CN" altLang="en-US" sz="1600" dirty="0">
                <a:effectLst/>
                <a:latin typeface="微软雅黑" panose="020B0503020204020204" pitchFamily="34" charset="-122"/>
                <a:ea typeface="微软雅黑" panose="020B0503020204020204" pitchFamily="34" charset="-122"/>
                <a:sym typeface="+mn-ea"/>
              </a:rPr>
              <a:t>包含约 50</a:t>
            </a:r>
            <a:r>
              <a:rPr lang="en-US" altLang="zh-CN" sz="1600" dirty="0">
                <a:effectLst/>
                <a:latin typeface="微软雅黑" panose="020B0503020204020204" pitchFamily="34" charset="-122"/>
                <a:ea typeface="微软雅黑" panose="020B0503020204020204" pitchFamily="34" charset="-122"/>
                <a:sym typeface="+mn-ea"/>
              </a:rPr>
              <a:t>K </a:t>
            </a:r>
            <a:r>
              <a:rPr lang="zh-CN" altLang="en-US" sz="1600" dirty="0">
                <a:effectLst/>
                <a:latin typeface="微软雅黑" panose="020B0503020204020204" pitchFamily="34" charset="-122"/>
                <a:ea typeface="微软雅黑" panose="020B0503020204020204" pitchFamily="34" charset="-122"/>
                <a:sym typeface="+mn-ea"/>
              </a:rPr>
              <a:t>个不同的 </a:t>
            </a:r>
            <a:r>
              <a:rPr lang="en-US" altLang="zh-CN" sz="1600" dirty="0">
                <a:effectLst/>
                <a:latin typeface="微软雅黑" panose="020B0503020204020204" pitchFamily="34" charset="-122"/>
                <a:ea typeface="微软雅黑" panose="020B0503020204020204" pitchFamily="34" charset="-122"/>
                <a:sym typeface="+mn-ea"/>
              </a:rPr>
              <a:t>hand-object poses and models，</a:t>
            </a:r>
            <a:r>
              <a:rPr lang="zh-CN" altLang="en-US" sz="1600" dirty="0">
                <a:effectLst/>
                <a:latin typeface="微软雅黑" panose="020B0503020204020204" pitchFamily="34" charset="-122"/>
                <a:ea typeface="微软雅黑" panose="020B0503020204020204" pitchFamily="34" charset="-122"/>
                <a:sym typeface="+mn-ea"/>
              </a:rPr>
              <a:t>用于姿态估计、抓取生成、意图驱动交互生成和 </a:t>
            </a:r>
            <a:r>
              <a:rPr lang="en-US" altLang="zh-CN" sz="1600" dirty="0">
                <a:effectLst/>
                <a:latin typeface="微软雅黑" panose="020B0503020204020204" pitchFamily="34" charset="-122"/>
                <a:ea typeface="微软雅黑" panose="020B0503020204020204" pitchFamily="34" charset="-122"/>
                <a:sym typeface="+mn-ea"/>
              </a:rPr>
              <a:t>handover generation </a:t>
            </a:r>
            <a:r>
              <a:rPr lang="zh-CN" altLang="en-US" sz="1600" dirty="0">
                <a:effectLst/>
                <a:latin typeface="微软雅黑" panose="020B0503020204020204" pitchFamily="34" charset="-122"/>
                <a:ea typeface="微软雅黑" panose="020B0503020204020204" pitchFamily="34" charset="-122"/>
                <a:sym typeface="+mn-ea"/>
              </a:rPr>
              <a:t>等任务</a:t>
            </a:r>
            <a:r>
              <a:rPr lang="zh-CN" altLang="en-US" sz="1600" dirty="0">
                <a:effectLst/>
                <a:latin typeface="微软雅黑" panose="020B0503020204020204" pitchFamily="34" charset="-122"/>
                <a:ea typeface="微软雅黑" panose="020B0503020204020204" pitchFamily="34" charset="-122"/>
                <a:sym typeface="+mn-ea"/>
              </a:rPr>
              <a:t>。</a:t>
            </a:r>
            <a:endParaRPr lang="zh-CN" altLang="en-US" sz="1600" dirty="0">
              <a:effectLst/>
              <a:latin typeface="微软雅黑" panose="020B0503020204020204" pitchFamily="34" charset="-122"/>
              <a:ea typeface="微软雅黑" panose="020B0503020204020204" pitchFamily="34" charset="-122"/>
              <a:sym typeface="+mn-ea"/>
            </a:endParaRPr>
          </a:p>
          <a:p>
            <a:pPr indent="457200" algn="l" fontAlgn="auto">
              <a:lnSpc>
                <a:spcPct val="150000"/>
              </a:lnSpc>
              <a:buFont typeface="+mj-lt"/>
              <a:buNone/>
            </a:pPr>
            <a:r>
              <a:rPr lang="en-US" altLang="zh-CN" sz="1600" i="0" dirty="0">
                <a:effectLst/>
                <a:latin typeface="微软雅黑" panose="020B0503020204020204" pitchFamily="34" charset="-122"/>
                <a:ea typeface="微软雅黑" panose="020B0503020204020204" pitchFamily="34" charset="-122"/>
              </a:rPr>
              <a:t>OakInk </a:t>
            </a:r>
            <a:r>
              <a:rPr lang="zh-CN" altLang="en-US" sz="1600" i="0" dirty="0">
                <a:effectLst/>
                <a:latin typeface="微软雅黑" panose="020B0503020204020204" pitchFamily="34" charset="-122"/>
                <a:ea typeface="微软雅黑" panose="020B0503020204020204" pitchFamily="34" charset="-122"/>
              </a:rPr>
              <a:t>虽然主要是人手-物体交互数据集，但对灵巧手抓取研究具有重要价值。它将物体 </a:t>
            </a:r>
            <a:r>
              <a:rPr lang="en-US" altLang="zh-CN" sz="1600" i="0" dirty="0">
                <a:effectLst/>
                <a:latin typeface="微软雅黑" panose="020B0503020204020204" pitchFamily="34" charset="-122"/>
                <a:ea typeface="微软雅黑" panose="020B0503020204020204" pitchFamily="34" charset="-122"/>
              </a:rPr>
              <a:t>affordance、</a:t>
            </a:r>
            <a:r>
              <a:rPr lang="zh-CN" altLang="en-US" sz="1600" i="0" dirty="0">
                <a:effectLst/>
                <a:latin typeface="微软雅黑" panose="020B0503020204020204" pitchFamily="34" charset="-122"/>
                <a:ea typeface="微软雅黑" panose="020B0503020204020204" pitchFamily="34" charset="-122"/>
              </a:rPr>
              <a:t>交互意图和手部姿态结合起来，为机器人灵巧手从人类示范中学习</a:t>
            </a:r>
            <a:r>
              <a:rPr lang="zh-CN" altLang="en-US" sz="1600" b="1" i="0" dirty="0">
                <a:effectLst/>
                <a:latin typeface="微软雅黑" panose="020B0503020204020204" pitchFamily="34" charset="-122"/>
                <a:ea typeface="微软雅黑" panose="020B0503020204020204" pitchFamily="34" charset="-122"/>
              </a:rPr>
              <a:t>“为什么这样抓”和“为了什么操作而抓”提供了数据基础</a:t>
            </a:r>
            <a:r>
              <a:rPr lang="zh-CN" altLang="en-US" sz="1600" i="0" dirty="0">
                <a:effectLst/>
                <a:latin typeface="微软雅黑" panose="020B0503020204020204" pitchFamily="34" charset="-122"/>
                <a:ea typeface="微软雅黑" panose="020B0503020204020204" pitchFamily="34" charset="-122"/>
              </a:rPr>
              <a:t>。</a:t>
            </a:r>
            <a:endParaRPr lang="zh-CN" altLang="en-US" sz="1600" i="0" dirty="0">
              <a:effectLst/>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217805" y="2076450"/>
            <a:ext cx="6598285" cy="3746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335280" y="754380"/>
            <a:ext cx="11696700" cy="1383665"/>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灵巧手数据集分析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——VTDexManip: A Dataset and Benchmark for Visual-Tactile Pretraining and Dexterous Manipulation With Reinforcement Learning</a:t>
            </a:r>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5" name="文本框 18"/>
          <p:cNvSpPr txBox="1"/>
          <p:nvPr/>
        </p:nvSpPr>
        <p:spPr>
          <a:xfrm>
            <a:off x="7019925" y="1936750"/>
            <a:ext cx="4920615" cy="4585335"/>
          </a:xfrm>
          <a:prstGeom prst="rect">
            <a:avLst/>
          </a:prstGeom>
          <a:noFill/>
        </p:spPr>
        <p:txBody>
          <a:bodyPr wrap="square">
            <a:noAutofit/>
          </a:bodyPr>
          <a:lstStyle/>
          <a:p>
            <a:pPr indent="457200" algn="l" fontAlgn="auto">
              <a:lnSpc>
                <a:spcPct val="150000"/>
              </a:lnSpc>
              <a:buFont typeface="+mj-lt"/>
              <a:buNone/>
            </a:pPr>
            <a:r>
              <a:rPr lang="en-US" altLang="zh-CN" sz="1600" dirty="0">
                <a:effectLst/>
                <a:latin typeface="微软雅黑" panose="020B0503020204020204" pitchFamily="34" charset="-122"/>
                <a:ea typeface="微软雅黑" panose="020B0503020204020204" pitchFamily="34" charset="-122"/>
                <a:sym typeface="+mn-ea"/>
              </a:rPr>
              <a:t>VTDexManip </a:t>
            </a:r>
            <a:r>
              <a:rPr lang="zh-CN" altLang="en-US" sz="1600" dirty="0">
                <a:effectLst/>
                <a:latin typeface="微软雅黑" panose="020B0503020204020204" pitchFamily="34" charset="-122"/>
                <a:ea typeface="微软雅黑" panose="020B0503020204020204" pitchFamily="34" charset="-122"/>
                <a:sym typeface="+mn-ea"/>
              </a:rPr>
              <a:t>是视觉-触觉灵巧操作方向的重要数据集和 </a:t>
            </a:r>
            <a:r>
              <a:rPr lang="en-US" altLang="zh-CN" sz="1600" dirty="0">
                <a:effectLst/>
                <a:latin typeface="微软雅黑" panose="020B0503020204020204" pitchFamily="34" charset="-122"/>
                <a:ea typeface="微软雅黑" panose="020B0503020204020204" pitchFamily="34" charset="-122"/>
                <a:sym typeface="+mn-ea"/>
              </a:rPr>
              <a:t>benchmark。</a:t>
            </a:r>
            <a:r>
              <a:rPr lang="zh-CN" altLang="en-US" sz="1600" dirty="0">
                <a:effectLst/>
                <a:latin typeface="微软雅黑" panose="020B0503020204020204" pitchFamily="34" charset="-122"/>
                <a:ea typeface="微软雅黑" panose="020B0503020204020204" pitchFamily="34" charset="-122"/>
                <a:sym typeface="+mn-ea"/>
              </a:rPr>
              <a:t>它采集了人类在 182 个物体上执行 10 个日常操作任务的大规模视觉-触觉数据，并构建了包含 6 个复杂灵巧操作任务的强化学习 </a:t>
            </a:r>
            <a:r>
              <a:rPr lang="en-US" altLang="zh-CN" sz="1600" dirty="0">
                <a:effectLst/>
                <a:latin typeface="微软雅黑" panose="020B0503020204020204" pitchFamily="34" charset="-122"/>
                <a:ea typeface="微软雅黑" panose="020B0503020204020204" pitchFamily="34" charset="-122"/>
                <a:sym typeface="+mn-ea"/>
              </a:rPr>
              <a:t>benchmark。</a:t>
            </a:r>
            <a:r>
              <a:rPr lang="zh-CN" altLang="en-US" sz="1600" dirty="0">
                <a:effectLst/>
                <a:latin typeface="微软雅黑" panose="020B0503020204020204" pitchFamily="34" charset="-122"/>
                <a:ea typeface="微软雅黑" panose="020B0503020204020204" pitchFamily="34" charset="-122"/>
                <a:sym typeface="+mn-ea"/>
              </a:rPr>
              <a:t>项目报告指出，稀疏二值触觉信号可带来约 20% 的策略性能提升，视觉-触觉联合预训练</a:t>
            </a:r>
            <a:r>
              <a:rPr lang="zh-CN" altLang="en-US" sz="1600" b="1" dirty="0">
                <a:effectLst/>
                <a:latin typeface="微软雅黑" panose="020B0503020204020204" pitchFamily="34" charset="-122"/>
                <a:ea typeface="微软雅黑" panose="020B0503020204020204" pitchFamily="34" charset="-122"/>
                <a:sym typeface="+mn-ea"/>
              </a:rPr>
              <a:t>有助于跨任务泛化</a:t>
            </a:r>
            <a:r>
              <a:rPr lang="zh-CN" altLang="en-US" sz="1600" dirty="0">
                <a:effectLst/>
                <a:latin typeface="微软雅黑" panose="020B0503020204020204" pitchFamily="34" charset="-122"/>
                <a:ea typeface="微软雅黑" panose="020B0503020204020204" pitchFamily="34" charset="-122"/>
                <a:sym typeface="+mn-ea"/>
              </a:rPr>
              <a:t>。</a:t>
            </a:r>
            <a:endParaRPr lang="zh-CN" altLang="en-US" sz="1600" dirty="0">
              <a:effectLst/>
              <a:latin typeface="微软雅黑" panose="020B0503020204020204" pitchFamily="34" charset="-122"/>
              <a:ea typeface="微软雅黑" panose="020B0503020204020204" pitchFamily="34" charset="-122"/>
              <a:sym typeface="+mn-ea"/>
            </a:endParaRPr>
          </a:p>
          <a:p>
            <a:pPr indent="457200" algn="l" fontAlgn="auto">
              <a:lnSpc>
                <a:spcPct val="150000"/>
              </a:lnSpc>
              <a:buFont typeface="+mj-lt"/>
              <a:buNone/>
            </a:pPr>
            <a:r>
              <a:rPr lang="en-US" altLang="zh-CN" sz="1600" i="0" dirty="0">
                <a:effectLst/>
                <a:latin typeface="微软雅黑" panose="020B0503020204020204" pitchFamily="34" charset="-122"/>
                <a:ea typeface="微软雅黑" panose="020B0503020204020204" pitchFamily="34" charset="-122"/>
              </a:rPr>
              <a:t>VTDexManip </a:t>
            </a:r>
            <a:r>
              <a:rPr lang="zh-CN" altLang="en-US" sz="1600" i="0" dirty="0">
                <a:effectLst/>
                <a:latin typeface="微软雅黑" panose="020B0503020204020204" pitchFamily="34" charset="-122"/>
                <a:ea typeface="微软雅黑" panose="020B0503020204020204" pitchFamily="34" charset="-122"/>
              </a:rPr>
              <a:t>说明灵巧手抓取与操作研究正在</a:t>
            </a:r>
            <a:r>
              <a:rPr lang="zh-CN" altLang="en-US" sz="1600" b="1" i="0" dirty="0">
                <a:effectLst/>
                <a:latin typeface="微软雅黑" panose="020B0503020204020204" pitchFamily="34" charset="-122"/>
                <a:ea typeface="微软雅黑" panose="020B0503020204020204" pitchFamily="34" charset="-122"/>
              </a:rPr>
              <a:t>从“纯视觉几何抓取”转向“视觉-触觉联合感知”</a:t>
            </a:r>
            <a:r>
              <a:rPr lang="zh-CN" altLang="en-US" sz="1600" i="0" dirty="0">
                <a:effectLst/>
                <a:latin typeface="微软雅黑" panose="020B0503020204020204" pitchFamily="34" charset="-122"/>
                <a:ea typeface="微软雅黑" panose="020B0503020204020204" pitchFamily="34" charset="-122"/>
              </a:rPr>
              <a:t>。在接触丰富的灵巧操作中，触觉信息能够弥补视觉遮挡和接触状态不可见的问题，因此视觉-触觉数据集是未来灵巧手研究的重要方向</a:t>
            </a:r>
            <a:r>
              <a:rPr lang="zh-CN" altLang="en-US" sz="1600" i="0" dirty="0">
                <a:effectLst/>
                <a:latin typeface="微软雅黑" panose="020B0503020204020204" pitchFamily="34" charset="-122"/>
                <a:ea typeface="微软雅黑" panose="020B0503020204020204" pitchFamily="34" charset="-122"/>
              </a:rPr>
              <a:t>。</a:t>
            </a:r>
            <a:endParaRPr lang="zh-CN" altLang="en-US" sz="1600" i="0" dirty="0">
              <a:effectLst/>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416560" y="2375535"/>
            <a:ext cx="6176010" cy="40551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335280" y="754380"/>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灵巧手数据集</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小复现</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——DexGraspNet</a:t>
            </a:r>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pic>
        <p:nvPicPr>
          <p:cNvPr id="6" name="图片 5"/>
          <p:cNvPicPr>
            <a:picLocks noChangeAspect="1"/>
          </p:cNvPicPr>
          <p:nvPr/>
        </p:nvPicPr>
        <p:blipFill>
          <a:blip r:embed="rId2"/>
          <a:srcRect l="13233" b="-2826"/>
          <a:stretch>
            <a:fillRect/>
          </a:stretch>
        </p:blipFill>
        <p:spPr>
          <a:xfrm>
            <a:off x="257810" y="2017395"/>
            <a:ext cx="5949315" cy="3710940"/>
          </a:xfrm>
          <a:prstGeom prst="rect">
            <a:avLst/>
          </a:prstGeom>
        </p:spPr>
      </p:pic>
      <p:pic>
        <p:nvPicPr>
          <p:cNvPr id="7" name="图片 6"/>
          <p:cNvPicPr>
            <a:picLocks noChangeAspect="1"/>
          </p:cNvPicPr>
          <p:nvPr/>
        </p:nvPicPr>
        <p:blipFill>
          <a:blip r:embed="rId3"/>
          <a:stretch>
            <a:fillRect/>
          </a:stretch>
        </p:blipFill>
        <p:spPr>
          <a:xfrm>
            <a:off x="6692265" y="1566545"/>
            <a:ext cx="5304790" cy="43256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335280" y="754380"/>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灵巧手数据集</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小复现</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——DexGraspNet</a:t>
            </a:r>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pic>
        <p:nvPicPr>
          <p:cNvPr id="2" name="图片 1"/>
          <p:cNvPicPr>
            <a:picLocks noChangeAspect="1"/>
          </p:cNvPicPr>
          <p:nvPr/>
        </p:nvPicPr>
        <p:blipFill>
          <a:blip r:embed="rId2"/>
          <a:stretch>
            <a:fillRect/>
          </a:stretch>
        </p:blipFill>
        <p:spPr>
          <a:xfrm>
            <a:off x="416560" y="1412875"/>
            <a:ext cx="5132705" cy="2701290"/>
          </a:xfrm>
          <a:prstGeom prst="rect">
            <a:avLst/>
          </a:prstGeom>
        </p:spPr>
      </p:pic>
      <p:pic>
        <p:nvPicPr>
          <p:cNvPr id="4" name="图片 3"/>
          <p:cNvPicPr>
            <a:picLocks noChangeAspect="1"/>
          </p:cNvPicPr>
          <p:nvPr/>
        </p:nvPicPr>
        <p:blipFill>
          <a:blip r:embed="rId3"/>
          <a:stretch>
            <a:fillRect/>
          </a:stretch>
        </p:blipFill>
        <p:spPr>
          <a:xfrm>
            <a:off x="6436995" y="1376680"/>
            <a:ext cx="5191125" cy="2732405"/>
          </a:xfrm>
          <a:prstGeom prst="rect">
            <a:avLst/>
          </a:prstGeom>
        </p:spPr>
      </p:pic>
      <p:pic>
        <p:nvPicPr>
          <p:cNvPr id="3" name="图片 2"/>
          <p:cNvPicPr>
            <a:picLocks noChangeAspect="1"/>
          </p:cNvPicPr>
          <p:nvPr/>
        </p:nvPicPr>
        <p:blipFill>
          <a:blip r:embed="rId4"/>
          <a:stretch>
            <a:fillRect/>
          </a:stretch>
        </p:blipFill>
        <p:spPr>
          <a:xfrm>
            <a:off x="502920" y="3834765"/>
            <a:ext cx="5086350" cy="2677160"/>
          </a:xfrm>
          <a:prstGeom prst="rect">
            <a:avLst/>
          </a:prstGeom>
        </p:spPr>
      </p:pic>
      <p:pic>
        <p:nvPicPr>
          <p:cNvPr id="5" name="图片 4"/>
          <p:cNvPicPr>
            <a:picLocks noChangeAspect="1"/>
          </p:cNvPicPr>
          <p:nvPr/>
        </p:nvPicPr>
        <p:blipFill>
          <a:blip r:embed="rId5"/>
          <a:stretch>
            <a:fillRect/>
          </a:stretch>
        </p:blipFill>
        <p:spPr>
          <a:xfrm>
            <a:off x="6361430" y="3781425"/>
            <a:ext cx="5579110" cy="29368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物理合理抓取</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主题研究</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物理约束的核心问题：生成的抓取姿态不仅要几何合理（无穿透、无自碰撞），还要满足力学可行（力封闭、摩擦力充足、可执行）</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阶段一：分析学方法中的物理约束</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核心思想：基于物理引擎和力学公式，用优化或搜索直接求解满足约束的抓取。</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力封闭判据：基于摩擦锥、旋量空间的方法（</a:t>
            </a:r>
            <a:r>
              <a:rPr lang="en-US" altLang="zh-CN" i="0" dirty="0">
                <a:effectLst/>
                <a:latin typeface="微软雅黑" panose="020B0503020204020204" pitchFamily="34" charset="-122"/>
                <a:ea typeface="微软雅黑" panose="020B0503020204020204" pitchFamily="34" charset="-122"/>
              </a:rPr>
              <a:t>Murray, Li &amp; Sastry 1994</a:t>
            </a:r>
            <a:r>
              <a:rPr lang="zh-CN" altLang="en-US" i="0" dirty="0">
                <a:effectLst/>
                <a:latin typeface="微软雅黑" panose="020B0503020204020204" pitchFamily="34" charset="-122"/>
                <a:ea typeface="微软雅黑" panose="020B0503020204020204" pitchFamily="34" charset="-122"/>
              </a:rPr>
              <a:t>等）</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i="0" dirty="0">
                <a:effectLst/>
                <a:latin typeface="微软雅黑" panose="020B0503020204020204" pitchFamily="34" charset="-122"/>
                <a:ea typeface="微软雅黑" panose="020B0503020204020204" pitchFamily="34" charset="-122"/>
              </a:rPr>
              <a:t>GraspIt! (Miller &amp; Allen, 2004)：</a:t>
            </a:r>
            <a:r>
              <a:rPr lang="zh-CN" altLang="en-US" i="0" dirty="0">
                <a:effectLst/>
                <a:latin typeface="微软雅黑" panose="020B0503020204020204" pitchFamily="34" charset="-122"/>
                <a:ea typeface="微软雅黑" panose="020B0503020204020204" pitchFamily="34" charset="-122"/>
              </a:rPr>
              <a:t>首个广泛使用的抓取仿真与分析工具，内置质量评判函数</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基于</a:t>
            </a:r>
            <a:r>
              <a:rPr lang="en-US" altLang="zh-CN" i="0" dirty="0">
                <a:effectLst/>
                <a:latin typeface="微软雅黑" panose="020B0503020204020204" pitchFamily="34" charset="-122"/>
                <a:ea typeface="微软雅黑" panose="020B0503020204020204" pitchFamily="34" charset="-122"/>
              </a:rPr>
              <a:t>SDF</a:t>
            </a:r>
            <a:r>
              <a:rPr lang="zh-CN" altLang="en-US" i="0" dirty="0">
                <a:effectLst/>
                <a:latin typeface="微软雅黑" panose="020B0503020204020204" pitchFamily="34" charset="-122"/>
                <a:ea typeface="微软雅黑" panose="020B0503020204020204" pitchFamily="34" charset="-122"/>
              </a:rPr>
              <a:t>的穿透约束：将有符号距离场作为碰撞惩罚项</a:t>
            </a:r>
            <a:endParaRPr lang="zh-CN" altLang="en-US"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物理合理抓取</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主题研究</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阶段二：数据驱动方法的物理后处理</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核心思想：先用数据驱动生成大量候选抓取，再用物理规则/仿真做筛选或微调。</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i="0" dirty="0">
                <a:effectLst/>
                <a:latin typeface="微软雅黑" panose="020B0503020204020204" pitchFamily="34" charset="-122"/>
                <a:ea typeface="微软雅黑" panose="020B0503020204020204" pitchFamily="34" charset="-122"/>
              </a:rPr>
              <a:t>Contact-GraspNet (Mousavian et al., 2019)：</a:t>
            </a:r>
            <a:r>
              <a:rPr lang="zh-CN" altLang="en-US" i="0" dirty="0">
                <a:effectLst/>
                <a:latin typeface="微软雅黑" panose="020B0503020204020204" pitchFamily="34" charset="-122"/>
                <a:ea typeface="微软雅黑" panose="020B0503020204020204" pitchFamily="34" charset="-122"/>
              </a:rPr>
              <a:t>生成候选接触点后，用物理仿真验证</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i="0" dirty="0">
                <a:effectLst/>
                <a:latin typeface="微软雅黑" panose="020B0503020204020204" pitchFamily="34" charset="-122"/>
                <a:ea typeface="微软雅黑" panose="020B0503020204020204" pitchFamily="34" charset="-122"/>
              </a:rPr>
              <a:t>Grasp Sampling + Physics Filter (Zakka et al., 2020)：</a:t>
            </a:r>
            <a:r>
              <a:rPr lang="zh-CN" altLang="en-US" i="0" dirty="0">
                <a:effectLst/>
                <a:latin typeface="微软雅黑" panose="020B0503020204020204" pitchFamily="34" charset="-122"/>
                <a:ea typeface="微软雅黑" panose="020B0503020204020204" pitchFamily="34" charset="-122"/>
              </a:rPr>
              <a:t>大规模采样+</a:t>
            </a:r>
            <a:r>
              <a:rPr lang="en-US" altLang="zh-CN" i="0" dirty="0">
                <a:effectLst/>
                <a:latin typeface="微软雅黑" panose="020B0503020204020204" pitchFamily="34" charset="-122"/>
                <a:ea typeface="微软雅黑" panose="020B0503020204020204" pitchFamily="34" charset="-122"/>
              </a:rPr>
              <a:t>Isaac Gym</a:t>
            </a:r>
            <a:r>
              <a:rPr lang="zh-CN" altLang="en-US" i="0" dirty="0">
                <a:effectLst/>
                <a:latin typeface="微软雅黑" panose="020B0503020204020204" pitchFamily="34" charset="-122"/>
                <a:ea typeface="微软雅黑" panose="020B0503020204020204" pitchFamily="34" charset="-122"/>
              </a:rPr>
              <a:t>仿真筛选</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i="0" dirty="0">
                <a:effectLst/>
                <a:latin typeface="微软雅黑" panose="020B0503020204020204" pitchFamily="34" charset="-122"/>
                <a:ea typeface="微软雅黑" panose="020B0503020204020204" pitchFamily="34" charset="-122"/>
              </a:rPr>
              <a:t>DexGraspNet (Wang et al., 2022)：</a:t>
            </a:r>
            <a:r>
              <a:rPr lang="zh-CN" altLang="en-US" i="0" dirty="0">
                <a:effectLst/>
                <a:latin typeface="微软雅黑" panose="020B0503020204020204" pitchFamily="34" charset="-122"/>
                <a:ea typeface="微软雅黑" panose="020B0503020204020204" pitchFamily="34" charset="-122"/>
              </a:rPr>
              <a:t>合成了132万抓取，但生成阶段仍靠后验力封闭筛选，未内嵌物理约束</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i="0" dirty="0">
                <a:effectLst/>
                <a:latin typeface="微软雅黑" panose="020B0503020204020204" pitchFamily="34" charset="-122"/>
                <a:ea typeface="微软雅黑" panose="020B0503020204020204" pitchFamily="34" charset="-122"/>
              </a:rPr>
              <a:t>Grasp'D (Wu et al., 2021)：</a:t>
            </a:r>
            <a:r>
              <a:rPr lang="zh-CN" altLang="en-US" i="0" dirty="0">
                <a:effectLst/>
                <a:latin typeface="微软雅黑" panose="020B0503020204020204" pitchFamily="34" charset="-122"/>
                <a:ea typeface="微软雅黑" panose="020B0503020204020204" pitchFamily="34" charset="-122"/>
              </a:rPr>
              <a:t>对生成的抓取做后处理优化（拉格朗日乘子法强制无穿透）</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物理约束只作为“筛选器”而非“指导器”，生成阶段仍可能大量产生无效姿态</a:t>
            </a:r>
            <a:endParaRPr lang="zh-CN" altLang="en-US" b="1"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物理合理抓取</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主题研究</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阶段三：物理约束嵌入生成模型</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核心思想：将可微分的物理能量函数直接纳入生成模型的训练损失或采样过程中的梯度引导，使模型学会输出物理可行的姿态。</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a:t>
            </a:r>
            <a:r>
              <a:rPr lang="en-US" altLang="zh-CN" b="1" i="0" dirty="0">
                <a:effectLst/>
                <a:latin typeface="微软雅黑" panose="020B0503020204020204" pitchFamily="34" charset="-122"/>
                <a:ea typeface="微软雅黑" panose="020B0503020204020204" pitchFamily="34" charset="-122"/>
              </a:rPr>
              <a:t>1</a:t>
            </a:r>
            <a:r>
              <a:rPr lang="zh-CN" altLang="en-US" b="1" i="0" dirty="0">
                <a:effectLst/>
                <a:latin typeface="微软雅黑" panose="020B0503020204020204" pitchFamily="34" charset="-122"/>
                <a:ea typeface="微软雅黑" panose="020B0503020204020204" pitchFamily="34" charset="-122"/>
              </a:rPr>
              <a:t>）物理能量函数的设计</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b="1" i="0" dirty="0">
                <a:effectLst/>
                <a:latin typeface="微软雅黑" panose="020B0503020204020204" pitchFamily="34" charset="-122"/>
                <a:ea typeface="微软雅黑" panose="020B0503020204020204" pitchFamily="34" charset="-122"/>
              </a:rPr>
              <a:t>EFF-Grasp：</a:t>
            </a:r>
            <a:r>
              <a:rPr lang="zh-CN" altLang="en-US" i="0" dirty="0">
                <a:effectLst/>
                <a:latin typeface="微软雅黑" panose="020B0503020204020204" pitchFamily="34" charset="-122"/>
                <a:ea typeface="微软雅黑" panose="020B0503020204020204" pitchFamily="34" charset="-122"/>
              </a:rPr>
              <a:t>首次系统性地提出三项可微分物理能量：外部穿透斥力场(</a:t>
            </a:r>
            <a:r>
              <a:rPr lang="en-US" altLang="zh-CN" i="0" dirty="0">
                <a:effectLst/>
                <a:latin typeface="微软雅黑" panose="020B0503020204020204" pitchFamily="34" charset="-122"/>
                <a:ea typeface="微软雅黑" panose="020B0503020204020204" pitchFamily="34" charset="-122"/>
              </a:rPr>
              <a:t>ERF)、</a:t>
            </a:r>
            <a:r>
              <a:rPr lang="zh-CN" altLang="en-US" i="0" dirty="0">
                <a:effectLst/>
                <a:latin typeface="微软雅黑" panose="020B0503020204020204" pitchFamily="34" charset="-122"/>
                <a:ea typeface="微软雅黑" panose="020B0503020204020204" pitchFamily="34" charset="-122"/>
              </a:rPr>
              <a:t>表面拉力场(</a:t>
            </a:r>
            <a:r>
              <a:rPr lang="en-US" altLang="zh-CN" i="0" dirty="0">
                <a:effectLst/>
                <a:latin typeface="微软雅黑" panose="020B0503020204020204" pitchFamily="34" charset="-122"/>
                <a:ea typeface="微软雅黑" panose="020B0503020204020204" pitchFamily="34" charset="-122"/>
              </a:rPr>
              <a:t>SPF)、</a:t>
            </a:r>
            <a:r>
              <a:rPr lang="zh-CN" altLang="en-US" i="0" dirty="0">
                <a:effectLst/>
                <a:latin typeface="微软雅黑" panose="020B0503020204020204" pitchFamily="34" charset="-122"/>
                <a:ea typeface="微软雅黑" panose="020B0503020204020204" pitchFamily="34" charset="-122"/>
              </a:rPr>
              <a:t>自穿透斥力场(</a:t>
            </a:r>
            <a:r>
              <a:rPr lang="en-US" altLang="zh-CN" i="0" dirty="0">
                <a:effectLst/>
                <a:latin typeface="微软雅黑" panose="020B0503020204020204" pitchFamily="34" charset="-122"/>
                <a:ea typeface="微软雅黑" panose="020B0503020204020204" pitchFamily="34" charset="-122"/>
              </a:rPr>
              <a:t>SRF)</a:t>
            </a:r>
            <a:endParaRPr lang="en-US" altLang="zh-CN"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b="1" i="0" dirty="0">
                <a:effectLst/>
                <a:latin typeface="微软雅黑" panose="020B0503020204020204" pitchFamily="34" charset="-122"/>
                <a:ea typeface="微软雅黑" panose="020B0503020204020204" pitchFamily="34" charset="-122"/>
              </a:rPr>
              <a:t>DFC Estimator (DexGraspNet)：</a:t>
            </a:r>
            <a:r>
              <a:rPr lang="zh-CN" altLang="en-US" i="0" dirty="0">
                <a:effectLst/>
                <a:latin typeface="微软雅黑" panose="020B0503020204020204" pitchFamily="34" charset="-122"/>
                <a:ea typeface="微软雅黑" panose="020B0503020204020204" pitchFamily="34" charset="-122"/>
              </a:rPr>
              <a:t>可微分的力封闭分数估计器，轻量级网络快速评估稳定度</a:t>
            </a:r>
            <a:endParaRPr lang="en-US" altLang="zh-CN"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可微力封闭能量 (</a:t>
            </a:r>
            <a:r>
              <a:rPr lang="en-US" altLang="zh-CN" b="1" i="0" dirty="0">
                <a:effectLst/>
                <a:latin typeface="微软雅黑" panose="020B0503020204020204" pitchFamily="34" charset="-122"/>
                <a:ea typeface="微软雅黑" panose="020B0503020204020204" pitchFamily="34" charset="-122"/>
              </a:rPr>
              <a:t>GraspQP)：</a:t>
            </a:r>
            <a:r>
              <a:rPr lang="zh-CN" altLang="en-US" i="0" dirty="0">
                <a:effectLst/>
                <a:latin typeface="微软雅黑" panose="020B0503020204020204" pitchFamily="34" charset="-122"/>
                <a:ea typeface="微软雅黑" panose="020B0503020204020204" pitchFamily="34" charset="-122"/>
              </a:rPr>
              <a:t>严格的力封闭条件（摩擦锥、正向力）用二次规划可微化</a:t>
            </a:r>
            <a:endParaRPr lang="zh-CN" altLang="en-US"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物理合理抓取</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主题研究</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a:t>
            </a:r>
            <a:r>
              <a:rPr lang="en-US" altLang="zh-CN" b="1" i="0" dirty="0">
                <a:effectLst/>
                <a:latin typeface="微软雅黑" panose="020B0503020204020204" pitchFamily="34" charset="-122"/>
                <a:ea typeface="微软雅黑" panose="020B0503020204020204" pitchFamily="34" charset="-122"/>
              </a:rPr>
              <a:t>2</a:t>
            </a:r>
            <a:r>
              <a:rPr lang="zh-CN" altLang="en-US" b="1" i="0" dirty="0">
                <a:effectLst/>
                <a:latin typeface="微软雅黑" panose="020B0503020204020204" pitchFamily="34" charset="-122"/>
                <a:ea typeface="微软雅黑" panose="020B0503020204020204" pitchFamily="34" charset="-122"/>
              </a:rPr>
              <a:t>）扩散模型中的物理引导</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b="1" i="0" dirty="0">
                <a:effectLst/>
                <a:latin typeface="微软雅黑" panose="020B0503020204020204" pitchFamily="34" charset="-122"/>
                <a:ea typeface="微软雅黑" panose="020B0503020204020204" pitchFamily="34" charset="-122"/>
              </a:rPr>
              <a:t>DexGrasp Anything (2025)：</a:t>
            </a:r>
            <a:r>
              <a:rPr lang="zh-CN" altLang="en-US" i="0" dirty="0">
                <a:effectLst/>
                <a:latin typeface="微软雅黑" panose="020B0503020204020204" pitchFamily="34" charset="-122"/>
                <a:ea typeface="微软雅黑" panose="020B0503020204020204" pitchFamily="34" charset="-122"/>
              </a:rPr>
              <a:t>将</a:t>
            </a:r>
            <a:r>
              <a:rPr lang="en-US" altLang="zh-CN" i="0" dirty="0">
                <a:effectLst/>
                <a:latin typeface="微软雅黑" panose="020B0503020204020204" pitchFamily="34" charset="-122"/>
                <a:ea typeface="微软雅黑" panose="020B0503020204020204" pitchFamily="34" charset="-122"/>
              </a:rPr>
              <a:t>ERF+SPF+SRF</a:t>
            </a:r>
            <a:r>
              <a:rPr lang="zh-CN" altLang="en-US" i="0" dirty="0">
                <a:effectLst/>
                <a:latin typeface="微软雅黑" panose="020B0503020204020204" pitchFamily="34" charset="-122"/>
                <a:ea typeface="微软雅黑" panose="020B0503020204020204" pitchFamily="34" charset="-122"/>
              </a:rPr>
              <a:t>嵌入</a:t>
            </a:r>
            <a:r>
              <a:rPr lang="en-US" altLang="zh-CN" i="0" dirty="0">
                <a:effectLst/>
                <a:latin typeface="微软雅黑" panose="020B0503020204020204" pitchFamily="34" charset="-122"/>
                <a:ea typeface="微软雅黑" panose="020B0503020204020204" pitchFamily="34" charset="-122"/>
              </a:rPr>
              <a:t>Conditional DDPM</a:t>
            </a:r>
            <a:r>
              <a:rPr lang="zh-CN" altLang="en-US" i="0" dirty="0">
                <a:effectLst/>
                <a:latin typeface="微软雅黑" panose="020B0503020204020204" pitchFamily="34" charset="-122"/>
                <a:ea typeface="微软雅黑" panose="020B0503020204020204" pitchFamily="34" charset="-122"/>
              </a:rPr>
              <a:t>的训练损失和采样阶段的梯度修正，实现物理引导生成</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b="1" i="0" dirty="0">
                <a:effectLst/>
                <a:latin typeface="微软雅黑" panose="020B0503020204020204" pitchFamily="34" charset="-122"/>
                <a:ea typeface="微软雅黑" panose="020B0503020204020204" pitchFamily="34" charset="-122"/>
              </a:rPr>
              <a:t>DexDiffuser (2024)：</a:t>
            </a:r>
            <a:r>
              <a:rPr lang="zh-CN" altLang="en-US" i="0" dirty="0">
                <a:effectLst/>
                <a:latin typeface="微软雅黑" panose="020B0503020204020204" pitchFamily="34" charset="-122"/>
                <a:ea typeface="微软雅黑" panose="020B0503020204020204" pitchFamily="34" charset="-122"/>
              </a:rPr>
              <a:t>用力封闭能量函数引导扩散逆过程，生成符合力封闭的抓取姿态</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b="1" i="0" dirty="0">
                <a:effectLst/>
                <a:latin typeface="微软雅黑" panose="020B0503020204020204" pitchFamily="34" charset="-122"/>
                <a:ea typeface="微软雅黑" panose="020B0503020204020204" pitchFamily="34" charset="-122"/>
              </a:rPr>
              <a:t>UniMorphGrasp (2026)：</a:t>
            </a:r>
            <a:r>
              <a:rPr lang="zh-CN" altLang="en-US" i="0" dirty="0">
                <a:effectLst/>
                <a:latin typeface="微软雅黑" panose="020B0503020204020204" pitchFamily="34" charset="-122"/>
                <a:ea typeface="微软雅黑" panose="020B0503020204020204" pitchFamily="34" charset="-122"/>
              </a:rPr>
              <a:t>物理能量引导的逆向采样，特别关注多形态抓取</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b="1" i="0" dirty="0">
                <a:effectLst/>
                <a:latin typeface="微软雅黑" panose="020B0503020204020204" pitchFamily="34" charset="-122"/>
                <a:ea typeface="微软雅黑" panose="020B0503020204020204" pitchFamily="34" charset="-122"/>
              </a:rPr>
              <a:t>CADGrasp (2026)：</a:t>
            </a:r>
            <a:r>
              <a:rPr lang="zh-CN" altLang="en-US" i="0" dirty="0">
                <a:effectLst/>
                <a:latin typeface="微软雅黑" panose="020B0503020204020204" pitchFamily="34" charset="-122"/>
                <a:ea typeface="微软雅黑" panose="020B0503020204020204" pitchFamily="34" charset="-122"/>
              </a:rPr>
              <a:t>不直接将能量嵌入扩散，而是先生成中间物理表示</a:t>
            </a:r>
            <a:r>
              <a:rPr lang="en-US" altLang="zh-CN" i="0" dirty="0">
                <a:effectLst/>
                <a:latin typeface="微软雅黑" panose="020B0503020204020204" pitchFamily="34" charset="-122"/>
                <a:ea typeface="微软雅黑" panose="020B0503020204020204" pitchFamily="34" charset="-122"/>
              </a:rPr>
              <a:t>IBS（</a:t>
            </a:r>
            <a:r>
              <a:rPr lang="zh-CN" altLang="en-US" i="0" dirty="0">
                <a:effectLst/>
                <a:latin typeface="微软雅黑" panose="020B0503020204020204" pitchFamily="34" charset="-122"/>
                <a:ea typeface="微软雅黑" panose="020B0503020204020204" pitchFamily="34" charset="-122"/>
              </a:rPr>
              <a:t>交互二分曲面），再优化抓取，将物理约束编码在中间表示层</a:t>
            </a:r>
            <a:endParaRPr lang="zh-CN" altLang="en-US"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物理合理性引导的生成模型</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方案</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5593715"/>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一、问题定义与目标</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输入：物体点云、任务语义（如语言指令）</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输出：灵巧手抓取姿态</a:t>
            </a:r>
            <a:r>
              <a:rPr lang="en-US" altLang="zh-CN" i="0" dirty="0">
                <a:effectLst/>
                <a:latin typeface="微软雅黑" panose="020B0503020204020204" pitchFamily="34" charset="-122"/>
                <a:ea typeface="微软雅黑" panose="020B0503020204020204" pitchFamily="34" charset="-122"/>
              </a:rPr>
              <a:t>G={q</a:t>
            </a:r>
            <a:r>
              <a:rPr lang="zh-CN" altLang="en-US" i="0" dirty="0">
                <a:effectLst/>
                <a:latin typeface="微软雅黑" panose="020B0503020204020204" pitchFamily="34" charset="-122"/>
                <a:ea typeface="微软雅黑" panose="020B0503020204020204" pitchFamily="34" charset="-122"/>
              </a:rPr>
              <a:t>，</a:t>
            </a:r>
            <a:r>
              <a:rPr lang="en-US" altLang="zh-CN" i="0" dirty="0">
                <a:effectLst/>
                <a:latin typeface="微软雅黑" panose="020B0503020204020204" pitchFamily="34" charset="-122"/>
                <a:ea typeface="微软雅黑" panose="020B0503020204020204" pitchFamily="34" charset="-122"/>
              </a:rPr>
              <a:t>T</a:t>
            </a:r>
            <a:r>
              <a:rPr lang="zh-CN" altLang="en-US" i="0" dirty="0">
                <a:effectLst/>
                <a:latin typeface="微软雅黑" panose="020B0503020204020204" pitchFamily="34" charset="-122"/>
                <a:ea typeface="微软雅黑" panose="020B0503020204020204" pitchFamily="34" charset="-122"/>
              </a:rPr>
              <a:t>，</a:t>
            </a:r>
            <a:r>
              <a:rPr lang="en-US" altLang="zh-CN" i="0" dirty="0">
                <a:effectLst/>
                <a:latin typeface="微软雅黑" panose="020B0503020204020204" pitchFamily="34" charset="-122"/>
                <a:ea typeface="微软雅黑" panose="020B0503020204020204" pitchFamily="34" charset="-122"/>
              </a:rPr>
              <a:t>θ</a:t>
            </a:r>
            <a:r>
              <a:rPr lang="en-US" altLang="zh-CN" i="0" dirty="0">
                <a:effectLst/>
                <a:latin typeface="微软雅黑" panose="020B0503020204020204" pitchFamily="34" charset="-122"/>
                <a:ea typeface="微软雅黑" panose="020B0503020204020204" pitchFamily="34" charset="-122"/>
              </a:rPr>
              <a:t>}</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约束：生成的抓取必须满足</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a:t>
            </a:r>
            <a:r>
              <a:rPr lang="en-US" altLang="zh-CN" i="0" dirty="0">
                <a:effectLst/>
                <a:latin typeface="微软雅黑" panose="020B0503020204020204" pitchFamily="34" charset="-122"/>
                <a:ea typeface="微软雅黑" panose="020B0503020204020204" pitchFamily="34" charset="-122"/>
              </a:rPr>
              <a:t>1</a:t>
            </a:r>
            <a:r>
              <a:rPr lang="zh-CN" altLang="en-US" i="0" dirty="0">
                <a:effectLst/>
                <a:latin typeface="微软雅黑" panose="020B0503020204020204" pitchFamily="34" charset="-122"/>
                <a:ea typeface="微软雅黑" panose="020B0503020204020204" pitchFamily="34" charset="-122"/>
              </a:rPr>
              <a:t>）几何合理性：无穿透、接触自然</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a:t>
            </a:r>
            <a:r>
              <a:rPr lang="en-US" altLang="zh-CN" i="0" dirty="0">
                <a:effectLst/>
                <a:latin typeface="微软雅黑" panose="020B0503020204020204" pitchFamily="34" charset="-122"/>
                <a:ea typeface="微软雅黑" panose="020B0503020204020204" pitchFamily="34" charset="-122"/>
              </a:rPr>
              <a:t>2</a:t>
            </a:r>
            <a:r>
              <a:rPr lang="zh-CN" altLang="en-US" i="0" dirty="0">
                <a:effectLst/>
                <a:latin typeface="微软雅黑" panose="020B0503020204020204" pitchFamily="34" charset="-122"/>
                <a:ea typeface="微软雅黑" panose="020B0503020204020204" pitchFamily="34" charset="-122"/>
              </a:rPr>
              <a:t>）静态物理合理性：力封闭、摩擦力满足、无滑动</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a:t>
            </a:r>
            <a:r>
              <a:rPr lang="en-US" altLang="zh-CN" i="0" dirty="0">
                <a:effectLst/>
                <a:latin typeface="微软雅黑" panose="020B0503020204020204" pitchFamily="34" charset="-122"/>
                <a:ea typeface="微软雅黑" panose="020B0503020204020204" pitchFamily="34" charset="-122"/>
              </a:rPr>
              <a:t>3</a:t>
            </a:r>
            <a:r>
              <a:rPr lang="zh-CN" altLang="en-US" i="0" dirty="0">
                <a:effectLst/>
                <a:latin typeface="微软雅黑" panose="020B0503020204020204" pitchFamily="34" charset="-122"/>
                <a:ea typeface="微软雅黑" panose="020B0503020204020204" pitchFamily="34" charset="-122"/>
              </a:rPr>
              <a:t>）动态物理合理性：抗扰动、可执行性</a:t>
            </a:r>
            <a:endParaRPr lang="zh-CN" altLang="en-US"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物理合理性引导的生成模型</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方案</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5593715"/>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二、整体框架</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b="1" i="0" dirty="0">
                <a:effectLst/>
                <a:latin typeface="微软雅黑" panose="020B0503020204020204" pitchFamily="34" charset="-122"/>
                <a:ea typeface="微软雅黑" panose="020B0503020204020204" pitchFamily="34" charset="-122"/>
              </a:rPr>
              <a:t>DexGrasp-Diffusion</a:t>
            </a:r>
            <a:r>
              <a:rPr lang="zh-CN" altLang="en-US" b="1" i="0" dirty="0">
                <a:effectLst/>
                <a:latin typeface="微软雅黑" panose="020B0503020204020204" pitchFamily="34" charset="-122"/>
                <a:ea typeface="微软雅黑" panose="020B0503020204020204" pitchFamily="34" charset="-122"/>
              </a:rPr>
              <a:t>中使用的</a:t>
            </a:r>
            <a:r>
              <a:rPr lang="zh-CN" altLang="en-US" i="0" dirty="0">
                <a:effectLst/>
                <a:latin typeface="微软雅黑" panose="020B0503020204020204" pitchFamily="34" charset="-122"/>
                <a:ea typeface="微软雅黑" panose="020B0503020204020204" pitchFamily="34" charset="-122"/>
              </a:rPr>
              <a:t>条件扩散模型（</a:t>
            </a:r>
            <a:r>
              <a:rPr lang="en-US" altLang="zh-CN" i="0" dirty="0">
                <a:effectLst/>
                <a:latin typeface="微软雅黑" panose="020B0503020204020204" pitchFamily="34" charset="-122"/>
                <a:ea typeface="微软雅黑" panose="020B0503020204020204" pitchFamily="34" charset="-122"/>
              </a:rPr>
              <a:t>conditional DDPM</a:t>
            </a:r>
            <a:r>
              <a:rPr lang="zh-CN" altLang="en-US" i="0" dirty="0">
                <a:effectLst/>
                <a:latin typeface="微软雅黑" panose="020B0503020204020204" pitchFamily="34" charset="-122"/>
                <a:ea typeface="微软雅黑" panose="020B0503020204020204" pitchFamily="34" charset="-122"/>
              </a:rPr>
              <a:t>），以物体点云</a:t>
            </a:r>
            <a:r>
              <a:rPr lang="en-US" altLang="zh-CN" i="0" dirty="0">
                <a:effectLst/>
                <a:latin typeface="微软雅黑" panose="020B0503020204020204" pitchFamily="34" charset="-122"/>
                <a:ea typeface="微软雅黑" panose="020B0503020204020204" pitchFamily="34" charset="-122"/>
              </a:rPr>
              <a:t>P</a:t>
            </a:r>
            <a:r>
              <a:rPr lang="zh-CN" altLang="en-US" i="0" dirty="0">
                <a:effectLst/>
                <a:latin typeface="微软雅黑" panose="020B0503020204020204" pitchFamily="34" charset="-122"/>
                <a:ea typeface="微软雅黑" panose="020B0503020204020204" pitchFamily="34" charset="-122"/>
              </a:rPr>
              <a:t>和语言嵌入</a:t>
            </a:r>
            <a:r>
              <a:rPr lang="en-US" altLang="zh-CN" i="0" dirty="0">
                <a:effectLst/>
                <a:latin typeface="微软雅黑" panose="020B0503020204020204" pitchFamily="34" charset="-122"/>
                <a:ea typeface="微软雅黑" panose="020B0503020204020204" pitchFamily="34" charset="-122"/>
              </a:rPr>
              <a:t>L</a:t>
            </a:r>
            <a:r>
              <a:rPr lang="zh-CN" altLang="en-US" i="0" dirty="0">
                <a:effectLst/>
                <a:latin typeface="微软雅黑" panose="020B0503020204020204" pitchFamily="34" charset="-122"/>
                <a:ea typeface="微软雅黑" panose="020B0503020204020204" pitchFamily="34" charset="-122"/>
              </a:rPr>
              <a:t>为条件生成抓取参数。原来的模型是正向加噪</a:t>
            </a:r>
            <a:r>
              <a:rPr lang="en-US" altLang="zh-CN" i="0" dirty="0">
                <a:effectLst/>
                <a:latin typeface="微软雅黑" panose="020B0503020204020204" pitchFamily="34" charset="-122"/>
                <a:ea typeface="微软雅黑" panose="020B0503020204020204" pitchFamily="34" charset="-122"/>
              </a:rPr>
              <a:t>              </a:t>
            </a:r>
            <a:r>
              <a:rPr lang="zh-CN" altLang="en-US" i="0" dirty="0">
                <a:effectLst/>
                <a:latin typeface="微软雅黑" panose="020B0503020204020204" pitchFamily="34" charset="-122"/>
                <a:ea typeface="微软雅黑" panose="020B0503020204020204" pitchFamily="34" charset="-122"/>
              </a:rPr>
              <a:t>加逆向</a:t>
            </a:r>
            <a:r>
              <a:rPr lang="zh-CN" altLang="en-US" i="0" dirty="0">
                <a:effectLst/>
                <a:latin typeface="微软雅黑" panose="020B0503020204020204" pitchFamily="34" charset="-122"/>
                <a:ea typeface="微软雅黑" panose="020B0503020204020204" pitchFamily="34" charset="-122"/>
              </a:rPr>
              <a:t>学习</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在原来噪声预测基础上，逆向采样的每一步，引入物理能量函数的梯度，修正预测的噪声。</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用物理能量函数进行</a:t>
            </a:r>
            <a:r>
              <a:rPr lang="zh-CN" altLang="en-US" b="1" i="0" dirty="0">
                <a:effectLst/>
                <a:latin typeface="微软雅黑" panose="020B0503020204020204" pitchFamily="34" charset="-122"/>
                <a:ea typeface="微软雅黑" panose="020B0503020204020204" pitchFamily="34" charset="-122"/>
              </a:rPr>
              <a:t>引导扩散（</a:t>
            </a:r>
            <a:r>
              <a:rPr lang="en-US" altLang="zh-CN" b="1" i="0" dirty="0">
                <a:effectLst/>
                <a:latin typeface="微软雅黑" panose="020B0503020204020204" pitchFamily="34" charset="-122"/>
                <a:ea typeface="微软雅黑" panose="020B0503020204020204" pitchFamily="34" charset="-122"/>
              </a:rPr>
              <a:t>UniMorphGrasp</a:t>
            </a:r>
            <a:r>
              <a:rPr lang="zh-CN" altLang="en-US" b="1" i="0" dirty="0">
                <a:effectLst/>
                <a:latin typeface="微软雅黑" panose="020B0503020204020204" pitchFamily="34" charset="-122"/>
                <a:ea typeface="微软雅黑" panose="020B0503020204020204" pitchFamily="34" charset="-122"/>
              </a:rPr>
              <a:t>、</a:t>
            </a:r>
            <a:r>
              <a:rPr lang="en-US" altLang="zh-CN" b="1" i="0" dirty="0">
                <a:effectLst/>
                <a:latin typeface="微软雅黑" panose="020B0503020204020204" pitchFamily="34" charset="-122"/>
                <a:ea typeface="微软雅黑" panose="020B0503020204020204" pitchFamily="34" charset="-122"/>
              </a:rPr>
              <a:t>DexDiffuser</a:t>
            </a:r>
            <a:r>
              <a:rPr lang="zh-CN" altLang="en-US" b="1" i="0" dirty="0">
                <a:effectLst/>
                <a:latin typeface="微软雅黑" panose="020B0503020204020204" pitchFamily="34" charset="-122"/>
                <a:ea typeface="微软雅黑" panose="020B0503020204020204" pitchFamily="34" charset="-122"/>
              </a:rPr>
              <a:t>均</a:t>
            </a:r>
            <a:r>
              <a:rPr lang="zh-CN" altLang="en-US" b="1" i="0" dirty="0">
                <a:effectLst/>
                <a:latin typeface="微软雅黑" panose="020B0503020204020204" pitchFamily="34" charset="-122"/>
                <a:ea typeface="微软雅黑" panose="020B0503020204020204" pitchFamily="34" charset="-122"/>
              </a:rPr>
              <a:t>使用到）</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i="0" dirty="0">
              <a:effectLst/>
              <a:latin typeface="微软雅黑" panose="020B0503020204020204" pitchFamily="34" charset="-122"/>
              <a:ea typeface="微软雅黑" panose="020B0503020204020204" pitchFamily="34" charset="-122"/>
            </a:endParaRPr>
          </a:p>
        </p:txBody>
      </p:sp>
      <p:pic>
        <p:nvPicPr>
          <p:cNvPr id="2" name="图片 1" descr="ScreenShot_2026-05-26_182617_088"/>
          <p:cNvPicPr>
            <a:picLocks noChangeAspect="1"/>
          </p:cNvPicPr>
          <p:nvPr/>
        </p:nvPicPr>
        <p:blipFill>
          <a:blip r:embed="rId2"/>
          <a:stretch>
            <a:fillRect/>
          </a:stretch>
        </p:blipFill>
        <p:spPr>
          <a:xfrm>
            <a:off x="5980430" y="2426970"/>
            <a:ext cx="800100" cy="276225"/>
          </a:xfrm>
          <a:prstGeom prst="rect">
            <a:avLst/>
          </a:prstGeom>
        </p:spPr>
      </p:pic>
      <p:pic>
        <p:nvPicPr>
          <p:cNvPr id="3" name="图片 2" descr="ScreenShot_2026-05-26_182623_265"/>
          <p:cNvPicPr>
            <a:picLocks noChangeAspect="1"/>
          </p:cNvPicPr>
          <p:nvPr/>
        </p:nvPicPr>
        <p:blipFill>
          <a:blip r:embed="rId3"/>
          <a:stretch>
            <a:fillRect/>
          </a:stretch>
        </p:blipFill>
        <p:spPr>
          <a:xfrm>
            <a:off x="8042275" y="2426970"/>
            <a:ext cx="1028700" cy="285750"/>
          </a:xfrm>
          <a:prstGeom prst="rect">
            <a:avLst/>
          </a:prstGeom>
        </p:spPr>
      </p:pic>
      <p:pic>
        <p:nvPicPr>
          <p:cNvPr id="4" name="图片 3" descr="ScreenShot_2026-05-26_183002_846"/>
          <p:cNvPicPr>
            <a:picLocks noChangeAspect="1"/>
          </p:cNvPicPr>
          <p:nvPr/>
        </p:nvPicPr>
        <p:blipFill>
          <a:blip r:embed="rId4"/>
          <a:stretch>
            <a:fillRect/>
          </a:stretch>
        </p:blipFill>
        <p:spPr>
          <a:xfrm>
            <a:off x="1380490" y="3089275"/>
            <a:ext cx="4401820" cy="5251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物理合理性引导的生成模型</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方案</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5593715"/>
          </a:xfrm>
          <a:prstGeom prst="rect">
            <a:avLst/>
          </a:prstGeom>
          <a:noFill/>
        </p:spPr>
        <p:txBody>
          <a:bodyPr wrap="square">
            <a:noAutofit/>
          </a:bodyPr>
          <a:lstStyle/>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三、物理能量函数设计</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参照</a:t>
            </a:r>
            <a:r>
              <a:rPr lang="en-US" altLang="zh-CN" i="0" dirty="0">
                <a:effectLst/>
                <a:latin typeface="微软雅黑" panose="020B0503020204020204" pitchFamily="34" charset="-122"/>
                <a:ea typeface="微软雅黑" panose="020B0503020204020204" pitchFamily="34" charset="-122"/>
              </a:rPr>
              <a:t>EFF-Grasp</a:t>
            </a:r>
            <a:r>
              <a:rPr lang="zh-CN" altLang="en-US" i="0" dirty="0">
                <a:effectLst/>
                <a:latin typeface="微软雅黑" panose="020B0503020204020204" pitchFamily="34" charset="-122"/>
                <a:ea typeface="微软雅黑" panose="020B0503020204020204" pitchFamily="34" charset="-122"/>
              </a:rPr>
              <a:t>等</a:t>
            </a:r>
            <a:r>
              <a:rPr lang="zh-CN" altLang="en-US" i="0" dirty="0">
                <a:effectLst/>
                <a:latin typeface="微软雅黑" panose="020B0503020204020204" pitchFamily="34" charset="-122"/>
                <a:ea typeface="微软雅黑" panose="020B0503020204020204" pitchFamily="34" charset="-122"/>
              </a:rPr>
              <a:t>设计思路：</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外部穿透斥力场：惩罚最大穿透深度</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其中</a:t>
            </a:r>
            <a:r>
              <a:rPr lang="en-US" altLang="zh-CN" i="0" dirty="0">
                <a:effectLst/>
                <a:latin typeface="微软雅黑" panose="020B0503020204020204" pitchFamily="34" charset="-122"/>
                <a:ea typeface="微软雅黑" panose="020B0503020204020204" pitchFamily="34" charset="-122"/>
              </a:rPr>
              <a:t>SDF</a:t>
            </a:r>
            <a:r>
              <a:rPr lang="zh-CN" altLang="en-US" i="0" dirty="0">
                <a:effectLst/>
                <a:latin typeface="微软雅黑" panose="020B0503020204020204" pitchFamily="34" charset="-122"/>
                <a:ea typeface="微软雅黑" panose="020B0503020204020204" pitchFamily="34" charset="-122"/>
              </a:rPr>
              <a:t>（</a:t>
            </a:r>
            <a:r>
              <a:rPr lang="en-US" altLang="zh-CN" i="0" dirty="0">
                <a:effectLst/>
                <a:latin typeface="微软雅黑" panose="020B0503020204020204" pitchFamily="34" charset="-122"/>
                <a:ea typeface="微软雅黑" panose="020B0503020204020204" pitchFamily="34" charset="-122"/>
              </a:rPr>
              <a:t>p</a:t>
            </a:r>
            <a:r>
              <a:rPr lang="zh-CN" altLang="en-US" i="0" dirty="0">
                <a:effectLst/>
                <a:latin typeface="微软雅黑" panose="020B0503020204020204" pitchFamily="34" charset="-122"/>
                <a:ea typeface="微软雅黑" panose="020B0503020204020204" pitchFamily="34" charset="-122"/>
              </a:rPr>
              <a:t>，</a:t>
            </a:r>
            <a:r>
              <a:rPr lang="en-US" altLang="zh-CN" i="0" dirty="0">
                <a:effectLst/>
                <a:latin typeface="微软雅黑" panose="020B0503020204020204" pitchFamily="34" charset="-122"/>
                <a:ea typeface="微软雅黑" panose="020B0503020204020204" pitchFamily="34" charset="-122"/>
              </a:rPr>
              <a:t>O</a:t>
            </a:r>
            <a:r>
              <a:rPr lang="zh-CN" altLang="en-US" i="0" dirty="0">
                <a:effectLst/>
                <a:latin typeface="微软雅黑" panose="020B0503020204020204" pitchFamily="34" charset="-122"/>
                <a:ea typeface="微软雅黑" panose="020B0503020204020204" pitchFamily="34" charset="-122"/>
              </a:rPr>
              <a:t>）为点</a:t>
            </a:r>
            <a:r>
              <a:rPr lang="en-US" altLang="zh-CN" i="0" dirty="0">
                <a:effectLst/>
                <a:latin typeface="微软雅黑" panose="020B0503020204020204" pitchFamily="34" charset="-122"/>
                <a:ea typeface="微软雅黑" panose="020B0503020204020204" pitchFamily="34" charset="-122"/>
              </a:rPr>
              <a:t>p</a:t>
            </a:r>
            <a:r>
              <a:rPr lang="zh-CN" altLang="en-US" i="0" dirty="0">
                <a:effectLst/>
                <a:latin typeface="微软雅黑" panose="020B0503020204020204" pitchFamily="34" charset="-122"/>
                <a:ea typeface="微软雅黑" panose="020B0503020204020204" pitchFamily="34" charset="-122"/>
              </a:rPr>
              <a:t>到物体表面的有符号距离（负值表示穿透）</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表面拉力场：</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两级吸引，全局质心吸引、最近指尖点精细吸引</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选取离物体最近的</a:t>
            </a:r>
            <a:r>
              <a:rPr lang="en-US" altLang="zh-CN" i="0" dirty="0">
                <a:effectLst/>
                <a:latin typeface="微软雅黑" panose="020B0503020204020204" pitchFamily="34" charset="-122"/>
                <a:ea typeface="微软雅黑" panose="020B0503020204020204" pitchFamily="34" charset="-122"/>
              </a:rPr>
              <a:t>K</a:t>
            </a:r>
            <a:r>
              <a:rPr lang="zh-CN" altLang="en-US" i="0" dirty="0">
                <a:effectLst/>
                <a:latin typeface="微软雅黑" panose="020B0503020204020204" pitchFamily="34" charset="-122"/>
                <a:ea typeface="微软雅黑" panose="020B0503020204020204" pitchFamily="34" charset="-122"/>
              </a:rPr>
              <a:t>个手指关键点，计算它们到物体表面最近点的平均距离</a:t>
            </a:r>
            <a:endParaRPr lang="zh-CN" altLang="en-US" i="0" dirty="0">
              <a:effectLst/>
              <a:latin typeface="微软雅黑" panose="020B0503020204020204" pitchFamily="34" charset="-122"/>
              <a:ea typeface="微软雅黑" panose="020B0503020204020204" pitchFamily="34" charset="-122"/>
            </a:endParaRPr>
          </a:p>
        </p:txBody>
      </p:sp>
      <p:pic>
        <p:nvPicPr>
          <p:cNvPr id="2" name="图片 1" descr="ScreenShot_2026-05-26_184720_738"/>
          <p:cNvPicPr>
            <a:picLocks noChangeAspect="1"/>
          </p:cNvPicPr>
          <p:nvPr/>
        </p:nvPicPr>
        <p:blipFill>
          <a:blip r:embed="rId2"/>
          <a:stretch>
            <a:fillRect/>
          </a:stretch>
        </p:blipFill>
        <p:spPr>
          <a:xfrm>
            <a:off x="1378585" y="2298065"/>
            <a:ext cx="5283200" cy="573405"/>
          </a:xfrm>
          <a:prstGeom prst="rect">
            <a:avLst/>
          </a:prstGeom>
        </p:spPr>
      </p:pic>
      <p:pic>
        <p:nvPicPr>
          <p:cNvPr id="3" name="图片 2" descr="ScreenShot_2026-05-26_184726_100"/>
          <p:cNvPicPr>
            <a:picLocks noChangeAspect="1"/>
          </p:cNvPicPr>
          <p:nvPr/>
        </p:nvPicPr>
        <p:blipFill>
          <a:blip r:embed="rId3"/>
          <a:stretch>
            <a:fillRect/>
          </a:stretch>
        </p:blipFill>
        <p:spPr>
          <a:xfrm>
            <a:off x="5212080" y="2729865"/>
            <a:ext cx="3397885" cy="543560"/>
          </a:xfrm>
          <a:prstGeom prst="rect">
            <a:avLst/>
          </a:prstGeom>
        </p:spPr>
      </p:pic>
      <p:pic>
        <p:nvPicPr>
          <p:cNvPr id="4" name="图片 3" descr="ScreenShot_2026-05-26_184732_275"/>
          <p:cNvPicPr>
            <a:picLocks noChangeAspect="1"/>
          </p:cNvPicPr>
          <p:nvPr/>
        </p:nvPicPr>
        <p:blipFill>
          <a:blip r:embed="rId4"/>
          <a:stretch>
            <a:fillRect/>
          </a:stretch>
        </p:blipFill>
        <p:spPr>
          <a:xfrm>
            <a:off x="1286510" y="4515485"/>
            <a:ext cx="5467350" cy="7715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物理合理性引导的生成模型</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方案</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5593715"/>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自穿透斥力场：惩罚手指间的相互穿透</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力封闭能量：</a:t>
            </a:r>
            <a:r>
              <a:rPr lang="en-US" altLang="zh-CN" i="0" dirty="0">
                <a:effectLst/>
                <a:latin typeface="微软雅黑" panose="020B0503020204020204" pitchFamily="34" charset="-122"/>
                <a:ea typeface="微软雅黑" panose="020B0503020204020204" pitchFamily="34" charset="-122"/>
              </a:rPr>
              <a:t>DexGraspNet</a:t>
            </a:r>
            <a:r>
              <a:rPr lang="zh-CN" altLang="en-US" i="0" dirty="0">
                <a:effectLst/>
                <a:latin typeface="微软雅黑" panose="020B0503020204020204" pitchFamily="34" charset="-122"/>
                <a:ea typeface="微软雅黑" panose="020B0503020204020204" pitchFamily="34" charset="-122"/>
              </a:rPr>
              <a:t>论文中的</a:t>
            </a:r>
            <a:r>
              <a:rPr lang="en-US" altLang="zh-CN" i="0" dirty="0">
                <a:effectLst/>
                <a:latin typeface="微软雅黑" panose="020B0503020204020204" pitchFamily="34" charset="-122"/>
                <a:ea typeface="微软雅黑" panose="020B0503020204020204" pitchFamily="34" charset="-122"/>
              </a:rPr>
              <a:t>DFC</a:t>
            </a:r>
            <a:r>
              <a:rPr lang="zh-CN" altLang="en-US" i="0" dirty="0">
                <a:effectLst/>
                <a:latin typeface="微软雅黑" panose="020B0503020204020204" pitchFamily="34" charset="-122"/>
                <a:ea typeface="微软雅黑" panose="020B0503020204020204" pitchFamily="34" charset="-122"/>
              </a:rPr>
              <a:t>估计器，通过轻量级的网络结构快速且可微地估计出力封闭分数</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之后的训练过程参照</a:t>
            </a:r>
            <a:r>
              <a:rPr lang="en-US" altLang="zh-CN" b="1" dirty="0">
                <a:effectLst/>
                <a:latin typeface="微软雅黑" panose="020B0503020204020204" pitchFamily="34" charset="-122"/>
                <a:ea typeface="微软雅黑" panose="020B0503020204020204" pitchFamily="34" charset="-122"/>
                <a:sym typeface="+mn-ea"/>
              </a:rPr>
              <a:t>DexGrasp-Diffusion</a:t>
            </a:r>
            <a:r>
              <a:rPr lang="zh-CN" altLang="en-US" dirty="0">
                <a:effectLst/>
                <a:latin typeface="微软雅黑" panose="020B0503020204020204" pitchFamily="34" charset="-122"/>
                <a:ea typeface="微软雅黑" panose="020B0503020204020204" pitchFamily="34" charset="-122"/>
                <a:sym typeface="+mn-ea"/>
              </a:rPr>
              <a:t>的扩散模型的训练，但是去掉物理损失部分的约束</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i="0" dirty="0">
              <a:effectLst/>
              <a:latin typeface="微软雅黑" panose="020B0503020204020204" pitchFamily="34" charset="-122"/>
              <a:ea typeface="微软雅黑" panose="020B0503020204020204" pitchFamily="34" charset="-122"/>
            </a:endParaRPr>
          </a:p>
        </p:txBody>
      </p:sp>
      <p:pic>
        <p:nvPicPr>
          <p:cNvPr id="2" name="图片 1" descr="ScreenShot_2026-05-26_184739_110"/>
          <p:cNvPicPr>
            <a:picLocks noChangeAspect="1"/>
          </p:cNvPicPr>
          <p:nvPr/>
        </p:nvPicPr>
        <p:blipFill>
          <a:blip r:embed="rId2"/>
          <a:stretch>
            <a:fillRect/>
          </a:stretch>
        </p:blipFill>
        <p:spPr>
          <a:xfrm>
            <a:off x="5434965" y="1344295"/>
            <a:ext cx="3486150" cy="866775"/>
          </a:xfrm>
          <a:prstGeom prst="rect">
            <a:avLst/>
          </a:prstGeom>
        </p:spPr>
      </p:pic>
      <p:pic>
        <p:nvPicPr>
          <p:cNvPr id="3" name="图片 2" descr="ScreenShot_2026-05-26_185714_394"/>
          <p:cNvPicPr>
            <a:picLocks noChangeAspect="1"/>
          </p:cNvPicPr>
          <p:nvPr/>
        </p:nvPicPr>
        <p:blipFill>
          <a:blip r:embed="rId3"/>
          <a:stretch>
            <a:fillRect/>
          </a:stretch>
        </p:blipFill>
        <p:spPr>
          <a:xfrm>
            <a:off x="1348740" y="3355340"/>
            <a:ext cx="2155190" cy="563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物理合理抓取</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主题研究</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我们对于</a:t>
            </a:r>
            <a:r>
              <a:rPr lang="en-US" altLang="zh-CN" i="0" dirty="0">
                <a:effectLst/>
                <a:latin typeface="微软雅黑" panose="020B0503020204020204" pitchFamily="34" charset="-122"/>
                <a:ea typeface="微软雅黑" panose="020B0503020204020204" pitchFamily="34" charset="-122"/>
              </a:rPr>
              <a:t>2026</a:t>
            </a:r>
            <a:r>
              <a:rPr lang="zh-CN" altLang="en-US" i="0" dirty="0">
                <a:effectLst/>
                <a:latin typeface="微软雅黑" panose="020B0503020204020204" pitchFamily="34" charset="-122"/>
                <a:ea typeface="微软雅黑" panose="020B0503020204020204" pitchFamily="34" charset="-122"/>
              </a:rPr>
              <a:t>年与物理合理的抓取生成相关进展进行了一些研究，主要展示几个比较有启示性的</a:t>
            </a:r>
            <a:r>
              <a:rPr lang="zh-CN" altLang="en-US" i="0" dirty="0">
                <a:effectLst/>
                <a:latin typeface="微软雅黑" panose="020B0503020204020204" pitchFamily="34" charset="-122"/>
                <a:ea typeface="微软雅黑" panose="020B0503020204020204" pitchFamily="34" charset="-122"/>
              </a:rPr>
              <a:t>工作。</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en-US" altLang="zh-CN"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GenHand</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719455" y="5405120"/>
            <a:ext cx="10088880" cy="65532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左侧：</a:t>
            </a:r>
            <a:r>
              <a:rPr lang="en-US" altLang="zh-CN" i="0" dirty="0">
                <a:effectLst/>
                <a:latin typeface="微软雅黑" panose="020B0503020204020204" pitchFamily="34" charset="-122"/>
                <a:ea typeface="微软雅黑" panose="020B0503020204020204" pitchFamily="34" charset="-122"/>
              </a:rPr>
              <a:t>Hand-Object Interaction Modeling（</a:t>
            </a:r>
            <a:r>
              <a:rPr lang="zh-CN" altLang="en-US" i="0" dirty="0">
                <a:effectLst/>
                <a:latin typeface="微软雅黑" panose="020B0503020204020204" pitchFamily="34" charset="-122"/>
                <a:ea typeface="微软雅黑" panose="020B0503020204020204" pitchFamily="34" charset="-122"/>
              </a:rPr>
              <a:t>感知阶段）</a:t>
            </a:r>
            <a:endParaRPr lang="zh-CN" altLang="en-US" i="0" dirty="0">
              <a:effectLst/>
              <a:latin typeface="微软雅黑" panose="020B0503020204020204" pitchFamily="34" charset="-122"/>
              <a:ea typeface="微软雅黑" panose="020B0503020204020204" pitchFamily="34" charset="-122"/>
            </a:endParaRPr>
          </a:p>
        </p:txBody>
      </p:sp>
      <p:pic>
        <p:nvPicPr>
          <p:cNvPr id="2" name="图片 1" descr="ScreenShot_2026-05-26_170923_706"/>
          <p:cNvPicPr>
            <a:picLocks noChangeAspect="1"/>
          </p:cNvPicPr>
          <p:nvPr/>
        </p:nvPicPr>
        <p:blipFill>
          <a:blip r:embed="rId2"/>
          <a:stretch>
            <a:fillRect/>
          </a:stretch>
        </p:blipFill>
        <p:spPr>
          <a:xfrm>
            <a:off x="416560" y="1344295"/>
            <a:ext cx="8870950" cy="3748405"/>
          </a:xfrm>
          <a:prstGeom prst="rect">
            <a:avLst/>
          </a:prstGeom>
        </p:spPr>
      </p:pic>
      <p:sp>
        <p:nvSpPr>
          <p:cNvPr id="3" name="文本框 2"/>
          <p:cNvSpPr txBox="1"/>
          <p:nvPr/>
        </p:nvSpPr>
        <p:spPr>
          <a:xfrm>
            <a:off x="9555480" y="1588135"/>
            <a:ext cx="2286000" cy="2584450"/>
          </a:xfrm>
          <a:prstGeom prst="rect">
            <a:avLst/>
          </a:prstGeom>
          <a:noFill/>
        </p:spPr>
        <p:txBody>
          <a:bodyPr wrap="square" rtlCol="0">
            <a:spAutoFit/>
          </a:bodyPr>
          <a:p>
            <a:r>
              <a:rPr lang="en-US" altLang="zh-CN"/>
              <a:t>Encoder：</a:t>
            </a:r>
            <a:r>
              <a:rPr lang="zh-CN" altLang="en-US"/>
              <a:t>提取图像特征</a:t>
            </a:r>
            <a:endParaRPr lang="en-US" altLang="zh-CN"/>
          </a:p>
          <a:p>
            <a:r>
              <a:rPr lang="zh-CN" altLang="en-US"/>
              <a:t>分两条支路：</a:t>
            </a:r>
            <a:endParaRPr lang="en-US" altLang="zh-CN"/>
          </a:p>
          <a:p>
            <a:r>
              <a:rPr lang="en-US" altLang="zh-CN"/>
              <a:t>Hand-branch：</a:t>
            </a:r>
            <a:r>
              <a:rPr lang="zh-CN" altLang="en-US"/>
              <a:t>预测</a:t>
            </a:r>
            <a:r>
              <a:rPr lang="zh-CN" altLang="en-US" b="1">
                <a:solidFill>
                  <a:schemeClr val="accent1"/>
                </a:solidFill>
                <a:effectLst>
                  <a:outerShdw blurRad="38100" dist="25400" dir="5400000" algn="ctr" rotWithShape="0">
                    <a:srgbClr val="6E747A">
                      <a:alpha val="43000"/>
                    </a:srgbClr>
                  </a:outerShdw>
                </a:effectLst>
              </a:rPr>
              <a:t>人手姿态（</a:t>
            </a:r>
            <a:r>
              <a:rPr lang="en-US" altLang="zh-CN" b="1">
                <a:solidFill>
                  <a:schemeClr val="accent1"/>
                </a:solidFill>
                <a:effectLst>
                  <a:outerShdw blurRad="38100" dist="25400" dir="5400000" algn="ctr" rotWithShape="0">
                    <a:srgbClr val="6E747A">
                      <a:alpha val="43000"/>
                    </a:srgbClr>
                  </a:outerShdw>
                </a:effectLst>
              </a:rPr>
              <a:t>MANO </a:t>
            </a:r>
            <a:r>
              <a:rPr lang="zh-CN" altLang="en-US" b="1">
                <a:solidFill>
                  <a:schemeClr val="accent1"/>
                </a:solidFill>
                <a:effectLst>
                  <a:outerShdw blurRad="38100" dist="25400" dir="5400000" algn="ctr" rotWithShape="0">
                    <a:srgbClr val="6E747A">
                      <a:alpha val="43000"/>
                    </a:srgbClr>
                  </a:outerShdw>
                </a:effectLst>
              </a:rPr>
              <a:t>模型 → 手的网格、关节）</a:t>
            </a:r>
            <a:endParaRPr lang="en-US" altLang="zh-CN" b="1">
              <a:solidFill>
                <a:schemeClr val="accent1"/>
              </a:solidFill>
              <a:effectLst>
                <a:outerShdw blurRad="38100" dist="25400" dir="5400000" algn="ctr" rotWithShape="0">
                  <a:srgbClr val="6E747A">
                    <a:alpha val="43000"/>
                  </a:srgbClr>
                </a:outerShdw>
              </a:effectLst>
            </a:endParaRPr>
          </a:p>
          <a:p>
            <a:r>
              <a:rPr lang="en-US" altLang="zh-CN" b="1">
                <a:solidFill>
                  <a:schemeClr val="accent1"/>
                </a:solidFill>
                <a:effectLst>
                  <a:outerShdw blurRad="38100" dist="25400" dir="5400000" algn="ctr" rotWithShape="0">
                    <a:srgbClr val="6E747A">
                      <a:alpha val="43000"/>
                    </a:srgbClr>
                  </a:outerShdw>
                </a:effectLst>
              </a:rPr>
              <a:t>Obj-branch：</a:t>
            </a:r>
            <a:r>
              <a:rPr lang="zh-CN" altLang="en-US" b="1">
                <a:solidFill>
                  <a:schemeClr val="accent1"/>
                </a:solidFill>
                <a:effectLst>
                  <a:outerShdw blurRad="38100" dist="25400" dir="5400000" algn="ctr" rotWithShape="0">
                    <a:srgbClr val="6E747A">
                      <a:alpha val="43000"/>
                    </a:srgbClr>
                  </a:outerShdw>
                </a:effectLst>
              </a:rPr>
              <a:t>重建物体（</a:t>
            </a:r>
            <a:r>
              <a:rPr lang="en-US" altLang="zh-CN" b="1">
                <a:solidFill>
                  <a:schemeClr val="accent1"/>
                </a:solidFill>
                <a:effectLst>
                  <a:outerShdw blurRad="38100" dist="25400" dir="5400000" algn="ctr" rotWithShape="0">
                    <a:srgbClr val="6E747A">
                      <a:alpha val="43000"/>
                    </a:srgbClr>
                  </a:outerShdw>
                </a:effectLst>
              </a:rPr>
              <a:t>SDF </a:t>
            </a:r>
            <a:r>
              <a:rPr lang="zh-CN" altLang="en-US" b="1">
                <a:solidFill>
                  <a:schemeClr val="accent1"/>
                </a:solidFill>
                <a:effectLst>
                  <a:outerShdw blurRad="38100" dist="25400" dir="5400000" algn="ctr" rotWithShape="0">
                    <a:srgbClr val="6E747A">
                      <a:alpha val="43000"/>
                    </a:srgbClr>
                  </a:outerShdw>
                </a:effectLst>
              </a:rPr>
              <a:t>表示）</a:t>
            </a:r>
            <a:endParaRPr lang="zh-CN" altLang="en-US" b="1">
              <a:solidFill>
                <a:schemeClr val="accent1"/>
              </a:solidFill>
              <a:effectLst>
                <a:outerShdw blurRad="38100" dist="25400" dir="5400000" algn="ctr" rotWithShape="0">
                  <a:srgbClr val="6E747A">
                    <a:alpha val="43000"/>
                  </a:srgb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GenHand</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719455" y="5405120"/>
            <a:ext cx="10088880" cy="65532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中间：</a:t>
            </a:r>
            <a:r>
              <a:rPr lang="en-US" altLang="zh-CN" i="0" dirty="0">
                <a:effectLst/>
                <a:latin typeface="微软雅黑" panose="020B0503020204020204" pitchFamily="34" charset="-122"/>
                <a:ea typeface="微软雅黑" panose="020B0503020204020204" pitchFamily="34" charset="-122"/>
              </a:rPr>
              <a:t>Force-Closure Optimisation</a:t>
            </a:r>
            <a:endParaRPr lang="zh-CN" altLang="en-US" i="0" dirty="0">
              <a:effectLst/>
              <a:latin typeface="微软雅黑" panose="020B0503020204020204" pitchFamily="34" charset="-122"/>
              <a:ea typeface="微软雅黑" panose="020B0503020204020204" pitchFamily="34" charset="-122"/>
            </a:endParaRPr>
          </a:p>
        </p:txBody>
      </p:sp>
      <p:pic>
        <p:nvPicPr>
          <p:cNvPr id="2" name="图片 1" descr="ScreenShot_2026-05-26_170923_706"/>
          <p:cNvPicPr>
            <a:picLocks noChangeAspect="1"/>
          </p:cNvPicPr>
          <p:nvPr/>
        </p:nvPicPr>
        <p:blipFill>
          <a:blip r:embed="rId2"/>
          <a:stretch>
            <a:fillRect/>
          </a:stretch>
        </p:blipFill>
        <p:spPr>
          <a:xfrm>
            <a:off x="416560" y="1344295"/>
            <a:ext cx="8870950" cy="3748405"/>
          </a:xfrm>
          <a:prstGeom prst="rect">
            <a:avLst/>
          </a:prstGeom>
        </p:spPr>
      </p:pic>
      <p:sp>
        <p:nvSpPr>
          <p:cNvPr id="3" name="文本框 2"/>
          <p:cNvSpPr txBox="1"/>
          <p:nvPr/>
        </p:nvSpPr>
        <p:spPr>
          <a:xfrm>
            <a:off x="9555480" y="1254760"/>
            <a:ext cx="2286000" cy="1812925"/>
          </a:xfrm>
          <a:prstGeom prst="rect">
            <a:avLst/>
          </a:prstGeom>
          <a:noFill/>
        </p:spPr>
        <p:txBody>
          <a:bodyPr wrap="square" rtlCol="0">
            <a:noAutofit/>
          </a:bodyPr>
          <a:p>
            <a:r>
              <a:rPr lang="en-US" altLang="zh-CN">
                <a:solidFill>
                  <a:schemeClr val="tx1"/>
                </a:solidFill>
                <a:effectLst>
                  <a:outerShdw blurRad="38100" dist="19050" dir="2700000" algn="tl" rotWithShape="0">
                    <a:schemeClr val="dk1">
                      <a:alpha val="40000"/>
                    </a:schemeClr>
                  </a:outerShdw>
                </a:effectLst>
              </a:rPr>
              <a:t>Clustering（</a:t>
            </a:r>
            <a:r>
              <a:rPr lang="zh-CN" altLang="en-US">
                <a:solidFill>
                  <a:schemeClr val="tx1"/>
                </a:solidFill>
                <a:effectLst>
                  <a:outerShdw blurRad="38100" dist="19050" dir="2700000" algn="tl" rotWithShape="0">
                    <a:schemeClr val="dk1">
                      <a:alpha val="40000"/>
                    </a:schemeClr>
                  </a:outerShdw>
                </a:effectLst>
              </a:rPr>
              <a:t>聚类）</a:t>
            </a:r>
            <a:endParaRPr lang="zh-CN" altLang="en-US">
              <a:solidFill>
                <a:schemeClr val="tx1"/>
              </a:solidFill>
              <a:effectLst>
                <a:outerShdw blurRad="38100" dist="19050" dir="2700000" algn="tl" rotWithShape="0">
                  <a:schemeClr val="dk1">
                    <a:alpha val="40000"/>
                  </a:schemeClr>
                </a:outerShdw>
              </a:effectLst>
            </a:endParaRPr>
          </a:p>
          <a:p>
            <a:r>
              <a:rPr lang="zh-CN" altLang="en-US">
                <a:solidFill>
                  <a:schemeClr val="tx1"/>
                </a:solidFill>
                <a:effectLst>
                  <a:outerShdw blurRad="38100" dist="19050" dir="2700000" algn="tl" rotWithShape="0">
                    <a:schemeClr val="dk1">
                      <a:alpha val="40000"/>
                    </a:schemeClr>
                  </a:outerShdw>
                </a:effectLst>
              </a:rPr>
              <a:t>对接触点做聚类（位置 + 法向）</a:t>
            </a:r>
            <a:endParaRPr lang="en-US" altLang="zh-CN">
              <a:solidFill>
                <a:schemeClr val="tx1"/>
              </a:solidFill>
              <a:effectLst>
                <a:outerShdw blurRad="38100" dist="19050" dir="2700000" algn="tl" rotWithShape="0">
                  <a:schemeClr val="dk1">
                    <a:alpha val="40000"/>
                  </a:schemeClr>
                </a:outerShdw>
              </a:effectLst>
            </a:endParaRPr>
          </a:p>
          <a:p>
            <a:r>
              <a:rPr lang="zh-CN" altLang="en-US" b="1">
                <a:solidFill>
                  <a:schemeClr val="accent1"/>
                </a:solidFill>
                <a:effectLst>
                  <a:outerShdw blurRad="38100" dist="25400" dir="5400000" algn="ctr" rotWithShape="0">
                    <a:srgbClr val="6E747A">
                      <a:alpha val="43000"/>
                    </a:srgbClr>
                  </a:outerShdw>
                </a:effectLst>
              </a:rPr>
              <a:t>抽象出：</a:t>
            </a:r>
            <a:endParaRPr lang="en-US" altLang="zh-CN" b="1">
              <a:solidFill>
                <a:schemeClr val="accent1"/>
              </a:solidFill>
              <a:effectLst>
                <a:outerShdw blurRad="38100" dist="25400" dir="5400000" algn="ctr" rotWithShape="0">
                  <a:srgbClr val="6E747A">
                    <a:alpha val="43000"/>
                  </a:srgbClr>
                </a:outerShdw>
              </a:effectLst>
            </a:endParaRPr>
          </a:p>
          <a:p>
            <a:r>
              <a:rPr lang="en-US" altLang="zh-CN" b="1">
                <a:solidFill>
                  <a:schemeClr val="accent1"/>
                </a:solidFill>
                <a:effectLst>
                  <a:outerShdw blurRad="38100" dist="25400" dir="5400000" algn="ctr" rotWithShape="0">
                    <a:srgbClr val="6E747A">
                      <a:alpha val="43000"/>
                    </a:srgbClr>
                  </a:outerShdw>
                </a:effectLst>
              </a:rPr>
              <a:t>1. </a:t>
            </a:r>
            <a:r>
              <a:rPr lang="zh-CN" altLang="en-US" b="1">
                <a:solidFill>
                  <a:schemeClr val="accent1"/>
                </a:solidFill>
                <a:effectLst>
                  <a:outerShdw blurRad="38100" dist="25400" dir="5400000" algn="ctr" rotWithShape="0">
                    <a:srgbClr val="6E747A">
                      <a:alpha val="43000"/>
                    </a:srgbClr>
                  </a:outerShdw>
                </a:effectLst>
              </a:rPr>
              <a:t>接触区域</a:t>
            </a:r>
            <a:endParaRPr lang="en-US" altLang="zh-CN" b="1">
              <a:solidFill>
                <a:schemeClr val="accent1"/>
              </a:solidFill>
              <a:effectLst>
                <a:outerShdw blurRad="38100" dist="25400" dir="5400000" algn="ctr" rotWithShape="0">
                  <a:srgbClr val="6E747A">
                    <a:alpha val="43000"/>
                  </a:srgbClr>
                </a:outerShdw>
              </a:effectLst>
            </a:endParaRPr>
          </a:p>
          <a:p>
            <a:r>
              <a:rPr lang="en-US" altLang="zh-CN" b="1">
                <a:solidFill>
                  <a:schemeClr val="accent1"/>
                </a:solidFill>
                <a:effectLst>
                  <a:outerShdw blurRad="38100" dist="25400" dir="5400000" algn="ctr" rotWithShape="0">
                    <a:srgbClr val="6E747A">
                      <a:alpha val="43000"/>
                    </a:srgbClr>
                  </a:outerShdw>
                </a:effectLst>
              </a:rPr>
              <a:t>2. </a:t>
            </a:r>
            <a:r>
              <a:rPr lang="zh-CN" altLang="en-US" b="1">
                <a:solidFill>
                  <a:schemeClr val="accent1"/>
                </a:solidFill>
                <a:effectLst>
                  <a:outerShdw blurRad="38100" dist="25400" dir="5400000" algn="ctr" rotWithShape="0">
                    <a:srgbClr val="6E747A">
                      <a:alpha val="43000"/>
                    </a:srgbClr>
                  </a:outerShdw>
                </a:effectLst>
              </a:rPr>
              <a:t>力的方向（法向）</a:t>
            </a:r>
            <a:endParaRPr lang="zh-CN" altLang="en-US" b="1">
              <a:solidFill>
                <a:schemeClr val="accent1"/>
              </a:solidFill>
              <a:effectLst>
                <a:outerShdw blurRad="38100" dist="25400" dir="5400000" algn="ctr" rotWithShape="0">
                  <a:srgbClr val="6E747A">
                    <a:alpha val="43000"/>
                  </a:srgbClr>
                </a:outerShdw>
              </a:effectLst>
            </a:endParaRPr>
          </a:p>
        </p:txBody>
      </p:sp>
      <p:sp>
        <p:nvSpPr>
          <p:cNvPr id="4" name="文本框 3"/>
          <p:cNvSpPr txBox="1"/>
          <p:nvPr/>
        </p:nvSpPr>
        <p:spPr>
          <a:xfrm>
            <a:off x="9555480" y="3280410"/>
            <a:ext cx="1882140" cy="2286000"/>
          </a:xfrm>
          <a:prstGeom prst="rect">
            <a:avLst/>
          </a:prstGeom>
          <a:noFill/>
        </p:spPr>
        <p:txBody>
          <a:bodyPr wrap="square" rtlCol="0">
            <a:noAutofit/>
          </a:bodyPr>
          <a:p>
            <a:r>
              <a:rPr lang="en-US" altLang="zh-CN">
                <a:solidFill>
                  <a:schemeClr val="tx1"/>
                </a:solidFill>
                <a:effectLst>
                  <a:outerShdw blurRad="38100" dist="19050" dir="2700000" algn="tl" rotWithShape="0">
                    <a:schemeClr val="dk1">
                      <a:alpha val="40000"/>
                    </a:schemeClr>
                  </a:outerShdw>
                </a:effectLst>
              </a:rPr>
              <a:t>Force-closure optimisation（</a:t>
            </a:r>
            <a:r>
              <a:rPr lang="zh-CN" altLang="en-US">
                <a:solidFill>
                  <a:schemeClr val="tx1"/>
                </a:solidFill>
                <a:effectLst>
                  <a:outerShdw blurRad="38100" dist="19050" dir="2700000" algn="tl" rotWithShape="0">
                    <a:schemeClr val="dk1">
                      <a:alpha val="40000"/>
                    </a:schemeClr>
                  </a:outerShdw>
                </a:effectLst>
              </a:rPr>
              <a:t>力闭合优化）</a:t>
            </a:r>
            <a:endParaRPr lang="zh-CN" altLang="en-US">
              <a:solidFill>
                <a:schemeClr val="tx1"/>
              </a:solidFill>
              <a:effectLst>
                <a:outerShdw blurRad="38100" dist="19050" dir="2700000" algn="tl" rotWithShape="0">
                  <a:schemeClr val="dk1">
                    <a:alpha val="40000"/>
                  </a:schemeClr>
                </a:outerShdw>
              </a:effectLst>
            </a:endParaRPr>
          </a:p>
          <a:p>
            <a:r>
              <a:rPr lang="zh-CN" altLang="en-US">
                <a:solidFill>
                  <a:schemeClr val="tx1"/>
                </a:solidFill>
                <a:effectLst>
                  <a:outerShdw blurRad="38100" dist="19050" dir="2700000" algn="tl" rotWithShape="0">
                    <a:schemeClr val="dk1">
                      <a:alpha val="40000"/>
                    </a:schemeClr>
                  </a:outerShdw>
                </a:effectLst>
              </a:rPr>
              <a:t>找到一组接触点，使得：</a:t>
            </a:r>
            <a:endParaRPr lang="en-US" altLang="zh-CN">
              <a:solidFill>
                <a:schemeClr val="tx1"/>
              </a:solidFill>
              <a:effectLst>
                <a:outerShdw blurRad="38100" dist="19050" dir="2700000" algn="tl" rotWithShape="0">
                  <a:schemeClr val="dk1">
                    <a:alpha val="40000"/>
                  </a:schemeClr>
                </a:outerShdw>
              </a:effectLst>
            </a:endParaRPr>
          </a:p>
          <a:p>
            <a:r>
              <a:rPr lang="zh-CN" altLang="en-US">
                <a:solidFill>
                  <a:srgbClr val="FF0000"/>
                </a:solidFill>
                <a:effectLst>
                  <a:outerShdw blurRad="38100" dist="25400" dir="5400000" algn="ctr" rotWithShape="0">
                    <a:srgbClr val="6E747A">
                      <a:alpha val="43000"/>
                    </a:srgbClr>
                  </a:outerShdw>
                </a:effectLst>
              </a:rPr>
              <a:t>能平衡所有外力</a:t>
            </a:r>
            <a:endParaRPr lang="zh-CN" altLang="en-US">
              <a:solidFill>
                <a:srgbClr val="FF0000"/>
              </a:solidFill>
              <a:effectLst>
                <a:outerShdw blurRad="38100" dist="25400" dir="5400000" algn="ctr" rotWithShape="0">
                  <a:srgbClr val="6E747A">
                    <a:alpha val="43000"/>
                  </a:srgbClr>
                </a:outerShdw>
              </a:effectLst>
            </a:endParaRPr>
          </a:p>
          <a:p>
            <a:r>
              <a:rPr lang="zh-CN" altLang="en-US">
                <a:solidFill>
                  <a:srgbClr val="FF0000"/>
                </a:solidFill>
                <a:effectLst>
                  <a:outerShdw blurRad="38100" dist="25400" dir="5400000" algn="ctr" rotWithShape="0">
                    <a:srgbClr val="6E747A">
                      <a:alpha val="43000"/>
                    </a:srgbClr>
                  </a:outerShdw>
                </a:effectLst>
              </a:rPr>
              <a:t>满足摩擦约束</a:t>
            </a:r>
            <a:endParaRPr lang="zh-CN" altLang="en-US">
              <a:solidFill>
                <a:srgbClr val="FF0000"/>
              </a:solidFill>
              <a:effectLst>
                <a:outerShdw blurRad="38100" dist="25400" dir="5400000" algn="ctr" rotWithShape="0">
                  <a:srgbClr val="6E747A">
                    <a:alpha val="43000"/>
                  </a:srgbClr>
                </a:outerShdw>
              </a:effectLst>
            </a:endParaRPr>
          </a:p>
          <a:p>
            <a:r>
              <a:rPr lang="zh-CN" altLang="en-US">
                <a:solidFill>
                  <a:srgbClr val="FF0000"/>
                </a:solidFill>
                <a:effectLst>
                  <a:outerShdw blurRad="38100" dist="25400" dir="5400000" algn="ctr" rotWithShape="0">
                    <a:srgbClr val="6E747A">
                      <a:alpha val="43000"/>
                    </a:srgbClr>
                  </a:outerShdw>
                </a:effectLst>
              </a:rPr>
              <a:t>不穿透</a:t>
            </a:r>
            <a:endParaRPr lang="zh-CN" altLang="en-US">
              <a:solidFill>
                <a:srgbClr val="FF0000"/>
              </a:solidFill>
              <a:effectLst>
                <a:outerShdw blurRad="38100" dist="25400" dir="5400000" algn="ctr" rotWithShape="0">
                  <a:srgbClr val="6E747A">
                    <a:alpha val="43000"/>
                  </a:srgb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GenHand</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719455" y="5405120"/>
            <a:ext cx="10088880" cy="65532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右侧：</a:t>
            </a:r>
            <a:r>
              <a:rPr lang="en-US" altLang="zh-CN" i="0" dirty="0">
                <a:effectLst/>
                <a:latin typeface="微软雅黑" panose="020B0503020204020204" pitchFamily="34" charset="-122"/>
                <a:ea typeface="微软雅黑" panose="020B0503020204020204" pitchFamily="34" charset="-122"/>
              </a:rPr>
              <a:t>Kinematics &amp; Simulation     </a:t>
            </a:r>
            <a:r>
              <a:rPr lang="zh-CN" altLang="en-US" i="0" dirty="0">
                <a:effectLst/>
                <a:latin typeface="微软雅黑" panose="020B0503020204020204" pitchFamily="34" charset="-122"/>
                <a:ea typeface="微软雅黑" panose="020B0503020204020204" pitchFamily="34" charset="-122"/>
              </a:rPr>
              <a:t>把优化后的接触点变成机器人动作</a:t>
            </a:r>
            <a:endParaRPr lang="zh-CN" altLang="en-US" i="0" dirty="0">
              <a:effectLst/>
              <a:latin typeface="微软雅黑" panose="020B0503020204020204" pitchFamily="34" charset="-122"/>
              <a:ea typeface="微软雅黑" panose="020B0503020204020204" pitchFamily="34" charset="-122"/>
            </a:endParaRPr>
          </a:p>
        </p:txBody>
      </p:sp>
      <p:pic>
        <p:nvPicPr>
          <p:cNvPr id="2" name="图片 1" descr="ScreenShot_2026-05-26_170923_706"/>
          <p:cNvPicPr>
            <a:picLocks noChangeAspect="1"/>
          </p:cNvPicPr>
          <p:nvPr/>
        </p:nvPicPr>
        <p:blipFill>
          <a:blip r:embed="rId2"/>
          <a:stretch>
            <a:fillRect/>
          </a:stretch>
        </p:blipFill>
        <p:spPr>
          <a:xfrm>
            <a:off x="416560" y="1344295"/>
            <a:ext cx="8870950" cy="3748405"/>
          </a:xfrm>
          <a:prstGeom prst="rect">
            <a:avLst/>
          </a:prstGeom>
        </p:spPr>
      </p:pic>
      <p:sp>
        <p:nvSpPr>
          <p:cNvPr id="3" name="文本框 2"/>
          <p:cNvSpPr txBox="1"/>
          <p:nvPr/>
        </p:nvSpPr>
        <p:spPr>
          <a:xfrm>
            <a:off x="9555480" y="1588135"/>
            <a:ext cx="2286000" cy="2861310"/>
          </a:xfrm>
          <a:prstGeom prst="rect">
            <a:avLst/>
          </a:prstGeom>
          <a:noFill/>
        </p:spPr>
        <p:txBody>
          <a:bodyPr wrap="square" rtlCol="0">
            <a:spAutoFit/>
          </a:bodyPr>
          <a:p>
            <a:r>
              <a:rPr lang="en-US" altLang="zh-CN" b="1">
                <a:solidFill>
                  <a:schemeClr val="tx1"/>
                </a:solidFill>
                <a:effectLst>
                  <a:outerShdw blurRad="38100" dist="19050" dir="2700000" algn="tl" rotWithShape="0">
                    <a:schemeClr val="dk1">
                      <a:alpha val="40000"/>
                    </a:schemeClr>
                  </a:outerShdw>
                </a:effectLst>
              </a:rPr>
              <a:t>Kinematics optimisation</a:t>
            </a:r>
            <a:endParaRPr lang="en-US" altLang="zh-CN" b="1">
              <a:solidFill>
                <a:schemeClr val="tx1"/>
              </a:solidFill>
              <a:effectLst>
                <a:outerShdw blurRad="38100" dist="19050" dir="2700000" algn="tl" rotWithShape="0">
                  <a:schemeClr val="dk1">
                    <a:alpha val="40000"/>
                  </a:schemeClr>
                </a:outerShdw>
              </a:effectLst>
            </a:endParaRPr>
          </a:p>
          <a:p>
            <a:r>
              <a:rPr lang="zh-CN" altLang="en-US" b="1">
                <a:solidFill>
                  <a:schemeClr val="tx1"/>
                </a:solidFill>
                <a:effectLst>
                  <a:outerShdw blurRad="38100" dist="19050" dir="2700000" algn="tl" rotWithShape="0">
                    <a:schemeClr val="dk1">
                      <a:alpha val="40000"/>
                    </a:schemeClr>
                  </a:outerShdw>
                </a:effectLst>
              </a:rPr>
              <a:t>根据接触点 </a:t>
            </a:r>
            <a:r>
              <a:rPr lang="en-US" altLang="zh-CN" b="1">
                <a:solidFill>
                  <a:schemeClr val="tx1"/>
                </a:solidFill>
                <a:effectLst>
                  <a:outerShdw blurRad="38100" dist="19050" dir="2700000" algn="tl" rotWithShape="0">
                    <a:schemeClr val="dk1">
                      <a:alpha val="40000"/>
                    </a:schemeClr>
                  </a:outerShdw>
                </a:effectLst>
              </a:rPr>
              <a:t>x*</a:t>
            </a:r>
            <a:r>
              <a:rPr lang="zh-CN" altLang="en-US" b="1">
                <a:solidFill>
                  <a:schemeClr val="tx1"/>
                </a:solidFill>
                <a:effectLst>
                  <a:outerShdw blurRad="38100" dist="19050" dir="2700000" algn="tl" rotWithShape="0">
                    <a:schemeClr val="dk1">
                      <a:alpha val="40000"/>
                    </a:schemeClr>
                  </a:outerShdw>
                </a:effectLst>
              </a:rPr>
              <a:t>求机器人：关节角 </a:t>
            </a:r>
            <a:r>
              <a:rPr lang="en-US" altLang="zh-CN" b="1">
                <a:solidFill>
                  <a:schemeClr val="tx1"/>
                </a:solidFill>
                <a:effectLst>
                  <a:outerShdw blurRad="38100" dist="19050" dir="2700000" algn="tl" rotWithShape="0">
                    <a:schemeClr val="dk1">
                      <a:alpha val="40000"/>
                    </a:schemeClr>
                  </a:outerShdw>
                </a:effectLst>
              </a:rPr>
              <a:t>q</a:t>
            </a:r>
            <a:endParaRPr lang="en-US" altLang="zh-CN" b="1">
              <a:solidFill>
                <a:schemeClr val="tx1"/>
              </a:solidFill>
              <a:effectLst>
                <a:outerShdw blurRad="38100" dist="19050" dir="2700000" algn="tl" rotWithShape="0">
                  <a:schemeClr val="dk1">
                    <a:alpha val="40000"/>
                  </a:schemeClr>
                </a:outerShdw>
              </a:effectLst>
            </a:endParaRPr>
          </a:p>
          <a:p>
            <a:r>
              <a:rPr lang="zh-CN" altLang="en-US" b="1">
                <a:solidFill>
                  <a:schemeClr val="tx1"/>
                </a:solidFill>
                <a:effectLst>
                  <a:outerShdw blurRad="38100" dist="19050" dir="2700000" algn="tl" rotWithShape="0">
                    <a:schemeClr val="dk1">
                      <a:alpha val="40000"/>
                    </a:schemeClr>
                  </a:outerShdw>
                </a:effectLst>
              </a:rPr>
              <a:t>和位姿 </a:t>
            </a:r>
            <a:r>
              <a:rPr lang="en-US" altLang="zh-CN" b="1">
                <a:solidFill>
                  <a:schemeClr val="tx1"/>
                </a:solidFill>
                <a:effectLst>
                  <a:outerShdw blurRad="38100" dist="19050" dir="2700000" algn="tl" rotWithShape="0">
                    <a:schemeClr val="dk1">
                      <a:alpha val="40000"/>
                    </a:schemeClr>
                  </a:outerShdw>
                </a:effectLst>
              </a:rPr>
              <a:t>R, T</a:t>
            </a:r>
            <a:endParaRPr lang="en-US" altLang="zh-CN" b="1">
              <a:solidFill>
                <a:schemeClr val="tx1"/>
              </a:solidFill>
              <a:effectLst>
                <a:outerShdw blurRad="38100" dist="19050" dir="2700000" algn="tl" rotWithShape="0">
                  <a:schemeClr val="dk1">
                    <a:alpha val="40000"/>
                  </a:schemeClr>
                </a:outerShdw>
              </a:effectLst>
            </a:endParaRPr>
          </a:p>
          <a:p>
            <a:r>
              <a:rPr lang="zh-CN" altLang="en-US" b="1">
                <a:solidFill>
                  <a:schemeClr val="tx1"/>
                </a:solidFill>
                <a:effectLst>
                  <a:outerShdw blurRad="38100" dist="19050" dir="2700000" algn="tl" rotWithShape="0">
                    <a:schemeClr val="dk1">
                      <a:alpha val="40000"/>
                    </a:schemeClr>
                  </a:outerShdw>
                </a:effectLst>
              </a:rPr>
              <a:t>同时满足：</a:t>
            </a:r>
            <a:endParaRPr lang="en-US" altLang="zh-CN" b="1">
              <a:solidFill>
                <a:schemeClr val="tx1"/>
              </a:solidFill>
              <a:effectLst>
                <a:outerShdw blurRad="38100" dist="19050" dir="2700000" algn="tl" rotWithShape="0">
                  <a:schemeClr val="dk1">
                    <a:alpha val="40000"/>
                  </a:schemeClr>
                </a:outerShdw>
              </a:effectLst>
            </a:endParaRPr>
          </a:p>
          <a:p>
            <a:r>
              <a:rPr lang="zh-CN" altLang="en-US" b="1">
                <a:solidFill>
                  <a:schemeClr val="tx1"/>
                </a:solidFill>
                <a:effectLst>
                  <a:outerShdw blurRad="38100" dist="19050" dir="2700000" algn="tl" rotWithShape="0">
                    <a:schemeClr val="dk1">
                      <a:alpha val="40000"/>
                    </a:schemeClr>
                  </a:outerShdw>
                </a:effectLst>
              </a:rPr>
              <a:t>（</a:t>
            </a:r>
            <a:r>
              <a:rPr lang="en-US" altLang="zh-CN" b="1">
                <a:solidFill>
                  <a:schemeClr val="tx1"/>
                </a:solidFill>
                <a:effectLst>
                  <a:outerShdw blurRad="38100" dist="19050" dir="2700000" algn="tl" rotWithShape="0">
                    <a:schemeClr val="dk1">
                      <a:alpha val="40000"/>
                    </a:schemeClr>
                  </a:outerShdw>
                </a:effectLst>
              </a:rPr>
              <a:t>1</a:t>
            </a:r>
            <a:r>
              <a:rPr lang="zh-CN" altLang="en-US" b="1">
                <a:solidFill>
                  <a:schemeClr val="tx1"/>
                </a:solidFill>
                <a:effectLst>
                  <a:outerShdw blurRad="38100" dist="19050" dir="2700000" algn="tl" rotWithShape="0">
                    <a:schemeClr val="dk1">
                      <a:alpha val="40000"/>
                    </a:schemeClr>
                  </a:outerShdw>
                </a:effectLst>
              </a:rPr>
              <a:t>）手指能碰到这些点</a:t>
            </a:r>
            <a:endParaRPr lang="en-US" altLang="zh-CN" b="1">
              <a:solidFill>
                <a:schemeClr val="tx1"/>
              </a:solidFill>
              <a:effectLst>
                <a:outerShdw blurRad="38100" dist="19050" dir="2700000" algn="tl" rotWithShape="0">
                  <a:schemeClr val="dk1">
                    <a:alpha val="40000"/>
                  </a:schemeClr>
                </a:outerShdw>
              </a:effectLst>
            </a:endParaRPr>
          </a:p>
          <a:p>
            <a:r>
              <a:rPr lang="zh-CN" altLang="en-US" b="1">
                <a:solidFill>
                  <a:schemeClr val="tx1"/>
                </a:solidFill>
                <a:effectLst>
                  <a:outerShdw blurRad="38100" dist="19050" dir="2700000" algn="tl" rotWithShape="0">
                    <a:schemeClr val="dk1">
                      <a:alpha val="40000"/>
                    </a:schemeClr>
                  </a:outerShdw>
                </a:effectLst>
              </a:rPr>
              <a:t>（</a:t>
            </a:r>
            <a:r>
              <a:rPr lang="en-US" altLang="zh-CN" b="1">
                <a:solidFill>
                  <a:schemeClr val="tx1"/>
                </a:solidFill>
                <a:effectLst>
                  <a:outerShdw blurRad="38100" dist="19050" dir="2700000" algn="tl" rotWithShape="0">
                    <a:schemeClr val="dk1">
                      <a:alpha val="40000"/>
                    </a:schemeClr>
                  </a:outerShdw>
                </a:effectLst>
              </a:rPr>
              <a:t>2</a:t>
            </a:r>
            <a:r>
              <a:rPr lang="zh-CN" altLang="en-US" b="1">
                <a:solidFill>
                  <a:schemeClr val="tx1"/>
                </a:solidFill>
                <a:effectLst>
                  <a:outerShdw blurRad="38100" dist="19050" dir="2700000" algn="tl" rotWithShape="0">
                    <a:schemeClr val="dk1">
                      <a:alpha val="40000"/>
                    </a:schemeClr>
                  </a:outerShdw>
                </a:effectLst>
              </a:rPr>
              <a:t>）不穿模</a:t>
            </a:r>
            <a:endParaRPr lang="en-US" altLang="zh-CN" b="1">
              <a:solidFill>
                <a:schemeClr val="tx1"/>
              </a:solidFill>
              <a:effectLst>
                <a:outerShdw blurRad="38100" dist="19050" dir="2700000" algn="tl" rotWithShape="0">
                  <a:schemeClr val="dk1">
                    <a:alpha val="40000"/>
                  </a:schemeClr>
                </a:outerShdw>
              </a:effectLst>
            </a:endParaRPr>
          </a:p>
          <a:p>
            <a:r>
              <a:rPr lang="zh-CN" altLang="en-US" b="1">
                <a:solidFill>
                  <a:schemeClr val="tx1"/>
                </a:solidFill>
                <a:effectLst>
                  <a:outerShdw blurRad="38100" dist="19050" dir="2700000" algn="tl" rotWithShape="0">
                    <a:schemeClr val="dk1">
                      <a:alpha val="40000"/>
                    </a:schemeClr>
                  </a:outerShdw>
                </a:effectLst>
              </a:rPr>
              <a:t>（</a:t>
            </a:r>
            <a:r>
              <a:rPr lang="en-US" altLang="zh-CN" b="1">
                <a:solidFill>
                  <a:schemeClr val="tx1"/>
                </a:solidFill>
                <a:effectLst>
                  <a:outerShdw blurRad="38100" dist="19050" dir="2700000" algn="tl" rotWithShape="0">
                    <a:schemeClr val="dk1">
                      <a:alpha val="40000"/>
                    </a:schemeClr>
                  </a:outerShdw>
                </a:effectLst>
              </a:rPr>
              <a:t>3</a:t>
            </a:r>
            <a:r>
              <a:rPr lang="zh-CN" altLang="en-US" b="1">
                <a:solidFill>
                  <a:schemeClr val="tx1"/>
                </a:solidFill>
                <a:effectLst>
                  <a:outerShdw blurRad="38100" dist="19050" dir="2700000" algn="tl" rotWithShape="0">
                    <a:schemeClr val="dk1">
                      <a:alpha val="40000"/>
                    </a:schemeClr>
                  </a:outerShdw>
                </a:effectLst>
              </a:rPr>
              <a:t>）不超关节限制</a:t>
            </a:r>
            <a:endParaRPr lang="zh-CN" altLang="en-US" b="1">
              <a:solidFill>
                <a:schemeClr val="tx1"/>
              </a:solidFill>
              <a:effectLst>
                <a:outerShdw blurRad="38100" dist="19050" dir="2700000" algn="tl" rotWithShape="0">
                  <a:schemeClr val="dk1">
                    <a:alpha val="40000"/>
                  </a:scheme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基于力反馈的灵巧手仿真到现实迁移</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779780" y="1548765"/>
            <a:ext cx="10119360" cy="4052570"/>
          </a:xfrm>
          <a:prstGeom prst="rect">
            <a:avLst/>
          </a:prstGeom>
          <a:noFill/>
        </p:spPr>
        <p:txBody>
          <a:bodyPr wrap="square">
            <a:noAutofit/>
          </a:bodyPr>
          <a:lstStyle/>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整体</a:t>
            </a:r>
            <a:r>
              <a:rPr lang="zh-CN" altLang="en-US" b="1" i="0" dirty="0">
                <a:effectLst/>
                <a:latin typeface="微软雅黑" panose="020B0503020204020204" pitchFamily="34" charset="-122"/>
                <a:ea typeface="微软雅黑" panose="020B0503020204020204" pitchFamily="34" charset="-122"/>
              </a:rPr>
              <a:t>系统结构：闭环力控制系统</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b="1" i="0" dirty="0">
              <a:effectLst/>
              <a:latin typeface="微软雅黑" panose="020B0503020204020204" pitchFamily="34" charset="-122"/>
              <a:ea typeface="微软雅黑" panose="020B0503020204020204" pitchFamily="34" charset="-122"/>
            </a:endParaRPr>
          </a:p>
        </p:txBody>
      </p:sp>
      <p:pic>
        <p:nvPicPr>
          <p:cNvPr id="2" name="图片 1" descr="ScreenShot_2026-05-26_172836_097"/>
          <p:cNvPicPr>
            <a:picLocks noChangeAspect="1"/>
          </p:cNvPicPr>
          <p:nvPr/>
        </p:nvPicPr>
        <p:blipFill>
          <a:blip r:embed="rId2"/>
          <a:stretch>
            <a:fillRect/>
          </a:stretch>
        </p:blipFill>
        <p:spPr>
          <a:xfrm>
            <a:off x="880745" y="2101850"/>
            <a:ext cx="8056245" cy="4158615"/>
          </a:xfrm>
          <a:prstGeom prst="rect">
            <a:avLst/>
          </a:prstGeom>
        </p:spPr>
      </p:pic>
      <p:sp>
        <p:nvSpPr>
          <p:cNvPr id="3" name="文本框 2"/>
          <p:cNvSpPr txBox="1"/>
          <p:nvPr/>
        </p:nvSpPr>
        <p:spPr>
          <a:xfrm>
            <a:off x="8588375" y="2216150"/>
            <a:ext cx="3511550" cy="3771265"/>
          </a:xfrm>
          <a:prstGeom prst="rect">
            <a:avLst/>
          </a:prstGeom>
          <a:noFill/>
        </p:spPr>
        <p:txBody>
          <a:bodyPr wrap="square" rtlCol="0">
            <a:noAutofit/>
          </a:bodyPr>
          <a:p>
            <a:r>
              <a:rPr lang="zh-CN" altLang="en-US">
                <a:solidFill>
                  <a:schemeClr val="tx1"/>
                </a:solidFill>
                <a:effectLst>
                  <a:outerShdw blurRad="38100" dist="19050" dir="2700000" algn="tl" rotWithShape="0">
                    <a:schemeClr val="dk1">
                      <a:alpha val="40000"/>
                    </a:schemeClr>
                  </a:outerShdw>
                </a:effectLst>
                <a:latin typeface="黑体" panose="02010609060101010101" charset="-122"/>
                <a:ea typeface="黑体" panose="02010609060101010101" charset="-122"/>
                <a:cs typeface="黑体" panose="02010609060101010101" charset="-122"/>
              </a:rPr>
              <a:t>左边：</a:t>
            </a:r>
            <a:r>
              <a:rPr lang="en-US" altLang="zh-CN">
                <a:solidFill>
                  <a:schemeClr val="tx1"/>
                </a:solidFill>
                <a:effectLst>
                  <a:outerShdw blurRad="38100" dist="19050" dir="2700000" algn="tl" rotWithShape="0">
                    <a:schemeClr val="dk1">
                      <a:alpha val="40000"/>
                    </a:schemeClr>
                  </a:outerShdw>
                </a:effectLst>
                <a:latin typeface="黑体" panose="02010609060101010101" charset="-122"/>
                <a:ea typeface="黑体" panose="02010609060101010101" charset="-122"/>
                <a:cs typeface="黑体" panose="02010609060101010101" charset="-122"/>
              </a:rPr>
              <a:t>Simulation（</a:t>
            </a:r>
            <a:r>
              <a:rPr lang="zh-CN" altLang="en-US">
                <a:solidFill>
                  <a:schemeClr val="tx1"/>
                </a:solidFill>
                <a:effectLst>
                  <a:outerShdw blurRad="38100" dist="19050" dir="2700000" algn="tl" rotWithShape="0">
                    <a:schemeClr val="dk1">
                      <a:alpha val="40000"/>
                    </a:schemeClr>
                  </a:outerShdw>
                </a:effectLst>
                <a:latin typeface="黑体" panose="02010609060101010101" charset="-122"/>
                <a:ea typeface="黑体" panose="02010609060101010101" charset="-122"/>
                <a:cs typeface="黑体" panose="02010609060101010101" charset="-122"/>
              </a:rPr>
              <a:t>仿真训练）</a:t>
            </a:r>
            <a:endParaRPr lang="zh-CN" altLang="en-US">
              <a:solidFill>
                <a:schemeClr val="tx1"/>
              </a:solidFill>
              <a:effectLst>
                <a:outerShdw blurRad="38100" dist="19050" dir="2700000" algn="tl" rotWithShape="0">
                  <a:schemeClr val="dk1">
                    <a:alpha val="40000"/>
                  </a:schemeClr>
                </a:outerShdw>
              </a:effectLst>
              <a:latin typeface="黑体" panose="02010609060101010101" charset="-122"/>
              <a:ea typeface="黑体" panose="02010609060101010101" charset="-122"/>
              <a:cs typeface="黑体" panose="02010609060101010101" charset="-122"/>
            </a:endParaRPr>
          </a:p>
          <a:p>
            <a:endParaRPr lang="en-US" altLang="zh-CN">
              <a:solidFill>
                <a:schemeClr val="tx1"/>
              </a:solidFill>
              <a:effectLst>
                <a:outerShdw blurRad="38100" dist="19050" dir="2700000" algn="tl" rotWithShape="0">
                  <a:schemeClr val="dk1">
                    <a:alpha val="40000"/>
                  </a:schemeClr>
                </a:outerShdw>
              </a:effectLst>
              <a:latin typeface="黑体" panose="02010609060101010101" charset="-122"/>
              <a:ea typeface="黑体" panose="02010609060101010101" charset="-122"/>
              <a:cs typeface="黑体" panose="02010609060101010101" charset="-122"/>
            </a:endParaRPr>
          </a:p>
          <a:p>
            <a:r>
              <a:rPr lang="zh-CN" altLang="en-US">
                <a:solidFill>
                  <a:schemeClr val="tx1"/>
                </a:solidFill>
                <a:effectLst>
                  <a:outerShdw blurRad="38100" dist="19050" dir="2700000" algn="tl" rotWithShape="0">
                    <a:schemeClr val="dk1">
                      <a:alpha val="40000"/>
                    </a:schemeClr>
                  </a:outerShdw>
                </a:effectLst>
                <a:latin typeface="黑体" panose="02010609060101010101" charset="-122"/>
                <a:ea typeface="黑体" panose="02010609060101010101" charset="-122"/>
                <a:cs typeface="黑体" panose="02010609060101010101" charset="-122"/>
              </a:rPr>
              <a:t>中间：</a:t>
            </a:r>
            <a:r>
              <a:rPr lang="en-US" altLang="zh-CN">
                <a:solidFill>
                  <a:schemeClr val="tx1"/>
                </a:solidFill>
                <a:effectLst>
                  <a:outerShdw blurRad="38100" dist="19050" dir="2700000" algn="tl" rotWithShape="0">
                    <a:schemeClr val="dk1">
                      <a:alpha val="40000"/>
                    </a:schemeClr>
                  </a:outerShdw>
                </a:effectLst>
                <a:latin typeface="黑体" panose="02010609060101010101" charset="-122"/>
                <a:ea typeface="黑体" panose="02010609060101010101" charset="-122"/>
                <a:cs typeface="黑体" panose="02010609060101010101" charset="-122"/>
              </a:rPr>
              <a:t>Tactile + Torque（</a:t>
            </a:r>
            <a:r>
              <a:rPr lang="zh-CN" altLang="en-US">
                <a:solidFill>
                  <a:schemeClr val="tx1"/>
                </a:solidFill>
                <a:effectLst>
                  <a:outerShdw blurRad="38100" dist="19050" dir="2700000" algn="tl" rotWithShape="0">
                    <a:schemeClr val="dk1">
                      <a:alpha val="40000"/>
                    </a:schemeClr>
                  </a:outerShdw>
                </a:effectLst>
                <a:latin typeface="黑体" panose="02010609060101010101" charset="-122"/>
                <a:ea typeface="黑体" panose="02010609060101010101" charset="-122"/>
                <a:cs typeface="黑体" panose="02010609060101010101" charset="-122"/>
              </a:rPr>
              <a:t>触觉+力）</a:t>
            </a:r>
            <a:endParaRPr lang="en-US" altLang="zh-CN">
              <a:solidFill>
                <a:schemeClr val="tx1"/>
              </a:solidFill>
              <a:effectLst>
                <a:outerShdw blurRad="38100" dist="19050" dir="2700000" algn="tl" rotWithShape="0">
                  <a:schemeClr val="dk1">
                    <a:alpha val="40000"/>
                  </a:schemeClr>
                </a:outerShdw>
              </a:effectLst>
              <a:latin typeface="黑体" panose="02010609060101010101" charset="-122"/>
              <a:ea typeface="黑体" panose="02010609060101010101" charset="-122"/>
              <a:cs typeface="黑体" panose="02010609060101010101" charset="-122"/>
            </a:endParaRPr>
          </a:p>
          <a:p>
            <a:r>
              <a:rPr lang="en-US" altLang="zh-C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rPr>
              <a:t>Tactile sensor：</a:t>
            </a:r>
            <a:r>
              <a:rPr lang="zh-CN" altLang="en-US">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rPr>
              <a:t>触觉传感器</a:t>
            </a:r>
            <a:endParaRPr lang="zh-CN" altLang="en-US">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endParaRPr>
          </a:p>
          <a:p>
            <a:r>
              <a:rPr lang="zh-CN" altLang="en-US">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rPr>
              <a:t>表示手指是否碰到物体、碰到哪里、接触力多大。</a:t>
            </a:r>
            <a:endParaRPr lang="en-US" altLang="zh-C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endParaRPr>
          </a:p>
          <a:p>
            <a:r>
              <a:rPr lang="en-US" altLang="zh-C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rPr>
              <a:t>Torque：</a:t>
            </a:r>
            <a:r>
              <a:rPr lang="zh-CN" altLang="en-US">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rPr>
              <a:t>关节力矩、力反馈</a:t>
            </a:r>
            <a:endParaRPr lang="zh-CN" altLang="en-US">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endParaRPr>
          </a:p>
          <a:p>
            <a:r>
              <a:rPr lang="zh-CN" altLang="en-US">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rPr>
              <a:t>表示每个手指关节正在用多大力。</a:t>
            </a:r>
            <a:endParaRPr lang="zh-CN" altLang="en-US">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endParaRPr>
          </a:p>
          <a:p>
            <a:endParaRPr lang="zh-CN" altLang="en-US">
              <a:solidFill>
                <a:schemeClr val="tx1"/>
              </a:solidFill>
              <a:effectLst>
                <a:outerShdw blurRad="38100" dist="19050" dir="2700000" algn="tl" rotWithShape="0">
                  <a:schemeClr val="dk1">
                    <a:alpha val="40000"/>
                  </a:schemeClr>
                </a:outerShdw>
              </a:effectLst>
              <a:latin typeface="黑体" panose="02010609060101010101" charset="-122"/>
              <a:ea typeface="黑体" panose="02010609060101010101" charset="-122"/>
              <a:cs typeface="黑体" panose="02010609060101010101" charset="-122"/>
            </a:endParaRPr>
          </a:p>
          <a:p>
            <a:r>
              <a:rPr lang="zh-CN" altLang="en-US">
                <a:solidFill>
                  <a:schemeClr val="tx1"/>
                </a:solidFill>
                <a:effectLst>
                  <a:outerShdw blurRad="38100" dist="19050" dir="2700000" algn="tl" rotWithShape="0">
                    <a:schemeClr val="dk1">
                      <a:alpha val="40000"/>
                    </a:schemeClr>
                  </a:outerShdw>
                </a:effectLst>
                <a:latin typeface="黑体" panose="02010609060101010101" charset="-122"/>
                <a:ea typeface="黑体" panose="02010609060101010101" charset="-122"/>
                <a:cs typeface="黑体" panose="02010609060101010101" charset="-122"/>
              </a:rPr>
              <a:t>右边：</a:t>
            </a:r>
            <a:r>
              <a:rPr lang="en-US" altLang="zh-CN">
                <a:solidFill>
                  <a:schemeClr val="tx1"/>
                </a:solidFill>
                <a:effectLst>
                  <a:outerShdw blurRad="38100" dist="19050" dir="2700000" algn="tl" rotWithShape="0">
                    <a:schemeClr val="dk1">
                      <a:alpha val="40000"/>
                    </a:schemeClr>
                  </a:outerShdw>
                </a:effectLst>
                <a:latin typeface="黑体" panose="02010609060101010101" charset="-122"/>
                <a:ea typeface="黑体" panose="02010609060101010101" charset="-122"/>
                <a:cs typeface="黑体" panose="02010609060101010101" charset="-122"/>
              </a:rPr>
              <a:t>Real world（</a:t>
            </a:r>
            <a:r>
              <a:rPr lang="zh-CN" altLang="en-US">
                <a:solidFill>
                  <a:schemeClr val="tx1"/>
                </a:solidFill>
                <a:effectLst>
                  <a:outerShdw blurRad="38100" dist="19050" dir="2700000" algn="tl" rotWithShape="0">
                    <a:schemeClr val="dk1">
                      <a:alpha val="40000"/>
                    </a:schemeClr>
                  </a:outerShdw>
                </a:effectLst>
                <a:latin typeface="黑体" panose="02010609060101010101" charset="-122"/>
                <a:ea typeface="黑体" panose="02010609060101010101" charset="-122"/>
                <a:cs typeface="黑体" panose="02010609060101010101" charset="-122"/>
              </a:rPr>
              <a:t>真实部署）</a:t>
            </a:r>
            <a:endParaRPr lang="zh-CN" altLang="en-US">
              <a:solidFill>
                <a:schemeClr val="tx1"/>
              </a:solidFill>
              <a:effectLst>
                <a:outerShdw blurRad="38100" dist="19050" dir="2700000" algn="tl" rotWithShape="0">
                  <a:schemeClr val="dk1">
                    <a:alpha val="40000"/>
                  </a:schemeClr>
                </a:outerShdw>
              </a:effectLst>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基于力反馈的灵巧手仿真到现实迁移</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636905" y="4708525"/>
            <a:ext cx="10262235" cy="2016125"/>
          </a:xfrm>
          <a:prstGeom prst="rect">
            <a:avLst/>
          </a:prstGeom>
          <a:noFill/>
        </p:spPr>
        <p:txBody>
          <a:bodyPr wrap="square">
            <a:noAutofit/>
          </a:bodyPr>
          <a:lstStyle/>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接触点建模</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b="1" i="0" dirty="0">
                <a:effectLst/>
                <a:latin typeface="微软雅黑" panose="020B0503020204020204" pitchFamily="34" charset="-122"/>
                <a:ea typeface="微软雅黑" panose="020B0503020204020204" pitchFamily="34" charset="-122"/>
              </a:rPr>
              <a:t>Hand point-cloud</a:t>
            </a:r>
            <a:r>
              <a:rPr lang="zh-CN" altLang="en-US" b="1" i="0" dirty="0">
                <a:effectLst/>
                <a:latin typeface="微软雅黑" panose="020B0503020204020204" pitchFamily="34" charset="-122"/>
                <a:ea typeface="微软雅黑" panose="020B0503020204020204" pitchFamily="34" charset="-122"/>
              </a:rPr>
              <a:t>（</a:t>
            </a:r>
            <a:r>
              <a:rPr lang="en-US" altLang="zh-CN" b="1" i="0" dirty="0">
                <a:effectLst/>
                <a:latin typeface="微软雅黑" panose="020B0503020204020204" pitchFamily="34" charset="-122"/>
                <a:ea typeface="微软雅黑" panose="020B0503020204020204" pitchFamily="34" charset="-122"/>
              </a:rPr>
              <a:t>Non-contact</a:t>
            </a:r>
            <a:r>
              <a:rPr lang="zh-CN" altLang="en-US" b="1" i="0" dirty="0">
                <a:effectLst/>
                <a:latin typeface="微软雅黑" panose="020B0503020204020204" pitchFamily="34" charset="-122"/>
                <a:ea typeface="微软雅黑" panose="020B0503020204020204" pitchFamily="34" charset="-122"/>
              </a:rPr>
              <a:t>）：机器人手上的非接触点</a:t>
            </a:r>
            <a:endParaRPr lang="en-US" altLang="zh-CN"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b="1" i="0" dirty="0">
                <a:effectLst/>
                <a:latin typeface="微软雅黑" panose="020B0503020204020204" pitchFamily="34" charset="-122"/>
                <a:ea typeface="微软雅黑" panose="020B0503020204020204" pitchFamily="34" charset="-122"/>
              </a:rPr>
              <a:t>Hand point-cloud</a:t>
            </a:r>
            <a:r>
              <a:rPr lang="zh-CN" altLang="en-US" b="1" i="0" dirty="0">
                <a:effectLst/>
                <a:latin typeface="微软雅黑" panose="020B0503020204020204" pitchFamily="34" charset="-122"/>
                <a:ea typeface="微软雅黑" panose="020B0503020204020204" pitchFamily="34" charset="-122"/>
              </a:rPr>
              <a:t>（</a:t>
            </a:r>
            <a:r>
              <a:rPr lang="en-US" altLang="zh-CN" b="1" i="0" dirty="0">
                <a:effectLst/>
                <a:latin typeface="微软雅黑" panose="020B0503020204020204" pitchFamily="34" charset="-122"/>
                <a:ea typeface="微软雅黑" panose="020B0503020204020204" pitchFamily="34" charset="-122"/>
              </a:rPr>
              <a:t>Contact points</a:t>
            </a:r>
            <a:r>
              <a:rPr lang="zh-CN" altLang="en-US" b="1" i="0" dirty="0">
                <a:effectLst/>
                <a:latin typeface="微软雅黑" panose="020B0503020204020204" pitchFamily="34" charset="-122"/>
                <a:ea typeface="微软雅黑" panose="020B0503020204020204" pitchFamily="34" charset="-122"/>
              </a:rPr>
              <a:t>）：机器人手上真正碰到物体的点</a:t>
            </a:r>
            <a:endParaRPr lang="en-US" altLang="zh-CN"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b="1" i="0" dirty="0">
                <a:effectLst/>
                <a:latin typeface="微软雅黑" panose="020B0503020204020204" pitchFamily="34" charset="-122"/>
                <a:ea typeface="微软雅黑" panose="020B0503020204020204" pitchFamily="34" charset="-122"/>
              </a:rPr>
              <a:t>Object point-cloud</a:t>
            </a:r>
            <a:r>
              <a:rPr lang="zh-CN" altLang="en-US" b="1" i="0" dirty="0">
                <a:effectLst/>
                <a:latin typeface="微软雅黑" panose="020B0503020204020204" pitchFamily="34" charset="-122"/>
                <a:ea typeface="微软雅黑" panose="020B0503020204020204" pitchFamily="34" charset="-122"/>
              </a:rPr>
              <a:t>：物体表面的点云</a:t>
            </a:r>
            <a:endParaRPr lang="zh-CN" altLang="en-US" b="1" i="0" dirty="0">
              <a:effectLst/>
              <a:latin typeface="微软雅黑" panose="020B0503020204020204" pitchFamily="34" charset="-122"/>
              <a:ea typeface="微软雅黑" panose="020B0503020204020204" pitchFamily="34" charset="-122"/>
            </a:endParaRPr>
          </a:p>
        </p:txBody>
      </p:sp>
      <p:pic>
        <p:nvPicPr>
          <p:cNvPr id="2" name="图片 1" descr="ScreenShot_2026-05-26_173406_349"/>
          <p:cNvPicPr>
            <a:picLocks noChangeAspect="1"/>
          </p:cNvPicPr>
          <p:nvPr/>
        </p:nvPicPr>
        <p:blipFill>
          <a:blip r:embed="rId2"/>
          <a:stretch>
            <a:fillRect/>
          </a:stretch>
        </p:blipFill>
        <p:spPr>
          <a:xfrm>
            <a:off x="637540" y="1344295"/>
            <a:ext cx="9406890" cy="3364865"/>
          </a:xfrm>
          <a:prstGeom prst="rect">
            <a:avLst/>
          </a:prstGeom>
        </p:spPr>
      </p:pic>
      <p:sp>
        <p:nvSpPr>
          <p:cNvPr id="3" name="文本框 2"/>
          <p:cNvSpPr txBox="1"/>
          <p:nvPr/>
        </p:nvSpPr>
        <p:spPr>
          <a:xfrm rot="10800000" flipV="1">
            <a:off x="9544685" y="1440815"/>
            <a:ext cx="2465705" cy="2693670"/>
          </a:xfrm>
          <a:prstGeom prst="rect">
            <a:avLst/>
          </a:prstGeom>
          <a:noFill/>
        </p:spPr>
        <p:txBody>
          <a:bodyPr wrap="square" rtlCol="0">
            <a:noAutofit/>
          </a:bodyPr>
          <a:p>
            <a:pPr indent="0" fontAlgn="auto">
              <a:lnSpc>
                <a:spcPct val="150000"/>
              </a:lnSpc>
            </a:pPr>
            <a:r>
              <a:rPr lang="zh-CN" altLang="en-US" sz="1600">
                <a:solidFill>
                  <a:schemeClr val="tx1"/>
                </a:solidFill>
                <a:uFillTx/>
              </a:rPr>
              <a:t>在每个手指指尖布置很多虚拟触觉点，然后计算这些点和物体表面的距离。</a:t>
            </a:r>
            <a:endParaRPr lang="zh-CN" altLang="en-US" sz="1600">
              <a:solidFill>
                <a:schemeClr val="tx1"/>
              </a:solidFill>
              <a:uFillTx/>
            </a:endParaRPr>
          </a:p>
          <a:p>
            <a:pPr indent="0" fontAlgn="auto">
              <a:lnSpc>
                <a:spcPct val="150000"/>
              </a:lnSpc>
            </a:pPr>
            <a:r>
              <a:rPr lang="zh-CN" altLang="en-US" sz="1600">
                <a:solidFill>
                  <a:schemeClr val="tx1"/>
                </a:solidFill>
                <a:uFillTx/>
              </a:rPr>
              <a:t>如果某个虚拟触觉点“压进”物体表面，或者距离关系满足接触条件，就认为这个点发生了接触。</a:t>
            </a:r>
            <a:endParaRPr lang="zh-CN" altLang="en-US" sz="1600">
              <a:solidFill>
                <a:schemeClr val="tx1"/>
              </a:solidFill>
              <a:uFillTx/>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GraspSense</a:t>
            </a:r>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传统方法都有一个隐含假设：物体表面是“均匀的”，哪里都可以用同样的力抓。实际上不同物体或者同一物体的不同作用部位能承受的力</a:t>
            </a:r>
            <a:r>
              <a:rPr lang="zh-CN" altLang="en-US" i="0" dirty="0">
                <a:effectLst/>
                <a:latin typeface="微软雅黑" panose="020B0503020204020204" pitchFamily="34" charset="-122"/>
                <a:ea typeface="微软雅黑" panose="020B0503020204020204" pitchFamily="34" charset="-122"/>
              </a:rPr>
              <a:t>都不一样，几何上完美的抓取，可能在力学上是错误的。</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因此作者</a:t>
            </a:r>
            <a:r>
              <a:rPr lang="zh-CN" altLang="en-US" i="0" dirty="0">
                <a:effectLst/>
                <a:latin typeface="微软雅黑" panose="020B0503020204020204" pitchFamily="34" charset="-122"/>
                <a:ea typeface="微软雅黑" panose="020B0503020204020204" pitchFamily="34" charset="-122"/>
              </a:rPr>
              <a:t>引入了：</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b="1" i="0" dirty="0">
                <a:effectLst/>
                <a:latin typeface="微软雅黑" panose="020B0503020204020204" pitchFamily="34" charset="-122"/>
                <a:ea typeface="微软雅黑" panose="020B0503020204020204" pitchFamily="34" charset="-122"/>
              </a:rPr>
              <a:t>Force Map（</a:t>
            </a:r>
            <a:r>
              <a:rPr lang="zh-CN" altLang="en-US" b="1" i="0" dirty="0">
                <a:effectLst/>
                <a:latin typeface="微软雅黑" panose="020B0503020204020204" pitchFamily="34" charset="-122"/>
                <a:ea typeface="微软雅黑" panose="020B0503020204020204" pitchFamily="34" charset="-122"/>
              </a:rPr>
              <a:t>力承受地图）</a:t>
            </a:r>
            <a:endParaRPr lang="zh-CN" altLang="en-US" b="1" i="0" dirty="0">
              <a:effectLst/>
              <a:latin typeface="微软雅黑" panose="020B0503020204020204" pitchFamily="34" charset="-122"/>
              <a:ea typeface="微软雅黑" panose="020B0503020204020204" pitchFamily="34" charset="-122"/>
            </a:endParaRPr>
          </a:p>
        </p:txBody>
      </p:sp>
      <p:pic>
        <p:nvPicPr>
          <p:cNvPr id="2" name="图片 1" descr="ScreenShot_2026-05-26_175306_780"/>
          <p:cNvPicPr>
            <a:picLocks noChangeAspect="1"/>
          </p:cNvPicPr>
          <p:nvPr/>
        </p:nvPicPr>
        <p:blipFill>
          <a:blip r:embed="rId2"/>
          <a:stretch>
            <a:fillRect/>
          </a:stretch>
        </p:blipFill>
        <p:spPr>
          <a:xfrm>
            <a:off x="4957445" y="2510155"/>
            <a:ext cx="5843270" cy="41186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706755"/>
            <a:ext cx="11696700" cy="521970"/>
          </a:xfrm>
          <a:prstGeom prst="rect">
            <a:avLst/>
          </a:prstGeom>
        </p:spPr>
        <p:txBody>
          <a:bodyPr wrap="square">
            <a:spAutoFit/>
          </a:bodyPr>
          <a:lstStyle/>
          <a:p>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GraspSense</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256540" y="1281430"/>
            <a:ext cx="10018395" cy="4159250"/>
          </a:xfrm>
          <a:prstGeom prst="rect">
            <a:avLst/>
          </a:prstGeom>
          <a:noFill/>
        </p:spPr>
        <p:txBody>
          <a:bodyPr wrap="square">
            <a:noAutofit/>
          </a:bodyPr>
          <a:lstStyle/>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整体系统：</a:t>
            </a:r>
            <a:endParaRPr lang="zh-CN" altLang="en-US" b="1" i="0" dirty="0">
              <a:effectLst/>
              <a:latin typeface="微软雅黑" panose="020B0503020204020204" pitchFamily="34" charset="-122"/>
              <a:ea typeface="微软雅黑" panose="020B0503020204020204" pitchFamily="34" charset="-122"/>
            </a:endParaRPr>
          </a:p>
        </p:txBody>
      </p:sp>
      <p:pic>
        <p:nvPicPr>
          <p:cNvPr id="2" name="图片 1" descr="ScreenShot_2026-05-26_175147_415"/>
          <p:cNvPicPr>
            <a:picLocks noChangeAspect="1"/>
          </p:cNvPicPr>
          <p:nvPr/>
        </p:nvPicPr>
        <p:blipFill>
          <a:blip r:embed="rId2"/>
          <a:stretch>
            <a:fillRect/>
          </a:stretch>
        </p:blipFill>
        <p:spPr>
          <a:xfrm>
            <a:off x="2013585" y="1281430"/>
            <a:ext cx="9197975" cy="5268595"/>
          </a:xfrm>
          <a:prstGeom prst="rect">
            <a:avLst/>
          </a:prstGeom>
        </p:spPr>
      </p:pic>
      <p:sp>
        <p:nvSpPr>
          <p:cNvPr id="3" name="矩形 2"/>
          <p:cNvSpPr/>
          <p:nvPr/>
        </p:nvSpPr>
        <p:spPr>
          <a:xfrm>
            <a:off x="335280" y="2024380"/>
            <a:ext cx="1560830" cy="280924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FF0000"/>
                </a:solidFill>
                <a:effectLst>
                  <a:outerShdw blurRad="38100" dist="25400" dir="5400000" algn="ctr" rotWithShape="0">
                    <a:srgbClr val="6E747A">
                      <a:alpha val="43000"/>
                    </a:srgbClr>
                  </a:outerShdw>
                </a:effectLst>
              </a:rPr>
              <a:t>输入：自然语言</a:t>
            </a:r>
            <a:endParaRPr lang="zh-CN" altLang="en-US">
              <a:solidFill>
                <a:srgbClr val="FF0000"/>
              </a:solidFill>
              <a:effectLst>
                <a:outerShdw blurRad="38100" dist="25400" dir="5400000" algn="ctr" rotWithShape="0">
                  <a:srgbClr val="6E747A">
                    <a:alpha val="43000"/>
                  </a:srgbClr>
                </a:outerShdw>
              </a:effectLst>
            </a:endParaRPr>
          </a:p>
          <a:p>
            <a:pPr algn="ctr"/>
            <a:r>
              <a:rPr lang="en-US" altLang="zh-CN"/>
              <a:t>LLM</a:t>
            </a:r>
            <a:r>
              <a:rPr lang="zh-CN" altLang="en-US"/>
              <a:t>解析：</a:t>
            </a:r>
            <a:endParaRPr lang="zh-CN" altLang="en-US"/>
          </a:p>
          <a:p>
            <a:pPr algn="ctr"/>
            <a:r>
              <a:rPr lang="zh-CN" altLang="en-US">
                <a:solidFill>
                  <a:schemeClr val="accent1"/>
                </a:solidFill>
                <a:effectLst>
                  <a:outerShdw blurRad="38100" dist="25400" dir="5400000" algn="ctr" rotWithShape="0">
                    <a:srgbClr val="6E747A">
                      <a:alpha val="43000"/>
                    </a:srgbClr>
                  </a:outerShdw>
                </a:effectLst>
              </a:rPr>
              <a:t>目标物体</a:t>
            </a:r>
            <a:endParaRPr lang="en-US" altLang="zh-CN">
              <a:solidFill>
                <a:schemeClr val="accent1"/>
              </a:solidFill>
              <a:effectLst>
                <a:outerShdw blurRad="38100" dist="25400" dir="5400000" algn="ctr" rotWithShape="0">
                  <a:srgbClr val="6E747A">
                    <a:alpha val="43000"/>
                  </a:srgbClr>
                </a:outerShdw>
              </a:effectLst>
            </a:endParaRPr>
          </a:p>
          <a:p>
            <a:pPr algn="ctr"/>
            <a:r>
              <a:rPr lang="zh-CN" altLang="en-US">
                <a:solidFill>
                  <a:schemeClr val="accent1"/>
                </a:solidFill>
                <a:effectLst>
                  <a:outerShdw blurRad="38100" dist="25400" dir="5400000" algn="ctr" rotWithShape="0">
                    <a:srgbClr val="6E747A">
                      <a:alpha val="43000"/>
                    </a:srgbClr>
                  </a:outerShdw>
                </a:effectLst>
              </a:rPr>
              <a:t>动作</a:t>
            </a:r>
            <a:endParaRPr lang="en-US" altLang="zh-CN">
              <a:solidFill>
                <a:schemeClr val="accent1"/>
              </a:solidFill>
              <a:effectLst>
                <a:outerShdw blurRad="38100" dist="25400" dir="5400000" algn="ctr" rotWithShape="0">
                  <a:srgbClr val="6E747A">
                    <a:alpha val="43000"/>
                  </a:srgbClr>
                </a:outerShdw>
              </a:effectLst>
            </a:endParaRPr>
          </a:p>
          <a:p>
            <a:pPr algn="ctr"/>
            <a:r>
              <a:rPr lang="zh-CN" altLang="en-US">
                <a:solidFill>
                  <a:schemeClr val="accent1"/>
                </a:solidFill>
                <a:effectLst>
                  <a:outerShdw blurRad="38100" dist="25400" dir="5400000" algn="ctr" rotWithShape="0">
                    <a:srgbClr val="6E747A">
                      <a:alpha val="43000"/>
                    </a:srgbClr>
                  </a:outerShdw>
                </a:effectLst>
              </a:rPr>
              <a:t>力强度 </a:t>
            </a:r>
            <a:r>
              <a:rPr lang="en-US" altLang="zh-CN">
                <a:solidFill>
                  <a:schemeClr val="accent1"/>
                </a:solidFill>
                <a:effectLst>
                  <a:outerShdw blurRad="38100" dist="25400" dir="5400000" algn="ctr" rotWithShape="0">
                    <a:srgbClr val="6E747A">
                      <a:alpha val="43000"/>
                    </a:srgbClr>
                  </a:outerShdw>
                </a:effectLst>
              </a:rPr>
              <a:t>λ</a:t>
            </a:r>
            <a:endParaRPr lang="en-US" altLang="zh-CN">
              <a:solidFill>
                <a:schemeClr val="accent1"/>
              </a:solidFill>
              <a:effectLst>
                <a:outerShdw blurRad="38100" dist="25400" dir="5400000" algn="ctr" rotWithShape="0">
                  <a:srgbClr val="6E747A">
                    <a:alpha val="43000"/>
                  </a:srgb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CADGrasp</a:t>
            </a:r>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1059795" cy="4159250"/>
          </a:xfrm>
          <a:prstGeom prst="rect">
            <a:avLst/>
          </a:prstGeom>
          <a:noFill/>
        </p:spPr>
        <p:txBody>
          <a:bodyPr wrap="square">
            <a:noAutofit/>
          </a:bodyPr>
          <a:lstStyle/>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试图将物理约束内嵌到生成过程的中间表示中，而非仅仅作为后处理筛选。</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第一阶段：预测稀疏 </a:t>
            </a:r>
            <a:r>
              <a:rPr lang="en-US" altLang="zh-CN" b="1" i="0" dirty="0">
                <a:effectLst/>
                <a:latin typeface="微软雅黑" panose="020B0503020204020204" pitchFamily="34" charset="-122"/>
                <a:ea typeface="微软雅黑" panose="020B0503020204020204" pitchFamily="34" charset="-122"/>
              </a:rPr>
              <a:t>IBS（</a:t>
            </a:r>
            <a:r>
              <a:rPr lang="zh-CN" altLang="en-US" b="1" i="0" dirty="0">
                <a:effectLst/>
                <a:latin typeface="微软雅黑" panose="020B0503020204020204" pitchFamily="34" charset="-122"/>
                <a:ea typeface="微软雅黑" panose="020B0503020204020204" pitchFamily="34" charset="-122"/>
              </a:rPr>
              <a:t>交互二分曲面）</a:t>
            </a:r>
            <a:endParaRPr lang="en-US" altLang="zh-CN"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b="1" i="0" dirty="0">
                <a:effectLst/>
                <a:latin typeface="微软雅黑" panose="020B0503020204020204" pitchFamily="34" charset="-122"/>
                <a:ea typeface="微软雅黑" panose="020B0503020204020204" pitchFamily="34" charset="-122"/>
              </a:rPr>
              <a:t>IBS </a:t>
            </a:r>
            <a:r>
              <a:rPr lang="zh-CN" altLang="en-US" b="1" i="0" dirty="0">
                <a:effectLst/>
                <a:latin typeface="微软雅黑" panose="020B0503020204020204" pitchFamily="34" charset="-122"/>
                <a:ea typeface="微软雅黑" panose="020B0503020204020204" pitchFamily="34" charset="-122"/>
              </a:rPr>
              <a:t>是介于灵巧手与场景之间的一个隐式曲面，能够编码手‑物之间的空间关系、接触点和碰撞边界。</a:t>
            </a:r>
            <a:endParaRPr lang="en-US" altLang="zh-CN"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他们将 </a:t>
            </a:r>
            <a:r>
              <a:rPr lang="en-US" altLang="zh-CN" b="1" i="0" dirty="0">
                <a:effectLst/>
                <a:latin typeface="微软雅黑" panose="020B0503020204020204" pitchFamily="34" charset="-122"/>
                <a:ea typeface="微软雅黑" panose="020B0503020204020204" pitchFamily="34" charset="-122"/>
              </a:rPr>
              <a:t>IBS </a:t>
            </a:r>
            <a:r>
              <a:rPr lang="zh-CN" altLang="en-US" b="1" i="0" dirty="0">
                <a:effectLst/>
                <a:latin typeface="微软雅黑" panose="020B0503020204020204" pitchFamily="34" charset="-122"/>
                <a:ea typeface="微软雅黑" panose="020B0503020204020204" pitchFamily="34" charset="-122"/>
              </a:rPr>
              <a:t>简化为一个 40×40×40 的稀疏体素网格，每个体素存储三类信息：是否在 </a:t>
            </a:r>
            <a:r>
              <a:rPr lang="en-US" altLang="zh-CN" b="1" i="0" dirty="0">
                <a:effectLst/>
                <a:latin typeface="微软雅黑" panose="020B0503020204020204" pitchFamily="34" charset="-122"/>
                <a:ea typeface="微软雅黑" panose="020B0503020204020204" pitchFamily="34" charset="-122"/>
              </a:rPr>
              <a:t>IBS </a:t>
            </a:r>
            <a:r>
              <a:rPr lang="zh-CN" altLang="en-US" b="1" i="0" dirty="0">
                <a:effectLst/>
                <a:latin typeface="微软雅黑" panose="020B0503020204020204" pitchFamily="34" charset="-122"/>
                <a:ea typeface="微软雅黑" panose="020B0503020204020204" pitchFamily="34" charset="-122"/>
              </a:rPr>
              <a:t>曲面上、是否为拇指接触点、是否为其他手指接触点。</a:t>
            </a:r>
            <a:endParaRPr lang="en-US" altLang="zh-CN"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使用条件占据扩散模型（</a:t>
            </a:r>
            <a:r>
              <a:rPr lang="en-US" altLang="zh-CN" b="1" i="0" dirty="0">
                <a:effectLst/>
                <a:latin typeface="微软雅黑" panose="020B0503020204020204" pitchFamily="34" charset="-122"/>
                <a:ea typeface="微软雅黑" panose="020B0503020204020204" pitchFamily="34" charset="-122"/>
              </a:rPr>
              <a:t>occupancy-diffusion model）</a:t>
            </a:r>
            <a:r>
              <a:rPr lang="zh-CN" altLang="en-US" b="1" i="0" dirty="0">
                <a:effectLst/>
                <a:latin typeface="微软雅黑" panose="020B0503020204020204" pitchFamily="34" charset="-122"/>
                <a:ea typeface="微软雅黑" panose="020B0503020204020204" pitchFamily="34" charset="-122"/>
              </a:rPr>
              <a:t>来生成 </a:t>
            </a:r>
            <a:r>
              <a:rPr lang="en-US" altLang="zh-CN" b="1" i="0" dirty="0">
                <a:effectLst/>
                <a:latin typeface="微软雅黑" panose="020B0503020204020204" pitchFamily="34" charset="-122"/>
                <a:ea typeface="微软雅黑" panose="020B0503020204020204" pitchFamily="34" charset="-122"/>
              </a:rPr>
              <a:t>IBS，</a:t>
            </a:r>
            <a:r>
              <a:rPr lang="zh-CN" altLang="en-US" b="1" i="0" dirty="0">
                <a:effectLst/>
                <a:latin typeface="微软雅黑" panose="020B0503020204020204" pitchFamily="34" charset="-122"/>
                <a:ea typeface="微软雅黑" panose="020B0503020204020204" pitchFamily="34" charset="-122"/>
              </a:rPr>
              <a:t>条件为规范化的场景点云体素。生成多个 </a:t>
            </a:r>
            <a:r>
              <a:rPr lang="en-US" altLang="zh-CN" b="1" i="0" dirty="0">
                <a:effectLst/>
                <a:latin typeface="微软雅黑" panose="020B0503020204020204" pitchFamily="34" charset="-122"/>
                <a:ea typeface="微软雅黑" panose="020B0503020204020204" pitchFamily="34" charset="-122"/>
              </a:rPr>
              <a:t>IBS </a:t>
            </a:r>
            <a:r>
              <a:rPr lang="zh-CN" altLang="en-US" b="1" i="0" dirty="0">
                <a:effectLst/>
                <a:latin typeface="微软雅黑" panose="020B0503020204020204" pitchFamily="34" charset="-122"/>
                <a:ea typeface="微软雅黑" panose="020B0503020204020204" pitchFamily="34" charset="-122"/>
              </a:rPr>
              <a:t>候选，并用力封闭分数进行排序筛选。</a:t>
            </a:r>
            <a:endParaRPr lang="zh-CN" altLang="en-US" b="1" i="0" dirty="0">
              <a:effectLst/>
              <a:latin typeface="微软雅黑" panose="020B0503020204020204" pitchFamily="34" charset="-122"/>
              <a:ea typeface="微软雅黑" panose="020B0503020204020204" pitchFamily="34" charset="-122"/>
            </a:endParaRPr>
          </a:p>
        </p:txBody>
      </p:sp>
      <p:pic>
        <p:nvPicPr>
          <p:cNvPr id="3" name="图片 2" descr="ScreenShot_2026-05-26_180705_228"/>
          <p:cNvPicPr>
            <a:picLocks noChangeAspect="1"/>
          </p:cNvPicPr>
          <p:nvPr/>
        </p:nvPicPr>
        <p:blipFill>
          <a:blip r:embed="rId2"/>
          <a:stretch>
            <a:fillRect/>
          </a:stretch>
        </p:blipFill>
        <p:spPr>
          <a:xfrm>
            <a:off x="1188720" y="4331335"/>
            <a:ext cx="7792085" cy="25266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CADGrasp</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第二阶段：基于 </a:t>
            </a:r>
            <a:r>
              <a:rPr lang="en-US" altLang="zh-CN" i="0" dirty="0">
                <a:effectLst/>
                <a:latin typeface="微软雅黑" panose="020B0503020204020204" pitchFamily="34" charset="-122"/>
                <a:ea typeface="微软雅黑" panose="020B0503020204020204" pitchFamily="34" charset="-122"/>
              </a:rPr>
              <a:t>IBS </a:t>
            </a:r>
            <a:r>
              <a:rPr lang="zh-CN" altLang="en-US" i="0" dirty="0">
                <a:effectLst/>
                <a:latin typeface="微软雅黑" panose="020B0503020204020204" pitchFamily="34" charset="-122"/>
                <a:ea typeface="微软雅黑" panose="020B0503020204020204" pitchFamily="34" charset="-122"/>
              </a:rPr>
              <a:t>约束的抓取姿态优化</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设计四个可微能量函数：关节限位、自穿透、接触方向、碰撞避免</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i="0" dirty="0">
              <a:effectLst/>
              <a:latin typeface="微软雅黑" panose="020B0503020204020204" pitchFamily="34" charset="-122"/>
              <a:ea typeface="微软雅黑" panose="020B0503020204020204" pitchFamily="34" charset="-122"/>
            </a:endParaRPr>
          </a:p>
        </p:txBody>
      </p:sp>
      <p:pic>
        <p:nvPicPr>
          <p:cNvPr id="2" name="图片 1" descr="ScreenShot_2026-05-26_180946_046"/>
          <p:cNvPicPr>
            <a:picLocks noChangeAspect="1"/>
          </p:cNvPicPr>
          <p:nvPr/>
        </p:nvPicPr>
        <p:blipFill>
          <a:blip r:embed="rId2"/>
          <a:stretch>
            <a:fillRect/>
          </a:stretch>
        </p:blipFill>
        <p:spPr>
          <a:xfrm>
            <a:off x="1291590" y="2397760"/>
            <a:ext cx="3562350" cy="647700"/>
          </a:xfrm>
          <a:prstGeom prst="rect">
            <a:avLst/>
          </a:prstGeom>
        </p:spPr>
      </p:pic>
      <p:pic>
        <p:nvPicPr>
          <p:cNvPr id="3" name="图片 2" descr="ScreenShot_2026-05-26_180951_819"/>
          <p:cNvPicPr>
            <a:picLocks noChangeAspect="1"/>
          </p:cNvPicPr>
          <p:nvPr/>
        </p:nvPicPr>
        <p:blipFill>
          <a:blip r:embed="rId3"/>
          <a:stretch>
            <a:fillRect/>
          </a:stretch>
        </p:blipFill>
        <p:spPr>
          <a:xfrm>
            <a:off x="1291590" y="3279140"/>
            <a:ext cx="3333750" cy="609600"/>
          </a:xfrm>
          <a:prstGeom prst="rect">
            <a:avLst/>
          </a:prstGeom>
        </p:spPr>
      </p:pic>
      <p:pic>
        <p:nvPicPr>
          <p:cNvPr id="4" name="图片 3" descr="ScreenShot_2026-05-26_180958_125"/>
          <p:cNvPicPr>
            <a:picLocks noChangeAspect="1"/>
          </p:cNvPicPr>
          <p:nvPr/>
        </p:nvPicPr>
        <p:blipFill>
          <a:blip r:embed="rId4"/>
          <a:stretch>
            <a:fillRect/>
          </a:stretch>
        </p:blipFill>
        <p:spPr>
          <a:xfrm>
            <a:off x="1291590" y="4122420"/>
            <a:ext cx="3067050" cy="638175"/>
          </a:xfrm>
          <a:prstGeom prst="rect">
            <a:avLst/>
          </a:prstGeom>
        </p:spPr>
      </p:pic>
      <p:pic>
        <p:nvPicPr>
          <p:cNvPr id="5" name="图片 4" descr="ScreenShot_2026-05-26_181007_349"/>
          <p:cNvPicPr>
            <a:picLocks noChangeAspect="1"/>
          </p:cNvPicPr>
          <p:nvPr/>
        </p:nvPicPr>
        <p:blipFill>
          <a:blip r:embed="rId5"/>
          <a:stretch>
            <a:fillRect/>
          </a:stretch>
        </p:blipFill>
        <p:spPr>
          <a:xfrm>
            <a:off x="1367790" y="5347335"/>
            <a:ext cx="6296025" cy="523875"/>
          </a:xfrm>
          <a:prstGeom prst="rect">
            <a:avLst/>
          </a:prstGeom>
        </p:spPr>
      </p:pic>
      <p:pic>
        <p:nvPicPr>
          <p:cNvPr id="6" name="图片 5" descr="ScreenShot_2026-05-26_181012_210"/>
          <p:cNvPicPr>
            <a:picLocks noChangeAspect="1"/>
          </p:cNvPicPr>
          <p:nvPr/>
        </p:nvPicPr>
        <p:blipFill>
          <a:blip r:embed="rId6"/>
          <a:stretch>
            <a:fillRect/>
          </a:stretch>
        </p:blipFill>
        <p:spPr>
          <a:xfrm>
            <a:off x="5550535" y="3445510"/>
            <a:ext cx="2644140" cy="442595"/>
          </a:xfrm>
          <a:prstGeom prst="rect">
            <a:avLst/>
          </a:prstGeom>
        </p:spPr>
      </p:pic>
      <p:sp>
        <p:nvSpPr>
          <p:cNvPr id="7" name="文本框 6"/>
          <p:cNvSpPr txBox="1"/>
          <p:nvPr/>
        </p:nvSpPr>
        <p:spPr>
          <a:xfrm>
            <a:off x="8462645" y="2345690"/>
            <a:ext cx="3244215" cy="3001645"/>
          </a:xfrm>
          <a:prstGeom prst="rect">
            <a:avLst/>
          </a:prstGeom>
          <a:noFill/>
        </p:spPr>
        <p:txBody>
          <a:bodyPr wrap="square" rtlCol="0">
            <a:noAutofit/>
          </a:bodyPr>
          <a:p>
            <a:pPr indent="0" fontAlgn="auto">
              <a:lnSpc>
                <a:spcPct val="150000"/>
              </a:lnSpc>
            </a:pPr>
            <a:r>
              <a:rPr lang="zh-CN" altLang="en-US">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rPr>
              <a:t>将物理约束（接触、碰撞、力封闭）以中间表示 </a:t>
            </a:r>
            <a:r>
              <a:rPr lang="en-US" altLang="zh-C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rPr>
              <a:t>IBS </a:t>
            </a:r>
            <a:r>
              <a:rPr lang="zh-CN" altLang="en-US">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rPr>
              <a:t>的形式嵌入生成过程，使得优化阶段不再需要完整的物体几何，仅依赖</a:t>
            </a:r>
            <a:r>
              <a:rPr lang="en-US" altLang="zh-C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rPr>
              <a:t>IBS</a:t>
            </a:r>
            <a:r>
              <a:rPr lang="zh-CN" altLang="en-US">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rPr>
              <a:t>即可，从而在杂乱场景中实现高效、稳定的零样本抓取。</a:t>
            </a:r>
            <a:endParaRPr lang="zh-CN" altLang="en-US">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AffordGrasp</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输入：一个物体的 3</a:t>
            </a:r>
            <a:r>
              <a:rPr lang="en-US" altLang="zh-CN" i="0" dirty="0">
                <a:effectLst/>
                <a:latin typeface="微软雅黑" panose="020B0503020204020204" pitchFamily="34" charset="-122"/>
                <a:ea typeface="微软雅黑" panose="020B0503020204020204" pitchFamily="34" charset="-122"/>
              </a:rPr>
              <a:t>D </a:t>
            </a:r>
            <a:r>
              <a:rPr lang="zh-CN" altLang="en-US" i="0" dirty="0">
                <a:effectLst/>
                <a:latin typeface="微软雅黑" panose="020B0503020204020204" pitchFamily="34" charset="-122"/>
                <a:ea typeface="微软雅黑" panose="020B0503020204020204" pitchFamily="34" charset="-122"/>
              </a:rPr>
              <a:t>点云 + </a:t>
            </a:r>
            <a:r>
              <a:rPr lang="zh-CN" altLang="en-US" i="0" dirty="0">
                <a:effectLst/>
                <a:latin typeface="微软雅黑" panose="020B0503020204020204" pitchFamily="34" charset="-122"/>
                <a:ea typeface="微软雅黑" panose="020B0503020204020204" pitchFamily="34" charset="-122"/>
              </a:rPr>
              <a:t>自然语言指令</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输出：符合指令的三维人手抓取姿态</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最关键的概念是 </a:t>
            </a:r>
            <a:r>
              <a:rPr lang="en-US" altLang="zh-CN" b="1" i="0" dirty="0">
                <a:effectLst/>
                <a:latin typeface="微软雅黑" panose="020B0503020204020204" pitchFamily="34" charset="-122"/>
                <a:ea typeface="微软雅黑" panose="020B0503020204020204" pitchFamily="34" charset="-122"/>
              </a:rPr>
              <a:t>affordance，</a:t>
            </a:r>
            <a:r>
              <a:rPr lang="zh-CN" altLang="en-US" b="1" i="0" dirty="0">
                <a:effectLst/>
                <a:latin typeface="微软雅黑" panose="020B0503020204020204" pitchFamily="34" charset="-122"/>
                <a:ea typeface="微软雅黑" panose="020B0503020204020204" pitchFamily="34" charset="-122"/>
              </a:rPr>
              <a:t>可供性/可操作性区域。</a:t>
            </a:r>
            <a:r>
              <a:rPr lang="en-US" altLang="zh-CN" b="1" i="0" dirty="0">
                <a:effectLst/>
                <a:latin typeface="微软雅黑" panose="020B0503020204020204" pitchFamily="34" charset="-122"/>
                <a:ea typeface="微软雅黑" panose="020B0503020204020204" pitchFamily="34" charset="-122"/>
              </a:rPr>
              <a:t>AffordGrasp </a:t>
            </a:r>
            <a:r>
              <a:rPr lang="zh-CN" altLang="en-US" b="1" i="0" dirty="0">
                <a:effectLst/>
                <a:latin typeface="微软雅黑" panose="020B0503020204020204" pitchFamily="34" charset="-122"/>
                <a:ea typeface="微软雅黑" panose="020B0503020204020204" pitchFamily="34" charset="-122"/>
              </a:rPr>
              <a:t>的思路不是直接让模型从“文字 + 物体”跳到“手姿态”，而是中间先判断：这句话指的是物体的哪个可操作区域？</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b="1" i="0" dirty="0">
              <a:effectLst/>
              <a:latin typeface="微软雅黑" panose="020B0503020204020204" pitchFamily="34" charset="-122"/>
              <a:ea typeface="微软雅黑" panose="020B0503020204020204" pitchFamily="34" charset="-122"/>
            </a:endParaRPr>
          </a:p>
        </p:txBody>
      </p:sp>
      <p:pic>
        <p:nvPicPr>
          <p:cNvPr id="2" name="图片 1" descr="ScreenShot_2026-05-26_223542_485"/>
          <p:cNvPicPr>
            <a:picLocks noChangeAspect="1"/>
          </p:cNvPicPr>
          <p:nvPr/>
        </p:nvPicPr>
        <p:blipFill>
          <a:blip r:embed="rId2"/>
          <a:stretch>
            <a:fillRect/>
          </a:stretch>
        </p:blipFill>
        <p:spPr>
          <a:xfrm>
            <a:off x="3293745" y="823595"/>
            <a:ext cx="7686675" cy="52101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物理合理抓取</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主题研究</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第一步：</a:t>
            </a:r>
            <a:r>
              <a:rPr lang="en-US" altLang="zh-CN" b="1" i="0" dirty="0">
                <a:effectLst/>
                <a:latin typeface="微软雅黑" panose="020B0503020204020204" pitchFamily="34" charset="-122"/>
                <a:ea typeface="微软雅黑" panose="020B0503020204020204" pitchFamily="34" charset="-122"/>
              </a:rPr>
              <a:t>Affordance Generator </a:t>
            </a:r>
            <a:r>
              <a:rPr lang="zh-CN" altLang="en-US" b="1" i="0" dirty="0">
                <a:effectLst/>
                <a:latin typeface="微软雅黑" panose="020B0503020204020204" pitchFamily="34" charset="-122"/>
                <a:ea typeface="微软雅黑" panose="020B0503020204020204" pitchFamily="34" charset="-122"/>
              </a:rPr>
              <a:t>找到“该抓哪里”</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第二步：扩散模型生成一个初步抓取姿态</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第三步：</a:t>
            </a:r>
            <a:r>
              <a:rPr lang="en-US" altLang="zh-CN" b="1" i="0" dirty="0">
                <a:effectLst/>
                <a:latin typeface="微软雅黑" panose="020B0503020204020204" pitchFamily="34" charset="-122"/>
                <a:ea typeface="微软雅黑" panose="020B0503020204020204" pitchFamily="34" charset="-122"/>
              </a:rPr>
              <a:t>DAM </a:t>
            </a:r>
            <a:r>
              <a:rPr lang="zh-CN" altLang="en-US" b="1" i="0" dirty="0">
                <a:effectLst/>
                <a:latin typeface="微软雅黑" panose="020B0503020204020204" pitchFamily="34" charset="-122"/>
                <a:ea typeface="微软雅黑" panose="020B0503020204020204" pitchFamily="34" charset="-122"/>
              </a:rPr>
              <a:t>模块做最后修正</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b="1" i="0" dirty="0">
              <a:effectLst/>
              <a:latin typeface="微软雅黑" panose="020B0503020204020204" pitchFamily="34" charset="-122"/>
              <a:ea typeface="微软雅黑" panose="020B0503020204020204" pitchFamily="34" charset="-122"/>
            </a:endParaRPr>
          </a:p>
        </p:txBody>
      </p:sp>
      <p:pic>
        <p:nvPicPr>
          <p:cNvPr id="2" name="图片 1" descr="ScreenShot_2026-05-26_223631_474"/>
          <p:cNvPicPr>
            <a:picLocks noChangeAspect="1"/>
          </p:cNvPicPr>
          <p:nvPr/>
        </p:nvPicPr>
        <p:blipFill>
          <a:blip r:embed="rId2"/>
          <a:stretch>
            <a:fillRect/>
          </a:stretch>
        </p:blipFill>
        <p:spPr>
          <a:xfrm>
            <a:off x="1186180" y="1442085"/>
            <a:ext cx="10310495" cy="47510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FSAG</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：手指级 </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affordance</a:t>
            </a:r>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比如拿螺丝刀，人通常不是随便抓，而是几根手指围绕柄部形成稳定接触。</a:t>
            </a:r>
            <a:r>
              <a:rPr lang="en-US" altLang="zh-CN" i="0" dirty="0">
                <a:effectLst/>
                <a:latin typeface="微软雅黑" panose="020B0503020204020204" pitchFamily="34" charset="-122"/>
                <a:ea typeface="微软雅黑" panose="020B0503020204020204" pitchFamily="34" charset="-122"/>
              </a:rPr>
              <a:t>FSAG </a:t>
            </a:r>
            <a:r>
              <a:rPr lang="zh-CN" altLang="en-US" i="0" dirty="0">
                <a:effectLst/>
                <a:latin typeface="微软雅黑" panose="020B0503020204020204" pitchFamily="34" charset="-122"/>
                <a:ea typeface="微软雅黑" panose="020B0503020204020204" pitchFamily="34" charset="-122"/>
              </a:rPr>
              <a:t>希望从人类示范视频里学到这种每根手指对应的接触习惯，再迁移到机器人灵巧手上。</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第一步：从人类示范视频中提取手指接触标签</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第二步：用 </a:t>
            </a:r>
            <a:r>
              <a:rPr lang="en-US" altLang="zh-CN" b="1" i="0" dirty="0">
                <a:effectLst/>
                <a:latin typeface="微软雅黑" panose="020B0503020204020204" pitchFamily="34" charset="-122"/>
                <a:ea typeface="微软雅黑" panose="020B0503020204020204" pitchFamily="34" charset="-122"/>
              </a:rPr>
              <a:t>Stable Diffusion </a:t>
            </a:r>
            <a:r>
              <a:rPr lang="zh-CN" altLang="en-US" b="1" i="0" dirty="0">
                <a:effectLst/>
                <a:latin typeface="微软雅黑" panose="020B0503020204020204" pitchFamily="34" charset="-122"/>
                <a:ea typeface="微软雅黑" panose="020B0503020204020204" pitchFamily="34" charset="-122"/>
              </a:rPr>
              <a:t>特征预测五根手指的 </a:t>
            </a:r>
            <a:r>
              <a:rPr lang="en-US" altLang="zh-CN" b="1" i="0" dirty="0">
                <a:effectLst/>
                <a:latin typeface="微软雅黑" panose="020B0503020204020204" pitchFamily="34" charset="-122"/>
                <a:ea typeface="微软雅黑" panose="020B0503020204020204" pitchFamily="34" charset="-122"/>
              </a:rPr>
              <a:t>affordance </a:t>
            </a:r>
            <a:r>
              <a:rPr lang="zh-CN" altLang="en-US" b="1" i="0" dirty="0">
                <a:effectLst/>
                <a:latin typeface="微软雅黑" panose="020B0503020204020204" pitchFamily="34" charset="-122"/>
                <a:ea typeface="微软雅黑" panose="020B0503020204020204" pitchFamily="34" charset="-122"/>
              </a:rPr>
              <a:t>热力图</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第三步：把 2</a:t>
            </a:r>
            <a:r>
              <a:rPr lang="en-US" altLang="zh-CN" b="1" i="0" dirty="0">
                <a:effectLst/>
                <a:latin typeface="微软雅黑" panose="020B0503020204020204" pitchFamily="34" charset="-122"/>
                <a:ea typeface="微软雅黑" panose="020B0503020204020204" pitchFamily="34" charset="-122"/>
              </a:rPr>
              <a:t>D </a:t>
            </a:r>
            <a:r>
              <a:rPr lang="zh-CN" altLang="en-US" b="1" i="0" dirty="0">
                <a:effectLst/>
                <a:latin typeface="微软雅黑" panose="020B0503020204020204" pitchFamily="34" charset="-122"/>
                <a:ea typeface="微软雅黑" panose="020B0503020204020204" pitchFamily="34" charset="-122"/>
              </a:rPr>
              <a:t>手指热力图提升到 3</a:t>
            </a:r>
            <a:r>
              <a:rPr lang="en-US" altLang="zh-CN" b="1" i="0" dirty="0">
                <a:effectLst/>
                <a:latin typeface="微软雅黑" panose="020B0503020204020204" pitchFamily="34" charset="-122"/>
                <a:ea typeface="微软雅黑" panose="020B0503020204020204" pitchFamily="34" charset="-122"/>
              </a:rPr>
              <a:t>D，</a:t>
            </a:r>
            <a:r>
              <a:rPr lang="zh-CN" altLang="en-US" b="1" i="0" dirty="0">
                <a:effectLst/>
                <a:latin typeface="微软雅黑" panose="020B0503020204020204" pitchFamily="34" charset="-122"/>
                <a:ea typeface="微软雅黑" panose="020B0503020204020204" pitchFamily="34" charset="-122"/>
              </a:rPr>
              <a:t>并用于机器人抓取优化</a:t>
            </a:r>
            <a:endParaRPr lang="zh-CN" altLang="en-US" b="1" i="0" dirty="0">
              <a:effectLst/>
              <a:latin typeface="微软雅黑" panose="020B0503020204020204" pitchFamily="34" charset="-122"/>
              <a:ea typeface="微软雅黑" panose="020B0503020204020204" pitchFamily="34" charset="-122"/>
            </a:endParaRPr>
          </a:p>
        </p:txBody>
      </p:sp>
      <p:pic>
        <p:nvPicPr>
          <p:cNvPr id="2" name="图片 1" descr="ScreenShot_2026-05-26_230016_577"/>
          <p:cNvPicPr>
            <a:picLocks noChangeAspect="1"/>
          </p:cNvPicPr>
          <p:nvPr/>
        </p:nvPicPr>
        <p:blipFill>
          <a:blip r:embed="rId2"/>
          <a:stretch>
            <a:fillRect/>
          </a:stretch>
        </p:blipFill>
        <p:spPr>
          <a:xfrm>
            <a:off x="880745" y="1588135"/>
            <a:ext cx="10976610" cy="43427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FSAG</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第三步中，模型先用 </a:t>
            </a:r>
            <a:r>
              <a:rPr lang="en-US" altLang="zh-CN" i="0" dirty="0">
                <a:effectLst/>
                <a:latin typeface="微软雅黑" panose="020B0503020204020204" pitchFamily="34" charset="-122"/>
                <a:ea typeface="微软雅黑" panose="020B0503020204020204" pitchFamily="34" charset="-122"/>
              </a:rPr>
              <a:t>SAM3 </a:t>
            </a:r>
            <a:r>
              <a:rPr lang="zh-CN" altLang="en-US" i="0" dirty="0">
                <a:effectLst/>
                <a:latin typeface="微软雅黑" panose="020B0503020204020204" pitchFamily="34" charset="-122"/>
                <a:ea typeface="微软雅黑" panose="020B0503020204020204" pitchFamily="34" charset="-122"/>
              </a:rPr>
              <a:t>分割物体，再用深度图和 </a:t>
            </a:r>
            <a:r>
              <a:rPr lang="en-US" altLang="zh-CN" i="0" dirty="0">
                <a:effectLst/>
                <a:latin typeface="微软雅黑" panose="020B0503020204020204" pitchFamily="34" charset="-122"/>
                <a:ea typeface="微软雅黑" panose="020B0503020204020204" pitchFamily="34" charset="-122"/>
              </a:rPr>
              <a:t>SAM3D </a:t>
            </a:r>
            <a:r>
              <a:rPr lang="zh-CN" altLang="en-US" i="0" dirty="0">
                <a:effectLst/>
                <a:latin typeface="微软雅黑" panose="020B0503020204020204" pitchFamily="34" charset="-122"/>
                <a:ea typeface="微软雅黑" panose="020B0503020204020204" pitchFamily="34" charset="-122"/>
              </a:rPr>
              <a:t>重建物体表面，把 2</a:t>
            </a:r>
            <a:r>
              <a:rPr lang="en-US" altLang="zh-CN" i="0" dirty="0">
                <a:effectLst/>
                <a:latin typeface="微软雅黑" panose="020B0503020204020204" pitchFamily="34" charset="-122"/>
                <a:ea typeface="微软雅黑" panose="020B0503020204020204" pitchFamily="34" charset="-122"/>
              </a:rPr>
              <a:t>D </a:t>
            </a:r>
            <a:r>
              <a:rPr lang="zh-CN" altLang="en-US" i="0" dirty="0">
                <a:effectLst/>
                <a:latin typeface="微软雅黑" panose="020B0503020204020204" pitchFamily="34" charset="-122"/>
                <a:ea typeface="微软雅黑" panose="020B0503020204020204" pitchFamily="34" charset="-122"/>
              </a:rPr>
              <a:t>热力图投影到 3</a:t>
            </a:r>
            <a:r>
              <a:rPr lang="en-US" altLang="zh-CN" i="0" dirty="0">
                <a:effectLst/>
                <a:latin typeface="微软雅黑" panose="020B0503020204020204" pitchFamily="34" charset="-122"/>
                <a:ea typeface="微软雅黑" panose="020B0503020204020204" pitchFamily="34" charset="-122"/>
              </a:rPr>
              <a:t>D </a:t>
            </a:r>
            <a:r>
              <a:rPr lang="zh-CN" altLang="en-US" i="0" dirty="0">
                <a:effectLst/>
                <a:latin typeface="微软雅黑" panose="020B0503020204020204" pitchFamily="34" charset="-122"/>
                <a:ea typeface="微软雅黑" panose="020B0503020204020204" pitchFamily="34" charset="-122"/>
              </a:rPr>
              <a:t>点云上。然后它不是直接让机器人手照搬人手，而是在 </a:t>
            </a:r>
            <a:r>
              <a:rPr lang="en-US" altLang="zh-CN" i="0" dirty="0">
                <a:effectLst/>
                <a:latin typeface="微软雅黑" panose="020B0503020204020204" pitchFamily="34" charset="-122"/>
                <a:ea typeface="微软雅黑" panose="020B0503020204020204" pitchFamily="34" charset="-122"/>
              </a:rPr>
              <a:t>GraspQP </a:t>
            </a:r>
            <a:r>
              <a:rPr lang="zh-CN" altLang="en-US" i="0" dirty="0">
                <a:effectLst/>
                <a:latin typeface="微软雅黑" panose="020B0503020204020204" pitchFamily="34" charset="-122"/>
                <a:ea typeface="微软雅黑" panose="020B0503020204020204" pitchFamily="34" charset="-122"/>
              </a:rPr>
              <a:t>物理优化框架中加入一个新的 </a:t>
            </a:r>
            <a:r>
              <a:rPr lang="en-US" altLang="zh-CN" i="0" dirty="0">
                <a:effectLst/>
                <a:latin typeface="微软雅黑" panose="020B0503020204020204" pitchFamily="34" charset="-122"/>
                <a:ea typeface="微软雅黑" panose="020B0503020204020204" pitchFamily="34" charset="-122"/>
              </a:rPr>
              <a:t>affordance </a:t>
            </a:r>
            <a:r>
              <a:rPr lang="zh-CN" altLang="en-US" i="0" dirty="0">
                <a:effectLst/>
                <a:latin typeface="微软雅黑" panose="020B0503020204020204" pitchFamily="34" charset="-122"/>
                <a:ea typeface="微软雅黑" panose="020B0503020204020204" pitchFamily="34" charset="-122"/>
              </a:rPr>
              <a:t>对齐项：每根机器人手指的接触点，应该靠近对应手指预测出来</a:t>
            </a:r>
            <a:r>
              <a:rPr lang="en-US" altLang="zh-CN" i="0" dirty="0">
                <a:effectLst/>
                <a:latin typeface="微软雅黑" panose="020B0503020204020204" pitchFamily="34" charset="-122"/>
                <a:ea typeface="微软雅黑" panose="020B0503020204020204" pitchFamily="34" charset="-122"/>
              </a:rPr>
              <a:t>affordance </a:t>
            </a:r>
            <a:r>
              <a:rPr lang="zh-CN" altLang="en-US" i="0" dirty="0">
                <a:effectLst/>
                <a:latin typeface="微软雅黑" panose="020B0503020204020204" pitchFamily="34" charset="-122"/>
                <a:ea typeface="微软雅黑" panose="020B0503020204020204" pitchFamily="34" charset="-122"/>
              </a:rPr>
              <a:t>区域。</a:t>
            </a:r>
            <a:r>
              <a:rPr lang="zh-CN" altLang="en-US" b="1" i="0" dirty="0">
                <a:effectLst/>
                <a:latin typeface="微软雅黑" panose="020B0503020204020204" pitchFamily="34" charset="-122"/>
                <a:ea typeface="微软雅黑" panose="020B0503020204020204" pitchFamily="34" charset="-122"/>
              </a:rPr>
              <a:t>同时保留力闭合</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接触距离、关节限制、防穿透等物理约束。</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b="1" i="0" dirty="0">
              <a:effectLst/>
              <a:latin typeface="微软雅黑" panose="020B0503020204020204" pitchFamily="34" charset="-122"/>
              <a:ea typeface="微软雅黑" panose="020B0503020204020204" pitchFamily="34" charset="-122"/>
            </a:endParaRPr>
          </a:p>
        </p:txBody>
      </p:sp>
      <p:pic>
        <p:nvPicPr>
          <p:cNvPr id="2" name="图片 1" descr="ScreenShot_2026-05-26_230441_359"/>
          <p:cNvPicPr>
            <a:picLocks noChangeAspect="1"/>
          </p:cNvPicPr>
          <p:nvPr/>
        </p:nvPicPr>
        <p:blipFill>
          <a:blip r:embed="rId2"/>
          <a:stretch>
            <a:fillRect/>
          </a:stretch>
        </p:blipFill>
        <p:spPr>
          <a:xfrm>
            <a:off x="6153150" y="3133725"/>
            <a:ext cx="5400675" cy="37242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创新方向</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思考</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en-US" altLang="zh-CN" b="1" i="0" dirty="0">
                <a:effectLst/>
                <a:latin typeface="微软雅黑" panose="020B0503020204020204" pitchFamily="34" charset="-122"/>
                <a:ea typeface="微软雅黑" panose="020B0503020204020204" pitchFamily="34" charset="-122"/>
              </a:rPr>
              <a:t>Physics-aware Affordance</a:t>
            </a:r>
            <a:r>
              <a:rPr lang="zh-CN" altLang="en-US" b="1" i="0" dirty="0">
                <a:effectLst/>
                <a:latin typeface="微软雅黑" panose="020B0503020204020204" pitchFamily="34" charset="-122"/>
                <a:ea typeface="微软雅黑" panose="020B0503020204020204" pitchFamily="34" charset="-122"/>
              </a:rPr>
              <a:t>：物理感知 </a:t>
            </a:r>
            <a:r>
              <a:rPr lang="en-US" altLang="zh-CN" b="1" i="0" dirty="0">
                <a:effectLst/>
                <a:latin typeface="微软雅黑" panose="020B0503020204020204" pitchFamily="34" charset="-122"/>
                <a:ea typeface="微软雅黑" panose="020B0503020204020204" pitchFamily="34" charset="-122"/>
              </a:rPr>
              <a:t>affordance</a:t>
            </a:r>
            <a:endParaRPr lang="en-US" altLang="zh-CN"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传统 </a:t>
            </a:r>
            <a:r>
              <a:rPr lang="en-US" altLang="zh-CN" b="1" i="0" dirty="0">
                <a:effectLst/>
                <a:latin typeface="微软雅黑" panose="020B0503020204020204" pitchFamily="34" charset="-122"/>
                <a:ea typeface="微软雅黑" panose="020B0503020204020204" pitchFamily="34" charset="-122"/>
              </a:rPr>
              <a:t>affordance map </a:t>
            </a:r>
            <a:r>
              <a:rPr lang="zh-CN" altLang="en-US" b="1" i="0" dirty="0">
                <a:effectLst/>
                <a:latin typeface="微软雅黑" panose="020B0503020204020204" pitchFamily="34" charset="-122"/>
                <a:ea typeface="微软雅黑" panose="020B0503020204020204" pitchFamily="34" charset="-122"/>
              </a:rPr>
              <a:t>可以表示：</a:t>
            </a:r>
            <a:r>
              <a:rPr lang="en-US" altLang="zh-CN" b="1" i="0" dirty="0">
                <a:effectLst/>
                <a:latin typeface="微软雅黑" panose="020B0503020204020204" pitchFamily="34" charset="-122"/>
                <a:ea typeface="微软雅黑" panose="020B0503020204020204" pitchFamily="34" charset="-122"/>
              </a:rPr>
              <a:t>A(x)=P(</a:t>
            </a:r>
            <a:r>
              <a:rPr lang="zh-CN" altLang="en-US" b="1" i="0" dirty="0">
                <a:effectLst/>
                <a:latin typeface="微软雅黑" panose="020B0503020204020204" pitchFamily="34" charset="-122"/>
                <a:ea typeface="微软雅黑" panose="020B0503020204020204" pitchFamily="34" charset="-122"/>
              </a:rPr>
              <a:t>该点适合当前任务)</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可以改成：</a:t>
            </a:r>
            <a:r>
              <a:rPr lang="en-US" altLang="zh-CN" b="1" i="0" dirty="0">
                <a:effectLst/>
                <a:latin typeface="微软雅黑" panose="020B0503020204020204" pitchFamily="34" charset="-122"/>
                <a:ea typeface="微软雅黑" panose="020B0503020204020204" pitchFamily="34" charset="-122"/>
              </a:rPr>
              <a:t>A</a:t>
            </a:r>
            <a:r>
              <a:rPr lang="en-US" altLang="zh-CN" b="1" i="0" baseline="-25000" dirty="0">
                <a:effectLst/>
                <a:latin typeface="微软雅黑" panose="020B0503020204020204" pitchFamily="34" charset="-122"/>
                <a:ea typeface="微软雅黑" panose="020B0503020204020204" pitchFamily="34" charset="-122"/>
              </a:rPr>
              <a:t>phys​</a:t>
            </a:r>
            <a:r>
              <a:rPr lang="en-US" altLang="zh-CN" b="1" i="0" dirty="0">
                <a:effectLst/>
                <a:latin typeface="微软雅黑" panose="020B0503020204020204" pitchFamily="34" charset="-122"/>
                <a:ea typeface="微软雅黑" panose="020B0503020204020204" pitchFamily="34" charset="-122"/>
              </a:rPr>
              <a:t>(x)=P(</a:t>
            </a:r>
            <a:r>
              <a:rPr lang="zh-CN" altLang="en-US" b="1" i="0" dirty="0">
                <a:effectLst/>
                <a:latin typeface="微软雅黑" panose="020B0503020204020204" pitchFamily="34" charset="-122"/>
                <a:ea typeface="微软雅黑" panose="020B0503020204020204" pitchFamily="34" charset="-122"/>
              </a:rPr>
              <a:t>该点既符合任务语义，又物理稳定)</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包含多个通道：</a:t>
            </a:r>
            <a:endParaRPr lang="en-US" altLang="zh-CN" b="1" i="0" dirty="0">
              <a:effectLst/>
              <a:latin typeface="微软雅黑" panose="020B0503020204020204" pitchFamily="34" charset="-122"/>
              <a:ea typeface="微软雅黑" panose="020B0503020204020204" pitchFamily="34" charset="-122"/>
            </a:endParaRPr>
          </a:p>
          <a:p>
            <a:pPr marL="457200" lvl="1"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语义 </a:t>
            </a:r>
            <a:r>
              <a:rPr lang="en-US" altLang="zh-CN" i="0" dirty="0">
                <a:effectLst/>
                <a:latin typeface="微软雅黑" panose="020B0503020204020204" pitchFamily="34" charset="-122"/>
                <a:ea typeface="微软雅黑" panose="020B0503020204020204" pitchFamily="34" charset="-122"/>
              </a:rPr>
              <a:t>affordance：</a:t>
            </a:r>
            <a:r>
              <a:rPr lang="zh-CN" altLang="en-US" i="0" dirty="0">
                <a:effectLst/>
                <a:latin typeface="微软雅黑" panose="020B0503020204020204" pitchFamily="34" charset="-122"/>
                <a:ea typeface="微软雅黑" panose="020B0503020204020204" pitchFamily="34" charset="-122"/>
              </a:rPr>
              <a:t>这个区域是否符合语言任务；</a:t>
            </a:r>
            <a:endParaRPr lang="zh-CN" altLang="en-US" i="0" dirty="0">
              <a:effectLst/>
              <a:latin typeface="微软雅黑" panose="020B0503020204020204" pitchFamily="34" charset="-122"/>
              <a:ea typeface="微软雅黑" panose="020B0503020204020204" pitchFamily="34" charset="-122"/>
            </a:endParaRPr>
          </a:p>
          <a:p>
            <a:pPr marL="457200" lvl="1"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接触 </a:t>
            </a:r>
            <a:r>
              <a:rPr lang="en-US" altLang="zh-CN" i="0" dirty="0">
                <a:effectLst/>
                <a:latin typeface="微软雅黑" panose="020B0503020204020204" pitchFamily="34" charset="-122"/>
                <a:ea typeface="微软雅黑" panose="020B0503020204020204" pitchFamily="34" charset="-122"/>
              </a:rPr>
              <a:t>affordance：</a:t>
            </a:r>
            <a:r>
              <a:rPr lang="zh-CN" altLang="en-US" i="0" dirty="0">
                <a:effectLst/>
                <a:latin typeface="微软雅黑" panose="020B0503020204020204" pitchFamily="34" charset="-122"/>
                <a:ea typeface="微软雅黑" panose="020B0503020204020204" pitchFamily="34" charset="-122"/>
              </a:rPr>
              <a:t>这个区域是否适合形成接触；</a:t>
            </a:r>
            <a:endParaRPr lang="zh-CN" altLang="en-US" i="0" dirty="0">
              <a:effectLst/>
              <a:latin typeface="微软雅黑" panose="020B0503020204020204" pitchFamily="34" charset="-122"/>
              <a:ea typeface="微软雅黑" panose="020B0503020204020204" pitchFamily="34" charset="-122"/>
            </a:endParaRPr>
          </a:p>
          <a:p>
            <a:pPr marL="457200" lvl="1"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摩擦 </a:t>
            </a:r>
            <a:r>
              <a:rPr lang="en-US" altLang="zh-CN" i="0" dirty="0">
                <a:effectLst/>
                <a:latin typeface="微软雅黑" panose="020B0503020204020204" pitchFamily="34" charset="-122"/>
                <a:ea typeface="微软雅黑" panose="020B0503020204020204" pitchFamily="34" charset="-122"/>
              </a:rPr>
              <a:t>affordance：</a:t>
            </a:r>
            <a:r>
              <a:rPr lang="zh-CN" altLang="en-US" i="0" dirty="0">
                <a:effectLst/>
                <a:latin typeface="微软雅黑" panose="020B0503020204020204" pitchFamily="34" charset="-122"/>
                <a:ea typeface="微软雅黑" panose="020B0503020204020204" pitchFamily="34" charset="-122"/>
              </a:rPr>
              <a:t>这个区域是否容易滑动；</a:t>
            </a:r>
            <a:endParaRPr lang="zh-CN" altLang="en-US" i="0" dirty="0">
              <a:effectLst/>
              <a:latin typeface="微软雅黑" panose="020B0503020204020204" pitchFamily="34" charset="-122"/>
              <a:ea typeface="微软雅黑" panose="020B0503020204020204" pitchFamily="34" charset="-122"/>
            </a:endParaRPr>
          </a:p>
          <a:p>
            <a:pPr marL="457200" lvl="1"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支撑 </a:t>
            </a:r>
            <a:r>
              <a:rPr lang="en-US" altLang="zh-CN" i="0" dirty="0">
                <a:effectLst/>
                <a:latin typeface="微软雅黑" panose="020B0503020204020204" pitchFamily="34" charset="-122"/>
                <a:ea typeface="微软雅黑" panose="020B0503020204020204" pitchFamily="34" charset="-122"/>
              </a:rPr>
              <a:t>affordance：</a:t>
            </a:r>
            <a:r>
              <a:rPr lang="zh-CN" altLang="en-US" i="0" dirty="0">
                <a:effectLst/>
                <a:latin typeface="微软雅黑" panose="020B0503020204020204" pitchFamily="34" charset="-122"/>
                <a:ea typeface="微软雅黑" panose="020B0503020204020204" pitchFamily="34" charset="-122"/>
              </a:rPr>
              <a:t>这个区域是否能抗重力；</a:t>
            </a:r>
            <a:endParaRPr lang="zh-CN" altLang="en-US" i="0" dirty="0">
              <a:effectLst/>
              <a:latin typeface="微软雅黑" panose="020B0503020204020204" pitchFamily="34" charset="-122"/>
              <a:ea typeface="微软雅黑" panose="020B0503020204020204" pitchFamily="34" charset="-122"/>
            </a:endParaRPr>
          </a:p>
          <a:p>
            <a:pPr marL="457200" lvl="1"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手指 </a:t>
            </a:r>
            <a:r>
              <a:rPr lang="en-US" altLang="zh-CN" i="0" dirty="0">
                <a:effectLst/>
                <a:latin typeface="微软雅黑" panose="020B0503020204020204" pitchFamily="34" charset="-122"/>
                <a:ea typeface="微软雅黑" panose="020B0503020204020204" pitchFamily="34" charset="-122"/>
              </a:rPr>
              <a:t>affordance：</a:t>
            </a:r>
            <a:r>
              <a:rPr lang="zh-CN" altLang="en-US" i="0" dirty="0">
                <a:effectLst/>
                <a:latin typeface="微软雅黑" panose="020B0503020204020204" pitchFamily="34" charset="-122"/>
                <a:ea typeface="微软雅黑" panose="020B0503020204020204" pitchFamily="34" charset="-122"/>
              </a:rPr>
              <a:t>每根手指分别适合接触哪里。</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把物理约束从“后处理”提前到 </a:t>
            </a:r>
            <a:r>
              <a:rPr lang="en-US" altLang="zh-CN" b="1" i="0" dirty="0">
                <a:effectLst/>
                <a:latin typeface="微软雅黑" panose="020B0503020204020204" pitchFamily="34" charset="-122"/>
                <a:ea typeface="微软雅黑" panose="020B0503020204020204" pitchFamily="34" charset="-122"/>
              </a:rPr>
              <a:t>affordance </a:t>
            </a:r>
            <a:r>
              <a:rPr lang="zh-CN" altLang="en-US" b="1" i="0" dirty="0">
                <a:effectLst/>
                <a:latin typeface="微软雅黑" panose="020B0503020204020204" pitchFamily="34" charset="-122"/>
                <a:ea typeface="微软雅黑" panose="020B0503020204020204" pitchFamily="34" charset="-122"/>
              </a:rPr>
              <a:t>学习阶段</a:t>
            </a:r>
            <a:endParaRPr lang="zh-CN" altLang="en-US" b="1"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SECOND-Grasp</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：语义+物理统一</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en-US" altLang="zh-CN" i="0" dirty="0">
                <a:effectLst/>
                <a:latin typeface="微软雅黑" panose="020B0503020204020204" pitchFamily="34" charset="-122"/>
                <a:ea typeface="微软雅黑" panose="020B0503020204020204" pitchFamily="34" charset="-122"/>
              </a:rPr>
              <a:t>SECOND-Grasp </a:t>
            </a:r>
            <a:r>
              <a:rPr lang="zh-CN" altLang="en-US" i="0" dirty="0">
                <a:effectLst/>
                <a:latin typeface="微软雅黑" panose="020B0503020204020204" pitchFamily="34" charset="-122"/>
                <a:ea typeface="微软雅黑" panose="020B0503020204020204" pitchFamily="34" charset="-122"/>
              </a:rPr>
              <a:t>的核心目标是解决一个问题：</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传统物理抓取方法能抓稳，但不一定懂任务语义；语言/语义抓取方法懂用户意图，但不一定能真实抓起物体。</a:t>
            </a:r>
            <a:endParaRPr lang="zh-CN" altLang="en-US" i="0" dirty="0">
              <a:effectLst/>
              <a:latin typeface="微软雅黑" panose="020B0503020204020204" pitchFamily="34" charset="-122"/>
              <a:ea typeface="微软雅黑" panose="020B0503020204020204" pitchFamily="34" charset="-122"/>
            </a:endParaRPr>
          </a:p>
        </p:txBody>
      </p:sp>
      <p:pic>
        <p:nvPicPr>
          <p:cNvPr id="2" name="图片 1" descr="ScreenShot_2026-05-26_232556_011"/>
          <p:cNvPicPr>
            <a:picLocks noChangeAspect="1"/>
          </p:cNvPicPr>
          <p:nvPr/>
        </p:nvPicPr>
        <p:blipFill>
          <a:blip r:embed="rId2"/>
          <a:stretch>
            <a:fillRect/>
          </a:stretch>
        </p:blipFill>
        <p:spPr>
          <a:xfrm>
            <a:off x="1520825" y="2951480"/>
            <a:ext cx="8599170" cy="28181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SECOND-Grasp</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语义部分主要来自：</a:t>
            </a:r>
            <a:r>
              <a:rPr lang="en-US" altLang="zh-CN" b="1" i="0" dirty="0">
                <a:effectLst/>
                <a:latin typeface="微软雅黑" panose="020B0503020204020204" pitchFamily="34" charset="-122"/>
                <a:ea typeface="微软雅黑" panose="020B0503020204020204" pitchFamily="34" charset="-122"/>
              </a:rPr>
              <a:t>VLM reasoning + </a:t>
            </a:r>
            <a:r>
              <a:rPr lang="zh-CN" altLang="en-US" b="1" i="0" dirty="0">
                <a:effectLst/>
                <a:latin typeface="微软雅黑" panose="020B0503020204020204" pitchFamily="34" charset="-122"/>
                <a:ea typeface="微软雅黑" panose="020B0503020204020204" pitchFamily="34" charset="-122"/>
              </a:rPr>
              <a:t>多视角分割</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它让大模型判断物体哪些部位适合抓，比如 </a:t>
            </a:r>
            <a:r>
              <a:rPr lang="en-US" altLang="zh-CN" i="0" dirty="0">
                <a:effectLst/>
                <a:latin typeface="微软雅黑" panose="020B0503020204020204" pitchFamily="34" charset="-122"/>
                <a:ea typeface="微软雅黑" panose="020B0503020204020204" pitchFamily="34" charset="-122"/>
              </a:rPr>
              <a:t>handle、body、base，</a:t>
            </a:r>
            <a:r>
              <a:rPr lang="zh-CN" altLang="en-US" i="0" dirty="0">
                <a:effectLst/>
                <a:latin typeface="微软雅黑" panose="020B0503020204020204" pitchFamily="34" charset="-122"/>
                <a:ea typeface="微软雅黑" panose="020B0503020204020204" pitchFamily="34" charset="-122"/>
              </a:rPr>
              <a:t>然后通过 </a:t>
            </a:r>
            <a:r>
              <a:rPr lang="en-US" altLang="zh-CN" i="0" dirty="0">
                <a:effectLst/>
                <a:latin typeface="微软雅黑" panose="020B0503020204020204" pitchFamily="34" charset="-122"/>
                <a:ea typeface="微软雅黑" panose="020B0503020204020204" pitchFamily="34" charset="-122"/>
              </a:rPr>
              <a:t>SAM2 </a:t>
            </a:r>
            <a:r>
              <a:rPr lang="zh-CN" altLang="en-US" i="0" dirty="0">
                <a:effectLst/>
                <a:latin typeface="微软雅黑" panose="020B0503020204020204" pitchFamily="34" charset="-122"/>
                <a:ea typeface="微软雅黑" panose="020B0503020204020204" pitchFamily="34" charset="-122"/>
              </a:rPr>
              <a:t>类分割模型把这些区域定位出来。</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物理部分主要来自：</a:t>
            </a:r>
            <a:r>
              <a:rPr lang="zh-CN" altLang="en-US" b="1" i="0" dirty="0">
                <a:effectLst/>
                <a:latin typeface="微软雅黑" panose="020B0503020204020204" pitchFamily="34" charset="-122"/>
                <a:ea typeface="微软雅黑" panose="020B0503020204020204" pitchFamily="34" charset="-122"/>
              </a:rPr>
              <a:t>几何一致性 </a:t>
            </a:r>
            <a:r>
              <a:rPr lang="en-US" altLang="zh-CN" b="1" i="0" dirty="0">
                <a:effectLst/>
                <a:latin typeface="微软雅黑" panose="020B0503020204020204" pitchFamily="34" charset="-122"/>
                <a:ea typeface="微软雅黑" panose="020B0503020204020204" pitchFamily="34" charset="-122"/>
              </a:rPr>
              <a:t>refinement</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i="0" dirty="0">
                <a:effectLst/>
                <a:latin typeface="微软雅黑" panose="020B0503020204020204" pitchFamily="34" charset="-122"/>
                <a:ea typeface="微软雅黑" panose="020B0503020204020204" pitchFamily="34" charset="-122"/>
              </a:rPr>
              <a:t>SGCR </a:t>
            </a:r>
            <a:r>
              <a:rPr lang="zh-CN" altLang="en-US" i="0" dirty="0">
                <a:effectLst/>
                <a:latin typeface="微软雅黑" panose="020B0503020204020204" pitchFamily="34" charset="-122"/>
                <a:ea typeface="微软雅黑" panose="020B0503020204020204" pitchFamily="34" charset="-122"/>
              </a:rPr>
              <a:t>不只是保留 </a:t>
            </a:r>
            <a:r>
              <a:rPr lang="en-US" altLang="zh-CN" i="0" dirty="0">
                <a:effectLst/>
                <a:latin typeface="微软雅黑" panose="020B0503020204020204" pitchFamily="34" charset="-122"/>
                <a:ea typeface="微软雅黑" panose="020B0503020204020204" pitchFamily="34" charset="-122"/>
              </a:rPr>
              <a:t>VLM </a:t>
            </a:r>
            <a:r>
              <a:rPr lang="zh-CN" altLang="en-US" i="0" dirty="0">
                <a:effectLst/>
                <a:latin typeface="微软雅黑" panose="020B0503020204020204" pitchFamily="34" charset="-122"/>
                <a:ea typeface="微软雅黑" panose="020B0503020204020204" pitchFamily="34" charset="-122"/>
              </a:rPr>
              <a:t>给出的语义区域，还会通过跨视角一致性和 </a:t>
            </a:r>
            <a:r>
              <a:rPr lang="en-US" altLang="zh-CN" i="0" dirty="0">
                <a:effectLst/>
                <a:latin typeface="微软雅黑" panose="020B0503020204020204" pitchFamily="34" charset="-122"/>
                <a:ea typeface="微软雅黑" panose="020B0503020204020204" pitchFamily="34" charset="-122"/>
              </a:rPr>
              <a:t>local convexity filtering </a:t>
            </a:r>
            <a:r>
              <a:rPr lang="zh-CN" altLang="en-US" i="0" dirty="0">
                <a:effectLst/>
                <a:latin typeface="微软雅黑" panose="020B0503020204020204" pitchFamily="34" charset="-122"/>
                <a:ea typeface="微软雅黑" panose="020B0503020204020204" pitchFamily="34" charset="-122"/>
              </a:rPr>
              <a:t>去掉几何上不合理、分散或错误的区域。</a:t>
            </a:r>
            <a:endParaRPr lang="zh-CN" altLang="en-US" i="0" dirty="0">
              <a:effectLst/>
              <a:latin typeface="微软雅黑" panose="020B0503020204020204" pitchFamily="34" charset="-122"/>
              <a:ea typeface="微软雅黑" panose="020B0503020204020204" pitchFamily="34" charset="-122"/>
            </a:endParaRPr>
          </a:p>
        </p:txBody>
      </p:sp>
      <p:pic>
        <p:nvPicPr>
          <p:cNvPr id="2" name="图片 1" descr="ScreenShot_2026-05-26_233052_660"/>
          <p:cNvPicPr>
            <a:picLocks noChangeAspect="1"/>
          </p:cNvPicPr>
          <p:nvPr/>
        </p:nvPicPr>
        <p:blipFill>
          <a:blip r:embed="rId2"/>
          <a:stretch>
            <a:fillRect/>
          </a:stretch>
        </p:blipFill>
        <p:spPr>
          <a:xfrm>
            <a:off x="637540" y="1442085"/>
            <a:ext cx="11172190" cy="4542155"/>
          </a:xfrm>
          <a:prstGeom prst="rect">
            <a:avLst/>
          </a:prstGeom>
        </p:spPr>
      </p:pic>
      <p:pic>
        <p:nvPicPr>
          <p:cNvPr id="3" name="图片 2" descr="deepseek_mermaid_20260526_37d5f0"/>
          <p:cNvPicPr>
            <a:picLocks noChangeAspect="1"/>
          </p:cNvPicPr>
          <p:nvPr/>
        </p:nvPicPr>
        <p:blipFill>
          <a:blip r:embed="rId3"/>
          <a:stretch>
            <a:fillRect/>
          </a:stretch>
        </p:blipFill>
        <p:spPr>
          <a:xfrm>
            <a:off x="4451350" y="0"/>
            <a:ext cx="476758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DexSim2Real</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：迈向</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真实世界</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基础模型引导的域随机化</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b="1" i="0" dirty="0">
                <a:effectLst/>
                <a:latin typeface="微软雅黑" panose="020B0503020204020204" pitchFamily="34" charset="-122"/>
                <a:ea typeface="微软雅黑" panose="020B0503020204020204" pitchFamily="34" charset="-122"/>
              </a:rPr>
              <a:t>DexSim2Real</a:t>
            </a:r>
            <a:r>
              <a:rPr lang="zh-CN" altLang="en-US" b="1" i="0" dirty="0">
                <a:effectLst/>
                <a:latin typeface="微软雅黑" panose="020B0503020204020204" pitchFamily="34" charset="-122"/>
                <a:ea typeface="微软雅黑" panose="020B0503020204020204" pitchFamily="34" charset="-122"/>
              </a:rPr>
              <a:t>的核心贡献是一种称为基础模型引导的域随机化（</a:t>
            </a:r>
            <a:r>
              <a:rPr lang="en-US" altLang="zh-CN" b="1" i="0" dirty="0">
                <a:effectLst/>
                <a:latin typeface="微软雅黑" panose="020B0503020204020204" pitchFamily="34" charset="-122"/>
                <a:ea typeface="微软雅黑" panose="020B0503020204020204" pitchFamily="34" charset="-122"/>
              </a:rPr>
              <a:t>FM-DR）</a:t>
            </a:r>
            <a:r>
              <a:rPr lang="zh-CN" altLang="en-US" b="1" i="0" dirty="0">
                <a:effectLst/>
                <a:latin typeface="微软雅黑" panose="020B0503020204020204" pitchFamily="34" charset="-122"/>
                <a:ea typeface="微软雅黑" panose="020B0503020204020204" pitchFamily="34" charset="-122"/>
              </a:rPr>
              <a:t>机制。与可能使用固定均匀分布的标准</a:t>
            </a:r>
            <a:r>
              <a:rPr lang="en-US" altLang="zh-CN" b="1" i="0" dirty="0">
                <a:effectLst/>
                <a:latin typeface="微软雅黑" panose="020B0503020204020204" pitchFamily="34" charset="-122"/>
                <a:ea typeface="微软雅黑" panose="020B0503020204020204" pitchFamily="34" charset="-122"/>
              </a:rPr>
              <a:t>DR</a:t>
            </a:r>
            <a:r>
              <a:rPr lang="zh-CN" altLang="en-US" b="1" i="0" dirty="0">
                <a:effectLst/>
                <a:latin typeface="微软雅黑" panose="020B0503020204020204" pitchFamily="34" charset="-122"/>
                <a:ea typeface="微软雅黑" panose="020B0503020204020204" pitchFamily="34" charset="-122"/>
              </a:rPr>
              <a:t>不同，</a:t>
            </a:r>
            <a:r>
              <a:rPr lang="en-US" altLang="zh-CN" b="1" i="0" dirty="0">
                <a:effectLst/>
                <a:latin typeface="微软雅黑" panose="020B0503020204020204" pitchFamily="34" charset="-122"/>
                <a:ea typeface="微软雅黑" panose="020B0503020204020204" pitchFamily="34" charset="-122"/>
              </a:rPr>
              <a:t>FM-DR</a:t>
            </a:r>
            <a:r>
              <a:rPr lang="zh-CN" altLang="en-US" b="1" i="0" dirty="0">
                <a:effectLst/>
                <a:latin typeface="微软雅黑" panose="020B0503020204020204" pitchFamily="34" charset="-122"/>
                <a:ea typeface="微软雅黑" panose="020B0503020204020204" pitchFamily="34" charset="-122"/>
              </a:rPr>
              <a:t>旨在找到模拟参数的优化分布，以最大限度地提高视觉和物理真实感。</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该系统定义了一组模拟参数 </a:t>
            </a:r>
            <a:r>
              <a:rPr lang="en-US" altLang="zh-CN" b="1" i="0" dirty="0">
                <a:effectLst/>
                <a:latin typeface="微软雅黑" panose="020B0503020204020204" pitchFamily="34" charset="-122"/>
                <a:ea typeface="微软雅黑" panose="020B0503020204020204" pitchFamily="34" charset="-122"/>
              </a:rPr>
              <a:t>ξ∈R</a:t>
            </a:r>
            <a:r>
              <a:rPr lang="en-US" altLang="zh-CN" b="1" i="0" baseline="30000" dirty="0">
                <a:effectLst/>
                <a:latin typeface="微软雅黑" panose="020B0503020204020204" pitchFamily="34" charset="-122"/>
                <a:ea typeface="微软雅黑" panose="020B0503020204020204" pitchFamily="34" charset="-122"/>
              </a:rPr>
              <a:t>d</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包括摩擦系数、物体质量、光照强度和相机姿态。这些参数从一个分布 </a:t>
            </a:r>
            <a:r>
              <a:rPr lang="en-US" altLang="zh-CN" b="1" i="0" dirty="0">
                <a:effectLst/>
                <a:latin typeface="微软雅黑" panose="020B0503020204020204" pitchFamily="34" charset="-122"/>
                <a:ea typeface="微软雅黑" panose="020B0503020204020204" pitchFamily="34" charset="-122"/>
              </a:rPr>
              <a:t>p</a:t>
            </a:r>
            <a:r>
              <a:rPr lang="zh-CN" altLang="en-US" b="1" i="0" dirty="0">
                <a:effectLst/>
                <a:latin typeface="微软雅黑" panose="020B0503020204020204" pitchFamily="34" charset="-122"/>
                <a:ea typeface="微软雅黑" panose="020B0503020204020204" pitchFamily="34" charset="-122"/>
              </a:rPr>
              <a:t>（</a:t>
            </a:r>
            <a:r>
              <a:rPr lang="en-US" altLang="zh-CN" b="1" i="0" dirty="0">
                <a:effectLst/>
                <a:latin typeface="微软雅黑" panose="020B0503020204020204" pitchFamily="34" charset="-122"/>
                <a:ea typeface="微软雅黑" panose="020B0503020204020204" pitchFamily="34" charset="-122"/>
              </a:rPr>
              <a:t>ξ;θ</a:t>
            </a:r>
            <a:r>
              <a:rPr lang="zh-CN" altLang="en-US" b="1" i="0" dirty="0">
                <a:effectLst/>
                <a:latin typeface="微软雅黑" panose="020B0503020204020204" pitchFamily="34" charset="-122"/>
                <a:ea typeface="微软雅黑" panose="020B0503020204020204" pitchFamily="34" charset="-122"/>
              </a:rPr>
              <a:t>）中采样，该分布被参数化为高斯混合模型：</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b="1" i="0" dirty="0">
              <a:effectLst/>
              <a:latin typeface="微软雅黑" panose="020B0503020204020204" pitchFamily="34" charset="-122"/>
              <a:ea typeface="微软雅黑" panose="020B0503020204020204" pitchFamily="34" charset="-122"/>
            </a:endParaRPr>
          </a:p>
        </p:txBody>
      </p:sp>
      <p:pic>
        <p:nvPicPr>
          <p:cNvPr id="2" name="图片 1" descr="ScreenShot_2026-05-26_225025_933"/>
          <p:cNvPicPr>
            <a:picLocks noChangeAspect="1"/>
          </p:cNvPicPr>
          <p:nvPr/>
        </p:nvPicPr>
        <p:blipFill>
          <a:blip r:embed="rId2"/>
          <a:stretch>
            <a:fillRect/>
          </a:stretch>
        </p:blipFill>
        <p:spPr>
          <a:xfrm>
            <a:off x="3674745" y="4269740"/>
            <a:ext cx="4027805" cy="13315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DexSim2Real</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为了优化这个分布，该框架使用</a:t>
            </a:r>
            <a:r>
              <a:rPr lang="en-US" altLang="zh-CN" b="1" i="0" dirty="0">
                <a:effectLst/>
                <a:latin typeface="微软雅黑" panose="020B0503020204020204" pitchFamily="34" charset="-122"/>
                <a:ea typeface="微软雅黑" panose="020B0503020204020204" pitchFamily="34" charset="-122"/>
              </a:rPr>
              <a:t>GPT-4V（</a:t>
            </a:r>
            <a:r>
              <a:rPr lang="zh-CN" altLang="en-US" b="1" i="0" dirty="0">
                <a:effectLst/>
                <a:latin typeface="微软雅黑" panose="020B0503020204020204" pitchFamily="34" charset="-122"/>
                <a:ea typeface="微软雅黑" panose="020B0503020204020204" pitchFamily="34" charset="-122"/>
              </a:rPr>
              <a:t>一个视觉-语言基础模型）作为“视觉真实感评论家”。该模型被提供模拟渲染图像和真实世界参考图像。然后，它根据模拟环境在光照、纹理和几何方面与真实世界的匹配程度，分配一个真实感分数</a:t>
            </a:r>
            <a:r>
              <a:rPr lang="en-US" altLang="zh-CN" b="1" i="0" dirty="0">
                <a:effectLst/>
                <a:latin typeface="微软雅黑" panose="020B0503020204020204" pitchFamily="34" charset="-122"/>
                <a:ea typeface="微软雅黑" panose="020B0503020204020204" pitchFamily="34" charset="-122"/>
              </a:rPr>
              <a:t>s(ξ) ∈ [1, 10]</a:t>
            </a:r>
            <a:endParaRPr lang="en-US" altLang="zh-CN"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优化目标 </a:t>
            </a:r>
            <a:r>
              <a:rPr lang="en-US" altLang="zh-CN" b="1" i="0" dirty="0">
                <a:effectLst/>
                <a:latin typeface="微软雅黑" panose="020B0503020204020204" pitchFamily="34" charset="-122"/>
                <a:ea typeface="微软雅黑" panose="020B0503020204020204" pitchFamily="34" charset="-122"/>
              </a:rPr>
              <a:t>J(θ)</a:t>
            </a:r>
            <a:r>
              <a:rPr lang="zh-CN" altLang="en-US" b="1" i="0" dirty="0">
                <a:effectLst/>
                <a:latin typeface="微软雅黑" panose="020B0503020204020204" pitchFamily="34" charset="-122"/>
                <a:ea typeface="微软雅黑" panose="020B0503020204020204" pitchFamily="34" charset="-122"/>
              </a:rPr>
              <a:t>被公式化为在通过熵项</a:t>
            </a:r>
            <a:r>
              <a:rPr lang="en-US" altLang="zh-CN" b="1" i="0" dirty="0">
                <a:effectLst/>
                <a:latin typeface="微软雅黑" panose="020B0503020204020204" pitchFamily="34" charset="-122"/>
                <a:ea typeface="微软雅黑" panose="020B0503020204020204" pitchFamily="34" charset="-122"/>
              </a:rPr>
              <a:t>H</a:t>
            </a:r>
            <a:r>
              <a:rPr lang="zh-CN" altLang="en-US" b="1" i="0" dirty="0">
                <a:effectLst/>
                <a:latin typeface="微软雅黑" panose="020B0503020204020204" pitchFamily="34" charset="-122"/>
                <a:ea typeface="微软雅黑" panose="020B0503020204020204" pitchFamily="34" charset="-122"/>
              </a:rPr>
              <a:t>保持多样性的同时，最大化预期真实感分数：</a:t>
            </a: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b="1"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b="1" i="0" dirty="0">
                <a:effectLst/>
                <a:latin typeface="微软雅黑" panose="020B0503020204020204" pitchFamily="34" charset="-122"/>
                <a:ea typeface="微软雅黑" panose="020B0503020204020204" pitchFamily="34" charset="-122"/>
              </a:rPr>
              <a:t>在这里，</a:t>
            </a:r>
            <a:r>
              <a:rPr lang="en-US" altLang="zh-CN" b="1" i="0" dirty="0">
                <a:effectLst/>
                <a:latin typeface="微软雅黑" panose="020B0503020204020204" pitchFamily="34" charset="-122"/>
                <a:ea typeface="微软雅黑" panose="020B0503020204020204" pitchFamily="34" charset="-122"/>
              </a:rPr>
              <a:t>λ=0.3</a:t>
            </a:r>
            <a:r>
              <a:rPr lang="zh-CN" altLang="en-US" b="1" i="0" dirty="0">
                <a:effectLst/>
                <a:latin typeface="微软雅黑" panose="020B0503020204020204" pitchFamily="34" charset="-122"/>
                <a:ea typeface="微软雅黑" panose="020B0503020204020204" pitchFamily="34" charset="-122"/>
              </a:rPr>
              <a:t>是一个权衡参数，它防止分布坍缩成一个单点，确保策略对微小变化保持鲁棒性。参数</a:t>
            </a:r>
            <a:r>
              <a:rPr lang="en-US" altLang="zh-CN" b="1" dirty="0">
                <a:effectLst/>
                <a:latin typeface="微软雅黑" panose="020B0503020204020204" pitchFamily="34" charset="-122"/>
                <a:ea typeface="微软雅黑" panose="020B0503020204020204" pitchFamily="34" charset="-122"/>
                <a:sym typeface="+mn-ea"/>
              </a:rPr>
              <a:t>θ</a:t>
            </a:r>
            <a:r>
              <a:rPr lang="zh-CN" altLang="en-US" b="1" i="0" dirty="0">
                <a:effectLst/>
                <a:latin typeface="微软雅黑" panose="020B0503020204020204" pitchFamily="34" charset="-122"/>
                <a:ea typeface="微软雅黑" panose="020B0503020204020204" pitchFamily="34" charset="-122"/>
              </a:rPr>
              <a:t>使用协方差矩阵自适应进化策略（</a:t>
            </a:r>
            <a:r>
              <a:rPr lang="en-US" altLang="zh-CN" b="1" i="0" dirty="0">
                <a:effectLst/>
                <a:latin typeface="微软雅黑" panose="020B0503020204020204" pitchFamily="34" charset="-122"/>
                <a:ea typeface="微软雅黑" panose="020B0503020204020204" pitchFamily="34" charset="-122"/>
              </a:rPr>
              <a:t>CMA-ES）</a:t>
            </a:r>
            <a:r>
              <a:rPr lang="zh-CN" altLang="en-US" b="1" i="0" dirty="0">
                <a:effectLst/>
                <a:latin typeface="微软雅黑" panose="020B0503020204020204" pitchFamily="34" charset="-122"/>
                <a:ea typeface="微软雅黑" panose="020B0503020204020204" pitchFamily="34" charset="-122"/>
              </a:rPr>
              <a:t>进行迭代更新。这种闭环优化允许模拟器“进化”以趋近真实，减少虚实差距，而无需手动参数扫描。作者观察到，这种</a:t>
            </a:r>
            <a:r>
              <a:rPr lang="en-US" altLang="zh-CN" b="1" i="0" dirty="0">
                <a:effectLst/>
                <a:latin typeface="微软雅黑" panose="020B0503020204020204" pitchFamily="34" charset="-122"/>
                <a:ea typeface="微软雅黑" panose="020B0503020204020204" pitchFamily="34" charset="-122"/>
              </a:rPr>
              <a:t>VLM</a:t>
            </a:r>
            <a:r>
              <a:rPr lang="zh-CN" altLang="en-US" b="1" i="0" dirty="0">
                <a:effectLst/>
                <a:latin typeface="微软雅黑" panose="020B0503020204020204" pitchFamily="34" charset="-122"/>
                <a:ea typeface="微软雅黑" panose="020B0503020204020204" pitchFamily="34" charset="-122"/>
              </a:rPr>
              <a:t>引导的方法提供了强大的语义信号，与人类对真实感的判断达到了 </a:t>
            </a:r>
            <a:r>
              <a:rPr lang="en-US" altLang="zh-CN" b="1" i="0" dirty="0">
                <a:effectLst/>
                <a:latin typeface="微软雅黑" panose="020B0503020204020204" pitchFamily="34" charset="-122"/>
                <a:ea typeface="微软雅黑" panose="020B0503020204020204" pitchFamily="34" charset="-122"/>
              </a:rPr>
              <a:t>ρ</a:t>
            </a:r>
            <a:r>
              <a:rPr lang="en-US" altLang="zh-CN" b="1" i="0" dirty="0">
                <a:effectLst/>
                <a:latin typeface="微软雅黑" panose="020B0503020204020204" pitchFamily="34" charset="-122"/>
                <a:ea typeface="微软雅黑" panose="020B0503020204020204" pitchFamily="34" charset="-122"/>
              </a:rPr>
              <a:t> = 0.87</a:t>
            </a:r>
            <a:r>
              <a:rPr lang="zh-CN" altLang="en-US" b="1" i="0" dirty="0">
                <a:effectLst/>
                <a:latin typeface="微软雅黑" panose="020B0503020204020204" pitchFamily="34" charset="-122"/>
                <a:ea typeface="微软雅黑" panose="020B0503020204020204" pitchFamily="34" charset="-122"/>
              </a:rPr>
              <a:t>的斯皮尔曼相关性。</a:t>
            </a:r>
            <a:endParaRPr lang="zh-CN" altLang="en-US" b="1" i="0" dirty="0">
              <a:effectLst/>
              <a:latin typeface="微软雅黑" panose="020B0503020204020204" pitchFamily="34" charset="-122"/>
              <a:ea typeface="微软雅黑" panose="020B0503020204020204" pitchFamily="34" charset="-122"/>
            </a:endParaRPr>
          </a:p>
        </p:txBody>
      </p:sp>
      <p:pic>
        <p:nvPicPr>
          <p:cNvPr id="2" name="图片 1" descr="ScreenShot_2026-05-26_225247_536"/>
          <p:cNvPicPr>
            <a:picLocks noChangeAspect="1"/>
          </p:cNvPicPr>
          <p:nvPr/>
        </p:nvPicPr>
        <p:blipFill>
          <a:blip r:embed="rId2"/>
          <a:stretch>
            <a:fillRect/>
          </a:stretch>
        </p:blipFill>
        <p:spPr>
          <a:xfrm>
            <a:off x="3355975" y="3346450"/>
            <a:ext cx="5152390" cy="8616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3"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097177" name="Picture 2"/>
          <p:cNvPicPr>
            <a:picLocks noChangeAspect="1" noChangeArrowheads="1"/>
          </p:cNvPicPr>
          <p:nvPr/>
        </p:nvPicPr>
        <p:blipFill rotWithShape="1">
          <a:blip r:embed="rId1" cstate="print"/>
          <a:srcRect/>
          <a:stretch>
            <a:fillRect/>
          </a:stretch>
        </p:blipFill>
        <p:spPr bwMode="auto">
          <a:xfrm>
            <a:off x="4191000" y="1407160"/>
            <a:ext cx="8001000" cy="4043680"/>
          </a:xfrm>
          <a:prstGeom prst="rect">
            <a:avLst/>
          </a:prstGeom>
          <a:noFill/>
        </p:spPr>
      </p:pic>
      <p:grpSp>
        <p:nvGrpSpPr>
          <p:cNvPr id="134" name="组合 22"/>
          <p:cNvGrpSpPr/>
          <p:nvPr/>
        </p:nvGrpSpPr>
        <p:grpSpPr>
          <a:xfrm>
            <a:off x="0" y="713740"/>
            <a:ext cx="12273281" cy="4737100"/>
            <a:chOff x="0" y="713740"/>
            <a:chExt cx="12273281" cy="4737100"/>
          </a:xfrm>
        </p:grpSpPr>
        <p:grpSp>
          <p:nvGrpSpPr>
            <p:cNvPr id="135" name="组合 25"/>
            <p:cNvGrpSpPr/>
            <p:nvPr/>
          </p:nvGrpSpPr>
          <p:grpSpPr>
            <a:xfrm>
              <a:off x="0" y="1407160"/>
              <a:ext cx="4064000" cy="4043680"/>
              <a:chOff x="0" y="1407160"/>
              <a:chExt cx="4064000" cy="4043680"/>
            </a:xfrm>
          </p:grpSpPr>
          <p:sp>
            <p:nvSpPr>
              <p:cNvPr id="1048774"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75" name="文本框 33"/>
              <p:cNvSpPr txBox="1"/>
              <p:nvPr/>
            </p:nvSpPr>
            <p:spPr>
              <a:xfrm>
                <a:off x="127000" y="3003729"/>
                <a:ext cx="3810000" cy="706755"/>
              </a:xfrm>
              <a:prstGeom prst="rect">
                <a:avLst/>
              </a:prstGeom>
              <a:noFill/>
            </p:spPr>
            <p:txBody>
              <a:bodyPr wrap="square" rtlCol="0">
                <a:spAutoFit/>
              </a:bodyPr>
              <a:lstStyle/>
              <a:p>
                <a:pPr algn="ctr"/>
                <a:r>
                  <a:rPr lang="zh-CN" altLang="en-US" sz="4000" dirty="0">
                    <a:solidFill>
                      <a:schemeClr val="bg1"/>
                    </a:solidFill>
                    <a:latin typeface="黑体" panose="02010609060101010101" charset="-122"/>
                    <a:ea typeface="黑体" panose="02010609060101010101" charset="-122"/>
                    <a:cs typeface="+mn-ea"/>
                    <a:sym typeface="+mn-lt"/>
                  </a:rPr>
                  <a:t>采用</a:t>
                </a:r>
                <a:r>
                  <a:rPr lang="zh-CN" altLang="en-US" sz="4000" dirty="0">
                    <a:solidFill>
                      <a:schemeClr val="bg1"/>
                    </a:solidFill>
                    <a:latin typeface="黑体" panose="02010609060101010101" charset="-122"/>
                    <a:ea typeface="黑体" panose="02010609060101010101" charset="-122"/>
                    <a:cs typeface="+mn-ea"/>
                    <a:sym typeface="+mn-lt"/>
                  </a:rPr>
                  <a:t>的方法</a:t>
                </a:r>
                <a:endParaRPr lang="en-US" altLang="zh-CN" sz="4000" dirty="0">
                  <a:solidFill>
                    <a:schemeClr val="bg1"/>
                  </a:solidFill>
                  <a:latin typeface="黑体" panose="02010609060101010101" charset="-122"/>
                  <a:ea typeface="黑体" panose="02010609060101010101" charset="-122"/>
                  <a:cs typeface="+mn-ea"/>
                  <a:sym typeface="+mn-lt"/>
                </a:endParaRPr>
              </a:p>
            </p:txBody>
          </p:sp>
        </p:grpSp>
        <p:grpSp>
          <p:nvGrpSpPr>
            <p:cNvPr id="136" name="组合 26"/>
            <p:cNvGrpSpPr/>
            <p:nvPr/>
          </p:nvGrpSpPr>
          <p:grpSpPr>
            <a:xfrm>
              <a:off x="7564229" y="713740"/>
              <a:ext cx="4709052" cy="1386840"/>
              <a:chOff x="7564229" y="713740"/>
              <a:chExt cx="4709052" cy="1386840"/>
            </a:xfrm>
          </p:grpSpPr>
          <p:sp>
            <p:nvSpPr>
              <p:cNvPr id="1048776" name="任意多边形 28"/>
              <p:cNvSpPr/>
              <p:nvPr/>
            </p:nvSpPr>
            <p:spPr>
              <a:xfrm flipH="1" flipV="1">
                <a:off x="7564229" y="713740"/>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77" name="文本框 30"/>
              <p:cNvSpPr txBox="1"/>
              <p:nvPr/>
            </p:nvSpPr>
            <p:spPr>
              <a:xfrm>
                <a:off x="7793645" y="991661"/>
                <a:ext cx="4479636" cy="764540"/>
              </a:xfrm>
              <a:prstGeom prst="rect">
                <a:avLst/>
              </a:prstGeom>
              <a:noFill/>
            </p:spPr>
            <p:txBody>
              <a:bodyPr wrap="square" rtlCol="0">
                <a:spAutoFit/>
              </a:bodyPr>
              <a:lstStyle/>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FOUR</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778" name="文本框 27"/>
            <p:cNvSpPr txBox="1"/>
            <p:nvPr/>
          </p:nvSpPr>
          <p:spPr>
            <a:xfrm>
              <a:off x="9550399" y="3052435"/>
              <a:ext cx="2349194" cy="1577340"/>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04</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78" name="图片 14"/>
          <p:cNvPicPr>
            <a:picLocks noChangeAspect="1"/>
          </p:cNvPicPr>
          <p:nvPr/>
        </p:nvPicPr>
        <p:blipFill>
          <a:blip r:embed="rId2"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four</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4" name="文本框 3"/>
          <p:cNvSpPr txBox="1"/>
          <p:nvPr/>
        </p:nvSpPr>
        <p:spPr>
          <a:xfrm>
            <a:off x="550977" y="705445"/>
            <a:ext cx="5330278" cy="830997"/>
          </a:xfrm>
          <a:prstGeom prst="rect">
            <a:avLst/>
          </a:prstGeom>
          <a:noFill/>
        </p:spPr>
        <p:txBody>
          <a:bodyPr wrap="square" rtlCol="0">
            <a:spAutoFit/>
          </a:bodyPr>
          <a:lstStyle/>
          <a:p>
            <a:r>
              <a:rPr lang="zh-CN" altLang="en-US" sz="2400" b="1" dirty="0"/>
              <a:t>方法：综述分析与方案归纳相结合</a:t>
            </a:r>
            <a:endParaRPr lang="zh-CN" altLang="en-US" sz="2400" dirty="0"/>
          </a:p>
          <a:p>
            <a:endParaRPr lang="zh-CN" altLang="en-US" sz="2400" b="1" dirty="0"/>
          </a:p>
        </p:txBody>
      </p:sp>
      <p:sp>
        <p:nvSpPr>
          <p:cNvPr id="5" name="文本框 4"/>
          <p:cNvSpPr txBox="1"/>
          <p:nvPr/>
        </p:nvSpPr>
        <p:spPr>
          <a:xfrm>
            <a:off x="880552" y="1285026"/>
            <a:ext cx="10038384" cy="3062505"/>
          </a:xfrm>
          <a:prstGeom prst="rect">
            <a:avLst/>
          </a:prstGeom>
          <a:noFill/>
        </p:spPr>
        <p:txBody>
          <a:bodyPr wrap="square">
            <a:spAutoFit/>
          </a:bodyPr>
          <a:lstStyle/>
          <a:p>
            <a:pPr>
              <a:lnSpc>
                <a:spcPct val="120000"/>
              </a:lnSpc>
            </a:pPr>
            <a:r>
              <a:rPr lang="zh-CN" altLang="en-US" dirty="0"/>
              <a:t>本课题采用“文献综述 </a:t>
            </a:r>
            <a:r>
              <a:rPr lang="en-US" altLang="zh-CN" dirty="0"/>
              <a:t>+ </a:t>
            </a:r>
            <a:r>
              <a:rPr lang="zh-CN" altLang="en-US" dirty="0"/>
              <a:t>方法对比 </a:t>
            </a:r>
            <a:r>
              <a:rPr lang="en-US" altLang="zh-CN" dirty="0"/>
              <a:t>+ </a:t>
            </a:r>
            <a:r>
              <a:rPr lang="zh-CN" altLang="en-US" dirty="0"/>
              <a:t>物理约束归纳 </a:t>
            </a:r>
            <a:r>
              <a:rPr lang="en-US" altLang="zh-CN" dirty="0"/>
              <a:t>+ </a:t>
            </a:r>
            <a:r>
              <a:rPr lang="zh-CN" altLang="en-US" dirty="0"/>
              <a:t>方案设计”的研究方法，围绕灵巧手抓取生成问题展开分析。</a:t>
            </a:r>
            <a:endParaRPr lang="zh-CN" altLang="en-US" dirty="0"/>
          </a:p>
          <a:p>
            <a:pPr>
              <a:lnSpc>
                <a:spcPct val="120000"/>
              </a:lnSpc>
            </a:pPr>
            <a:r>
              <a:rPr lang="zh-CN" altLang="en-US" dirty="0"/>
              <a:t>研究并不是直接重新训练一个完整的灵巧手抓取模型，而是基于已有代表性工作，系统总结当前方法在以下几个方面的技术路线：</a:t>
            </a:r>
            <a:endParaRPr lang="en-US" altLang="zh-CN" dirty="0"/>
          </a:p>
          <a:p>
            <a:pPr marL="285750" indent="-285750">
              <a:lnSpc>
                <a:spcPct val="120000"/>
              </a:lnSpc>
              <a:buFont typeface="Wingdings" panose="05000000000000000000" pitchFamily="2" charset="2"/>
              <a:buChar char="p"/>
            </a:pPr>
            <a:r>
              <a:rPr lang="zh-CN" altLang="en-US" b="1" dirty="0">
                <a:solidFill>
                  <a:schemeClr val="accent2"/>
                </a:solidFill>
              </a:rPr>
              <a:t>抓取数据如何构建 </a:t>
            </a:r>
            <a:endParaRPr lang="en-US" altLang="zh-CN" b="1" dirty="0">
              <a:solidFill>
                <a:schemeClr val="accent2"/>
              </a:solidFill>
            </a:endParaRPr>
          </a:p>
          <a:p>
            <a:pPr marL="285750" indent="-285750">
              <a:lnSpc>
                <a:spcPct val="120000"/>
              </a:lnSpc>
              <a:buFont typeface="Wingdings" panose="05000000000000000000" pitchFamily="2" charset="2"/>
              <a:buChar char="p"/>
            </a:pPr>
            <a:r>
              <a:rPr lang="zh-CN" altLang="en-US" b="1" dirty="0">
                <a:solidFill>
                  <a:schemeClr val="accent2"/>
                </a:solidFill>
              </a:rPr>
              <a:t>灵巧手抓取姿态如何表示 </a:t>
            </a:r>
            <a:endParaRPr lang="en-US" altLang="zh-CN" b="1" dirty="0">
              <a:solidFill>
                <a:schemeClr val="accent2"/>
              </a:solidFill>
            </a:endParaRPr>
          </a:p>
          <a:p>
            <a:pPr marL="285750" indent="-285750">
              <a:lnSpc>
                <a:spcPct val="120000"/>
              </a:lnSpc>
              <a:buFont typeface="Wingdings" panose="05000000000000000000" pitchFamily="2" charset="2"/>
              <a:buChar char="p"/>
            </a:pPr>
            <a:r>
              <a:rPr lang="zh-CN" altLang="en-US" b="1" dirty="0">
                <a:solidFill>
                  <a:schemeClr val="accent2"/>
                </a:solidFill>
              </a:rPr>
              <a:t>抓取动作如何生成 </a:t>
            </a:r>
            <a:endParaRPr lang="en-US" altLang="zh-CN" b="1" dirty="0">
              <a:solidFill>
                <a:schemeClr val="accent2"/>
              </a:solidFill>
            </a:endParaRPr>
          </a:p>
          <a:p>
            <a:pPr marL="285750" indent="-285750">
              <a:lnSpc>
                <a:spcPct val="120000"/>
              </a:lnSpc>
              <a:buFont typeface="Wingdings" panose="05000000000000000000" pitchFamily="2" charset="2"/>
              <a:buChar char="p"/>
            </a:pPr>
            <a:r>
              <a:rPr lang="zh-CN" altLang="en-US" b="1" dirty="0">
                <a:solidFill>
                  <a:schemeClr val="accent2"/>
                </a:solidFill>
              </a:rPr>
              <a:t>物理合理性如何约束 </a:t>
            </a:r>
            <a:endParaRPr lang="en-US" altLang="zh-CN" b="1" dirty="0">
              <a:solidFill>
                <a:schemeClr val="accent2"/>
              </a:solidFill>
            </a:endParaRPr>
          </a:p>
          <a:p>
            <a:pPr marL="285750" indent="-285750">
              <a:lnSpc>
                <a:spcPct val="120000"/>
              </a:lnSpc>
              <a:buFont typeface="Wingdings" panose="05000000000000000000" pitchFamily="2" charset="2"/>
              <a:buChar char="p"/>
            </a:pPr>
            <a:r>
              <a:rPr lang="zh-CN" altLang="en-US" b="1" dirty="0">
                <a:solidFill>
                  <a:schemeClr val="accent2"/>
                </a:solidFill>
              </a:rPr>
              <a:t>如何提升跨物体、跨场景泛化能力</a:t>
            </a:r>
            <a:endParaRPr lang="zh-CN" altLang="en-US" b="1" dirty="0">
              <a:solidFill>
                <a:schemeClr val="accent2"/>
              </a:solidFill>
            </a:endParaRPr>
          </a:p>
        </p:txBody>
      </p:sp>
      <p:pic>
        <p:nvPicPr>
          <p:cNvPr id="7" name="图片 6"/>
          <p:cNvPicPr>
            <a:picLocks noChangeAspect="1"/>
          </p:cNvPicPr>
          <p:nvPr/>
        </p:nvPicPr>
        <p:blipFill>
          <a:blip r:embed="rId2"/>
          <a:stretch>
            <a:fillRect/>
          </a:stretch>
        </p:blipFill>
        <p:spPr>
          <a:xfrm>
            <a:off x="637430" y="1283736"/>
            <a:ext cx="11163797" cy="500406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four</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3" name="文本框 2"/>
          <p:cNvSpPr txBox="1"/>
          <p:nvPr/>
        </p:nvSpPr>
        <p:spPr>
          <a:xfrm>
            <a:off x="550977" y="705445"/>
            <a:ext cx="5330278" cy="461665"/>
          </a:xfrm>
          <a:prstGeom prst="rect">
            <a:avLst/>
          </a:prstGeom>
          <a:noFill/>
        </p:spPr>
        <p:txBody>
          <a:bodyPr wrap="square" rtlCol="0">
            <a:spAutoFit/>
          </a:bodyPr>
          <a:lstStyle/>
          <a:p>
            <a:r>
              <a:rPr lang="zh-CN" altLang="en-US" sz="2400" b="1" dirty="0"/>
              <a:t>代表性文献筛选方法</a:t>
            </a:r>
            <a:endParaRPr lang="zh-CN" altLang="en-US" sz="2400" dirty="0"/>
          </a:p>
        </p:txBody>
      </p:sp>
      <p:pic>
        <p:nvPicPr>
          <p:cNvPr id="6" name="图片 5"/>
          <p:cNvPicPr>
            <a:picLocks noChangeAspect="1"/>
          </p:cNvPicPr>
          <p:nvPr/>
        </p:nvPicPr>
        <p:blipFill>
          <a:blip r:embed="rId2"/>
          <a:stretch>
            <a:fillRect/>
          </a:stretch>
        </p:blipFill>
        <p:spPr>
          <a:xfrm>
            <a:off x="196627" y="1167110"/>
            <a:ext cx="11798746" cy="5662427"/>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four</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4" name="文本框 3"/>
          <p:cNvSpPr txBox="1"/>
          <p:nvPr/>
        </p:nvSpPr>
        <p:spPr>
          <a:xfrm>
            <a:off x="550976" y="705445"/>
            <a:ext cx="4322359" cy="461665"/>
          </a:xfrm>
          <a:prstGeom prst="rect">
            <a:avLst/>
          </a:prstGeom>
          <a:noFill/>
        </p:spPr>
        <p:txBody>
          <a:bodyPr wrap="square" rtlCol="0">
            <a:spAutoFit/>
          </a:bodyPr>
          <a:lstStyle/>
          <a:p>
            <a:r>
              <a:rPr lang="zh-CN" altLang="en-US" sz="2400" b="1" dirty="0"/>
              <a:t>多维度对比分析框架</a:t>
            </a:r>
            <a:endParaRPr lang="zh-CN" altLang="en-US" sz="2400" b="1" dirty="0"/>
          </a:p>
        </p:txBody>
      </p:sp>
      <p:pic>
        <p:nvPicPr>
          <p:cNvPr id="3" name="图片 2"/>
          <p:cNvPicPr>
            <a:picLocks noChangeAspect="1"/>
          </p:cNvPicPr>
          <p:nvPr/>
        </p:nvPicPr>
        <p:blipFill>
          <a:blip r:embed="rId2"/>
          <a:stretch>
            <a:fillRect/>
          </a:stretch>
        </p:blipFill>
        <p:spPr>
          <a:xfrm>
            <a:off x="550976" y="1210756"/>
            <a:ext cx="10968901" cy="56472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four</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4" name="文本框 3"/>
          <p:cNvSpPr txBox="1"/>
          <p:nvPr/>
        </p:nvSpPr>
        <p:spPr>
          <a:xfrm>
            <a:off x="550976" y="705445"/>
            <a:ext cx="4322359" cy="461665"/>
          </a:xfrm>
          <a:prstGeom prst="rect">
            <a:avLst/>
          </a:prstGeom>
          <a:noFill/>
        </p:spPr>
        <p:txBody>
          <a:bodyPr wrap="square" rtlCol="0">
            <a:spAutoFit/>
          </a:bodyPr>
          <a:lstStyle/>
          <a:p>
            <a:r>
              <a:rPr lang="zh-CN" altLang="en-US" sz="2400" b="1" dirty="0"/>
              <a:t>物理合理性约束的分层归纳</a:t>
            </a:r>
            <a:endParaRPr lang="zh-CN" altLang="en-US" sz="2400" b="1" dirty="0"/>
          </a:p>
        </p:txBody>
      </p:sp>
      <p:pic>
        <p:nvPicPr>
          <p:cNvPr id="5" name="图片 4"/>
          <p:cNvPicPr>
            <a:picLocks noChangeAspect="1"/>
          </p:cNvPicPr>
          <p:nvPr/>
        </p:nvPicPr>
        <p:blipFill>
          <a:blip r:embed="rId2"/>
          <a:stretch>
            <a:fillRect/>
          </a:stretch>
        </p:blipFill>
        <p:spPr>
          <a:xfrm>
            <a:off x="107229" y="1167110"/>
            <a:ext cx="11823212" cy="54686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four</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4" name="文本框 3"/>
          <p:cNvSpPr txBox="1"/>
          <p:nvPr/>
        </p:nvSpPr>
        <p:spPr>
          <a:xfrm>
            <a:off x="550976" y="705445"/>
            <a:ext cx="6013453" cy="461665"/>
          </a:xfrm>
          <a:prstGeom prst="rect">
            <a:avLst/>
          </a:prstGeom>
          <a:noFill/>
        </p:spPr>
        <p:txBody>
          <a:bodyPr wrap="square" rtlCol="0">
            <a:spAutoFit/>
          </a:bodyPr>
          <a:lstStyle/>
          <a:p>
            <a:r>
              <a:rPr lang="zh-CN" altLang="en-US" sz="2400" b="1" dirty="0"/>
              <a:t>小复现与物理引导生成方案设计</a:t>
            </a:r>
            <a:endParaRPr lang="zh-CN" altLang="en-US" sz="2400" b="1"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rcRect l="2169" t="12512" r="2175" b="8210"/>
          <a:stretch>
            <a:fillRect/>
          </a:stretch>
        </p:blipFill>
        <p:spPr>
          <a:xfrm>
            <a:off x="208390" y="1294357"/>
            <a:ext cx="11752522" cy="54818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3"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097177" name="Picture 2"/>
          <p:cNvPicPr>
            <a:picLocks noChangeAspect="1" noChangeArrowheads="1"/>
          </p:cNvPicPr>
          <p:nvPr/>
        </p:nvPicPr>
        <p:blipFill rotWithShape="1">
          <a:blip r:embed="rId1" cstate="print"/>
          <a:srcRect/>
          <a:stretch>
            <a:fillRect/>
          </a:stretch>
        </p:blipFill>
        <p:spPr bwMode="auto">
          <a:xfrm>
            <a:off x="4191000" y="1407160"/>
            <a:ext cx="8001000" cy="4043680"/>
          </a:xfrm>
          <a:prstGeom prst="rect">
            <a:avLst/>
          </a:prstGeom>
          <a:noFill/>
        </p:spPr>
      </p:pic>
      <p:grpSp>
        <p:nvGrpSpPr>
          <p:cNvPr id="134" name="组合 22"/>
          <p:cNvGrpSpPr/>
          <p:nvPr/>
        </p:nvGrpSpPr>
        <p:grpSpPr>
          <a:xfrm>
            <a:off x="0" y="713740"/>
            <a:ext cx="12273281" cy="4737100"/>
            <a:chOff x="0" y="713740"/>
            <a:chExt cx="12273281" cy="4737100"/>
          </a:xfrm>
        </p:grpSpPr>
        <p:grpSp>
          <p:nvGrpSpPr>
            <p:cNvPr id="135" name="组合 25"/>
            <p:cNvGrpSpPr/>
            <p:nvPr/>
          </p:nvGrpSpPr>
          <p:grpSpPr>
            <a:xfrm>
              <a:off x="0" y="1407160"/>
              <a:ext cx="4064000" cy="4043680"/>
              <a:chOff x="0" y="1407160"/>
              <a:chExt cx="4064000" cy="4043680"/>
            </a:xfrm>
          </p:grpSpPr>
          <p:sp>
            <p:nvSpPr>
              <p:cNvPr id="1048774"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75" name="文本框 33"/>
              <p:cNvSpPr txBox="1"/>
              <p:nvPr/>
            </p:nvSpPr>
            <p:spPr>
              <a:xfrm>
                <a:off x="127000" y="2706549"/>
                <a:ext cx="3810000" cy="707886"/>
              </a:xfrm>
              <a:prstGeom prst="rect">
                <a:avLst/>
              </a:prstGeom>
              <a:noFill/>
            </p:spPr>
            <p:txBody>
              <a:bodyPr wrap="square" rtlCol="0">
                <a:spAutoFit/>
              </a:bodyPr>
              <a:lstStyle/>
              <a:p>
                <a:pPr algn="ctr"/>
                <a:r>
                  <a:rPr lang="zh-CN" altLang="en-US" sz="4000" dirty="0">
                    <a:solidFill>
                      <a:schemeClr val="bg1"/>
                    </a:solidFill>
                    <a:latin typeface="黑体" panose="02010609060101010101" charset="-122"/>
                    <a:ea typeface="黑体" panose="02010609060101010101" charset="-122"/>
                    <a:cs typeface="+mn-ea"/>
                    <a:sym typeface="+mn-lt"/>
                  </a:rPr>
                  <a:t>成果展示</a:t>
                </a:r>
                <a:endParaRPr lang="zh-CN" altLang="en-US" sz="4000" dirty="0">
                  <a:solidFill>
                    <a:schemeClr val="bg1"/>
                  </a:solidFill>
                  <a:latin typeface="黑体" panose="02010609060101010101" charset="-122"/>
                  <a:ea typeface="黑体" panose="02010609060101010101" charset="-122"/>
                  <a:cs typeface="+mn-ea"/>
                  <a:sym typeface="+mn-lt"/>
                </a:endParaRPr>
              </a:p>
            </p:txBody>
          </p:sp>
        </p:grpSp>
        <p:grpSp>
          <p:nvGrpSpPr>
            <p:cNvPr id="136" name="组合 26"/>
            <p:cNvGrpSpPr/>
            <p:nvPr/>
          </p:nvGrpSpPr>
          <p:grpSpPr>
            <a:xfrm>
              <a:off x="7564229" y="713740"/>
              <a:ext cx="4709052" cy="1386840"/>
              <a:chOff x="7564229" y="713740"/>
              <a:chExt cx="4709052" cy="1386840"/>
            </a:xfrm>
          </p:grpSpPr>
          <p:sp>
            <p:nvSpPr>
              <p:cNvPr id="1048776" name="任意多边形 28"/>
              <p:cNvSpPr/>
              <p:nvPr/>
            </p:nvSpPr>
            <p:spPr>
              <a:xfrm flipH="1" flipV="1">
                <a:off x="7564229" y="713740"/>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77" name="文本框 30"/>
              <p:cNvSpPr txBox="1"/>
              <p:nvPr/>
            </p:nvSpPr>
            <p:spPr>
              <a:xfrm>
                <a:off x="7793645" y="991661"/>
                <a:ext cx="4479636" cy="764540"/>
              </a:xfrm>
              <a:prstGeom prst="rect">
                <a:avLst/>
              </a:prstGeom>
              <a:noFill/>
            </p:spPr>
            <p:txBody>
              <a:bodyPr wrap="square" rtlCol="0">
                <a:spAutoFit/>
              </a:bodyPr>
              <a:lstStyle/>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FOUR</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778" name="文本框 27"/>
            <p:cNvSpPr txBox="1"/>
            <p:nvPr/>
          </p:nvSpPr>
          <p:spPr>
            <a:xfrm>
              <a:off x="9550399" y="3052435"/>
              <a:ext cx="2349194" cy="1445260"/>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05</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78" name="图片 14"/>
          <p:cNvPicPr>
            <a:picLocks noChangeAspect="1"/>
          </p:cNvPicPr>
          <p:nvPr/>
        </p:nvPicPr>
        <p:blipFill>
          <a:blip r:embed="rId2"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five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3" name="文本框 2"/>
          <p:cNvSpPr txBox="1"/>
          <p:nvPr/>
        </p:nvSpPr>
        <p:spPr>
          <a:xfrm>
            <a:off x="5688794" y="2295050"/>
            <a:ext cx="7955440" cy="2862322"/>
          </a:xfrm>
          <a:prstGeom prst="rect">
            <a:avLst/>
          </a:prstGeom>
          <a:noFill/>
        </p:spPr>
        <p:txBody>
          <a:bodyPr wrap="square">
            <a:spAutoFit/>
          </a:bodyPr>
          <a:lstStyle/>
          <a:p>
            <a:pPr>
              <a:buNone/>
            </a:pPr>
            <a:r>
              <a:rPr lang="zh-CN" altLang="en-US" dirty="0"/>
              <a:t>本课题围绕“灵巧手物抓取生成”完成了一篇系统性文献综述报告，</a:t>
            </a:r>
            <a:endParaRPr lang="en-US" altLang="zh-CN" dirty="0"/>
          </a:p>
          <a:p>
            <a:pPr>
              <a:buNone/>
            </a:pPr>
            <a:r>
              <a:rPr lang="zh-CN" altLang="en-US" dirty="0"/>
              <a:t>内容覆盖：</a:t>
            </a:r>
            <a:endParaRPr lang="zh-CN" altLang="en-US" dirty="0"/>
          </a:p>
          <a:p>
            <a:pPr marL="285750" indent="-285750">
              <a:buFont typeface="Wingdings" panose="05000000000000000000" pitchFamily="2" charset="2"/>
              <a:buChar char="p"/>
            </a:pPr>
            <a:r>
              <a:rPr lang="zh-CN" altLang="en-US" dirty="0"/>
              <a:t>基础数据集与基准平台 </a:t>
            </a:r>
            <a:endParaRPr lang="zh-CN" altLang="en-US" dirty="0"/>
          </a:p>
          <a:p>
            <a:pPr marL="285750" indent="-285750">
              <a:buFont typeface="Wingdings" panose="05000000000000000000" pitchFamily="2" charset="2"/>
              <a:buChar char="p"/>
            </a:pPr>
            <a:r>
              <a:rPr lang="zh-CN" altLang="en-US" dirty="0"/>
              <a:t>基于生成模型的灵巧抓取合成 </a:t>
            </a:r>
            <a:endParaRPr lang="zh-CN" altLang="en-US" dirty="0"/>
          </a:p>
          <a:p>
            <a:pPr marL="285750" indent="-285750">
              <a:buFont typeface="Wingdings" panose="05000000000000000000" pitchFamily="2" charset="2"/>
              <a:buChar char="p"/>
            </a:pPr>
            <a:r>
              <a:rPr lang="zh-CN" altLang="en-US" dirty="0"/>
              <a:t>基于强化学习的灵巧抓取执行 </a:t>
            </a:r>
            <a:endParaRPr lang="zh-CN" altLang="en-US" dirty="0"/>
          </a:p>
          <a:p>
            <a:pPr marL="285750" indent="-285750">
              <a:buFont typeface="Wingdings" panose="05000000000000000000" pitchFamily="2" charset="2"/>
              <a:buChar char="p"/>
            </a:pPr>
            <a:r>
              <a:rPr lang="zh-CN" altLang="en-US" dirty="0"/>
              <a:t>功能抓取与语义理解 </a:t>
            </a:r>
            <a:endParaRPr lang="zh-CN" altLang="en-US" dirty="0"/>
          </a:p>
          <a:p>
            <a:pPr marL="285750" indent="-285750">
              <a:buFont typeface="Wingdings" panose="05000000000000000000" pitchFamily="2" charset="2"/>
              <a:buChar char="p"/>
            </a:pPr>
            <a:r>
              <a:rPr lang="zh-CN" altLang="en-US" dirty="0"/>
              <a:t>物理合理性相关研究 </a:t>
            </a:r>
            <a:endParaRPr lang="zh-CN" altLang="en-US" dirty="0"/>
          </a:p>
          <a:p>
            <a:pPr>
              <a:buNone/>
            </a:pPr>
            <a:r>
              <a:rPr lang="zh-CN" altLang="en-US" dirty="0"/>
              <a:t>形成了从：</a:t>
            </a:r>
            <a:endParaRPr lang="zh-CN" altLang="en-US" dirty="0"/>
          </a:p>
          <a:p>
            <a:pPr>
              <a:buNone/>
            </a:pPr>
            <a:r>
              <a:rPr lang="zh-CN" altLang="en-US" b="1" dirty="0"/>
              <a:t>数据构建 → 抓取生成 → 策略执行 → 语义理解 → 物理约束</a:t>
            </a:r>
            <a:endParaRPr lang="en-US" altLang="zh-CN" b="1" dirty="0"/>
          </a:p>
          <a:p>
            <a:pPr>
              <a:buNone/>
            </a:pPr>
            <a:r>
              <a:rPr lang="zh-CN" altLang="en-US" dirty="0"/>
              <a:t>的完整综述链路。</a:t>
            </a:r>
            <a:endParaRPr lang="zh-CN" altLang="en-US" dirty="0"/>
          </a:p>
        </p:txBody>
      </p:sp>
      <p:sp>
        <p:nvSpPr>
          <p:cNvPr id="4" name="文本框 3"/>
          <p:cNvSpPr txBox="1"/>
          <p:nvPr/>
        </p:nvSpPr>
        <p:spPr>
          <a:xfrm>
            <a:off x="550976" y="705445"/>
            <a:ext cx="4322359" cy="461665"/>
          </a:xfrm>
          <a:prstGeom prst="rect">
            <a:avLst/>
          </a:prstGeom>
          <a:noFill/>
        </p:spPr>
        <p:txBody>
          <a:bodyPr wrap="square" rtlCol="0">
            <a:spAutoFit/>
          </a:bodyPr>
          <a:lstStyle/>
          <a:p>
            <a:r>
              <a:rPr lang="zh-CN" altLang="en-US" sz="2400" b="1" dirty="0"/>
              <a:t>成果展示</a:t>
            </a:r>
            <a:endParaRPr lang="zh-CN" altLang="en-US" sz="2400" b="1" dirty="0"/>
          </a:p>
        </p:txBody>
      </p:sp>
      <p:pic>
        <p:nvPicPr>
          <p:cNvPr id="8" name="图片 7"/>
          <p:cNvPicPr>
            <a:picLocks noChangeAspect="1"/>
          </p:cNvPicPr>
          <p:nvPr/>
        </p:nvPicPr>
        <p:blipFill>
          <a:blip r:embed="rId2"/>
          <a:stretch>
            <a:fillRect/>
          </a:stretch>
        </p:blipFill>
        <p:spPr>
          <a:xfrm>
            <a:off x="208390" y="1408427"/>
            <a:ext cx="5365540" cy="4744126"/>
          </a:xfrm>
          <a:prstGeom prst="rect">
            <a:avLst/>
          </a:prstGeom>
          <a:ln>
            <a:noFill/>
          </a:ln>
          <a:effectLst>
            <a:outerShdw blurRad="190500" algn="tl" rotWithShape="0">
              <a:srgbClr val="000000">
                <a:alpha val="70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five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pic>
        <p:nvPicPr>
          <p:cNvPr id="2" name="图片 1" descr="图形用户界面, 文本, 应用程序&#10;&#10;描述已自动生成"/>
          <p:cNvPicPr>
            <a:picLocks noChangeAspect="1"/>
          </p:cNvPicPr>
          <p:nvPr/>
        </p:nvPicPr>
        <p:blipFill>
          <a:blip r:embed="rId2"/>
          <a:stretch>
            <a:fillRect/>
          </a:stretch>
        </p:blipFill>
        <p:spPr>
          <a:xfrm>
            <a:off x="1733054" y="750678"/>
            <a:ext cx="8141874" cy="610732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five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3" name="文本框 2"/>
          <p:cNvSpPr txBox="1"/>
          <p:nvPr/>
        </p:nvSpPr>
        <p:spPr>
          <a:xfrm>
            <a:off x="498950" y="776722"/>
            <a:ext cx="6097604" cy="461665"/>
          </a:xfrm>
          <a:prstGeom prst="rect">
            <a:avLst/>
          </a:prstGeom>
          <a:noFill/>
        </p:spPr>
        <p:txBody>
          <a:bodyPr wrap="square">
            <a:spAutoFit/>
          </a:bodyPr>
          <a:lstStyle/>
          <a:p>
            <a:r>
              <a:rPr lang="zh-CN" altLang="en-US" sz="2400" b="1" dirty="0"/>
              <a:t>代表性方法对比分析</a:t>
            </a:r>
            <a:endParaRPr lang="zh-CN" altLang="en-US" sz="2400" b="1" dirty="0"/>
          </a:p>
        </p:txBody>
      </p:sp>
      <p:pic>
        <p:nvPicPr>
          <p:cNvPr id="5" name="图片 4"/>
          <p:cNvPicPr>
            <a:picLocks noChangeAspect="1"/>
          </p:cNvPicPr>
          <p:nvPr/>
        </p:nvPicPr>
        <p:blipFill>
          <a:blip r:embed="rId2"/>
          <a:stretch>
            <a:fillRect/>
          </a:stretch>
        </p:blipFill>
        <p:spPr>
          <a:xfrm>
            <a:off x="1241441" y="3209974"/>
            <a:ext cx="4229269" cy="2212989"/>
          </a:xfrm>
          <a:prstGeom prst="rect">
            <a:avLst/>
          </a:prstGeom>
        </p:spPr>
      </p:pic>
      <p:pic>
        <p:nvPicPr>
          <p:cNvPr id="7" name="图片 6"/>
          <p:cNvPicPr>
            <a:picLocks noChangeAspect="1"/>
          </p:cNvPicPr>
          <p:nvPr/>
        </p:nvPicPr>
        <p:blipFill>
          <a:blip r:embed="rId3"/>
          <a:stretch>
            <a:fillRect/>
          </a:stretch>
        </p:blipFill>
        <p:spPr>
          <a:xfrm>
            <a:off x="3896871" y="3926310"/>
            <a:ext cx="3882941" cy="2371140"/>
          </a:xfrm>
          <a:prstGeom prst="rect">
            <a:avLst/>
          </a:prstGeom>
        </p:spPr>
      </p:pic>
      <p:pic>
        <p:nvPicPr>
          <p:cNvPr id="9" name="图片 8"/>
          <p:cNvPicPr>
            <a:picLocks noChangeAspect="1"/>
          </p:cNvPicPr>
          <p:nvPr/>
        </p:nvPicPr>
        <p:blipFill>
          <a:blip r:embed="rId4"/>
          <a:stretch>
            <a:fillRect/>
          </a:stretch>
        </p:blipFill>
        <p:spPr>
          <a:xfrm>
            <a:off x="7117205" y="4710395"/>
            <a:ext cx="4946779" cy="2147605"/>
          </a:xfrm>
          <a:prstGeom prst="rect">
            <a:avLst/>
          </a:prstGeom>
        </p:spPr>
      </p:pic>
      <p:sp>
        <p:nvSpPr>
          <p:cNvPr id="12" name="文本框 11"/>
          <p:cNvSpPr txBox="1"/>
          <p:nvPr/>
        </p:nvSpPr>
        <p:spPr>
          <a:xfrm>
            <a:off x="637430" y="2505670"/>
            <a:ext cx="11716114" cy="646331"/>
          </a:xfrm>
          <a:prstGeom prst="rect">
            <a:avLst/>
          </a:prstGeom>
          <a:noFill/>
        </p:spPr>
        <p:txBody>
          <a:bodyPr wrap="square">
            <a:spAutoFit/>
          </a:bodyPr>
          <a:lstStyle/>
          <a:p>
            <a:r>
              <a:rPr lang="zh-CN" altLang="en-US" dirty="0"/>
              <a:t>通过对比 </a:t>
            </a:r>
            <a:r>
              <a:rPr lang="en-US" altLang="zh-CN" dirty="0" err="1"/>
              <a:t>DexGraspNet</a:t>
            </a:r>
            <a:r>
              <a:rPr lang="zh-CN" altLang="en-US" dirty="0"/>
              <a:t>、</a:t>
            </a:r>
            <a:r>
              <a:rPr lang="en-US" altLang="zh-CN" dirty="0" err="1"/>
              <a:t>DexGrasp</a:t>
            </a:r>
            <a:r>
              <a:rPr lang="en-US" altLang="zh-CN" dirty="0"/>
              <a:t>-Diffusion</a:t>
            </a:r>
            <a:r>
              <a:rPr lang="zh-CN" altLang="en-US" dirty="0"/>
              <a:t>、</a:t>
            </a:r>
            <a:r>
              <a:rPr lang="en-US" altLang="zh-CN" dirty="0" err="1"/>
              <a:t>ContactDexNet</a:t>
            </a:r>
            <a:r>
              <a:rPr lang="zh-CN" altLang="en-US" dirty="0"/>
              <a:t>、</a:t>
            </a:r>
            <a:r>
              <a:rPr lang="en-US" altLang="zh-CN" dirty="0"/>
              <a:t>SECOND-Grasp</a:t>
            </a:r>
            <a:r>
              <a:rPr lang="zh-CN" altLang="en-US" dirty="0"/>
              <a:t>、</a:t>
            </a:r>
            <a:r>
              <a:rPr lang="en-US" altLang="zh-CN" dirty="0" err="1"/>
              <a:t>RobustDexGrasp</a:t>
            </a:r>
            <a:r>
              <a:rPr lang="zh-CN" altLang="en-US" dirty="0"/>
              <a:t>、</a:t>
            </a:r>
            <a:r>
              <a:rPr lang="en-US" altLang="zh-CN" dirty="0" err="1"/>
              <a:t>AdaDexGrasp</a:t>
            </a:r>
            <a:r>
              <a:rPr lang="en-US" altLang="zh-CN" dirty="0"/>
              <a:t> </a:t>
            </a:r>
            <a:r>
              <a:rPr lang="zh-CN" altLang="en-US" dirty="0"/>
              <a:t>等代表性工作，总结了当前灵巧抓取研究从</a:t>
            </a:r>
            <a:r>
              <a:rPr lang="zh-CN" altLang="en-US" b="1" dirty="0"/>
              <a:t>数据驱动生成</a:t>
            </a:r>
            <a:r>
              <a:rPr lang="zh-CN" altLang="en-US" dirty="0"/>
              <a:t>走向</a:t>
            </a:r>
            <a:r>
              <a:rPr lang="zh-CN" altLang="en-US" b="1" dirty="0"/>
              <a:t>语义理解、接触引导和真实执行</a:t>
            </a:r>
            <a:r>
              <a:rPr lang="zh-CN" altLang="en-US" dirty="0"/>
              <a:t>的发展趋势。</a:t>
            </a:r>
            <a:endParaRPr lang="zh-CN" altLang="en-US" dirty="0"/>
          </a:p>
        </p:txBody>
      </p:sp>
      <p:sp>
        <p:nvSpPr>
          <p:cNvPr id="16" name="文本框 15"/>
          <p:cNvSpPr txBox="1"/>
          <p:nvPr/>
        </p:nvSpPr>
        <p:spPr>
          <a:xfrm>
            <a:off x="578181" y="1294280"/>
            <a:ext cx="6094476" cy="369332"/>
          </a:xfrm>
          <a:prstGeom prst="rect">
            <a:avLst/>
          </a:prstGeom>
          <a:noFill/>
        </p:spPr>
        <p:txBody>
          <a:bodyPr wrap="square">
            <a:spAutoFit/>
          </a:bodyPr>
          <a:lstStyle/>
          <a:p>
            <a:r>
              <a:rPr lang="zh-CN" altLang="en-US" dirty="0"/>
              <a:t>本课题构建了三类对比分析：</a:t>
            </a:r>
            <a:endParaRPr lang="zh-CN" altLang="en-US" dirty="0"/>
          </a:p>
        </p:txBody>
      </p:sp>
      <p:graphicFrame>
        <p:nvGraphicFramePr>
          <p:cNvPr id="19" name="表格 18"/>
          <p:cNvGraphicFramePr>
            <a:graphicFrameLocks noGrp="1"/>
          </p:cNvGraphicFramePr>
          <p:nvPr/>
        </p:nvGraphicFramePr>
        <p:xfrm>
          <a:off x="4056888" y="904876"/>
          <a:ext cx="7802880" cy="1463040"/>
        </p:xfrm>
        <a:graphic>
          <a:graphicData uri="http://schemas.openxmlformats.org/drawingml/2006/table">
            <a:tbl>
              <a:tblPr>
                <a:tableStyleId>{ED083AE6-46FA-4A59-8FB0-9F97EB10719F}</a:tableStyleId>
              </a:tblPr>
              <a:tblGrid>
                <a:gridCol w="2115312"/>
                <a:gridCol w="5687568"/>
              </a:tblGrid>
              <a:tr h="0">
                <a:tc>
                  <a:txBody>
                    <a:bodyPr/>
                    <a:lstStyle/>
                    <a:p>
                      <a:pPr algn="ctr">
                        <a:buNone/>
                      </a:pPr>
                      <a:r>
                        <a:rPr lang="zh-CN" altLang="en-US" dirty="0">
                          <a:latin typeface="宋体" panose="02010600030101010101" pitchFamily="2" charset="-122"/>
                          <a:ea typeface="宋体" panose="02010600030101010101" pitchFamily="2" charset="-122"/>
                        </a:rPr>
                        <a:t>对比对象</a:t>
                      </a:r>
                      <a:endParaRPr lang="zh-CN" altLang="en-US" dirty="0">
                        <a:latin typeface="宋体" panose="02010600030101010101" pitchFamily="2" charset="-122"/>
                        <a:ea typeface="宋体" panose="02010600030101010101" pitchFamily="2" charset="-122"/>
                      </a:endParaRPr>
                    </a:p>
                  </a:txBody>
                  <a:tcPr anchor="ctr"/>
                </a:tc>
                <a:tc>
                  <a:txBody>
                    <a:bodyPr/>
                    <a:lstStyle/>
                    <a:p>
                      <a:pPr algn="ctr">
                        <a:buNone/>
                      </a:pPr>
                      <a:r>
                        <a:rPr lang="zh-CN" altLang="en-US" dirty="0">
                          <a:latin typeface="宋体" panose="02010600030101010101" pitchFamily="2" charset="-122"/>
                          <a:ea typeface="宋体" panose="02010600030101010101" pitchFamily="2" charset="-122"/>
                        </a:rPr>
                        <a:t>分析重点</a:t>
                      </a:r>
                      <a:endParaRPr lang="zh-CN" altLang="en-US" dirty="0">
                        <a:latin typeface="宋体" panose="02010600030101010101" pitchFamily="2" charset="-122"/>
                        <a:ea typeface="宋体" panose="02010600030101010101" pitchFamily="2" charset="-122"/>
                      </a:endParaRPr>
                    </a:p>
                  </a:txBody>
                  <a:tcPr anchor="ctr"/>
                </a:tc>
              </a:tr>
              <a:tr h="0">
                <a:tc>
                  <a:txBody>
                    <a:bodyPr/>
                    <a:lstStyle/>
                    <a:p>
                      <a:pPr algn="ctr">
                        <a:buNone/>
                      </a:pPr>
                      <a:r>
                        <a:rPr lang="zh-CN" altLang="en-US" dirty="0">
                          <a:latin typeface="宋体" panose="02010600030101010101" pitchFamily="2" charset="-122"/>
                          <a:ea typeface="宋体" panose="02010600030101010101" pitchFamily="2" charset="-122"/>
                        </a:rPr>
                        <a:t>数据集与基准平台</a:t>
                      </a:r>
                      <a:endParaRPr lang="zh-CN" altLang="en-US" dirty="0">
                        <a:latin typeface="宋体" panose="02010600030101010101" pitchFamily="2" charset="-122"/>
                        <a:ea typeface="宋体" panose="02010600030101010101" pitchFamily="2" charset="-122"/>
                      </a:endParaRPr>
                    </a:p>
                  </a:txBody>
                  <a:tcPr anchor="ctr"/>
                </a:tc>
                <a:tc>
                  <a:txBody>
                    <a:bodyPr/>
                    <a:lstStyle/>
                    <a:p>
                      <a:pPr algn="ctr">
                        <a:buNone/>
                      </a:pPr>
                      <a:r>
                        <a:rPr lang="zh-CN" altLang="en-US" dirty="0">
                          <a:latin typeface="宋体" panose="02010600030101010101" pitchFamily="2" charset="-122"/>
                          <a:ea typeface="宋体" panose="02010600030101010101" pitchFamily="2" charset="-122"/>
                        </a:rPr>
                        <a:t>数据来源、手型、场景、是否包含触觉、是否真实采集</a:t>
                      </a:r>
                      <a:endParaRPr lang="zh-CN" altLang="en-US" dirty="0">
                        <a:latin typeface="宋体" panose="02010600030101010101" pitchFamily="2" charset="-122"/>
                        <a:ea typeface="宋体" panose="02010600030101010101" pitchFamily="2" charset="-122"/>
                      </a:endParaRPr>
                    </a:p>
                  </a:txBody>
                  <a:tcPr anchor="ctr"/>
                </a:tc>
              </a:tr>
              <a:tr h="0">
                <a:tc>
                  <a:txBody>
                    <a:bodyPr/>
                    <a:lstStyle/>
                    <a:p>
                      <a:pPr algn="ctr">
                        <a:buNone/>
                      </a:pPr>
                      <a:r>
                        <a:rPr lang="zh-CN" altLang="en-US">
                          <a:latin typeface="宋体" panose="02010600030101010101" pitchFamily="2" charset="-122"/>
                          <a:ea typeface="宋体" panose="02010600030101010101" pitchFamily="2" charset="-122"/>
                        </a:rPr>
                        <a:t>生成模型方法</a:t>
                      </a:r>
                      <a:endParaRPr lang="zh-CN" altLang="en-US">
                        <a:latin typeface="宋体" panose="02010600030101010101" pitchFamily="2" charset="-122"/>
                        <a:ea typeface="宋体" panose="02010600030101010101" pitchFamily="2" charset="-122"/>
                      </a:endParaRPr>
                    </a:p>
                  </a:txBody>
                  <a:tcPr anchor="ctr"/>
                </a:tc>
                <a:tc>
                  <a:txBody>
                    <a:bodyPr/>
                    <a:lstStyle/>
                    <a:p>
                      <a:pPr algn="ctr">
                        <a:buNone/>
                      </a:pPr>
                      <a:r>
                        <a:rPr lang="zh-CN" altLang="en-US">
                          <a:latin typeface="宋体" panose="02010600030101010101" pitchFamily="2" charset="-122"/>
                          <a:ea typeface="宋体" panose="02010600030101010101" pitchFamily="2" charset="-122"/>
                        </a:rPr>
                        <a:t>模型类型、输入条件、生成目标、是否考虑接触与语义</a:t>
                      </a:r>
                      <a:endParaRPr lang="zh-CN" altLang="en-US">
                        <a:latin typeface="宋体" panose="02010600030101010101" pitchFamily="2" charset="-122"/>
                        <a:ea typeface="宋体" panose="02010600030101010101" pitchFamily="2" charset="-122"/>
                      </a:endParaRPr>
                    </a:p>
                  </a:txBody>
                  <a:tcPr anchor="ctr"/>
                </a:tc>
              </a:tr>
              <a:tr h="0">
                <a:tc>
                  <a:txBody>
                    <a:bodyPr/>
                    <a:lstStyle/>
                    <a:p>
                      <a:pPr algn="ctr">
                        <a:buNone/>
                      </a:pPr>
                      <a:r>
                        <a:rPr lang="zh-CN" altLang="en-US">
                          <a:latin typeface="宋体" panose="02010600030101010101" pitchFamily="2" charset="-122"/>
                          <a:ea typeface="宋体" panose="02010600030101010101" pitchFamily="2" charset="-122"/>
                        </a:rPr>
                        <a:t>执行策略方法</a:t>
                      </a:r>
                      <a:endParaRPr lang="zh-CN" altLang="en-US">
                        <a:latin typeface="宋体" panose="02010600030101010101" pitchFamily="2" charset="-122"/>
                        <a:ea typeface="宋体" panose="02010600030101010101" pitchFamily="2" charset="-122"/>
                      </a:endParaRPr>
                    </a:p>
                  </a:txBody>
                  <a:tcPr anchor="ctr"/>
                </a:tc>
                <a:tc>
                  <a:txBody>
                    <a:bodyPr/>
                    <a:lstStyle/>
                    <a:p>
                      <a:pPr algn="ctr">
                        <a:buNone/>
                      </a:pPr>
                      <a:r>
                        <a:rPr lang="zh-CN" altLang="en-US" dirty="0">
                          <a:latin typeface="宋体" panose="02010600030101010101" pitchFamily="2" charset="-122"/>
                          <a:ea typeface="宋体" panose="02010600030101010101" pitchFamily="2" charset="-122"/>
                        </a:rPr>
                        <a:t>学习范式、输入信息、控制对象、真实部署情况</a:t>
                      </a:r>
                      <a:endParaRPr lang="zh-CN" altLang="en-US" dirty="0">
                        <a:latin typeface="宋体" panose="02010600030101010101" pitchFamily="2" charset="-122"/>
                        <a:ea typeface="宋体" panose="02010600030101010101" pitchFamily="2" charset="-122"/>
                      </a:endParaRPr>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five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3" name="文本框 2"/>
          <p:cNvSpPr txBox="1"/>
          <p:nvPr/>
        </p:nvSpPr>
        <p:spPr>
          <a:xfrm>
            <a:off x="498950" y="776722"/>
            <a:ext cx="6097604" cy="461665"/>
          </a:xfrm>
          <a:prstGeom prst="rect">
            <a:avLst/>
          </a:prstGeom>
          <a:noFill/>
        </p:spPr>
        <p:txBody>
          <a:bodyPr wrap="square">
            <a:spAutoFit/>
          </a:bodyPr>
          <a:lstStyle/>
          <a:p>
            <a:r>
              <a:rPr lang="zh-CN" altLang="en-US" sz="2400" b="1" dirty="0"/>
              <a:t>归纳物理合理性约束框架</a:t>
            </a:r>
            <a:endParaRPr lang="zh-CN" altLang="en-US" sz="2400" b="1" dirty="0"/>
          </a:p>
        </p:txBody>
      </p:sp>
      <p:pic>
        <p:nvPicPr>
          <p:cNvPr id="2" name="图片 1" descr="图片包含 图形用户界面&#10;&#10;描述已自动生成"/>
          <p:cNvPicPr>
            <a:picLocks noChangeAspect="1"/>
          </p:cNvPicPr>
          <p:nvPr/>
        </p:nvPicPr>
        <p:blipFill>
          <a:blip r:embed="rId2"/>
          <a:stretch>
            <a:fillRect/>
          </a:stretch>
        </p:blipFill>
        <p:spPr>
          <a:xfrm>
            <a:off x="1566849" y="1135484"/>
            <a:ext cx="8445548" cy="563002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0" name="Group 44"/>
          <p:cNvGrpSpPr/>
          <p:nvPr>
            <p:custDataLst>
              <p:tags r:id="rId1"/>
            </p:custDataLst>
          </p:nvPr>
        </p:nvGrpSpPr>
        <p:grpSpPr>
          <a:xfrm flipH="1">
            <a:off x="9801075" y="1225881"/>
            <a:ext cx="602615" cy="604520"/>
            <a:chOff x="7204075" y="-1846263"/>
            <a:chExt cx="1939925" cy="1944688"/>
          </a:xfrm>
        </p:grpSpPr>
        <p:sp>
          <p:nvSpPr>
            <p:cNvPr id="1048782" name="ïşḻïďê-Oval 45"/>
            <p:cNvSpPr/>
            <p:nvPr>
              <p:custDataLst>
                <p:tags r:id="rId2"/>
              </p:custDataLst>
            </p:nvPr>
          </p:nvSpPr>
          <p:spPr bwMode="auto">
            <a:xfrm>
              <a:off x="7204075" y="-1846263"/>
              <a:ext cx="1939925" cy="1944688"/>
            </a:xfrm>
            <a:prstGeom prst="ellipse">
              <a:avLst/>
            </a:prstGeom>
            <a:solidFill>
              <a:schemeClr val="accent4">
                <a:lumMod val="10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nvGrpSpPr>
            <p:cNvPr id="141" name="Group 46"/>
            <p:cNvGrpSpPr/>
            <p:nvPr/>
          </p:nvGrpSpPr>
          <p:grpSpPr>
            <a:xfrm>
              <a:off x="7519988" y="-1506538"/>
              <a:ext cx="1312862" cy="1265238"/>
              <a:chOff x="7519988" y="-1506538"/>
              <a:chExt cx="1312862" cy="1265238"/>
            </a:xfrm>
          </p:grpSpPr>
          <p:sp>
            <p:nvSpPr>
              <p:cNvPr id="1048783" name="ïşḻïďê-Freeform: Shape 47"/>
              <p:cNvSpPr/>
              <p:nvPr>
                <p:custDataLst>
                  <p:tags r:id="rId3"/>
                </p:custDataLst>
              </p:nvPr>
            </p:nvSpPr>
            <p:spPr bwMode="auto">
              <a:xfrm>
                <a:off x="7519988" y="-1484313"/>
                <a:ext cx="1176338" cy="1117600"/>
              </a:xfrm>
              <a:custGeom>
                <a:avLst/>
                <a:gdLst>
                  <a:gd name="T0" fmla="*/ 211 w 215"/>
                  <a:gd name="T1" fmla="*/ 164 h 204"/>
                  <a:gd name="T2" fmla="*/ 147 w 215"/>
                  <a:gd name="T3" fmla="*/ 199 h 204"/>
                  <a:gd name="T4" fmla="*/ 46 w 215"/>
                  <a:gd name="T5" fmla="*/ 10 h 204"/>
                  <a:gd name="T6" fmla="*/ 35 w 215"/>
                  <a:gd name="T7" fmla="*/ 1 h 204"/>
                  <a:gd name="T8" fmla="*/ 22 w 215"/>
                  <a:gd name="T9" fmla="*/ 3 h 204"/>
                  <a:gd name="T10" fmla="*/ 1 w 215"/>
                  <a:gd name="T11" fmla="*/ 14 h 204"/>
                  <a:gd name="T12" fmla="*/ 0 w 215"/>
                  <a:gd name="T13" fmla="*/ 17 h 204"/>
                  <a:gd name="T14" fmla="*/ 3 w 215"/>
                  <a:gd name="T15" fmla="*/ 18 h 204"/>
                  <a:gd name="T16" fmla="*/ 24 w 215"/>
                  <a:gd name="T17" fmla="*/ 7 h 204"/>
                  <a:gd name="T18" fmla="*/ 34 w 215"/>
                  <a:gd name="T19" fmla="*/ 6 h 204"/>
                  <a:gd name="T20" fmla="*/ 41 w 215"/>
                  <a:gd name="T21" fmla="*/ 12 h 204"/>
                  <a:gd name="T22" fmla="*/ 144 w 215"/>
                  <a:gd name="T23" fmla="*/ 203 h 204"/>
                  <a:gd name="T24" fmla="*/ 146 w 215"/>
                  <a:gd name="T25" fmla="*/ 204 h 204"/>
                  <a:gd name="T26" fmla="*/ 146 w 215"/>
                  <a:gd name="T27" fmla="*/ 204 h 204"/>
                  <a:gd name="T28" fmla="*/ 148 w 215"/>
                  <a:gd name="T29" fmla="*/ 204 h 204"/>
                  <a:gd name="T30" fmla="*/ 213 w 215"/>
                  <a:gd name="T31" fmla="*/ 168 h 204"/>
                  <a:gd name="T32" fmla="*/ 214 w 215"/>
                  <a:gd name="T33" fmla="*/ 165 h 204"/>
                  <a:gd name="T34" fmla="*/ 211 w 215"/>
                  <a:gd name="T35"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04">
                    <a:moveTo>
                      <a:pt x="211" y="164"/>
                    </a:moveTo>
                    <a:cubicBezTo>
                      <a:pt x="147" y="199"/>
                      <a:pt x="147" y="199"/>
                      <a:pt x="147" y="199"/>
                    </a:cubicBezTo>
                    <a:cubicBezTo>
                      <a:pt x="46" y="10"/>
                      <a:pt x="46" y="10"/>
                      <a:pt x="46" y="10"/>
                    </a:cubicBezTo>
                    <a:cubicBezTo>
                      <a:pt x="43" y="6"/>
                      <a:pt x="40" y="3"/>
                      <a:pt x="35" y="1"/>
                    </a:cubicBezTo>
                    <a:cubicBezTo>
                      <a:pt x="31" y="0"/>
                      <a:pt x="26" y="1"/>
                      <a:pt x="22" y="3"/>
                    </a:cubicBezTo>
                    <a:cubicBezTo>
                      <a:pt x="1" y="14"/>
                      <a:pt x="1" y="14"/>
                      <a:pt x="1" y="14"/>
                    </a:cubicBezTo>
                    <a:cubicBezTo>
                      <a:pt x="0" y="15"/>
                      <a:pt x="0" y="16"/>
                      <a:pt x="0" y="17"/>
                    </a:cubicBezTo>
                    <a:cubicBezTo>
                      <a:pt x="1" y="18"/>
                      <a:pt x="2" y="19"/>
                      <a:pt x="3" y="18"/>
                    </a:cubicBezTo>
                    <a:cubicBezTo>
                      <a:pt x="24" y="7"/>
                      <a:pt x="24" y="7"/>
                      <a:pt x="24" y="7"/>
                    </a:cubicBezTo>
                    <a:cubicBezTo>
                      <a:pt x="27" y="5"/>
                      <a:pt x="31" y="5"/>
                      <a:pt x="34" y="6"/>
                    </a:cubicBezTo>
                    <a:cubicBezTo>
                      <a:pt x="37" y="7"/>
                      <a:pt x="40" y="9"/>
                      <a:pt x="41" y="12"/>
                    </a:cubicBezTo>
                    <a:cubicBezTo>
                      <a:pt x="144" y="203"/>
                      <a:pt x="144" y="203"/>
                      <a:pt x="144" y="203"/>
                    </a:cubicBezTo>
                    <a:cubicBezTo>
                      <a:pt x="145" y="203"/>
                      <a:pt x="145" y="204"/>
                      <a:pt x="146" y="204"/>
                    </a:cubicBezTo>
                    <a:cubicBezTo>
                      <a:pt x="146" y="204"/>
                      <a:pt x="146" y="204"/>
                      <a:pt x="146" y="204"/>
                    </a:cubicBezTo>
                    <a:cubicBezTo>
                      <a:pt x="147" y="204"/>
                      <a:pt x="147" y="204"/>
                      <a:pt x="148" y="204"/>
                    </a:cubicBezTo>
                    <a:cubicBezTo>
                      <a:pt x="213" y="168"/>
                      <a:pt x="213" y="168"/>
                      <a:pt x="213" y="168"/>
                    </a:cubicBezTo>
                    <a:cubicBezTo>
                      <a:pt x="215" y="168"/>
                      <a:pt x="215" y="166"/>
                      <a:pt x="214" y="165"/>
                    </a:cubicBezTo>
                    <a:cubicBezTo>
                      <a:pt x="214" y="164"/>
                      <a:pt x="212" y="164"/>
                      <a:pt x="211" y="164"/>
                    </a:cubicBez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84" name="ïşḻïďê-Freeform: Shape 48"/>
              <p:cNvSpPr/>
              <p:nvPr>
                <p:custDataLst>
                  <p:tags r:id="rId4"/>
                </p:custDataLst>
              </p:nvPr>
            </p:nvSpPr>
            <p:spPr bwMode="auto">
              <a:xfrm>
                <a:off x="8045450" y="-422275"/>
                <a:ext cx="190500" cy="180975"/>
              </a:xfrm>
              <a:custGeom>
                <a:avLst/>
                <a:gdLst>
                  <a:gd name="T0" fmla="*/ 18 w 35"/>
                  <a:gd name="T1" fmla="*/ 0 h 33"/>
                  <a:gd name="T2" fmla="*/ 11 w 35"/>
                  <a:gd name="T3" fmla="*/ 2 h 33"/>
                  <a:gd name="T4" fmla="*/ 4 w 35"/>
                  <a:gd name="T5" fmla="*/ 24 h 33"/>
                  <a:gd name="T6" fmla="*/ 19 w 35"/>
                  <a:gd name="T7" fmla="*/ 33 h 33"/>
                  <a:gd name="T8" fmla="*/ 26 w 35"/>
                  <a:gd name="T9" fmla="*/ 31 h 33"/>
                  <a:gd name="T10" fmla="*/ 34 w 35"/>
                  <a:gd name="T11" fmla="*/ 21 h 33"/>
                  <a:gd name="T12" fmla="*/ 33 w 35"/>
                  <a:gd name="T13" fmla="*/ 9 h 33"/>
                  <a:gd name="T14" fmla="*/ 18 w 35"/>
                  <a:gd name="T15" fmla="*/ 0 h 33"/>
                  <a:gd name="T16" fmla="*/ 30 w 35"/>
                  <a:gd name="T17" fmla="*/ 20 h 33"/>
                  <a:gd name="T18" fmla="*/ 24 w 35"/>
                  <a:gd name="T19" fmla="*/ 27 h 33"/>
                  <a:gd name="T20" fmla="*/ 19 w 35"/>
                  <a:gd name="T21" fmla="*/ 28 h 33"/>
                  <a:gd name="T22" fmla="*/ 8 w 35"/>
                  <a:gd name="T23" fmla="*/ 22 h 33"/>
                  <a:gd name="T24" fmla="*/ 13 w 35"/>
                  <a:gd name="T25" fmla="*/ 6 h 33"/>
                  <a:gd name="T26" fmla="*/ 18 w 35"/>
                  <a:gd name="T27" fmla="*/ 5 h 33"/>
                  <a:gd name="T28" fmla="*/ 29 w 35"/>
                  <a:gd name="T29" fmla="*/ 11 h 33"/>
                  <a:gd name="T30" fmla="*/ 30 w 35"/>
                  <a:gd name="T31" fmla="*/ 2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33">
                    <a:moveTo>
                      <a:pt x="18" y="0"/>
                    </a:moveTo>
                    <a:cubicBezTo>
                      <a:pt x="16" y="0"/>
                      <a:pt x="13" y="1"/>
                      <a:pt x="11" y="2"/>
                    </a:cubicBezTo>
                    <a:cubicBezTo>
                      <a:pt x="3" y="6"/>
                      <a:pt x="0" y="16"/>
                      <a:pt x="4" y="24"/>
                    </a:cubicBezTo>
                    <a:cubicBezTo>
                      <a:pt x="7" y="30"/>
                      <a:pt x="13" y="33"/>
                      <a:pt x="19" y="33"/>
                    </a:cubicBezTo>
                    <a:cubicBezTo>
                      <a:pt x="21" y="33"/>
                      <a:pt x="24" y="32"/>
                      <a:pt x="26" y="31"/>
                    </a:cubicBezTo>
                    <a:cubicBezTo>
                      <a:pt x="30" y="29"/>
                      <a:pt x="33" y="25"/>
                      <a:pt x="34" y="21"/>
                    </a:cubicBezTo>
                    <a:cubicBezTo>
                      <a:pt x="35" y="17"/>
                      <a:pt x="35" y="13"/>
                      <a:pt x="33" y="9"/>
                    </a:cubicBezTo>
                    <a:cubicBezTo>
                      <a:pt x="30" y="4"/>
                      <a:pt x="24" y="0"/>
                      <a:pt x="18" y="0"/>
                    </a:cubicBezTo>
                    <a:close/>
                    <a:moveTo>
                      <a:pt x="30" y="20"/>
                    </a:moveTo>
                    <a:cubicBezTo>
                      <a:pt x="29" y="23"/>
                      <a:pt x="27" y="25"/>
                      <a:pt x="24" y="27"/>
                    </a:cubicBezTo>
                    <a:cubicBezTo>
                      <a:pt x="22" y="28"/>
                      <a:pt x="20" y="28"/>
                      <a:pt x="19" y="28"/>
                    </a:cubicBezTo>
                    <a:cubicBezTo>
                      <a:pt x="14" y="28"/>
                      <a:pt x="10" y="26"/>
                      <a:pt x="8" y="22"/>
                    </a:cubicBezTo>
                    <a:cubicBezTo>
                      <a:pt x="5" y="16"/>
                      <a:pt x="7" y="9"/>
                      <a:pt x="13" y="6"/>
                    </a:cubicBezTo>
                    <a:cubicBezTo>
                      <a:pt x="15" y="5"/>
                      <a:pt x="17" y="5"/>
                      <a:pt x="18" y="5"/>
                    </a:cubicBezTo>
                    <a:cubicBezTo>
                      <a:pt x="23" y="5"/>
                      <a:pt x="27" y="7"/>
                      <a:pt x="29" y="11"/>
                    </a:cubicBezTo>
                    <a:cubicBezTo>
                      <a:pt x="30" y="14"/>
                      <a:pt x="31" y="17"/>
                      <a:pt x="30" y="20"/>
                    </a:cubicBez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85" name="ïşḻïďê-Freeform: Shape 49"/>
              <p:cNvSpPr/>
              <p:nvPr>
                <p:custDataLst>
                  <p:tags r:id="rId5"/>
                </p:custDataLst>
              </p:nvPr>
            </p:nvSpPr>
            <p:spPr bwMode="auto">
              <a:xfrm>
                <a:off x="7962900" y="-1506538"/>
                <a:ext cx="869950" cy="1003300"/>
              </a:xfrm>
              <a:custGeom>
                <a:avLst/>
                <a:gdLst>
                  <a:gd name="T0" fmla="*/ 158 w 159"/>
                  <a:gd name="T1" fmla="*/ 135 h 183"/>
                  <a:gd name="T2" fmla="*/ 86 w 159"/>
                  <a:gd name="T3" fmla="*/ 2 h 183"/>
                  <a:gd name="T4" fmla="*/ 84 w 159"/>
                  <a:gd name="T5" fmla="*/ 0 h 183"/>
                  <a:gd name="T6" fmla="*/ 83 w 159"/>
                  <a:gd name="T7" fmla="*/ 1 h 183"/>
                  <a:gd name="T8" fmla="*/ 1 w 159"/>
                  <a:gd name="T9" fmla="*/ 45 h 183"/>
                  <a:gd name="T10" fmla="*/ 0 w 159"/>
                  <a:gd name="T11" fmla="*/ 48 h 183"/>
                  <a:gd name="T12" fmla="*/ 72 w 159"/>
                  <a:gd name="T13" fmla="*/ 181 h 183"/>
                  <a:gd name="T14" fmla="*/ 74 w 159"/>
                  <a:gd name="T15" fmla="*/ 183 h 183"/>
                  <a:gd name="T16" fmla="*/ 74 w 159"/>
                  <a:gd name="T17" fmla="*/ 183 h 183"/>
                  <a:gd name="T18" fmla="*/ 76 w 159"/>
                  <a:gd name="T19" fmla="*/ 182 h 183"/>
                  <a:gd name="T20" fmla="*/ 157 w 159"/>
                  <a:gd name="T21" fmla="*/ 138 h 183"/>
                  <a:gd name="T22" fmla="*/ 158 w 159"/>
                  <a:gd name="T23" fmla="*/ 135 h 183"/>
                  <a:gd name="T24" fmla="*/ 83 w 159"/>
                  <a:gd name="T25" fmla="*/ 6 h 183"/>
                  <a:gd name="T26" fmla="*/ 117 w 159"/>
                  <a:gd name="T27" fmla="*/ 69 h 183"/>
                  <a:gd name="T28" fmla="*/ 39 w 159"/>
                  <a:gd name="T29" fmla="*/ 110 h 183"/>
                  <a:gd name="T30" fmla="*/ 6 w 159"/>
                  <a:gd name="T31" fmla="*/ 48 h 183"/>
                  <a:gd name="T32" fmla="*/ 83 w 159"/>
                  <a:gd name="T33" fmla="*/ 6 h 183"/>
                  <a:gd name="T34" fmla="*/ 75 w 159"/>
                  <a:gd name="T35" fmla="*/ 177 h 183"/>
                  <a:gd name="T36" fmla="*/ 42 w 159"/>
                  <a:gd name="T37" fmla="*/ 114 h 183"/>
                  <a:gd name="T38" fmla="*/ 119 w 159"/>
                  <a:gd name="T39" fmla="*/ 73 h 183"/>
                  <a:gd name="T40" fmla="*/ 153 w 159"/>
                  <a:gd name="T41" fmla="*/ 135 h 183"/>
                  <a:gd name="T42" fmla="*/ 75 w 159"/>
                  <a:gd name="T43" fmla="*/ 17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9" h="183">
                    <a:moveTo>
                      <a:pt x="158" y="135"/>
                    </a:moveTo>
                    <a:cubicBezTo>
                      <a:pt x="86" y="2"/>
                      <a:pt x="86" y="2"/>
                      <a:pt x="86" y="2"/>
                    </a:cubicBezTo>
                    <a:cubicBezTo>
                      <a:pt x="86" y="1"/>
                      <a:pt x="85" y="1"/>
                      <a:pt x="84" y="0"/>
                    </a:cubicBezTo>
                    <a:cubicBezTo>
                      <a:pt x="84" y="0"/>
                      <a:pt x="83" y="0"/>
                      <a:pt x="83" y="1"/>
                    </a:cubicBezTo>
                    <a:cubicBezTo>
                      <a:pt x="1" y="45"/>
                      <a:pt x="1" y="45"/>
                      <a:pt x="1" y="45"/>
                    </a:cubicBezTo>
                    <a:cubicBezTo>
                      <a:pt x="0" y="45"/>
                      <a:pt x="0" y="47"/>
                      <a:pt x="0" y="48"/>
                    </a:cubicBezTo>
                    <a:cubicBezTo>
                      <a:pt x="72" y="181"/>
                      <a:pt x="72" y="181"/>
                      <a:pt x="72" y="181"/>
                    </a:cubicBezTo>
                    <a:cubicBezTo>
                      <a:pt x="73" y="182"/>
                      <a:pt x="73" y="182"/>
                      <a:pt x="74" y="183"/>
                    </a:cubicBezTo>
                    <a:cubicBezTo>
                      <a:pt x="74" y="183"/>
                      <a:pt x="74" y="183"/>
                      <a:pt x="74" y="183"/>
                    </a:cubicBezTo>
                    <a:cubicBezTo>
                      <a:pt x="75" y="183"/>
                      <a:pt x="75" y="183"/>
                      <a:pt x="76" y="182"/>
                    </a:cubicBezTo>
                    <a:cubicBezTo>
                      <a:pt x="157" y="138"/>
                      <a:pt x="157" y="138"/>
                      <a:pt x="157" y="138"/>
                    </a:cubicBezTo>
                    <a:cubicBezTo>
                      <a:pt x="158" y="138"/>
                      <a:pt x="159" y="136"/>
                      <a:pt x="158" y="135"/>
                    </a:cubicBezTo>
                    <a:close/>
                    <a:moveTo>
                      <a:pt x="83" y="6"/>
                    </a:moveTo>
                    <a:cubicBezTo>
                      <a:pt x="117" y="69"/>
                      <a:pt x="117" y="69"/>
                      <a:pt x="117" y="69"/>
                    </a:cubicBezTo>
                    <a:cubicBezTo>
                      <a:pt x="39" y="110"/>
                      <a:pt x="39" y="110"/>
                      <a:pt x="39" y="110"/>
                    </a:cubicBezTo>
                    <a:cubicBezTo>
                      <a:pt x="6" y="48"/>
                      <a:pt x="6" y="48"/>
                      <a:pt x="6" y="48"/>
                    </a:cubicBezTo>
                    <a:lnTo>
                      <a:pt x="83" y="6"/>
                    </a:lnTo>
                    <a:close/>
                    <a:moveTo>
                      <a:pt x="75" y="177"/>
                    </a:moveTo>
                    <a:cubicBezTo>
                      <a:pt x="42" y="114"/>
                      <a:pt x="42" y="114"/>
                      <a:pt x="42" y="114"/>
                    </a:cubicBezTo>
                    <a:cubicBezTo>
                      <a:pt x="119" y="73"/>
                      <a:pt x="119" y="73"/>
                      <a:pt x="119" y="73"/>
                    </a:cubicBezTo>
                    <a:cubicBezTo>
                      <a:pt x="153" y="135"/>
                      <a:pt x="153" y="135"/>
                      <a:pt x="153" y="135"/>
                    </a:cubicBezTo>
                    <a:lnTo>
                      <a:pt x="75" y="177"/>
                    </a:ln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86" name="ïşḻïďê-Freeform: Shape 50"/>
              <p:cNvSpPr/>
              <p:nvPr>
                <p:custDataLst>
                  <p:tags r:id="rId6"/>
                </p:custDataLst>
              </p:nvPr>
            </p:nvSpPr>
            <p:spPr bwMode="auto">
              <a:xfrm>
                <a:off x="8132763" y="-1341438"/>
                <a:ext cx="234950" cy="136525"/>
              </a:xfrm>
              <a:custGeom>
                <a:avLst/>
                <a:gdLst>
                  <a:gd name="T0" fmla="*/ 42 w 43"/>
                  <a:gd name="T1" fmla="*/ 4 h 25"/>
                  <a:gd name="T2" fmla="*/ 43 w 43"/>
                  <a:gd name="T3" fmla="*/ 1 h 25"/>
                  <a:gd name="T4" fmla="*/ 40 w 43"/>
                  <a:gd name="T5" fmla="*/ 0 h 25"/>
                  <a:gd name="T6" fmla="*/ 2 w 43"/>
                  <a:gd name="T7" fmla="*/ 21 h 25"/>
                  <a:gd name="T8" fmla="*/ 1 w 43"/>
                  <a:gd name="T9" fmla="*/ 24 h 25"/>
                  <a:gd name="T10" fmla="*/ 3 w 43"/>
                  <a:gd name="T11" fmla="*/ 25 h 25"/>
                  <a:gd name="T12" fmla="*/ 4 w 43"/>
                  <a:gd name="T13" fmla="*/ 25 h 25"/>
                  <a:gd name="T14" fmla="*/ 42 w 43"/>
                  <a:gd name="T15" fmla="*/ 4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25">
                    <a:moveTo>
                      <a:pt x="42" y="4"/>
                    </a:moveTo>
                    <a:cubicBezTo>
                      <a:pt x="43" y="4"/>
                      <a:pt x="43" y="2"/>
                      <a:pt x="43" y="1"/>
                    </a:cubicBezTo>
                    <a:cubicBezTo>
                      <a:pt x="42" y="0"/>
                      <a:pt x="41" y="0"/>
                      <a:pt x="40" y="0"/>
                    </a:cubicBezTo>
                    <a:cubicBezTo>
                      <a:pt x="2" y="21"/>
                      <a:pt x="2" y="21"/>
                      <a:pt x="2" y="21"/>
                    </a:cubicBezTo>
                    <a:cubicBezTo>
                      <a:pt x="0" y="21"/>
                      <a:pt x="0" y="23"/>
                      <a:pt x="1" y="24"/>
                    </a:cubicBezTo>
                    <a:cubicBezTo>
                      <a:pt x="1" y="25"/>
                      <a:pt x="2" y="25"/>
                      <a:pt x="3" y="25"/>
                    </a:cubicBezTo>
                    <a:cubicBezTo>
                      <a:pt x="3" y="25"/>
                      <a:pt x="3" y="25"/>
                      <a:pt x="4" y="25"/>
                    </a:cubicBezTo>
                    <a:lnTo>
                      <a:pt x="42" y="4"/>
                    </a:ln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87" name="ïşḻïďê-Freeform: Shape 51"/>
              <p:cNvSpPr/>
              <p:nvPr>
                <p:custDataLst>
                  <p:tags r:id="rId7"/>
                </p:custDataLst>
              </p:nvPr>
            </p:nvSpPr>
            <p:spPr bwMode="auto">
              <a:xfrm>
                <a:off x="8329613" y="-981075"/>
                <a:ext cx="234950" cy="138113"/>
              </a:xfrm>
              <a:custGeom>
                <a:avLst/>
                <a:gdLst>
                  <a:gd name="T0" fmla="*/ 43 w 43"/>
                  <a:gd name="T1" fmla="*/ 1 h 25"/>
                  <a:gd name="T2" fmla="*/ 39 w 43"/>
                  <a:gd name="T3" fmla="*/ 0 h 25"/>
                  <a:gd name="T4" fmla="*/ 1 w 43"/>
                  <a:gd name="T5" fmla="*/ 21 h 25"/>
                  <a:gd name="T6" fmla="*/ 0 w 43"/>
                  <a:gd name="T7" fmla="*/ 24 h 25"/>
                  <a:gd name="T8" fmla="*/ 2 w 43"/>
                  <a:gd name="T9" fmla="*/ 25 h 25"/>
                  <a:gd name="T10" fmla="*/ 3 w 43"/>
                  <a:gd name="T11" fmla="*/ 25 h 25"/>
                  <a:gd name="T12" fmla="*/ 42 w 43"/>
                  <a:gd name="T13" fmla="*/ 4 h 25"/>
                  <a:gd name="T14" fmla="*/ 43 w 43"/>
                  <a:gd name="T15" fmla="*/ 1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25">
                    <a:moveTo>
                      <a:pt x="43" y="1"/>
                    </a:moveTo>
                    <a:cubicBezTo>
                      <a:pt x="42" y="0"/>
                      <a:pt x="41" y="0"/>
                      <a:pt x="39" y="0"/>
                    </a:cubicBezTo>
                    <a:cubicBezTo>
                      <a:pt x="1" y="21"/>
                      <a:pt x="1" y="21"/>
                      <a:pt x="1" y="21"/>
                    </a:cubicBezTo>
                    <a:cubicBezTo>
                      <a:pt x="0" y="22"/>
                      <a:pt x="0" y="23"/>
                      <a:pt x="0" y="24"/>
                    </a:cubicBezTo>
                    <a:cubicBezTo>
                      <a:pt x="1" y="25"/>
                      <a:pt x="2" y="25"/>
                      <a:pt x="2" y="25"/>
                    </a:cubicBezTo>
                    <a:cubicBezTo>
                      <a:pt x="3" y="25"/>
                      <a:pt x="3" y="25"/>
                      <a:pt x="3" y="25"/>
                    </a:cubicBezTo>
                    <a:cubicBezTo>
                      <a:pt x="42" y="4"/>
                      <a:pt x="42" y="4"/>
                      <a:pt x="42" y="4"/>
                    </a:cubicBezTo>
                    <a:cubicBezTo>
                      <a:pt x="43" y="4"/>
                      <a:pt x="43" y="2"/>
                      <a:pt x="43" y="1"/>
                    </a:cubicBez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grpSp>
      <p:grpSp>
        <p:nvGrpSpPr>
          <p:cNvPr id="142" name="Group 62"/>
          <p:cNvGrpSpPr/>
          <p:nvPr>
            <p:custDataLst>
              <p:tags r:id="rId8"/>
            </p:custDataLst>
          </p:nvPr>
        </p:nvGrpSpPr>
        <p:grpSpPr>
          <a:xfrm rot="21540000">
            <a:off x="1534458" y="1231281"/>
            <a:ext cx="624205" cy="624840"/>
            <a:chOff x="2552700" y="-1971675"/>
            <a:chExt cx="1935163" cy="1938338"/>
          </a:xfrm>
        </p:grpSpPr>
        <p:sp>
          <p:nvSpPr>
            <p:cNvPr id="1048788" name="ïşḻïďê-Oval 63"/>
            <p:cNvSpPr/>
            <p:nvPr>
              <p:custDataLst>
                <p:tags r:id="rId9"/>
              </p:custDataLst>
            </p:nvPr>
          </p:nvSpPr>
          <p:spPr bwMode="auto">
            <a:xfrm>
              <a:off x="2552700" y="-1971675"/>
              <a:ext cx="1935163" cy="1938338"/>
            </a:xfrm>
            <a:prstGeom prst="ellipse">
              <a:avLst/>
            </a:prstGeom>
            <a:solidFill>
              <a:schemeClr val="accent2">
                <a:lumMod val="10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nvGrpSpPr>
            <p:cNvPr id="143" name="Group 64"/>
            <p:cNvGrpSpPr/>
            <p:nvPr/>
          </p:nvGrpSpPr>
          <p:grpSpPr>
            <a:xfrm>
              <a:off x="2908300" y="-1620838"/>
              <a:ext cx="1228725" cy="1236663"/>
              <a:chOff x="2908300" y="-1620838"/>
              <a:chExt cx="1228725" cy="1236663"/>
            </a:xfrm>
          </p:grpSpPr>
          <p:sp>
            <p:nvSpPr>
              <p:cNvPr id="1048789" name="ïşḻïďê-Freeform: Shape 65"/>
              <p:cNvSpPr/>
              <p:nvPr>
                <p:custDataLst>
                  <p:tags r:id="rId10"/>
                </p:custDataLst>
              </p:nvPr>
            </p:nvSpPr>
            <p:spPr bwMode="auto">
              <a:xfrm>
                <a:off x="3055938" y="-1620838"/>
                <a:ext cx="234950" cy="234950"/>
              </a:xfrm>
              <a:custGeom>
                <a:avLst/>
                <a:gdLst>
                  <a:gd name="T0" fmla="*/ 22 w 43"/>
                  <a:gd name="T1" fmla="*/ 43 h 43"/>
                  <a:gd name="T2" fmla="*/ 43 w 43"/>
                  <a:gd name="T3" fmla="*/ 21 h 43"/>
                  <a:gd name="T4" fmla="*/ 22 w 43"/>
                  <a:gd name="T5" fmla="*/ 0 h 43"/>
                  <a:gd name="T6" fmla="*/ 0 w 43"/>
                  <a:gd name="T7" fmla="*/ 21 h 43"/>
                  <a:gd name="T8" fmla="*/ 22 w 43"/>
                  <a:gd name="T9" fmla="*/ 43 h 43"/>
                  <a:gd name="T10" fmla="*/ 22 w 43"/>
                  <a:gd name="T11" fmla="*/ 5 h 43"/>
                  <a:gd name="T12" fmla="*/ 39 w 43"/>
                  <a:gd name="T13" fmla="*/ 21 h 43"/>
                  <a:gd name="T14" fmla="*/ 22 w 43"/>
                  <a:gd name="T15" fmla="*/ 38 h 43"/>
                  <a:gd name="T16" fmla="*/ 5 w 43"/>
                  <a:gd name="T17" fmla="*/ 21 h 43"/>
                  <a:gd name="T18" fmla="*/ 22 w 43"/>
                  <a:gd name="T19" fmla="*/ 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3">
                    <a:moveTo>
                      <a:pt x="22" y="43"/>
                    </a:moveTo>
                    <a:cubicBezTo>
                      <a:pt x="34" y="43"/>
                      <a:pt x="43" y="33"/>
                      <a:pt x="43" y="21"/>
                    </a:cubicBezTo>
                    <a:cubicBezTo>
                      <a:pt x="43" y="10"/>
                      <a:pt x="34" y="0"/>
                      <a:pt x="22" y="0"/>
                    </a:cubicBezTo>
                    <a:cubicBezTo>
                      <a:pt x="10" y="0"/>
                      <a:pt x="0" y="10"/>
                      <a:pt x="0" y="21"/>
                    </a:cubicBezTo>
                    <a:cubicBezTo>
                      <a:pt x="0" y="33"/>
                      <a:pt x="10" y="43"/>
                      <a:pt x="22" y="43"/>
                    </a:cubicBezTo>
                    <a:close/>
                    <a:moveTo>
                      <a:pt x="22" y="5"/>
                    </a:moveTo>
                    <a:cubicBezTo>
                      <a:pt x="31" y="5"/>
                      <a:pt x="39" y="12"/>
                      <a:pt x="39" y="21"/>
                    </a:cubicBezTo>
                    <a:cubicBezTo>
                      <a:pt x="39" y="31"/>
                      <a:pt x="31" y="38"/>
                      <a:pt x="22" y="38"/>
                    </a:cubicBezTo>
                    <a:cubicBezTo>
                      <a:pt x="12" y="38"/>
                      <a:pt x="5" y="31"/>
                      <a:pt x="5" y="21"/>
                    </a:cubicBezTo>
                    <a:cubicBezTo>
                      <a:pt x="5" y="12"/>
                      <a:pt x="12" y="5"/>
                      <a:pt x="22" y="5"/>
                    </a:cubicBez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90" name="ïşḻïďê-Freeform: Shape 66"/>
              <p:cNvSpPr/>
              <p:nvPr>
                <p:custDataLst>
                  <p:tags r:id="rId11"/>
                </p:custDataLst>
              </p:nvPr>
            </p:nvSpPr>
            <p:spPr bwMode="auto">
              <a:xfrm>
                <a:off x="3749675" y="-1620838"/>
                <a:ext cx="234950" cy="234950"/>
              </a:xfrm>
              <a:custGeom>
                <a:avLst/>
                <a:gdLst>
                  <a:gd name="T0" fmla="*/ 22 w 43"/>
                  <a:gd name="T1" fmla="*/ 43 h 43"/>
                  <a:gd name="T2" fmla="*/ 43 w 43"/>
                  <a:gd name="T3" fmla="*/ 21 h 43"/>
                  <a:gd name="T4" fmla="*/ 22 w 43"/>
                  <a:gd name="T5" fmla="*/ 0 h 43"/>
                  <a:gd name="T6" fmla="*/ 0 w 43"/>
                  <a:gd name="T7" fmla="*/ 21 h 43"/>
                  <a:gd name="T8" fmla="*/ 22 w 43"/>
                  <a:gd name="T9" fmla="*/ 43 h 43"/>
                  <a:gd name="T10" fmla="*/ 22 w 43"/>
                  <a:gd name="T11" fmla="*/ 5 h 43"/>
                  <a:gd name="T12" fmla="*/ 39 w 43"/>
                  <a:gd name="T13" fmla="*/ 21 h 43"/>
                  <a:gd name="T14" fmla="*/ 22 w 43"/>
                  <a:gd name="T15" fmla="*/ 38 h 43"/>
                  <a:gd name="T16" fmla="*/ 5 w 43"/>
                  <a:gd name="T17" fmla="*/ 21 h 43"/>
                  <a:gd name="T18" fmla="*/ 22 w 43"/>
                  <a:gd name="T19" fmla="*/ 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3">
                    <a:moveTo>
                      <a:pt x="22" y="43"/>
                    </a:moveTo>
                    <a:cubicBezTo>
                      <a:pt x="34" y="43"/>
                      <a:pt x="43" y="33"/>
                      <a:pt x="43" y="21"/>
                    </a:cubicBezTo>
                    <a:cubicBezTo>
                      <a:pt x="43" y="10"/>
                      <a:pt x="34" y="0"/>
                      <a:pt x="22" y="0"/>
                    </a:cubicBezTo>
                    <a:cubicBezTo>
                      <a:pt x="10" y="0"/>
                      <a:pt x="0" y="10"/>
                      <a:pt x="0" y="21"/>
                    </a:cubicBezTo>
                    <a:cubicBezTo>
                      <a:pt x="0" y="33"/>
                      <a:pt x="10" y="43"/>
                      <a:pt x="22" y="43"/>
                    </a:cubicBezTo>
                    <a:close/>
                    <a:moveTo>
                      <a:pt x="22" y="5"/>
                    </a:moveTo>
                    <a:cubicBezTo>
                      <a:pt x="31" y="5"/>
                      <a:pt x="39" y="12"/>
                      <a:pt x="39" y="21"/>
                    </a:cubicBezTo>
                    <a:cubicBezTo>
                      <a:pt x="39" y="31"/>
                      <a:pt x="31" y="38"/>
                      <a:pt x="22" y="38"/>
                    </a:cubicBezTo>
                    <a:cubicBezTo>
                      <a:pt x="13" y="38"/>
                      <a:pt x="5" y="31"/>
                      <a:pt x="5" y="21"/>
                    </a:cubicBezTo>
                    <a:cubicBezTo>
                      <a:pt x="5" y="12"/>
                      <a:pt x="13" y="5"/>
                      <a:pt x="22" y="5"/>
                    </a:cubicBez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91" name="ïşḻïďê-Freeform: Shape 67"/>
              <p:cNvSpPr/>
              <p:nvPr>
                <p:custDataLst>
                  <p:tags r:id="rId12"/>
                </p:custDataLst>
              </p:nvPr>
            </p:nvSpPr>
            <p:spPr bwMode="auto">
              <a:xfrm>
                <a:off x="2908300" y="-1358900"/>
                <a:ext cx="1228725" cy="974725"/>
              </a:xfrm>
              <a:custGeom>
                <a:avLst/>
                <a:gdLst>
                  <a:gd name="T0" fmla="*/ 205 w 225"/>
                  <a:gd name="T1" fmla="*/ 13 h 178"/>
                  <a:gd name="T2" fmla="*/ 151 w 225"/>
                  <a:gd name="T3" fmla="*/ 13 h 178"/>
                  <a:gd name="T4" fmla="*/ 112 w 225"/>
                  <a:gd name="T5" fmla="*/ 60 h 178"/>
                  <a:gd name="T6" fmla="*/ 74 w 225"/>
                  <a:gd name="T7" fmla="*/ 13 h 178"/>
                  <a:gd name="T8" fmla="*/ 19 w 225"/>
                  <a:gd name="T9" fmla="*/ 13 h 178"/>
                  <a:gd name="T10" fmla="*/ 2 w 225"/>
                  <a:gd name="T11" fmla="*/ 54 h 178"/>
                  <a:gd name="T12" fmla="*/ 26 w 225"/>
                  <a:gd name="T13" fmla="*/ 94 h 178"/>
                  <a:gd name="T14" fmla="*/ 36 w 225"/>
                  <a:gd name="T15" fmla="*/ 178 h 178"/>
                  <a:gd name="T16" fmla="*/ 53 w 225"/>
                  <a:gd name="T17" fmla="*/ 169 h 178"/>
                  <a:gd name="T18" fmla="*/ 74 w 225"/>
                  <a:gd name="T19" fmla="*/ 169 h 178"/>
                  <a:gd name="T20" fmla="*/ 77 w 225"/>
                  <a:gd name="T21" fmla="*/ 60 h 178"/>
                  <a:gd name="T22" fmla="*/ 112 w 225"/>
                  <a:gd name="T23" fmla="*/ 78 h 178"/>
                  <a:gd name="T24" fmla="*/ 147 w 225"/>
                  <a:gd name="T25" fmla="*/ 61 h 178"/>
                  <a:gd name="T26" fmla="*/ 151 w 225"/>
                  <a:gd name="T27" fmla="*/ 169 h 178"/>
                  <a:gd name="T28" fmla="*/ 171 w 225"/>
                  <a:gd name="T29" fmla="*/ 169 h 178"/>
                  <a:gd name="T30" fmla="*/ 189 w 225"/>
                  <a:gd name="T31" fmla="*/ 178 h 178"/>
                  <a:gd name="T32" fmla="*/ 199 w 225"/>
                  <a:gd name="T33" fmla="*/ 169 h 178"/>
                  <a:gd name="T34" fmla="*/ 207 w 225"/>
                  <a:gd name="T35" fmla="*/ 90 h 178"/>
                  <a:gd name="T36" fmla="*/ 81 w 225"/>
                  <a:gd name="T37" fmla="*/ 57 h 178"/>
                  <a:gd name="T38" fmla="*/ 68 w 225"/>
                  <a:gd name="T39" fmla="*/ 24 h 178"/>
                  <a:gd name="T40" fmla="*/ 66 w 225"/>
                  <a:gd name="T41" fmla="*/ 44 h 178"/>
                  <a:gd name="T42" fmla="*/ 69 w 225"/>
                  <a:gd name="T43" fmla="*/ 147 h 178"/>
                  <a:gd name="T44" fmla="*/ 69 w 225"/>
                  <a:gd name="T45" fmla="*/ 169 h 178"/>
                  <a:gd name="T46" fmla="*/ 52 w 225"/>
                  <a:gd name="T47" fmla="*/ 92 h 178"/>
                  <a:gd name="T48" fmla="*/ 41 w 225"/>
                  <a:gd name="T49" fmla="*/ 168 h 178"/>
                  <a:gd name="T50" fmla="*/ 30 w 225"/>
                  <a:gd name="T51" fmla="*/ 169 h 178"/>
                  <a:gd name="T52" fmla="*/ 31 w 225"/>
                  <a:gd name="T53" fmla="*/ 92 h 178"/>
                  <a:gd name="T54" fmla="*/ 31 w 225"/>
                  <a:gd name="T55" fmla="*/ 76 h 178"/>
                  <a:gd name="T56" fmla="*/ 27 w 225"/>
                  <a:gd name="T57" fmla="*/ 35 h 178"/>
                  <a:gd name="T58" fmla="*/ 23 w 225"/>
                  <a:gd name="T59" fmla="*/ 68 h 178"/>
                  <a:gd name="T60" fmla="*/ 27 w 225"/>
                  <a:gd name="T61" fmla="*/ 80 h 178"/>
                  <a:gd name="T62" fmla="*/ 26 w 225"/>
                  <a:gd name="T63" fmla="*/ 89 h 178"/>
                  <a:gd name="T64" fmla="*/ 6 w 225"/>
                  <a:gd name="T65" fmla="*/ 42 h 178"/>
                  <a:gd name="T66" fmla="*/ 48 w 225"/>
                  <a:gd name="T67" fmla="*/ 4 h 178"/>
                  <a:gd name="T68" fmla="*/ 88 w 225"/>
                  <a:gd name="T69" fmla="*/ 47 h 178"/>
                  <a:gd name="T70" fmla="*/ 110 w 225"/>
                  <a:gd name="T71" fmla="*/ 64 h 178"/>
                  <a:gd name="T72" fmla="*/ 114 w 225"/>
                  <a:gd name="T73" fmla="*/ 72 h 178"/>
                  <a:gd name="T74" fmla="*/ 26 w 225"/>
                  <a:gd name="T75" fmla="*/ 43 h 178"/>
                  <a:gd name="T76" fmla="*/ 26 w 225"/>
                  <a:gd name="T77" fmla="*/ 43 h 178"/>
                  <a:gd name="T78" fmla="*/ 198 w 225"/>
                  <a:gd name="T79" fmla="*/ 89 h 178"/>
                  <a:gd name="T80" fmla="*/ 198 w 225"/>
                  <a:gd name="T81" fmla="*/ 80 h 178"/>
                  <a:gd name="T82" fmla="*/ 202 w 225"/>
                  <a:gd name="T83" fmla="*/ 68 h 178"/>
                  <a:gd name="T84" fmla="*/ 198 w 225"/>
                  <a:gd name="T85" fmla="*/ 35 h 178"/>
                  <a:gd name="T86" fmla="*/ 194 w 225"/>
                  <a:gd name="T87" fmla="*/ 76 h 178"/>
                  <a:gd name="T88" fmla="*/ 194 w 225"/>
                  <a:gd name="T89" fmla="*/ 92 h 178"/>
                  <a:gd name="T90" fmla="*/ 195 w 225"/>
                  <a:gd name="T91" fmla="*/ 169 h 178"/>
                  <a:gd name="T92" fmla="*/ 183 w 225"/>
                  <a:gd name="T93" fmla="*/ 168 h 178"/>
                  <a:gd name="T94" fmla="*/ 173 w 225"/>
                  <a:gd name="T95" fmla="*/ 92 h 178"/>
                  <a:gd name="T96" fmla="*/ 155 w 225"/>
                  <a:gd name="T97" fmla="*/ 169 h 178"/>
                  <a:gd name="T98" fmla="*/ 156 w 225"/>
                  <a:gd name="T99" fmla="*/ 147 h 178"/>
                  <a:gd name="T100" fmla="*/ 159 w 225"/>
                  <a:gd name="T101" fmla="*/ 44 h 178"/>
                  <a:gd name="T102" fmla="*/ 157 w 225"/>
                  <a:gd name="T103" fmla="*/ 24 h 178"/>
                  <a:gd name="T104" fmla="*/ 144 w 225"/>
                  <a:gd name="T105" fmla="*/ 57 h 178"/>
                  <a:gd name="T106" fmla="*/ 117 w 225"/>
                  <a:gd name="T107" fmla="*/ 63 h 178"/>
                  <a:gd name="T108" fmla="*/ 137 w 225"/>
                  <a:gd name="T109" fmla="*/ 47 h 178"/>
                  <a:gd name="T110" fmla="*/ 177 w 225"/>
                  <a:gd name="T111" fmla="*/ 4 h 178"/>
                  <a:gd name="T112" fmla="*/ 218 w 225"/>
                  <a:gd name="T113" fmla="*/ 42 h 178"/>
                  <a:gd name="T114" fmla="*/ 203 w 225"/>
                  <a:gd name="T115" fmla="*/ 5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5" h="178">
                    <a:moveTo>
                      <a:pt x="222" y="40"/>
                    </a:moveTo>
                    <a:cubicBezTo>
                      <a:pt x="222" y="40"/>
                      <a:pt x="222" y="40"/>
                      <a:pt x="222" y="40"/>
                    </a:cubicBezTo>
                    <a:cubicBezTo>
                      <a:pt x="205" y="13"/>
                      <a:pt x="205" y="13"/>
                      <a:pt x="205" y="13"/>
                    </a:cubicBezTo>
                    <a:cubicBezTo>
                      <a:pt x="199" y="4"/>
                      <a:pt x="195" y="0"/>
                      <a:pt x="177" y="0"/>
                    </a:cubicBezTo>
                    <a:cubicBezTo>
                      <a:pt x="177" y="0"/>
                      <a:pt x="177" y="0"/>
                      <a:pt x="177" y="0"/>
                    </a:cubicBezTo>
                    <a:cubicBezTo>
                      <a:pt x="158" y="0"/>
                      <a:pt x="154" y="8"/>
                      <a:pt x="151" y="13"/>
                    </a:cubicBezTo>
                    <a:cubicBezTo>
                      <a:pt x="151" y="13"/>
                      <a:pt x="151" y="13"/>
                      <a:pt x="151" y="13"/>
                    </a:cubicBezTo>
                    <a:cubicBezTo>
                      <a:pt x="147" y="20"/>
                      <a:pt x="135" y="41"/>
                      <a:pt x="133" y="44"/>
                    </a:cubicBezTo>
                    <a:cubicBezTo>
                      <a:pt x="131" y="46"/>
                      <a:pt x="119" y="55"/>
                      <a:pt x="112" y="60"/>
                    </a:cubicBezTo>
                    <a:cubicBezTo>
                      <a:pt x="107" y="56"/>
                      <a:pt x="98" y="49"/>
                      <a:pt x="92" y="44"/>
                    </a:cubicBezTo>
                    <a:cubicBezTo>
                      <a:pt x="90" y="41"/>
                      <a:pt x="77" y="20"/>
                      <a:pt x="74" y="13"/>
                    </a:cubicBezTo>
                    <a:cubicBezTo>
                      <a:pt x="74" y="13"/>
                      <a:pt x="74" y="13"/>
                      <a:pt x="74" y="13"/>
                    </a:cubicBezTo>
                    <a:cubicBezTo>
                      <a:pt x="71" y="8"/>
                      <a:pt x="66" y="0"/>
                      <a:pt x="48" y="0"/>
                    </a:cubicBezTo>
                    <a:cubicBezTo>
                      <a:pt x="48" y="0"/>
                      <a:pt x="48" y="0"/>
                      <a:pt x="48" y="0"/>
                    </a:cubicBezTo>
                    <a:cubicBezTo>
                      <a:pt x="29" y="0"/>
                      <a:pt x="26" y="4"/>
                      <a:pt x="19" y="13"/>
                    </a:cubicBezTo>
                    <a:cubicBezTo>
                      <a:pt x="2" y="40"/>
                      <a:pt x="2" y="40"/>
                      <a:pt x="2" y="40"/>
                    </a:cubicBezTo>
                    <a:cubicBezTo>
                      <a:pt x="2" y="40"/>
                      <a:pt x="2" y="40"/>
                      <a:pt x="2" y="40"/>
                    </a:cubicBezTo>
                    <a:cubicBezTo>
                      <a:pt x="0" y="44"/>
                      <a:pt x="0" y="49"/>
                      <a:pt x="2" y="54"/>
                    </a:cubicBezTo>
                    <a:cubicBezTo>
                      <a:pt x="17" y="90"/>
                      <a:pt x="17" y="90"/>
                      <a:pt x="17" y="90"/>
                    </a:cubicBezTo>
                    <a:cubicBezTo>
                      <a:pt x="19" y="92"/>
                      <a:pt x="21" y="94"/>
                      <a:pt x="25" y="94"/>
                    </a:cubicBezTo>
                    <a:cubicBezTo>
                      <a:pt x="25" y="94"/>
                      <a:pt x="25" y="94"/>
                      <a:pt x="26" y="94"/>
                    </a:cubicBezTo>
                    <a:cubicBezTo>
                      <a:pt x="25" y="153"/>
                      <a:pt x="25" y="167"/>
                      <a:pt x="25" y="169"/>
                    </a:cubicBezTo>
                    <a:cubicBezTo>
                      <a:pt x="25" y="169"/>
                      <a:pt x="25" y="169"/>
                      <a:pt x="25" y="169"/>
                    </a:cubicBezTo>
                    <a:cubicBezTo>
                      <a:pt x="26" y="174"/>
                      <a:pt x="30" y="178"/>
                      <a:pt x="36" y="178"/>
                    </a:cubicBezTo>
                    <a:cubicBezTo>
                      <a:pt x="41" y="177"/>
                      <a:pt x="46" y="173"/>
                      <a:pt x="46" y="169"/>
                    </a:cubicBezTo>
                    <a:cubicBezTo>
                      <a:pt x="50" y="122"/>
                      <a:pt x="50" y="122"/>
                      <a:pt x="50" y="122"/>
                    </a:cubicBezTo>
                    <a:cubicBezTo>
                      <a:pt x="53" y="169"/>
                      <a:pt x="53" y="169"/>
                      <a:pt x="53" y="169"/>
                    </a:cubicBezTo>
                    <a:cubicBezTo>
                      <a:pt x="54" y="173"/>
                      <a:pt x="58" y="177"/>
                      <a:pt x="63" y="178"/>
                    </a:cubicBezTo>
                    <a:cubicBezTo>
                      <a:pt x="64" y="178"/>
                      <a:pt x="64" y="178"/>
                      <a:pt x="64" y="178"/>
                    </a:cubicBezTo>
                    <a:cubicBezTo>
                      <a:pt x="69" y="178"/>
                      <a:pt x="73" y="174"/>
                      <a:pt x="74" y="169"/>
                    </a:cubicBezTo>
                    <a:cubicBezTo>
                      <a:pt x="74" y="169"/>
                      <a:pt x="74" y="169"/>
                      <a:pt x="74" y="169"/>
                    </a:cubicBezTo>
                    <a:cubicBezTo>
                      <a:pt x="74" y="166"/>
                      <a:pt x="72" y="100"/>
                      <a:pt x="71" y="51"/>
                    </a:cubicBezTo>
                    <a:cubicBezTo>
                      <a:pt x="77" y="60"/>
                      <a:pt x="77" y="60"/>
                      <a:pt x="77" y="60"/>
                    </a:cubicBezTo>
                    <a:cubicBezTo>
                      <a:pt x="77" y="60"/>
                      <a:pt x="78" y="61"/>
                      <a:pt x="78" y="61"/>
                    </a:cubicBezTo>
                    <a:cubicBezTo>
                      <a:pt x="107" y="77"/>
                      <a:pt x="107" y="77"/>
                      <a:pt x="107" y="77"/>
                    </a:cubicBezTo>
                    <a:cubicBezTo>
                      <a:pt x="108" y="78"/>
                      <a:pt x="110" y="78"/>
                      <a:pt x="112" y="78"/>
                    </a:cubicBezTo>
                    <a:cubicBezTo>
                      <a:pt x="113" y="78"/>
                      <a:pt x="113" y="78"/>
                      <a:pt x="114" y="78"/>
                    </a:cubicBezTo>
                    <a:cubicBezTo>
                      <a:pt x="115" y="78"/>
                      <a:pt x="117" y="78"/>
                      <a:pt x="118" y="77"/>
                    </a:cubicBezTo>
                    <a:cubicBezTo>
                      <a:pt x="147" y="61"/>
                      <a:pt x="147" y="61"/>
                      <a:pt x="147" y="61"/>
                    </a:cubicBezTo>
                    <a:cubicBezTo>
                      <a:pt x="147" y="61"/>
                      <a:pt x="147" y="60"/>
                      <a:pt x="147" y="60"/>
                    </a:cubicBezTo>
                    <a:cubicBezTo>
                      <a:pt x="154" y="51"/>
                      <a:pt x="154" y="51"/>
                      <a:pt x="154" y="51"/>
                    </a:cubicBezTo>
                    <a:cubicBezTo>
                      <a:pt x="152" y="100"/>
                      <a:pt x="151" y="166"/>
                      <a:pt x="151" y="169"/>
                    </a:cubicBezTo>
                    <a:cubicBezTo>
                      <a:pt x="151" y="169"/>
                      <a:pt x="151" y="169"/>
                      <a:pt x="151" y="169"/>
                    </a:cubicBezTo>
                    <a:cubicBezTo>
                      <a:pt x="151" y="174"/>
                      <a:pt x="156" y="178"/>
                      <a:pt x="161" y="178"/>
                    </a:cubicBezTo>
                    <a:cubicBezTo>
                      <a:pt x="167" y="177"/>
                      <a:pt x="171" y="173"/>
                      <a:pt x="171" y="169"/>
                    </a:cubicBezTo>
                    <a:cubicBezTo>
                      <a:pt x="175" y="122"/>
                      <a:pt x="175" y="122"/>
                      <a:pt x="175" y="122"/>
                    </a:cubicBezTo>
                    <a:cubicBezTo>
                      <a:pt x="179" y="169"/>
                      <a:pt x="179" y="169"/>
                      <a:pt x="179" y="169"/>
                    </a:cubicBezTo>
                    <a:cubicBezTo>
                      <a:pt x="179" y="173"/>
                      <a:pt x="183" y="177"/>
                      <a:pt x="189" y="178"/>
                    </a:cubicBezTo>
                    <a:cubicBezTo>
                      <a:pt x="189" y="178"/>
                      <a:pt x="189" y="178"/>
                      <a:pt x="189" y="178"/>
                    </a:cubicBezTo>
                    <a:cubicBezTo>
                      <a:pt x="194" y="178"/>
                      <a:pt x="199" y="174"/>
                      <a:pt x="199" y="169"/>
                    </a:cubicBezTo>
                    <a:cubicBezTo>
                      <a:pt x="199" y="169"/>
                      <a:pt x="199" y="169"/>
                      <a:pt x="199" y="169"/>
                    </a:cubicBezTo>
                    <a:cubicBezTo>
                      <a:pt x="199" y="167"/>
                      <a:pt x="199" y="153"/>
                      <a:pt x="199" y="94"/>
                    </a:cubicBezTo>
                    <a:cubicBezTo>
                      <a:pt x="199" y="94"/>
                      <a:pt x="200" y="94"/>
                      <a:pt x="200" y="94"/>
                    </a:cubicBezTo>
                    <a:cubicBezTo>
                      <a:pt x="203" y="94"/>
                      <a:pt x="206" y="92"/>
                      <a:pt x="207" y="90"/>
                    </a:cubicBezTo>
                    <a:cubicBezTo>
                      <a:pt x="223" y="54"/>
                      <a:pt x="223" y="54"/>
                      <a:pt x="223" y="54"/>
                    </a:cubicBezTo>
                    <a:cubicBezTo>
                      <a:pt x="225" y="49"/>
                      <a:pt x="225" y="44"/>
                      <a:pt x="222" y="40"/>
                    </a:cubicBezTo>
                    <a:close/>
                    <a:moveTo>
                      <a:pt x="81" y="57"/>
                    </a:moveTo>
                    <a:cubicBezTo>
                      <a:pt x="71" y="43"/>
                      <a:pt x="71" y="43"/>
                      <a:pt x="71" y="43"/>
                    </a:cubicBezTo>
                    <a:cubicBezTo>
                      <a:pt x="71" y="37"/>
                      <a:pt x="70" y="32"/>
                      <a:pt x="70" y="27"/>
                    </a:cubicBezTo>
                    <a:cubicBezTo>
                      <a:pt x="70" y="25"/>
                      <a:pt x="69" y="24"/>
                      <a:pt x="68" y="24"/>
                    </a:cubicBezTo>
                    <a:cubicBezTo>
                      <a:pt x="68" y="24"/>
                      <a:pt x="68" y="24"/>
                      <a:pt x="68" y="24"/>
                    </a:cubicBezTo>
                    <a:cubicBezTo>
                      <a:pt x="67" y="24"/>
                      <a:pt x="66" y="25"/>
                      <a:pt x="66" y="27"/>
                    </a:cubicBezTo>
                    <a:cubicBezTo>
                      <a:pt x="66" y="27"/>
                      <a:pt x="66" y="33"/>
                      <a:pt x="66" y="44"/>
                    </a:cubicBezTo>
                    <a:cubicBezTo>
                      <a:pt x="66" y="44"/>
                      <a:pt x="66" y="44"/>
                      <a:pt x="66" y="44"/>
                    </a:cubicBezTo>
                    <a:cubicBezTo>
                      <a:pt x="66" y="58"/>
                      <a:pt x="67" y="78"/>
                      <a:pt x="67" y="98"/>
                    </a:cubicBezTo>
                    <a:cubicBezTo>
                      <a:pt x="68" y="116"/>
                      <a:pt x="68" y="133"/>
                      <a:pt x="69" y="147"/>
                    </a:cubicBezTo>
                    <a:cubicBezTo>
                      <a:pt x="69" y="153"/>
                      <a:pt x="69" y="159"/>
                      <a:pt x="69" y="163"/>
                    </a:cubicBezTo>
                    <a:cubicBezTo>
                      <a:pt x="69" y="166"/>
                      <a:pt x="69" y="167"/>
                      <a:pt x="69" y="169"/>
                    </a:cubicBezTo>
                    <a:cubicBezTo>
                      <a:pt x="69" y="169"/>
                      <a:pt x="69" y="169"/>
                      <a:pt x="69" y="169"/>
                    </a:cubicBezTo>
                    <a:cubicBezTo>
                      <a:pt x="69" y="171"/>
                      <a:pt x="67" y="173"/>
                      <a:pt x="64" y="173"/>
                    </a:cubicBezTo>
                    <a:cubicBezTo>
                      <a:pt x="61" y="173"/>
                      <a:pt x="58" y="171"/>
                      <a:pt x="58" y="168"/>
                    </a:cubicBezTo>
                    <a:cubicBezTo>
                      <a:pt x="52" y="92"/>
                      <a:pt x="52" y="92"/>
                      <a:pt x="52" y="92"/>
                    </a:cubicBezTo>
                    <a:cubicBezTo>
                      <a:pt x="52" y="91"/>
                      <a:pt x="51" y="90"/>
                      <a:pt x="50" y="90"/>
                    </a:cubicBezTo>
                    <a:cubicBezTo>
                      <a:pt x="48" y="90"/>
                      <a:pt x="47" y="91"/>
                      <a:pt x="47" y="92"/>
                    </a:cubicBezTo>
                    <a:cubicBezTo>
                      <a:pt x="41" y="168"/>
                      <a:pt x="41" y="168"/>
                      <a:pt x="41" y="168"/>
                    </a:cubicBezTo>
                    <a:cubicBezTo>
                      <a:pt x="41" y="171"/>
                      <a:pt x="39" y="173"/>
                      <a:pt x="36" y="173"/>
                    </a:cubicBezTo>
                    <a:cubicBezTo>
                      <a:pt x="33" y="173"/>
                      <a:pt x="30" y="171"/>
                      <a:pt x="30" y="169"/>
                    </a:cubicBezTo>
                    <a:cubicBezTo>
                      <a:pt x="30" y="169"/>
                      <a:pt x="30" y="169"/>
                      <a:pt x="30" y="169"/>
                    </a:cubicBezTo>
                    <a:cubicBezTo>
                      <a:pt x="30" y="167"/>
                      <a:pt x="30" y="165"/>
                      <a:pt x="30" y="162"/>
                    </a:cubicBezTo>
                    <a:cubicBezTo>
                      <a:pt x="30" y="157"/>
                      <a:pt x="30" y="151"/>
                      <a:pt x="30" y="144"/>
                    </a:cubicBezTo>
                    <a:cubicBezTo>
                      <a:pt x="30" y="129"/>
                      <a:pt x="30" y="110"/>
                      <a:pt x="31" y="92"/>
                    </a:cubicBezTo>
                    <a:cubicBezTo>
                      <a:pt x="33" y="90"/>
                      <a:pt x="34" y="87"/>
                      <a:pt x="33" y="84"/>
                    </a:cubicBezTo>
                    <a:cubicBezTo>
                      <a:pt x="33" y="84"/>
                      <a:pt x="33" y="84"/>
                      <a:pt x="33" y="83"/>
                    </a:cubicBezTo>
                    <a:cubicBezTo>
                      <a:pt x="33" y="83"/>
                      <a:pt x="32" y="80"/>
                      <a:pt x="31" y="76"/>
                    </a:cubicBezTo>
                    <a:cubicBezTo>
                      <a:pt x="31" y="50"/>
                      <a:pt x="31" y="36"/>
                      <a:pt x="31" y="36"/>
                    </a:cubicBezTo>
                    <a:cubicBezTo>
                      <a:pt x="31" y="35"/>
                      <a:pt x="30" y="34"/>
                      <a:pt x="29" y="34"/>
                    </a:cubicBezTo>
                    <a:cubicBezTo>
                      <a:pt x="28" y="34"/>
                      <a:pt x="27" y="34"/>
                      <a:pt x="27" y="35"/>
                    </a:cubicBezTo>
                    <a:cubicBezTo>
                      <a:pt x="17" y="48"/>
                      <a:pt x="17" y="48"/>
                      <a:pt x="17" y="48"/>
                    </a:cubicBezTo>
                    <a:cubicBezTo>
                      <a:pt x="17" y="48"/>
                      <a:pt x="17" y="49"/>
                      <a:pt x="17" y="50"/>
                    </a:cubicBezTo>
                    <a:cubicBezTo>
                      <a:pt x="17" y="50"/>
                      <a:pt x="20" y="59"/>
                      <a:pt x="23" y="68"/>
                    </a:cubicBezTo>
                    <a:cubicBezTo>
                      <a:pt x="24" y="71"/>
                      <a:pt x="25" y="74"/>
                      <a:pt x="26" y="77"/>
                    </a:cubicBezTo>
                    <a:cubicBezTo>
                      <a:pt x="26" y="77"/>
                      <a:pt x="26" y="77"/>
                      <a:pt x="26" y="77"/>
                    </a:cubicBezTo>
                    <a:cubicBezTo>
                      <a:pt x="26" y="78"/>
                      <a:pt x="27" y="79"/>
                      <a:pt x="27" y="80"/>
                    </a:cubicBezTo>
                    <a:cubicBezTo>
                      <a:pt x="28" y="82"/>
                      <a:pt x="28" y="84"/>
                      <a:pt x="29" y="85"/>
                    </a:cubicBezTo>
                    <a:cubicBezTo>
                      <a:pt x="29" y="85"/>
                      <a:pt x="29" y="85"/>
                      <a:pt x="29" y="85"/>
                    </a:cubicBezTo>
                    <a:cubicBezTo>
                      <a:pt x="29" y="87"/>
                      <a:pt x="28" y="88"/>
                      <a:pt x="26" y="89"/>
                    </a:cubicBezTo>
                    <a:cubicBezTo>
                      <a:pt x="24" y="90"/>
                      <a:pt x="22" y="89"/>
                      <a:pt x="21" y="88"/>
                    </a:cubicBezTo>
                    <a:cubicBezTo>
                      <a:pt x="6" y="52"/>
                      <a:pt x="6" y="52"/>
                      <a:pt x="6" y="52"/>
                    </a:cubicBezTo>
                    <a:cubicBezTo>
                      <a:pt x="5" y="49"/>
                      <a:pt x="5" y="45"/>
                      <a:pt x="6" y="42"/>
                    </a:cubicBezTo>
                    <a:cubicBezTo>
                      <a:pt x="23" y="16"/>
                      <a:pt x="23" y="16"/>
                      <a:pt x="23" y="16"/>
                    </a:cubicBezTo>
                    <a:cubicBezTo>
                      <a:pt x="29" y="8"/>
                      <a:pt x="31" y="4"/>
                      <a:pt x="48" y="4"/>
                    </a:cubicBezTo>
                    <a:cubicBezTo>
                      <a:pt x="48" y="4"/>
                      <a:pt x="48" y="4"/>
                      <a:pt x="48" y="4"/>
                    </a:cubicBezTo>
                    <a:cubicBezTo>
                      <a:pt x="64" y="4"/>
                      <a:pt x="67" y="11"/>
                      <a:pt x="69" y="15"/>
                    </a:cubicBezTo>
                    <a:cubicBezTo>
                      <a:pt x="70" y="15"/>
                      <a:pt x="70" y="15"/>
                      <a:pt x="70" y="15"/>
                    </a:cubicBezTo>
                    <a:cubicBezTo>
                      <a:pt x="74" y="22"/>
                      <a:pt x="88" y="47"/>
                      <a:pt x="88" y="47"/>
                    </a:cubicBezTo>
                    <a:cubicBezTo>
                      <a:pt x="88" y="47"/>
                      <a:pt x="88" y="47"/>
                      <a:pt x="88" y="47"/>
                    </a:cubicBezTo>
                    <a:cubicBezTo>
                      <a:pt x="88" y="47"/>
                      <a:pt x="95" y="52"/>
                      <a:pt x="101" y="57"/>
                    </a:cubicBezTo>
                    <a:cubicBezTo>
                      <a:pt x="104" y="60"/>
                      <a:pt x="108" y="62"/>
                      <a:pt x="110" y="64"/>
                    </a:cubicBezTo>
                    <a:cubicBezTo>
                      <a:pt x="112" y="65"/>
                      <a:pt x="113" y="66"/>
                      <a:pt x="114" y="67"/>
                    </a:cubicBezTo>
                    <a:cubicBezTo>
                      <a:pt x="114" y="67"/>
                      <a:pt x="114" y="67"/>
                      <a:pt x="114" y="67"/>
                    </a:cubicBezTo>
                    <a:cubicBezTo>
                      <a:pt x="115" y="68"/>
                      <a:pt x="115" y="70"/>
                      <a:pt x="114" y="72"/>
                    </a:cubicBezTo>
                    <a:cubicBezTo>
                      <a:pt x="113" y="73"/>
                      <a:pt x="111" y="74"/>
                      <a:pt x="109" y="73"/>
                    </a:cubicBezTo>
                    <a:lnTo>
                      <a:pt x="81" y="57"/>
                    </a:lnTo>
                    <a:close/>
                    <a:moveTo>
                      <a:pt x="26" y="43"/>
                    </a:moveTo>
                    <a:cubicBezTo>
                      <a:pt x="26" y="48"/>
                      <a:pt x="26" y="54"/>
                      <a:pt x="26" y="63"/>
                    </a:cubicBezTo>
                    <a:cubicBezTo>
                      <a:pt x="25" y="58"/>
                      <a:pt x="23" y="54"/>
                      <a:pt x="22" y="50"/>
                    </a:cubicBezTo>
                    <a:lnTo>
                      <a:pt x="26" y="43"/>
                    </a:lnTo>
                    <a:close/>
                    <a:moveTo>
                      <a:pt x="219" y="52"/>
                    </a:moveTo>
                    <a:cubicBezTo>
                      <a:pt x="203" y="88"/>
                      <a:pt x="203" y="88"/>
                      <a:pt x="203" y="88"/>
                    </a:cubicBezTo>
                    <a:cubicBezTo>
                      <a:pt x="202" y="89"/>
                      <a:pt x="200" y="90"/>
                      <a:pt x="198" y="89"/>
                    </a:cubicBezTo>
                    <a:cubicBezTo>
                      <a:pt x="196" y="88"/>
                      <a:pt x="195" y="87"/>
                      <a:pt x="196" y="85"/>
                    </a:cubicBezTo>
                    <a:cubicBezTo>
                      <a:pt x="196" y="85"/>
                      <a:pt x="196" y="85"/>
                      <a:pt x="196" y="85"/>
                    </a:cubicBezTo>
                    <a:cubicBezTo>
                      <a:pt x="196" y="84"/>
                      <a:pt x="197" y="82"/>
                      <a:pt x="198" y="80"/>
                    </a:cubicBezTo>
                    <a:cubicBezTo>
                      <a:pt x="198" y="79"/>
                      <a:pt x="198" y="78"/>
                      <a:pt x="198" y="77"/>
                    </a:cubicBezTo>
                    <a:cubicBezTo>
                      <a:pt x="198" y="77"/>
                      <a:pt x="198" y="77"/>
                      <a:pt x="198" y="77"/>
                    </a:cubicBezTo>
                    <a:cubicBezTo>
                      <a:pt x="199" y="74"/>
                      <a:pt x="201" y="71"/>
                      <a:pt x="202" y="68"/>
                    </a:cubicBezTo>
                    <a:cubicBezTo>
                      <a:pt x="205" y="59"/>
                      <a:pt x="208" y="50"/>
                      <a:pt x="208" y="50"/>
                    </a:cubicBezTo>
                    <a:cubicBezTo>
                      <a:pt x="208" y="49"/>
                      <a:pt x="208" y="48"/>
                      <a:pt x="207" y="48"/>
                    </a:cubicBezTo>
                    <a:cubicBezTo>
                      <a:pt x="198" y="35"/>
                      <a:pt x="198" y="35"/>
                      <a:pt x="198" y="35"/>
                    </a:cubicBezTo>
                    <a:cubicBezTo>
                      <a:pt x="197" y="34"/>
                      <a:pt x="196" y="34"/>
                      <a:pt x="195" y="34"/>
                    </a:cubicBezTo>
                    <a:cubicBezTo>
                      <a:pt x="194" y="34"/>
                      <a:pt x="194" y="35"/>
                      <a:pt x="194" y="36"/>
                    </a:cubicBezTo>
                    <a:cubicBezTo>
                      <a:pt x="194" y="36"/>
                      <a:pt x="194" y="50"/>
                      <a:pt x="194" y="76"/>
                    </a:cubicBezTo>
                    <a:cubicBezTo>
                      <a:pt x="193" y="80"/>
                      <a:pt x="192" y="83"/>
                      <a:pt x="191" y="83"/>
                    </a:cubicBezTo>
                    <a:cubicBezTo>
                      <a:pt x="191" y="84"/>
                      <a:pt x="191" y="84"/>
                      <a:pt x="191" y="84"/>
                    </a:cubicBezTo>
                    <a:cubicBezTo>
                      <a:pt x="190" y="87"/>
                      <a:pt x="192" y="90"/>
                      <a:pt x="194" y="92"/>
                    </a:cubicBezTo>
                    <a:cubicBezTo>
                      <a:pt x="194" y="110"/>
                      <a:pt x="194" y="129"/>
                      <a:pt x="194" y="144"/>
                    </a:cubicBezTo>
                    <a:cubicBezTo>
                      <a:pt x="194" y="151"/>
                      <a:pt x="195" y="157"/>
                      <a:pt x="195" y="162"/>
                    </a:cubicBezTo>
                    <a:cubicBezTo>
                      <a:pt x="195" y="165"/>
                      <a:pt x="195" y="167"/>
                      <a:pt x="195" y="169"/>
                    </a:cubicBezTo>
                    <a:cubicBezTo>
                      <a:pt x="195" y="169"/>
                      <a:pt x="195" y="169"/>
                      <a:pt x="195" y="169"/>
                    </a:cubicBezTo>
                    <a:cubicBezTo>
                      <a:pt x="194" y="171"/>
                      <a:pt x="192" y="173"/>
                      <a:pt x="189" y="173"/>
                    </a:cubicBezTo>
                    <a:cubicBezTo>
                      <a:pt x="186" y="173"/>
                      <a:pt x="183" y="171"/>
                      <a:pt x="183" y="168"/>
                    </a:cubicBezTo>
                    <a:cubicBezTo>
                      <a:pt x="177" y="92"/>
                      <a:pt x="177" y="92"/>
                      <a:pt x="177" y="92"/>
                    </a:cubicBezTo>
                    <a:cubicBezTo>
                      <a:pt x="177" y="91"/>
                      <a:pt x="176" y="90"/>
                      <a:pt x="175" y="90"/>
                    </a:cubicBezTo>
                    <a:cubicBezTo>
                      <a:pt x="174" y="90"/>
                      <a:pt x="173" y="91"/>
                      <a:pt x="173" y="92"/>
                    </a:cubicBezTo>
                    <a:cubicBezTo>
                      <a:pt x="167" y="168"/>
                      <a:pt x="167" y="168"/>
                      <a:pt x="167" y="168"/>
                    </a:cubicBezTo>
                    <a:cubicBezTo>
                      <a:pt x="166" y="171"/>
                      <a:pt x="164" y="173"/>
                      <a:pt x="161" y="173"/>
                    </a:cubicBezTo>
                    <a:cubicBezTo>
                      <a:pt x="158" y="173"/>
                      <a:pt x="155" y="171"/>
                      <a:pt x="155" y="169"/>
                    </a:cubicBezTo>
                    <a:cubicBezTo>
                      <a:pt x="155" y="169"/>
                      <a:pt x="155" y="169"/>
                      <a:pt x="155" y="169"/>
                    </a:cubicBezTo>
                    <a:cubicBezTo>
                      <a:pt x="155" y="167"/>
                      <a:pt x="155" y="166"/>
                      <a:pt x="155" y="163"/>
                    </a:cubicBezTo>
                    <a:cubicBezTo>
                      <a:pt x="156" y="159"/>
                      <a:pt x="156" y="153"/>
                      <a:pt x="156" y="147"/>
                    </a:cubicBezTo>
                    <a:cubicBezTo>
                      <a:pt x="156" y="133"/>
                      <a:pt x="157" y="116"/>
                      <a:pt x="157" y="98"/>
                    </a:cubicBezTo>
                    <a:cubicBezTo>
                      <a:pt x="158" y="78"/>
                      <a:pt x="158" y="58"/>
                      <a:pt x="159" y="44"/>
                    </a:cubicBezTo>
                    <a:cubicBezTo>
                      <a:pt x="159" y="44"/>
                      <a:pt x="159" y="44"/>
                      <a:pt x="159" y="44"/>
                    </a:cubicBezTo>
                    <a:cubicBezTo>
                      <a:pt x="159" y="33"/>
                      <a:pt x="159" y="27"/>
                      <a:pt x="159" y="27"/>
                    </a:cubicBezTo>
                    <a:cubicBezTo>
                      <a:pt x="159" y="25"/>
                      <a:pt x="158" y="24"/>
                      <a:pt x="157" y="24"/>
                    </a:cubicBezTo>
                    <a:cubicBezTo>
                      <a:pt x="157" y="24"/>
                      <a:pt x="157" y="24"/>
                      <a:pt x="157" y="24"/>
                    </a:cubicBezTo>
                    <a:cubicBezTo>
                      <a:pt x="155" y="24"/>
                      <a:pt x="154" y="25"/>
                      <a:pt x="154" y="27"/>
                    </a:cubicBezTo>
                    <a:cubicBezTo>
                      <a:pt x="154" y="32"/>
                      <a:pt x="154" y="37"/>
                      <a:pt x="154" y="43"/>
                    </a:cubicBezTo>
                    <a:cubicBezTo>
                      <a:pt x="144" y="57"/>
                      <a:pt x="144" y="57"/>
                      <a:pt x="144" y="57"/>
                    </a:cubicBezTo>
                    <a:cubicBezTo>
                      <a:pt x="119" y="71"/>
                      <a:pt x="119" y="71"/>
                      <a:pt x="119" y="71"/>
                    </a:cubicBezTo>
                    <a:cubicBezTo>
                      <a:pt x="120" y="68"/>
                      <a:pt x="119" y="65"/>
                      <a:pt x="117" y="63"/>
                    </a:cubicBezTo>
                    <a:cubicBezTo>
                      <a:pt x="117" y="63"/>
                      <a:pt x="117" y="63"/>
                      <a:pt x="117" y="63"/>
                    </a:cubicBezTo>
                    <a:cubicBezTo>
                      <a:pt x="117" y="63"/>
                      <a:pt x="116" y="63"/>
                      <a:pt x="116" y="63"/>
                    </a:cubicBezTo>
                    <a:cubicBezTo>
                      <a:pt x="124" y="57"/>
                      <a:pt x="136" y="47"/>
                      <a:pt x="136" y="47"/>
                    </a:cubicBezTo>
                    <a:cubicBezTo>
                      <a:pt x="136" y="47"/>
                      <a:pt x="137" y="47"/>
                      <a:pt x="137" y="47"/>
                    </a:cubicBezTo>
                    <a:cubicBezTo>
                      <a:pt x="137" y="47"/>
                      <a:pt x="151" y="22"/>
                      <a:pt x="155" y="15"/>
                    </a:cubicBezTo>
                    <a:cubicBezTo>
                      <a:pt x="155" y="15"/>
                      <a:pt x="155" y="15"/>
                      <a:pt x="155" y="15"/>
                    </a:cubicBezTo>
                    <a:cubicBezTo>
                      <a:pt x="157" y="11"/>
                      <a:pt x="161" y="4"/>
                      <a:pt x="177" y="4"/>
                    </a:cubicBezTo>
                    <a:cubicBezTo>
                      <a:pt x="177" y="4"/>
                      <a:pt x="177" y="4"/>
                      <a:pt x="177" y="4"/>
                    </a:cubicBezTo>
                    <a:cubicBezTo>
                      <a:pt x="194" y="4"/>
                      <a:pt x="196" y="8"/>
                      <a:pt x="201" y="16"/>
                    </a:cubicBezTo>
                    <a:cubicBezTo>
                      <a:pt x="218" y="42"/>
                      <a:pt x="218" y="42"/>
                      <a:pt x="218" y="42"/>
                    </a:cubicBezTo>
                    <a:cubicBezTo>
                      <a:pt x="220" y="45"/>
                      <a:pt x="220" y="49"/>
                      <a:pt x="219" y="52"/>
                    </a:cubicBezTo>
                    <a:close/>
                    <a:moveTo>
                      <a:pt x="198" y="43"/>
                    </a:moveTo>
                    <a:cubicBezTo>
                      <a:pt x="203" y="50"/>
                      <a:pt x="203" y="50"/>
                      <a:pt x="203" y="50"/>
                    </a:cubicBezTo>
                    <a:cubicBezTo>
                      <a:pt x="202" y="54"/>
                      <a:pt x="200" y="58"/>
                      <a:pt x="198" y="63"/>
                    </a:cubicBezTo>
                    <a:cubicBezTo>
                      <a:pt x="198" y="54"/>
                      <a:pt x="198" y="48"/>
                      <a:pt x="198" y="43"/>
                    </a:cubicBez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grpSp>
      <p:grpSp>
        <p:nvGrpSpPr>
          <p:cNvPr id="144" name="Group 70"/>
          <p:cNvGrpSpPr>
            <a:grpSpLocks noChangeAspect="1"/>
          </p:cNvGrpSpPr>
          <p:nvPr>
            <p:custDataLst>
              <p:tags r:id="rId13"/>
            </p:custDataLst>
          </p:nvPr>
        </p:nvGrpSpPr>
        <p:grpSpPr bwMode="auto">
          <a:xfrm>
            <a:off x="5681848" y="1548783"/>
            <a:ext cx="624840" cy="625475"/>
            <a:chOff x="1544" y="1525"/>
            <a:chExt cx="426" cy="426"/>
          </a:xfrm>
        </p:grpSpPr>
        <p:sp>
          <p:nvSpPr>
            <p:cNvPr id="1048792" name="ïşḻïďê-Oval 71"/>
            <p:cNvSpPr/>
            <p:nvPr>
              <p:custDataLst>
                <p:tags r:id="rId14"/>
              </p:custDataLst>
            </p:nvPr>
          </p:nvSpPr>
          <p:spPr bwMode="auto">
            <a:xfrm>
              <a:off x="1544" y="1525"/>
              <a:ext cx="426" cy="426"/>
            </a:xfrm>
            <a:prstGeom prst="ellipse">
              <a:avLst/>
            </a:prstGeom>
            <a:solidFill>
              <a:schemeClr val="accent1"/>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93" name="ïşḻïďê-Freeform: Shape 72"/>
            <p:cNvSpPr/>
            <p:nvPr>
              <p:custDataLst>
                <p:tags r:id="rId15"/>
              </p:custDataLst>
            </p:nvPr>
          </p:nvSpPr>
          <p:spPr bwMode="auto">
            <a:xfrm>
              <a:off x="1672" y="1606"/>
              <a:ext cx="60" cy="264"/>
            </a:xfrm>
            <a:custGeom>
              <a:avLst/>
              <a:gdLst>
                <a:gd name="T0" fmla="*/ 50 w 50"/>
                <a:gd name="T1" fmla="*/ 173 h 220"/>
                <a:gd name="T2" fmla="*/ 36 w 50"/>
                <a:gd name="T3" fmla="*/ 0 h 220"/>
                <a:gd name="T4" fmla="*/ 0 w 50"/>
                <a:gd name="T5" fmla="*/ 14 h 220"/>
                <a:gd name="T6" fmla="*/ 0 w 50"/>
                <a:gd name="T7" fmla="*/ 173 h 220"/>
                <a:gd name="T8" fmla="*/ 0 w 50"/>
                <a:gd name="T9" fmla="*/ 173 h 220"/>
                <a:gd name="T10" fmla="*/ 0 w 50"/>
                <a:gd name="T11" fmla="*/ 174 h 220"/>
                <a:gd name="T12" fmla="*/ 0 w 50"/>
                <a:gd name="T13" fmla="*/ 174 h 220"/>
                <a:gd name="T14" fmla="*/ 25 w 50"/>
                <a:gd name="T15" fmla="*/ 220 h 220"/>
                <a:gd name="T16" fmla="*/ 50 w 50"/>
                <a:gd name="T17" fmla="*/ 174 h 220"/>
                <a:gd name="T18" fmla="*/ 50 w 50"/>
                <a:gd name="T19" fmla="*/ 174 h 220"/>
                <a:gd name="T20" fmla="*/ 50 w 50"/>
                <a:gd name="T21" fmla="*/ 174 h 220"/>
                <a:gd name="T22" fmla="*/ 31 w 50"/>
                <a:gd name="T23" fmla="*/ 201 h 220"/>
                <a:gd name="T24" fmla="*/ 7 w 50"/>
                <a:gd name="T25" fmla="*/ 177 h 220"/>
                <a:gd name="T26" fmla="*/ 16 w 50"/>
                <a:gd name="T27" fmla="*/ 177 h 220"/>
                <a:gd name="T28" fmla="*/ 18 w 50"/>
                <a:gd name="T29" fmla="*/ 177 h 220"/>
                <a:gd name="T30" fmla="*/ 44 w 50"/>
                <a:gd name="T31" fmla="*/ 175 h 220"/>
                <a:gd name="T32" fmla="*/ 45 w 50"/>
                <a:gd name="T33" fmla="*/ 53 h 220"/>
                <a:gd name="T34" fmla="*/ 4 w 50"/>
                <a:gd name="T35" fmla="*/ 34 h 220"/>
                <a:gd name="T36" fmla="*/ 45 w 50"/>
                <a:gd name="T37" fmla="*/ 53 h 220"/>
                <a:gd name="T38" fmla="*/ 19 w 50"/>
                <a:gd name="T39" fmla="*/ 172 h 220"/>
                <a:gd name="T40" fmla="*/ 31 w 50"/>
                <a:gd name="T41" fmla="*/ 58 h 220"/>
                <a:gd name="T42" fmla="*/ 23 w 50"/>
                <a:gd name="T43" fmla="*/ 171 h 220"/>
                <a:gd name="T44" fmla="*/ 4 w 50"/>
                <a:gd name="T45" fmla="*/ 58 h 220"/>
                <a:gd name="T46" fmla="*/ 14 w 50"/>
                <a:gd name="T47" fmla="*/ 173 h 220"/>
                <a:gd name="T48" fmla="*/ 36 w 50"/>
                <a:gd name="T49" fmla="*/ 169 h 220"/>
                <a:gd name="T50" fmla="*/ 45 w 50"/>
                <a:gd name="T51" fmla="*/ 58 h 220"/>
                <a:gd name="T52" fmla="*/ 36 w 50"/>
                <a:gd name="T53" fmla="*/ 169 h 220"/>
                <a:gd name="T54" fmla="*/ 36 w 50"/>
                <a:gd name="T55" fmla="*/ 5 h 220"/>
                <a:gd name="T56" fmla="*/ 45 w 50"/>
                <a:gd name="T57" fmla="*/ 29 h 220"/>
                <a:gd name="T58" fmla="*/ 4 w 50"/>
                <a:gd name="T59" fmla="*/ 14 h 220"/>
                <a:gd name="T60" fmla="*/ 22 w 50"/>
                <a:gd name="T61" fmla="*/ 206 h 220"/>
                <a:gd name="T62" fmla="*/ 25 w 50"/>
                <a:gd name="T63" fmla="*/ 212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0" h="220">
                  <a:moveTo>
                    <a:pt x="50" y="173"/>
                  </a:moveTo>
                  <a:cubicBezTo>
                    <a:pt x="50" y="173"/>
                    <a:pt x="50" y="173"/>
                    <a:pt x="50" y="173"/>
                  </a:cubicBezTo>
                  <a:cubicBezTo>
                    <a:pt x="50" y="14"/>
                    <a:pt x="50" y="14"/>
                    <a:pt x="50" y="14"/>
                  </a:cubicBezTo>
                  <a:cubicBezTo>
                    <a:pt x="50" y="6"/>
                    <a:pt x="44" y="0"/>
                    <a:pt x="36" y="0"/>
                  </a:cubicBezTo>
                  <a:cubicBezTo>
                    <a:pt x="13" y="0"/>
                    <a:pt x="13" y="0"/>
                    <a:pt x="13" y="0"/>
                  </a:cubicBezTo>
                  <a:cubicBezTo>
                    <a:pt x="6" y="0"/>
                    <a:pt x="0" y="6"/>
                    <a:pt x="0" y="14"/>
                  </a:cubicBezTo>
                  <a:cubicBezTo>
                    <a:pt x="0" y="173"/>
                    <a:pt x="0" y="173"/>
                    <a:pt x="0" y="173"/>
                  </a:cubicBezTo>
                  <a:cubicBezTo>
                    <a:pt x="0" y="173"/>
                    <a:pt x="0" y="173"/>
                    <a:pt x="0" y="173"/>
                  </a:cubicBezTo>
                  <a:cubicBezTo>
                    <a:pt x="0" y="173"/>
                    <a:pt x="0" y="173"/>
                    <a:pt x="0" y="173"/>
                  </a:cubicBezTo>
                  <a:cubicBezTo>
                    <a:pt x="0" y="173"/>
                    <a:pt x="0" y="173"/>
                    <a:pt x="0" y="173"/>
                  </a:cubicBezTo>
                  <a:cubicBezTo>
                    <a:pt x="0" y="174"/>
                    <a:pt x="0" y="174"/>
                    <a:pt x="0" y="174"/>
                  </a:cubicBezTo>
                  <a:cubicBezTo>
                    <a:pt x="0" y="174"/>
                    <a:pt x="0" y="174"/>
                    <a:pt x="0" y="174"/>
                  </a:cubicBezTo>
                  <a:cubicBezTo>
                    <a:pt x="0" y="174"/>
                    <a:pt x="0" y="174"/>
                    <a:pt x="0" y="174"/>
                  </a:cubicBezTo>
                  <a:cubicBezTo>
                    <a:pt x="0" y="174"/>
                    <a:pt x="0" y="174"/>
                    <a:pt x="0" y="174"/>
                  </a:cubicBezTo>
                  <a:cubicBezTo>
                    <a:pt x="23" y="218"/>
                    <a:pt x="23" y="218"/>
                    <a:pt x="23" y="218"/>
                  </a:cubicBezTo>
                  <a:cubicBezTo>
                    <a:pt x="23" y="219"/>
                    <a:pt x="24" y="220"/>
                    <a:pt x="25" y="220"/>
                  </a:cubicBezTo>
                  <a:cubicBezTo>
                    <a:pt x="26" y="220"/>
                    <a:pt x="27" y="219"/>
                    <a:pt x="27" y="218"/>
                  </a:cubicBezTo>
                  <a:cubicBezTo>
                    <a:pt x="50" y="174"/>
                    <a:pt x="50" y="174"/>
                    <a:pt x="50" y="174"/>
                  </a:cubicBezTo>
                  <a:cubicBezTo>
                    <a:pt x="50" y="174"/>
                    <a:pt x="50" y="174"/>
                    <a:pt x="50" y="174"/>
                  </a:cubicBezTo>
                  <a:cubicBezTo>
                    <a:pt x="50" y="174"/>
                    <a:pt x="50" y="174"/>
                    <a:pt x="50" y="174"/>
                  </a:cubicBezTo>
                  <a:cubicBezTo>
                    <a:pt x="50" y="174"/>
                    <a:pt x="50" y="174"/>
                    <a:pt x="50" y="174"/>
                  </a:cubicBezTo>
                  <a:cubicBezTo>
                    <a:pt x="50" y="174"/>
                    <a:pt x="50" y="174"/>
                    <a:pt x="50" y="174"/>
                  </a:cubicBezTo>
                  <a:cubicBezTo>
                    <a:pt x="50" y="174"/>
                    <a:pt x="50" y="174"/>
                    <a:pt x="50" y="173"/>
                  </a:cubicBezTo>
                  <a:close/>
                  <a:moveTo>
                    <a:pt x="31" y="201"/>
                  </a:moveTo>
                  <a:cubicBezTo>
                    <a:pt x="19" y="201"/>
                    <a:pt x="19" y="201"/>
                    <a:pt x="19" y="201"/>
                  </a:cubicBezTo>
                  <a:cubicBezTo>
                    <a:pt x="7" y="177"/>
                    <a:pt x="7" y="177"/>
                    <a:pt x="7" y="177"/>
                  </a:cubicBezTo>
                  <a:cubicBezTo>
                    <a:pt x="8" y="177"/>
                    <a:pt x="9" y="177"/>
                    <a:pt x="11" y="177"/>
                  </a:cubicBezTo>
                  <a:cubicBezTo>
                    <a:pt x="13" y="177"/>
                    <a:pt x="14" y="177"/>
                    <a:pt x="16" y="177"/>
                  </a:cubicBezTo>
                  <a:cubicBezTo>
                    <a:pt x="16" y="177"/>
                    <a:pt x="16" y="177"/>
                    <a:pt x="17" y="177"/>
                  </a:cubicBezTo>
                  <a:cubicBezTo>
                    <a:pt x="17" y="177"/>
                    <a:pt x="17" y="177"/>
                    <a:pt x="18" y="177"/>
                  </a:cubicBezTo>
                  <a:cubicBezTo>
                    <a:pt x="20" y="176"/>
                    <a:pt x="22" y="176"/>
                    <a:pt x="24" y="176"/>
                  </a:cubicBezTo>
                  <a:cubicBezTo>
                    <a:pt x="31" y="174"/>
                    <a:pt x="38" y="173"/>
                    <a:pt x="44" y="175"/>
                  </a:cubicBezTo>
                  <a:lnTo>
                    <a:pt x="31" y="201"/>
                  </a:lnTo>
                  <a:close/>
                  <a:moveTo>
                    <a:pt x="45" y="53"/>
                  </a:moveTo>
                  <a:cubicBezTo>
                    <a:pt x="4" y="53"/>
                    <a:pt x="4" y="53"/>
                    <a:pt x="4" y="53"/>
                  </a:cubicBezTo>
                  <a:cubicBezTo>
                    <a:pt x="4" y="34"/>
                    <a:pt x="4" y="34"/>
                    <a:pt x="4" y="34"/>
                  </a:cubicBezTo>
                  <a:cubicBezTo>
                    <a:pt x="45" y="34"/>
                    <a:pt x="45" y="34"/>
                    <a:pt x="45" y="34"/>
                  </a:cubicBezTo>
                  <a:lnTo>
                    <a:pt x="45" y="53"/>
                  </a:lnTo>
                  <a:close/>
                  <a:moveTo>
                    <a:pt x="23" y="171"/>
                  </a:moveTo>
                  <a:cubicBezTo>
                    <a:pt x="22" y="171"/>
                    <a:pt x="20" y="172"/>
                    <a:pt x="19" y="172"/>
                  </a:cubicBezTo>
                  <a:cubicBezTo>
                    <a:pt x="19" y="58"/>
                    <a:pt x="19" y="58"/>
                    <a:pt x="19" y="58"/>
                  </a:cubicBezTo>
                  <a:cubicBezTo>
                    <a:pt x="31" y="58"/>
                    <a:pt x="31" y="58"/>
                    <a:pt x="31" y="58"/>
                  </a:cubicBezTo>
                  <a:cubicBezTo>
                    <a:pt x="31" y="169"/>
                    <a:pt x="31" y="169"/>
                    <a:pt x="31" y="169"/>
                  </a:cubicBezTo>
                  <a:cubicBezTo>
                    <a:pt x="28" y="170"/>
                    <a:pt x="26" y="170"/>
                    <a:pt x="23" y="171"/>
                  </a:cubicBezTo>
                  <a:close/>
                  <a:moveTo>
                    <a:pt x="4" y="172"/>
                  </a:moveTo>
                  <a:cubicBezTo>
                    <a:pt x="4" y="58"/>
                    <a:pt x="4" y="58"/>
                    <a:pt x="4" y="58"/>
                  </a:cubicBezTo>
                  <a:cubicBezTo>
                    <a:pt x="14" y="58"/>
                    <a:pt x="14" y="58"/>
                    <a:pt x="14" y="58"/>
                  </a:cubicBezTo>
                  <a:cubicBezTo>
                    <a:pt x="14" y="173"/>
                    <a:pt x="14" y="173"/>
                    <a:pt x="14" y="173"/>
                  </a:cubicBezTo>
                  <a:cubicBezTo>
                    <a:pt x="11" y="173"/>
                    <a:pt x="7" y="173"/>
                    <a:pt x="4" y="172"/>
                  </a:cubicBezTo>
                  <a:close/>
                  <a:moveTo>
                    <a:pt x="36" y="169"/>
                  </a:moveTo>
                  <a:cubicBezTo>
                    <a:pt x="36" y="58"/>
                    <a:pt x="36" y="58"/>
                    <a:pt x="36" y="58"/>
                  </a:cubicBezTo>
                  <a:cubicBezTo>
                    <a:pt x="45" y="58"/>
                    <a:pt x="45" y="58"/>
                    <a:pt x="45" y="58"/>
                  </a:cubicBezTo>
                  <a:cubicBezTo>
                    <a:pt x="45" y="170"/>
                    <a:pt x="45" y="170"/>
                    <a:pt x="45" y="170"/>
                  </a:cubicBezTo>
                  <a:cubicBezTo>
                    <a:pt x="42" y="169"/>
                    <a:pt x="39" y="169"/>
                    <a:pt x="36" y="169"/>
                  </a:cubicBezTo>
                  <a:close/>
                  <a:moveTo>
                    <a:pt x="13" y="5"/>
                  </a:moveTo>
                  <a:cubicBezTo>
                    <a:pt x="36" y="5"/>
                    <a:pt x="36" y="5"/>
                    <a:pt x="36" y="5"/>
                  </a:cubicBezTo>
                  <a:cubicBezTo>
                    <a:pt x="41" y="5"/>
                    <a:pt x="45" y="9"/>
                    <a:pt x="45" y="14"/>
                  </a:cubicBezTo>
                  <a:cubicBezTo>
                    <a:pt x="45" y="29"/>
                    <a:pt x="45" y="29"/>
                    <a:pt x="45" y="29"/>
                  </a:cubicBezTo>
                  <a:cubicBezTo>
                    <a:pt x="4" y="29"/>
                    <a:pt x="4" y="29"/>
                    <a:pt x="4" y="29"/>
                  </a:cubicBezTo>
                  <a:cubicBezTo>
                    <a:pt x="4" y="14"/>
                    <a:pt x="4" y="14"/>
                    <a:pt x="4" y="14"/>
                  </a:cubicBezTo>
                  <a:cubicBezTo>
                    <a:pt x="4" y="9"/>
                    <a:pt x="8" y="5"/>
                    <a:pt x="13" y="5"/>
                  </a:cubicBezTo>
                  <a:close/>
                  <a:moveTo>
                    <a:pt x="22" y="206"/>
                  </a:moveTo>
                  <a:cubicBezTo>
                    <a:pt x="28" y="206"/>
                    <a:pt x="28" y="206"/>
                    <a:pt x="28" y="206"/>
                  </a:cubicBezTo>
                  <a:cubicBezTo>
                    <a:pt x="25" y="212"/>
                    <a:pt x="25" y="212"/>
                    <a:pt x="25" y="212"/>
                  </a:cubicBezTo>
                  <a:lnTo>
                    <a:pt x="22" y="206"/>
                  </a:ln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94" name="ïşḻïďê-Freeform: Shape 73"/>
            <p:cNvSpPr/>
            <p:nvPr>
              <p:custDataLst>
                <p:tags r:id="rId16"/>
              </p:custDataLst>
            </p:nvPr>
          </p:nvSpPr>
          <p:spPr bwMode="auto">
            <a:xfrm>
              <a:off x="1765" y="1606"/>
              <a:ext cx="77" cy="264"/>
            </a:xfrm>
            <a:custGeom>
              <a:avLst/>
              <a:gdLst>
                <a:gd name="T0" fmla="*/ 61 w 64"/>
                <a:gd name="T1" fmla="*/ 0 h 220"/>
                <a:gd name="T2" fmla="*/ 3 w 64"/>
                <a:gd name="T3" fmla="*/ 0 h 220"/>
                <a:gd name="T4" fmla="*/ 0 w 64"/>
                <a:gd name="T5" fmla="*/ 3 h 220"/>
                <a:gd name="T6" fmla="*/ 0 w 64"/>
                <a:gd name="T7" fmla="*/ 217 h 220"/>
                <a:gd name="T8" fmla="*/ 3 w 64"/>
                <a:gd name="T9" fmla="*/ 220 h 220"/>
                <a:gd name="T10" fmla="*/ 61 w 64"/>
                <a:gd name="T11" fmla="*/ 220 h 220"/>
                <a:gd name="T12" fmla="*/ 64 w 64"/>
                <a:gd name="T13" fmla="*/ 217 h 220"/>
                <a:gd name="T14" fmla="*/ 64 w 64"/>
                <a:gd name="T15" fmla="*/ 3 h 220"/>
                <a:gd name="T16" fmla="*/ 61 w 64"/>
                <a:gd name="T17" fmla="*/ 0 h 220"/>
                <a:gd name="T18" fmla="*/ 5 w 64"/>
                <a:gd name="T19" fmla="*/ 215 h 220"/>
                <a:gd name="T20" fmla="*/ 5 w 64"/>
                <a:gd name="T21" fmla="*/ 5 h 220"/>
                <a:gd name="T22" fmla="*/ 59 w 64"/>
                <a:gd name="T23" fmla="*/ 5 h 220"/>
                <a:gd name="T24" fmla="*/ 59 w 64"/>
                <a:gd name="T25" fmla="*/ 22 h 220"/>
                <a:gd name="T26" fmla="*/ 39 w 64"/>
                <a:gd name="T27" fmla="*/ 22 h 220"/>
                <a:gd name="T28" fmla="*/ 37 w 64"/>
                <a:gd name="T29" fmla="*/ 25 h 220"/>
                <a:gd name="T30" fmla="*/ 39 w 64"/>
                <a:gd name="T31" fmla="*/ 27 h 220"/>
                <a:gd name="T32" fmla="*/ 59 w 64"/>
                <a:gd name="T33" fmla="*/ 27 h 220"/>
                <a:gd name="T34" fmla="*/ 59 w 64"/>
                <a:gd name="T35" fmla="*/ 47 h 220"/>
                <a:gd name="T36" fmla="*/ 32 w 64"/>
                <a:gd name="T37" fmla="*/ 47 h 220"/>
                <a:gd name="T38" fmla="*/ 30 w 64"/>
                <a:gd name="T39" fmla="*/ 49 h 220"/>
                <a:gd name="T40" fmla="*/ 32 w 64"/>
                <a:gd name="T41" fmla="*/ 51 h 220"/>
                <a:gd name="T42" fmla="*/ 59 w 64"/>
                <a:gd name="T43" fmla="*/ 51 h 220"/>
                <a:gd name="T44" fmla="*/ 59 w 64"/>
                <a:gd name="T45" fmla="*/ 71 h 220"/>
                <a:gd name="T46" fmla="*/ 39 w 64"/>
                <a:gd name="T47" fmla="*/ 71 h 220"/>
                <a:gd name="T48" fmla="*/ 37 w 64"/>
                <a:gd name="T49" fmla="*/ 73 h 220"/>
                <a:gd name="T50" fmla="*/ 39 w 64"/>
                <a:gd name="T51" fmla="*/ 76 h 220"/>
                <a:gd name="T52" fmla="*/ 59 w 64"/>
                <a:gd name="T53" fmla="*/ 76 h 220"/>
                <a:gd name="T54" fmla="*/ 59 w 64"/>
                <a:gd name="T55" fmla="*/ 95 h 220"/>
                <a:gd name="T56" fmla="*/ 32 w 64"/>
                <a:gd name="T57" fmla="*/ 95 h 220"/>
                <a:gd name="T58" fmla="*/ 30 w 64"/>
                <a:gd name="T59" fmla="*/ 97 h 220"/>
                <a:gd name="T60" fmla="*/ 32 w 64"/>
                <a:gd name="T61" fmla="*/ 100 h 220"/>
                <a:gd name="T62" fmla="*/ 59 w 64"/>
                <a:gd name="T63" fmla="*/ 100 h 220"/>
                <a:gd name="T64" fmla="*/ 59 w 64"/>
                <a:gd name="T65" fmla="*/ 119 h 220"/>
                <a:gd name="T66" fmla="*/ 39 w 64"/>
                <a:gd name="T67" fmla="*/ 119 h 220"/>
                <a:gd name="T68" fmla="*/ 37 w 64"/>
                <a:gd name="T69" fmla="*/ 122 h 220"/>
                <a:gd name="T70" fmla="*/ 39 w 64"/>
                <a:gd name="T71" fmla="*/ 124 h 220"/>
                <a:gd name="T72" fmla="*/ 59 w 64"/>
                <a:gd name="T73" fmla="*/ 124 h 220"/>
                <a:gd name="T74" fmla="*/ 59 w 64"/>
                <a:gd name="T75" fmla="*/ 143 h 220"/>
                <a:gd name="T76" fmla="*/ 32 w 64"/>
                <a:gd name="T77" fmla="*/ 143 h 220"/>
                <a:gd name="T78" fmla="*/ 30 w 64"/>
                <a:gd name="T79" fmla="*/ 146 h 220"/>
                <a:gd name="T80" fmla="*/ 32 w 64"/>
                <a:gd name="T81" fmla="*/ 148 h 220"/>
                <a:gd name="T82" fmla="*/ 59 w 64"/>
                <a:gd name="T83" fmla="*/ 148 h 220"/>
                <a:gd name="T84" fmla="*/ 59 w 64"/>
                <a:gd name="T85" fmla="*/ 168 h 220"/>
                <a:gd name="T86" fmla="*/ 39 w 64"/>
                <a:gd name="T87" fmla="*/ 168 h 220"/>
                <a:gd name="T88" fmla="*/ 37 w 64"/>
                <a:gd name="T89" fmla="*/ 170 h 220"/>
                <a:gd name="T90" fmla="*/ 39 w 64"/>
                <a:gd name="T91" fmla="*/ 172 h 220"/>
                <a:gd name="T92" fmla="*/ 59 w 64"/>
                <a:gd name="T93" fmla="*/ 172 h 220"/>
                <a:gd name="T94" fmla="*/ 59 w 64"/>
                <a:gd name="T95" fmla="*/ 192 h 220"/>
                <a:gd name="T96" fmla="*/ 32 w 64"/>
                <a:gd name="T97" fmla="*/ 192 h 220"/>
                <a:gd name="T98" fmla="*/ 30 w 64"/>
                <a:gd name="T99" fmla="*/ 194 h 220"/>
                <a:gd name="T100" fmla="*/ 32 w 64"/>
                <a:gd name="T101" fmla="*/ 196 h 220"/>
                <a:gd name="T102" fmla="*/ 59 w 64"/>
                <a:gd name="T103" fmla="*/ 196 h 220"/>
                <a:gd name="T104" fmla="*/ 59 w 64"/>
                <a:gd name="T105" fmla="*/ 215 h 220"/>
                <a:gd name="T106" fmla="*/ 5 w 64"/>
                <a:gd name="T107" fmla="*/ 215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4" h="220">
                  <a:moveTo>
                    <a:pt x="61" y="0"/>
                  </a:moveTo>
                  <a:cubicBezTo>
                    <a:pt x="3" y="0"/>
                    <a:pt x="3" y="0"/>
                    <a:pt x="3" y="0"/>
                  </a:cubicBezTo>
                  <a:cubicBezTo>
                    <a:pt x="1" y="0"/>
                    <a:pt x="0" y="1"/>
                    <a:pt x="0" y="3"/>
                  </a:cubicBezTo>
                  <a:cubicBezTo>
                    <a:pt x="0" y="217"/>
                    <a:pt x="0" y="217"/>
                    <a:pt x="0" y="217"/>
                  </a:cubicBezTo>
                  <a:cubicBezTo>
                    <a:pt x="0" y="218"/>
                    <a:pt x="1" y="220"/>
                    <a:pt x="3" y="220"/>
                  </a:cubicBezTo>
                  <a:cubicBezTo>
                    <a:pt x="61" y="220"/>
                    <a:pt x="61" y="220"/>
                    <a:pt x="61" y="220"/>
                  </a:cubicBezTo>
                  <a:cubicBezTo>
                    <a:pt x="63" y="220"/>
                    <a:pt x="64" y="218"/>
                    <a:pt x="64" y="217"/>
                  </a:cubicBezTo>
                  <a:cubicBezTo>
                    <a:pt x="64" y="3"/>
                    <a:pt x="64" y="3"/>
                    <a:pt x="64" y="3"/>
                  </a:cubicBezTo>
                  <a:cubicBezTo>
                    <a:pt x="64" y="1"/>
                    <a:pt x="63" y="0"/>
                    <a:pt x="61" y="0"/>
                  </a:cubicBezTo>
                  <a:close/>
                  <a:moveTo>
                    <a:pt x="5" y="215"/>
                  </a:moveTo>
                  <a:cubicBezTo>
                    <a:pt x="5" y="5"/>
                    <a:pt x="5" y="5"/>
                    <a:pt x="5" y="5"/>
                  </a:cubicBezTo>
                  <a:cubicBezTo>
                    <a:pt x="59" y="5"/>
                    <a:pt x="59" y="5"/>
                    <a:pt x="59" y="5"/>
                  </a:cubicBezTo>
                  <a:cubicBezTo>
                    <a:pt x="59" y="22"/>
                    <a:pt x="59" y="22"/>
                    <a:pt x="59" y="22"/>
                  </a:cubicBezTo>
                  <a:cubicBezTo>
                    <a:pt x="39" y="22"/>
                    <a:pt x="39" y="22"/>
                    <a:pt x="39" y="22"/>
                  </a:cubicBezTo>
                  <a:cubicBezTo>
                    <a:pt x="38" y="22"/>
                    <a:pt x="37" y="24"/>
                    <a:pt x="37" y="25"/>
                  </a:cubicBezTo>
                  <a:cubicBezTo>
                    <a:pt x="37" y="26"/>
                    <a:pt x="38" y="27"/>
                    <a:pt x="39" y="27"/>
                  </a:cubicBezTo>
                  <a:cubicBezTo>
                    <a:pt x="59" y="27"/>
                    <a:pt x="59" y="27"/>
                    <a:pt x="59" y="27"/>
                  </a:cubicBezTo>
                  <a:cubicBezTo>
                    <a:pt x="59" y="47"/>
                    <a:pt x="59" y="47"/>
                    <a:pt x="59" y="47"/>
                  </a:cubicBezTo>
                  <a:cubicBezTo>
                    <a:pt x="32" y="47"/>
                    <a:pt x="32" y="47"/>
                    <a:pt x="32" y="47"/>
                  </a:cubicBezTo>
                  <a:cubicBezTo>
                    <a:pt x="31" y="47"/>
                    <a:pt x="30" y="48"/>
                    <a:pt x="30" y="49"/>
                  </a:cubicBezTo>
                  <a:cubicBezTo>
                    <a:pt x="30" y="50"/>
                    <a:pt x="31" y="51"/>
                    <a:pt x="32" y="51"/>
                  </a:cubicBezTo>
                  <a:cubicBezTo>
                    <a:pt x="59" y="51"/>
                    <a:pt x="59" y="51"/>
                    <a:pt x="59" y="51"/>
                  </a:cubicBezTo>
                  <a:cubicBezTo>
                    <a:pt x="59" y="71"/>
                    <a:pt x="59" y="71"/>
                    <a:pt x="59" y="71"/>
                  </a:cubicBezTo>
                  <a:cubicBezTo>
                    <a:pt x="39" y="71"/>
                    <a:pt x="39" y="71"/>
                    <a:pt x="39" y="71"/>
                  </a:cubicBezTo>
                  <a:cubicBezTo>
                    <a:pt x="38" y="71"/>
                    <a:pt x="37" y="72"/>
                    <a:pt x="37" y="73"/>
                  </a:cubicBezTo>
                  <a:cubicBezTo>
                    <a:pt x="37" y="74"/>
                    <a:pt x="38" y="76"/>
                    <a:pt x="39" y="76"/>
                  </a:cubicBezTo>
                  <a:cubicBezTo>
                    <a:pt x="59" y="76"/>
                    <a:pt x="59" y="76"/>
                    <a:pt x="59" y="76"/>
                  </a:cubicBezTo>
                  <a:cubicBezTo>
                    <a:pt x="59" y="95"/>
                    <a:pt x="59" y="95"/>
                    <a:pt x="59" y="95"/>
                  </a:cubicBezTo>
                  <a:cubicBezTo>
                    <a:pt x="32" y="95"/>
                    <a:pt x="32" y="95"/>
                    <a:pt x="32" y="95"/>
                  </a:cubicBezTo>
                  <a:cubicBezTo>
                    <a:pt x="31" y="95"/>
                    <a:pt x="30" y="96"/>
                    <a:pt x="30" y="97"/>
                  </a:cubicBezTo>
                  <a:cubicBezTo>
                    <a:pt x="30" y="99"/>
                    <a:pt x="31" y="100"/>
                    <a:pt x="32" y="100"/>
                  </a:cubicBezTo>
                  <a:cubicBezTo>
                    <a:pt x="59" y="100"/>
                    <a:pt x="59" y="100"/>
                    <a:pt x="59" y="100"/>
                  </a:cubicBezTo>
                  <a:cubicBezTo>
                    <a:pt x="59" y="119"/>
                    <a:pt x="59" y="119"/>
                    <a:pt x="59" y="119"/>
                  </a:cubicBezTo>
                  <a:cubicBezTo>
                    <a:pt x="39" y="119"/>
                    <a:pt x="39" y="119"/>
                    <a:pt x="39" y="119"/>
                  </a:cubicBezTo>
                  <a:cubicBezTo>
                    <a:pt x="38" y="119"/>
                    <a:pt x="37" y="120"/>
                    <a:pt x="37" y="122"/>
                  </a:cubicBezTo>
                  <a:cubicBezTo>
                    <a:pt x="37" y="123"/>
                    <a:pt x="38" y="124"/>
                    <a:pt x="39" y="124"/>
                  </a:cubicBezTo>
                  <a:cubicBezTo>
                    <a:pt x="59" y="124"/>
                    <a:pt x="59" y="124"/>
                    <a:pt x="59" y="124"/>
                  </a:cubicBezTo>
                  <a:cubicBezTo>
                    <a:pt x="59" y="143"/>
                    <a:pt x="59" y="143"/>
                    <a:pt x="59" y="143"/>
                  </a:cubicBezTo>
                  <a:cubicBezTo>
                    <a:pt x="32" y="143"/>
                    <a:pt x="32" y="143"/>
                    <a:pt x="32" y="143"/>
                  </a:cubicBezTo>
                  <a:cubicBezTo>
                    <a:pt x="31" y="143"/>
                    <a:pt x="30" y="144"/>
                    <a:pt x="30" y="146"/>
                  </a:cubicBezTo>
                  <a:cubicBezTo>
                    <a:pt x="30" y="147"/>
                    <a:pt x="31" y="148"/>
                    <a:pt x="32" y="148"/>
                  </a:cubicBezTo>
                  <a:cubicBezTo>
                    <a:pt x="59" y="148"/>
                    <a:pt x="59" y="148"/>
                    <a:pt x="59" y="148"/>
                  </a:cubicBezTo>
                  <a:cubicBezTo>
                    <a:pt x="59" y="168"/>
                    <a:pt x="59" y="168"/>
                    <a:pt x="59" y="168"/>
                  </a:cubicBezTo>
                  <a:cubicBezTo>
                    <a:pt x="39" y="168"/>
                    <a:pt x="39" y="168"/>
                    <a:pt x="39" y="168"/>
                  </a:cubicBezTo>
                  <a:cubicBezTo>
                    <a:pt x="38" y="168"/>
                    <a:pt x="37" y="169"/>
                    <a:pt x="37" y="170"/>
                  </a:cubicBezTo>
                  <a:cubicBezTo>
                    <a:pt x="37" y="171"/>
                    <a:pt x="38" y="172"/>
                    <a:pt x="39" y="172"/>
                  </a:cubicBezTo>
                  <a:cubicBezTo>
                    <a:pt x="59" y="172"/>
                    <a:pt x="59" y="172"/>
                    <a:pt x="59" y="172"/>
                  </a:cubicBezTo>
                  <a:cubicBezTo>
                    <a:pt x="59" y="192"/>
                    <a:pt x="59" y="192"/>
                    <a:pt x="59" y="192"/>
                  </a:cubicBezTo>
                  <a:cubicBezTo>
                    <a:pt x="32" y="192"/>
                    <a:pt x="32" y="192"/>
                    <a:pt x="32" y="192"/>
                  </a:cubicBezTo>
                  <a:cubicBezTo>
                    <a:pt x="31" y="192"/>
                    <a:pt x="30" y="193"/>
                    <a:pt x="30" y="194"/>
                  </a:cubicBezTo>
                  <a:cubicBezTo>
                    <a:pt x="30" y="195"/>
                    <a:pt x="31" y="196"/>
                    <a:pt x="32" y="196"/>
                  </a:cubicBezTo>
                  <a:cubicBezTo>
                    <a:pt x="59" y="196"/>
                    <a:pt x="59" y="196"/>
                    <a:pt x="59" y="196"/>
                  </a:cubicBezTo>
                  <a:cubicBezTo>
                    <a:pt x="59" y="215"/>
                    <a:pt x="59" y="215"/>
                    <a:pt x="59" y="215"/>
                  </a:cubicBezTo>
                  <a:lnTo>
                    <a:pt x="5" y="215"/>
                  </a:ln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sp>
        <p:nvSpPr>
          <p:cNvPr id="1048795" name="ïşḻïďê-TextBox 77"/>
          <p:cNvSpPr txBox="1"/>
          <p:nvPr>
            <p:custDataLst>
              <p:tags r:id="rId17"/>
            </p:custDataLst>
          </p:nvPr>
        </p:nvSpPr>
        <p:spPr bwMode="auto">
          <a:xfrm>
            <a:off x="22861" y="1865750"/>
            <a:ext cx="4067810" cy="708660"/>
          </a:xfrm>
          <a:prstGeom prst="rect">
            <a:avLst/>
          </a:prstGeom>
          <a:noFill/>
        </p:spPr>
        <p:txBody>
          <a:bodyPr wrap="none" lIns="0" tIns="0" rIns="288000" bIns="0" anchor="b" anchorCtr="0">
            <a:noAutofit/>
          </a:bodyPr>
          <a:lstStyle/>
          <a:p>
            <a:pPr algn="ctr" latinLnBrk="0"/>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沈仕伟</a:t>
            </a:r>
            <a:endParaRPr lang="en-US" altLang="zh-CN" sz="2000" b="1" dirty="0">
              <a:solidFill>
                <a:schemeClr val="accent2">
                  <a:lumMod val="100000"/>
                </a:schemeClr>
              </a:solidFill>
              <a:effectLst/>
              <a:latin typeface="Times New Roman" panose="02020603050405020304" pitchFamily="18" charset="0"/>
              <a:ea typeface="锐字工房云字库细圆GBK" panose="02010604000000000000" pitchFamily="2" charset="-122"/>
              <a:cs typeface="Times New Roman" panose="02020603050405020304" pitchFamily="18" charset="0"/>
              <a:sym typeface="+mn-lt"/>
            </a:endParaRPr>
          </a:p>
        </p:txBody>
      </p:sp>
      <p:grpSp>
        <p:nvGrpSpPr>
          <p:cNvPr id="145" name="Group 79"/>
          <p:cNvGrpSpPr/>
          <p:nvPr>
            <p:custDataLst>
              <p:tags r:id="rId18"/>
            </p:custDataLst>
          </p:nvPr>
        </p:nvGrpSpPr>
        <p:grpSpPr>
          <a:xfrm>
            <a:off x="8280250" y="1887545"/>
            <a:ext cx="3660140" cy="4458973"/>
            <a:chOff x="3566870" y="3798889"/>
            <a:chExt cx="3627347" cy="1983206"/>
          </a:xfrm>
        </p:grpSpPr>
        <p:sp>
          <p:nvSpPr>
            <p:cNvPr id="1048796" name="ïşḻïďê-TextBox 80"/>
            <p:cNvSpPr txBox="1"/>
            <p:nvPr>
              <p:custDataLst>
                <p:tags r:id="rId19"/>
              </p:custDataLst>
            </p:nvPr>
          </p:nvSpPr>
          <p:spPr bwMode="auto">
            <a:xfrm>
              <a:off x="3826146" y="3798889"/>
              <a:ext cx="3234657" cy="291465"/>
            </a:xfrm>
            <a:prstGeom prst="rect">
              <a:avLst/>
            </a:prstGeom>
            <a:noFill/>
          </p:spPr>
          <p:txBody>
            <a:bodyPr wrap="none" lIns="288000" tIns="0" rIns="288000" bIns="0" anchor="b" anchorCtr="0">
              <a:noAutofit/>
            </a:bodyPr>
            <a:lstStyle/>
            <a:p>
              <a:pPr algn="ctr" latinLnBrk="0"/>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韩育霖</a:t>
              </a:r>
              <a:endParaRPr lang="en-US" altLang="zh-CN" sz="2000" b="1" dirty="0">
                <a:solidFill>
                  <a:schemeClr val="accent4">
                    <a:lumMod val="100000"/>
                  </a:schemeClr>
                </a:solidFill>
                <a:effectLst/>
                <a:latin typeface="Times New Roman" panose="02020603050405020304" pitchFamily="18" charset="0"/>
                <a:ea typeface="锐字工房云字库细圆GBK" panose="02010604000000000000" pitchFamily="2" charset="-122"/>
                <a:cs typeface="Times New Roman" panose="02020603050405020304" pitchFamily="18" charset="0"/>
                <a:sym typeface="+mn-lt"/>
              </a:endParaRPr>
            </a:p>
          </p:txBody>
        </p:sp>
        <p:sp>
          <p:nvSpPr>
            <p:cNvPr id="1048797" name="ïşḻïďê-TextBox 81"/>
            <p:cNvSpPr txBox="1"/>
            <p:nvPr>
              <p:custDataLst>
                <p:tags r:id="rId20"/>
              </p:custDataLst>
            </p:nvPr>
          </p:nvSpPr>
          <p:spPr bwMode="auto">
            <a:xfrm>
              <a:off x="3566870" y="4195134"/>
              <a:ext cx="3627347" cy="1586958"/>
            </a:xfrm>
            <a:prstGeom prst="rect">
              <a:avLst/>
            </a:prstGeom>
            <a:noFill/>
          </p:spPr>
          <p:txBody>
            <a:bodyPr wrap="square" lIns="288000" tIns="0" rIns="288000" bIns="0" anchor="t" anchorCtr="0">
              <a:noAutofit/>
            </a:bodyPr>
            <a:lstStyle/>
            <a:p>
              <a:pPr>
                <a:lnSpc>
                  <a:spcPct val="120000"/>
                </a:lnSpc>
              </a:pPr>
              <a:r>
                <a:rPr lang="zh-CN" altLang="en-US" sz="1800" b="1" dirty="0">
                  <a:effectLst/>
                  <a:latin typeface="黑体" panose="02010609060101010101" charset="-122"/>
                  <a:ea typeface="黑体" panose="02010609060101010101" charset="-122"/>
                  <a:cs typeface="黑体" panose="02010609060101010101" charset="-122"/>
                  <a:sym typeface="+mn-lt"/>
                </a:rPr>
                <a:t>整合文献调研与算法设计成果，撰写不少于5000字的综述报告，确保逻辑清晰、引用规范；制作课题汇报PPT，提炼核心创新点与实验结论，准备答辩材料。</a:t>
              </a:r>
              <a:endParaRPr lang="zh-CN" altLang="en-US" sz="1800" b="1" dirty="0">
                <a:effectLst/>
                <a:latin typeface="黑体" panose="02010609060101010101" charset="-122"/>
                <a:ea typeface="黑体" panose="02010609060101010101" charset="-122"/>
                <a:cs typeface="黑体" panose="02010609060101010101" charset="-122"/>
                <a:sym typeface="+mn-lt"/>
              </a:endParaRPr>
            </a:p>
          </p:txBody>
        </p:sp>
      </p:grpSp>
      <p:grpSp>
        <p:nvGrpSpPr>
          <p:cNvPr id="146" name="Group 88"/>
          <p:cNvGrpSpPr/>
          <p:nvPr>
            <p:custDataLst>
              <p:tags r:id="rId21"/>
            </p:custDataLst>
          </p:nvPr>
        </p:nvGrpSpPr>
        <p:grpSpPr>
          <a:xfrm>
            <a:off x="4018317" y="2488890"/>
            <a:ext cx="4394129" cy="2089738"/>
            <a:chOff x="12202209" y="3767218"/>
            <a:chExt cx="4015561" cy="2520663"/>
          </a:xfrm>
        </p:grpSpPr>
        <p:sp>
          <p:nvSpPr>
            <p:cNvPr id="1048798" name="ïşḻïďê-TextBox 89"/>
            <p:cNvSpPr txBox="1"/>
            <p:nvPr>
              <p:custDataLst>
                <p:tags r:id="rId22"/>
              </p:custDataLst>
            </p:nvPr>
          </p:nvSpPr>
          <p:spPr bwMode="auto">
            <a:xfrm>
              <a:off x="12202209" y="3767218"/>
              <a:ext cx="3848677" cy="698540"/>
            </a:xfrm>
            <a:prstGeom prst="rect">
              <a:avLst/>
            </a:prstGeom>
            <a:noFill/>
          </p:spPr>
          <p:txBody>
            <a:bodyPr wrap="none" lIns="0" tIns="0" rIns="288000" bIns="0" anchor="b" anchorCtr="0">
              <a:noAutofit/>
            </a:bodyPr>
            <a:lstStyle/>
            <a:p>
              <a:pPr algn="ctr" latinLnBrk="0"/>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王玉峰</a:t>
              </a:r>
              <a:endParaRPr lang="en-US" altLang="zh-CN" sz="2000" b="1" dirty="0">
                <a:solidFill>
                  <a:schemeClr val="accent1">
                    <a:lumMod val="100000"/>
                  </a:schemeClr>
                </a:solidFill>
                <a:effectLst/>
                <a:latin typeface="Times New Roman" panose="02020603050405020304" pitchFamily="18" charset="0"/>
                <a:ea typeface="锐字工房云字库细圆GBK" panose="02010604000000000000" pitchFamily="2" charset="-122"/>
                <a:cs typeface="Times New Roman" panose="02020603050405020304" pitchFamily="18" charset="0"/>
                <a:sym typeface="+mn-lt"/>
              </a:endParaRPr>
            </a:p>
          </p:txBody>
        </p:sp>
        <p:sp>
          <p:nvSpPr>
            <p:cNvPr id="1048799" name="ïşḻïďê-TextBox 90"/>
            <p:cNvSpPr txBox="1"/>
            <p:nvPr>
              <p:custDataLst>
                <p:tags r:id="rId23"/>
              </p:custDataLst>
            </p:nvPr>
          </p:nvSpPr>
          <p:spPr bwMode="auto">
            <a:xfrm>
              <a:off x="12369093" y="4694717"/>
              <a:ext cx="3848677" cy="1593164"/>
            </a:xfrm>
            <a:prstGeom prst="rect">
              <a:avLst/>
            </a:prstGeom>
            <a:noFill/>
          </p:spPr>
          <p:txBody>
            <a:bodyPr wrap="square" lIns="0" tIns="0" rIns="288000" bIns="0" anchor="t" anchorCtr="0"/>
            <a:lstStyle/>
            <a:p>
              <a:pPr>
                <a:lnSpc>
                  <a:spcPct val="120000"/>
                </a:lnSpc>
              </a:pPr>
              <a:r>
                <a:rPr lang="zh-CN" altLang="en-US" b="1" i="0" dirty="0">
                  <a:solidFill>
                    <a:schemeClr val="tx1"/>
                  </a:solidFill>
                  <a:effectLst/>
                  <a:latin typeface="黑体" panose="02010609060101010101" charset="-122"/>
                  <a:ea typeface="黑体" panose="02010609060101010101" charset="-122"/>
                  <a:cs typeface="黑体" panose="02010609060101010101" charset="-122"/>
                </a:rPr>
                <a:t>基于文献调研结果，对比现有先进方法，分析其在跨构型泛化、推理效率、物理约束处理等方面的优缺点；提出改进方向或新方法的技术路线，制定完整方案。</a:t>
              </a:r>
              <a:endParaRPr lang="en-US" altLang="zh-CN" b="1" i="0" dirty="0">
                <a:solidFill>
                  <a:schemeClr val="tx1"/>
                </a:solidFill>
                <a:effectLst/>
                <a:latin typeface="黑体" panose="02010609060101010101" charset="-122"/>
                <a:ea typeface="黑体" panose="02010609060101010101" charset="-122"/>
                <a:cs typeface="黑体" panose="02010609060101010101" charset="-122"/>
                <a:sym typeface="+mn-lt"/>
              </a:endParaRPr>
            </a:p>
          </p:txBody>
        </p:sp>
      </p:grpSp>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five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24" cstate="print"/>
            <a:srcRect/>
            <a:stretch>
              <a:fillRect/>
            </a:stretch>
          </p:blipFill>
          <p:spPr>
            <a:xfrm>
              <a:off x="9765508" y="161931"/>
              <a:ext cx="2174882" cy="456069"/>
            </a:xfrm>
            <a:prstGeom prst="rect">
              <a:avLst/>
            </a:prstGeom>
          </p:spPr>
        </p:pic>
      </p:grpSp>
      <p:sp>
        <p:nvSpPr>
          <p:cNvPr id="1048809" name="文本框 7"/>
          <p:cNvSpPr txBox="1"/>
          <p:nvPr/>
        </p:nvSpPr>
        <p:spPr>
          <a:xfrm>
            <a:off x="4415622" y="820547"/>
            <a:ext cx="3529330" cy="583565"/>
          </a:xfrm>
          <a:prstGeom prst="rect">
            <a:avLst/>
          </a:prstGeom>
          <a:noFill/>
        </p:spPr>
        <p:txBody>
          <a:bodyPr wrap="square" rtlCol="0">
            <a:spAutoFit/>
          </a:bodyPr>
          <a:lstStyle/>
          <a:p>
            <a:pPr algn="ctr"/>
            <a:r>
              <a:rPr lang="zh-CN" altLang="en-US" sz="3200" b="1" dirty="0">
                <a:latin typeface="Times New Roman" panose="02020603050405020304" pitchFamily="18" charset="0"/>
                <a:cs typeface="Times New Roman" panose="02020603050405020304" pitchFamily="18" charset="0"/>
              </a:rPr>
              <a:t>灵巧手物抓取生成</a:t>
            </a:r>
            <a:endParaRPr lang="zh-CN" altLang="en-US" sz="3200" b="1" dirty="0">
              <a:latin typeface="Times New Roman" panose="02020603050405020304" pitchFamily="18" charset="0"/>
              <a:cs typeface="Times New Roman" panose="02020603050405020304" pitchFamily="18" charset="0"/>
            </a:endParaRPr>
          </a:p>
        </p:txBody>
      </p:sp>
      <p:sp>
        <p:nvSpPr>
          <p:cNvPr id="1048810" name="ïşḻïďê-TextBox 90"/>
          <p:cNvSpPr txBox="1"/>
          <p:nvPr>
            <p:custDataLst>
              <p:tags r:id="rId25"/>
            </p:custDataLst>
          </p:nvPr>
        </p:nvSpPr>
        <p:spPr bwMode="auto">
          <a:xfrm>
            <a:off x="538480" y="2713990"/>
            <a:ext cx="3474085" cy="1996440"/>
          </a:xfrm>
          <a:prstGeom prst="rect">
            <a:avLst/>
          </a:prstGeom>
          <a:noFill/>
        </p:spPr>
        <p:txBody>
          <a:bodyPr wrap="square" lIns="0" tIns="0" rIns="288000" bIns="0" anchor="t" anchorCtr="0">
            <a:noAutofit/>
          </a:bodyPr>
          <a:lstStyle/>
          <a:p>
            <a:pPr>
              <a:lnSpc>
                <a:spcPct val="120000"/>
              </a:lnSpc>
            </a:pPr>
            <a:r>
              <a:rPr lang="zh-CN" altLang="en-US" b="1" dirty="0">
                <a:solidFill>
                  <a:schemeClr val="tx1">
                    <a:lumMod val="85000"/>
                    <a:lumOff val="15000"/>
                  </a:schemeClr>
                </a:solidFill>
                <a:effectLst/>
                <a:latin typeface="黑体" panose="02010609060101010101" charset="-122"/>
                <a:ea typeface="黑体" panose="02010609060101010101" charset="-122"/>
                <a:cs typeface="Times New Roman" panose="02020603050405020304" pitchFamily="18" charset="0"/>
                <a:sym typeface="+mn-lt"/>
              </a:rPr>
              <a:t>主要负责相关文献的数据集的论文分析和研究，进行了相应的整合，最后在综述的撰写中完成相应的格式整理以及封面和目录的编排。</a:t>
            </a:r>
            <a:endParaRPr lang="zh-CN" altLang="en-US" b="1" dirty="0">
              <a:solidFill>
                <a:schemeClr val="tx1">
                  <a:lumMod val="85000"/>
                  <a:lumOff val="15000"/>
                </a:schemeClr>
              </a:solidFill>
              <a:effectLst/>
              <a:latin typeface="黑体" panose="02010609060101010101" charset="-122"/>
              <a:ea typeface="黑体" panose="02010609060101010101" charset="-122"/>
              <a:cs typeface="Times New Roman" panose="02020603050405020304" pitchFamily="18" charset="0"/>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9" name="矩形 7"/>
          <p:cNvSpPr/>
          <p:nvPr/>
        </p:nvSpPr>
        <p:spPr>
          <a:xfrm>
            <a:off x="0" y="1205865"/>
            <a:ext cx="12192000" cy="3091815"/>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pic>
        <p:nvPicPr>
          <p:cNvPr id="2097189" name="图片 9"/>
          <p:cNvPicPr>
            <a:picLocks noChangeAspect="1"/>
          </p:cNvPicPr>
          <p:nvPr/>
        </p:nvPicPr>
        <p:blipFill>
          <a:blip r:embed="rId1" cstate="print"/>
          <a:srcRect/>
          <a:stretch>
            <a:fillRect/>
          </a:stretch>
        </p:blipFill>
        <p:spPr>
          <a:xfrm>
            <a:off x="5003162" y="374347"/>
            <a:ext cx="2174882" cy="456069"/>
          </a:xfrm>
          <a:prstGeom prst="rect">
            <a:avLst/>
          </a:prstGeom>
        </p:spPr>
      </p:pic>
      <p:sp>
        <p:nvSpPr>
          <p:cNvPr id="1048880" name="文本框 10"/>
          <p:cNvSpPr txBox="1"/>
          <p:nvPr/>
        </p:nvSpPr>
        <p:spPr>
          <a:xfrm>
            <a:off x="556203" y="4858385"/>
            <a:ext cx="7197090" cy="645160"/>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小组成员</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汇报顺序</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：沈仕伟、</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王玉峰、韩育霖</a:t>
            </a:r>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881" name="文本框 11"/>
          <p:cNvSpPr txBox="1"/>
          <p:nvPr/>
        </p:nvSpPr>
        <p:spPr>
          <a:xfrm>
            <a:off x="5409565" y="6225540"/>
            <a:ext cx="1372235" cy="368300"/>
          </a:xfrm>
          <a:prstGeom prst="rect">
            <a:avLst/>
          </a:prstGeom>
          <a:noFill/>
        </p:spPr>
        <p:txBody>
          <a:bodyPr wrap="square" rtlCol="0">
            <a:spAutoFit/>
          </a:bodyPr>
          <a:lstStyle/>
          <a:p>
            <a:r>
              <a:rPr 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2026.5.27</a:t>
            </a:r>
            <a:endParaRPr 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882" name="文本框 12"/>
          <p:cNvSpPr txBox="1"/>
          <p:nvPr/>
        </p:nvSpPr>
        <p:spPr>
          <a:xfrm>
            <a:off x="9238672" y="4858443"/>
            <a:ext cx="2397125" cy="368300"/>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汇报小组：第三组</a:t>
            </a:r>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883" name="文本框 13"/>
          <p:cNvSpPr txBox="1"/>
          <p:nvPr/>
        </p:nvSpPr>
        <p:spPr>
          <a:xfrm>
            <a:off x="2054257" y="2367051"/>
            <a:ext cx="8407413" cy="768350"/>
          </a:xfrm>
          <a:prstGeom prst="rect">
            <a:avLst/>
          </a:prstGeom>
          <a:noFill/>
        </p:spPr>
        <p:txBody>
          <a:bodyPr wrap="square" rtlCol="0">
            <a:spAutoFit/>
          </a:bodyPr>
          <a:lstStyle/>
          <a:p>
            <a:pPr algn="ctr"/>
            <a:r>
              <a:rPr lang="zh-CN" altLang="en-US" sz="4400" b="1" dirty="0">
                <a:solidFill>
                  <a:schemeClr val="bg1"/>
                </a:solidFill>
                <a:latin typeface="微软雅黑" panose="020B0503020204020204" pitchFamily="34" charset="-122"/>
                <a:ea typeface="微软雅黑" panose="020B0503020204020204" pitchFamily="34" charset="-122"/>
              </a:rPr>
              <a:t>感谢指正与批评</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KSO_WM_DIAGRAM_VIRTUALLY_FRAME" val="{&quot;height&quot;:405.3244094488189,&quot;left&quot;:151.7,&quot;top&quot;:91.6255905511811,&quot;width&quot;:424.4837795275591}"/>
</p:tagLst>
</file>

<file path=ppt/tags/tag2.xml><?xml version="1.0" encoding="utf-8"?>
<p:tagLst xmlns:p="http://schemas.openxmlformats.org/presentationml/2006/main">
  <p:tag name="KSO_WM_DIAGRAM_VIRTUALLY_FRAME" val="{&quot;height&quot;:405.3244094488189,&quot;left&quot;:151.7,&quot;top&quot;:91.6255905511811,&quot;width&quot;:424.4837795275591}"/>
</p:tagLst>
</file>

<file path=ppt/tags/tag3.xml><?xml version="1.0" encoding="utf-8"?>
<p:tagLst xmlns:p="http://schemas.openxmlformats.org/presentationml/2006/main">
  <p:tag name="KSO_WM_DIAGRAM_VIRTUALLY_FRAME" val="{&quot;height&quot;:405.3244094488189,&quot;left&quot;:151.7,&quot;top&quot;:91.6255905511811,&quot;width&quot;:424.4837795275591}"/>
</p:tagLst>
</file>

<file path=ppt/tags/tag4.xml><?xml version="1.0" encoding="utf-8"?>
<p:tagLst xmlns:p="http://schemas.openxmlformats.org/presentationml/2006/main">
  <p:tag name="KSO_WM_DIAGRAM_VIRTUALLY_FRAME" val="{&quot;height&quot;:405.3244094488189,&quot;left&quot;:151.7,&quot;top&quot;:91.6255905511811,&quot;width&quot;:424.4837795275591}"/>
</p:tagLst>
</file>

<file path=ppt/tags/tag5.xml><?xml version="1.0" encoding="utf-8"?>
<p:tagLst xmlns:p="http://schemas.openxmlformats.org/presentationml/2006/main">
  <p:tag name="KSO_WM_DIAGRAM_VIRTUALLY_FRAME" val="{&quot;height&quot;:405.3244094488189,&quot;left&quot;:151.7,&quot;top&quot;:91.6255905511811,&quot;width&quot;:424.4837795275591}"/>
</p:tagLst>
</file>

<file path=ppt/tags/tag6.xml><?xml version="1.0" encoding="utf-8"?>
<p:tagLst xmlns:p="http://schemas.openxmlformats.org/presentationml/2006/main">
  <p:tag name="KSO_WM_DIAGRAM_VIRTUALLY_FRAME" val="{&quot;height&quot;:405.3244094488189,&quot;left&quot;:151.7,&quot;top&quot;:91.6255905511811,&quot;width&quot;:424.4837795275591}"/>
</p:tagLst>
</file>

<file path=ppt/tags/tag7.xml><?xml version="1.0" encoding="utf-8"?>
<p:tagLst xmlns:p="http://schemas.openxmlformats.org/presentationml/2006/main">
  <p:tag name="KSO_WM_DIAGRAM_VIRTUALLY_FRAME" val="{&quot;height&quot;:405.3244094488189,&quot;left&quot;:151.7,&quot;top&quot;:91.6255905511811,&quot;width&quot;:424.4837795275591}"/>
</p:tagLst>
</file>

<file path=ppt/tags/tag8.xml><?xml version="1.0" encoding="utf-8"?>
<p:tagLst xmlns:p="http://schemas.openxmlformats.org/presentationml/2006/main">
  <p:tag name="KSO_WM_DIAGRAM_VIRTUALLY_FRAME" val="{&quot;height&quot;:405.3244094488189,&quot;left&quot;:151.7,&quot;top&quot;:91.6255905511811,&quot;width&quot;:424.4837795275591}"/>
</p:tagLst>
</file>

<file path=ppt/tags/tag9.xml><?xml version="1.0" encoding="utf-8"?>
<p:tagLst xmlns:p="http://schemas.openxmlformats.org/presentationml/2006/main">
  <p:tag name="KSO_WM_DIAGRAM_VIRTUALLY_FRAME" val="{&quot;height&quot;:405.3244094488189,&quot;left&quot;:151.7,&quot;top&quot;:91.6255905511811,&quot;width&quot;:424.4837795275591}"/>
</p:tagLst>
</file>

<file path=ppt/tags/tag10.xml><?xml version="1.0" encoding="utf-8"?>
<p:tagLst xmlns:p="http://schemas.openxmlformats.org/presentationml/2006/main">
  <p:tag name="KSO_WM_DIAGRAM_VIRTUALLY_FRAME" val="{&quot;height&quot;:405.3244094488189,&quot;left&quot;:151.7,&quot;top&quot;:91.6255905511811,&quot;width&quot;:424.4837795275591}"/>
</p:tagLst>
</file>

<file path=ppt/tags/tag11.xml><?xml version="1.0" encoding="utf-8"?>
<p:tagLst xmlns:p="http://schemas.openxmlformats.org/presentationml/2006/main">
  <p:tag name="KSO_WM_BEAUTIFY_FLAG" val="#fgm#"/>
  <p:tag name="KSO_WM_FIGMA_FLAG" val="#fgm#"/>
  <p:tag name="KSO_WM_UNIT_INDEX" val="1"/>
  <p:tag name="KSO_WM_UNIT_TYPE" val="a"/>
  <p:tag name="KSO_WM_LAYOUT_CHECK_HASH" val="d598b3f8c2034e9bc6df32d0865f37dca86900ee"/>
  <p:tag name="KSO_WM_NEWLAYOUT_ID" val="slide_eb3a68e03bcdf3d9"/>
</p:tagLst>
</file>

<file path=ppt/tags/tag1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4.xml><?xml version="1.0" encoding="utf-8"?>
<p:tagLst xmlns:p="http://schemas.openxmlformats.org/presentationml/2006/main">
  <p:tag name="KSO_WM_BEAUTIFY_FLAG" val="#fgm#"/>
  <p:tag name="KSO_WM_FIGMA_FLAG" val="#fgm#"/>
  <p:tag name="KSO_WM_UNIT_INDEX" val="1"/>
  <p:tag name="KSO_WM_UNIT_TYPE" val="a"/>
  <p:tag name="KSO_WM_LAYOUT_CHECK_HASH" val="5539c4e0d3ce57b96189d35c9094ffaebf036924"/>
  <p:tag name="KSO_WM_NEWLAYOUT_GROUP_ID" val="layout_59"/>
  <p:tag name="KSO_WM_NEWLAYOUT_ID" val="slide_a37e02253c1e1e31"/>
  <p:tag name="KSO_WM_UNIT_PRESET_TEXT" val="单击此处添加标题"/>
</p:tagLst>
</file>

<file path=ppt/tags/tag15.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1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1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18.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1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2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1.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2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3.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2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5.xml><?xml version="1.0" encoding="utf-8"?>
<p:tagLst xmlns:p="http://schemas.openxmlformats.org/presentationml/2006/main">
  <p:tag name="KSO_WM_DIAGRAM_VIRTUALLY_FRAME" val="{&quot;height&quot;:472.85,&quot;left&quot;:1.8000787401574805,&quot;top&quot;:42.5,&quot;width&quot;:944.9999212598425}"/>
</p:tagLst>
</file>

<file path=ppt/tags/tag26.xml><?xml version="1.0" encoding="utf-8"?>
<p:tagLst xmlns:p="http://schemas.openxmlformats.org/presentationml/2006/main">
  <p:tag name="KSO_WM_DIAGRAM_VIRTUALLY_FRAME" val="{&quot;height&quot;:472.85,&quot;left&quot;:1.8000787401574805,&quot;top&quot;:42.5,&quot;width&quot;:944.9999212598425}"/>
</p:tagLst>
</file>

<file path=ppt/tags/tag27.xml><?xml version="1.0" encoding="utf-8"?>
<p:tagLst xmlns:p="http://schemas.openxmlformats.org/presentationml/2006/main">
  <p:tag name="KSO_WM_DIAGRAM_VIRTUALLY_FRAME" val="{&quot;height&quot;:472.85,&quot;left&quot;:1.8000787401574805,&quot;top&quot;:42.5,&quot;width&quot;:944.9999212598425}"/>
</p:tagLst>
</file>

<file path=ppt/tags/tag28.xml><?xml version="1.0" encoding="utf-8"?>
<p:tagLst xmlns:p="http://schemas.openxmlformats.org/presentationml/2006/main">
  <p:tag name="KSO_WM_DIAGRAM_VIRTUALLY_FRAME" val="{&quot;height&quot;:472.85,&quot;left&quot;:1.8000787401574805,&quot;top&quot;:42.5,&quot;width&quot;:944.9999212598425}"/>
</p:tagLst>
</file>

<file path=ppt/tags/tag29.xml><?xml version="1.0" encoding="utf-8"?>
<p:tagLst xmlns:p="http://schemas.openxmlformats.org/presentationml/2006/main">
  <p:tag name="KSO_WM_DIAGRAM_VIRTUALLY_FRAME" val="{&quot;height&quot;:472.85,&quot;left&quot;:1.8000787401574805,&quot;top&quot;:42.5,&quot;width&quot;:944.9999212598425}"/>
</p:tagLst>
</file>

<file path=ppt/tags/tag30.xml><?xml version="1.0" encoding="utf-8"?>
<p:tagLst xmlns:p="http://schemas.openxmlformats.org/presentationml/2006/main">
  <p:tag name="KSO_WM_DIAGRAM_VIRTUALLY_FRAME" val="{&quot;height&quot;:472.85,&quot;left&quot;:1.8000787401574805,&quot;top&quot;:42.5,&quot;width&quot;:944.9999212598425}"/>
</p:tagLst>
</file>

<file path=ppt/tags/tag31.xml><?xml version="1.0" encoding="utf-8"?>
<p:tagLst xmlns:p="http://schemas.openxmlformats.org/presentationml/2006/main">
  <p:tag name="KSO_WM_DIAGRAM_VIRTUALLY_FRAME" val="{&quot;height&quot;:472.85,&quot;left&quot;:1.8000787401574805,&quot;top&quot;:42.5,&quot;width&quot;:944.9999212598425}"/>
</p:tagLst>
</file>

<file path=ppt/tags/tag32.xml><?xml version="1.0" encoding="utf-8"?>
<p:tagLst xmlns:p="http://schemas.openxmlformats.org/presentationml/2006/main">
  <p:tag name="KSO_WM_DIAGRAM_VIRTUALLY_FRAME" val="{&quot;height&quot;:472.85,&quot;left&quot;:1.8000787401574805,&quot;top&quot;:42.5,&quot;width&quot;:944.9999212598425}"/>
</p:tagLst>
</file>

<file path=ppt/tags/tag33.xml><?xml version="1.0" encoding="utf-8"?>
<p:tagLst xmlns:p="http://schemas.openxmlformats.org/presentationml/2006/main">
  <p:tag name="KSO_WM_DIAGRAM_VIRTUALLY_FRAME" val="{&quot;height&quot;:472.85,&quot;left&quot;:1.8000787401574805,&quot;top&quot;:42.5,&quot;width&quot;:944.9999212598425}"/>
</p:tagLst>
</file>

<file path=ppt/tags/tag34.xml><?xml version="1.0" encoding="utf-8"?>
<p:tagLst xmlns:p="http://schemas.openxmlformats.org/presentationml/2006/main">
  <p:tag name="KSO_WM_DIAGRAM_VIRTUALLY_FRAME" val="{&quot;height&quot;:472.85,&quot;left&quot;:1.8000787401574805,&quot;top&quot;:42.5,&quot;width&quot;:944.9999212598425}"/>
</p:tagLst>
</file>

<file path=ppt/tags/tag35.xml><?xml version="1.0" encoding="utf-8"?>
<p:tagLst xmlns:p="http://schemas.openxmlformats.org/presentationml/2006/main">
  <p:tag name="KSO_WM_DIAGRAM_VIRTUALLY_FRAME" val="{&quot;height&quot;:472.85,&quot;left&quot;:1.8000787401574805,&quot;top&quot;:42.5,&quot;width&quot;:944.9999212598425}"/>
</p:tagLst>
</file>

<file path=ppt/tags/tag36.xml><?xml version="1.0" encoding="utf-8"?>
<p:tagLst xmlns:p="http://schemas.openxmlformats.org/presentationml/2006/main">
  <p:tag name="KSO_WM_DIAGRAM_VIRTUALLY_FRAME" val="{&quot;height&quot;:472.85,&quot;left&quot;:1.8000787401574805,&quot;top&quot;:42.5,&quot;width&quot;:944.9999212598425}"/>
</p:tagLst>
</file>

<file path=ppt/tags/tag37.xml><?xml version="1.0" encoding="utf-8"?>
<p:tagLst xmlns:p="http://schemas.openxmlformats.org/presentationml/2006/main">
  <p:tag name="KSO_WM_DIAGRAM_VIRTUALLY_FRAME" val="{&quot;height&quot;:472.85,&quot;left&quot;:1.8000787401574805,&quot;top&quot;:42.5,&quot;width&quot;:944.9999212598425}"/>
</p:tagLst>
</file>

<file path=ppt/tags/tag38.xml><?xml version="1.0" encoding="utf-8"?>
<p:tagLst xmlns:p="http://schemas.openxmlformats.org/presentationml/2006/main">
  <p:tag name="KSO_WM_DIAGRAM_VIRTUALLY_FRAME" val="{&quot;height&quot;:472.85,&quot;left&quot;:1.8000787401574805,&quot;top&quot;:42.5,&quot;width&quot;:944.9999212598425}"/>
</p:tagLst>
</file>

<file path=ppt/tags/tag39.xml><?xml version="1.0" encoding="utf-8"?>
<p:tagLst xmlns:p="http://schemas.openxmlformats.org/presentationml/2006/main">
  <p:tag name="KSO_WM_DIAGRAM_VIRTUALLY_FRAME" val="{&quot;height&quot;:472.85,&quot;left&quot;:1.8000787401574805,&quot;top&quot;:42.5,&quot;width&quot;:944.9999212598425}"/>
</p:tagLst>
</file>

<file path=ppt/tags/tag40.xml><?xml version="1.0" encoding="utf-8"?>
<p:tagLst xmlns:p="http://schemas.openxmlformats.org/presentationml/2006/main">
  <p:tag name="KSO_WM_DIAGRAM_VIRTUALLY_FRAME" val="{&quot;height&quot;:472.85,&quot;left&quot;:1.8000787401574805,&quot;top&quot;:42.5,&quot;width&quot;:944.9999212598425}"/>
</p:tagLst>
</file>

<file path=ppt/tags/tag41.xml><?xml version="1.0" encoding="utf-8"?>
<p:tagLst xmlns:p="http://schemas.openxmlformats.org/presentationml/2006/main">
  <p:tag name="KSO_WM_DIAGRAM_VIRTUALLY_FRAME" val="{&quot;height&quot;:472.85,&quot;left&quot;:1.8000787401574805,&quot;top&quot;:42.5,&quot;width&quot;:944.9999212598425}"/>
</p:tagLst>
</file>

<file path=ppt/tags/tag42.xml><?xml version="1.0" encoding="utf-8"?>
<p:tagLst xmlns:p="http://schemas.openxmlformats.org/presentationml/2006/main">
  <p:tag name="KSO_WM_DIAGRAM_VIRTUALLY_FRAME" val="{&quot;height&quot;:472.85,&quot;left&quot;:1.8000787401574805,&quot;top&quot;:42.5,&quot;width&quot;:944.9999212598425}"/>
</p:tagLst>
</file>

<file path=ppt/tags/tag43.xml><?xml version="1.0" encoding="utf-8"?>
<p:tagLst xmlns:p="http://schemas.openxmlformats.org/presentationml/2006/main">
  <p:tag name="KSO_WM_DIAGRAM_VIRTUALLY_FRAME" val="{&quot;height&quot;:472.85,&quot;left&quot;:1.8000787401574805,&quot;top&quot;:42.5,&quot;width&quot;:944.9999212598425}"/>
</p:tagLst>
</file>

<file path=ppt/tags/tag44.xml><?xml version="1.0" encoding="utf-8"?>
<p:tagLst xmlns:p="http://schemas.openxmlformats.org/presentationml/2006/main">
  <p:tag name="KSO_WM_DIAGRAM_VIRTUALLY_FRAME" val="{&quot;height&quot;:472.85,&quot;left&quot;:15.35,&quot;top&quot;:42.5,&quot;width&quot;:931.45}"/>
</p:tagLst>
</file>

<file path=ppt/tags/tag45.xml><?xml version="1.0" encoding="utf-8"?>
<p:tagLst xmlns:p="http://schemas.openxmlformats.org/presentationml/2006/main">
  <p:tag name="KSO_WM_DIAGRAM_VIRTUALLY_FRAME" val="{&quot;height&quot;:472.85,&quot;left&quot;:1.8000787401574805,&quot;top&quot;:42.5,&quot;width&quot;:944.9999212598425}"/>
</p:tagLst>
</file>

<file path=ppt/tags/tag46.xml><?xml version="1.0" encoding="utf-8"?>
<p:tagLst xmlns:p="http://schemas.openxmlformats.org/presentationml/2006/main">
  <p:tag name="KSO_WM_DIAGRAM_VIRTUALLY_FRAME" val="{&quot;height&quot;:472.85,&quot;left&quot;:1.8000787401574805,&quot;top&quot;:42.5,&quot;width&quot;:944.9999212598425}"/>
</p:tagLst>
</file>

<file path=ppt/tags/tag47.xml><?xml version="1.0" encoding="utf-8"?>
<p:tagLst xmlns:p="http://schemas.openxmlformats.org/presentationml/2006/main">
  <p:tag name="KSO_WM_DIAGRAM_VIRTUALLY_FRAME" val="{&quot;height&quot;:472.85,&quot;left&quot;:15.35,&quot;top&quot;:42.5,&quot;width&quot;:931.45}"/>
</p:tagLst>
</file>

<file path=ppt/tags/tag48.xml><?xml version="1.0" encoding="utf-8"?>
<p:tagLst xmlns:p="http://schemas.openxmlformats.org/presentationml/2006/main">
  <p:tag name="KSO_WM_DIAGRAM_VIRTUALLY_FRAME" val="{&quot;height&quot;:472.85,&quot;left&quot;:15.35,&quot;top&quot;:42.5,&quot;width&quot;:931.45}"/>
</p:tagLst>
</file>

<file path=ppt/theme/theme1.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2.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3.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4.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5.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10224</Words>
  <Application>WPS 演示</Application>
  <PresentationFormat>宽屏</PresentationFormat>
  <Paragraphs>551</Paragraphs>
  <Slides>58</Slides>
  <Notes>32</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58</vt:i4>
      </vt:variant>
    </vt:vector>
  </HeadingPairs>
  <TitlesOfParts>
    <vt:vector size="76" baseType="lpstr">
      <vt:lpstr>Arial</vt:lpstr>
      <vt:lpstr>宋体</vt:lpstr>
      <vt:lpstr>Wingdings</vt:lpstr>
      <vt:lpstr>微软雅黑</vt:lpstr>
      <vt:lpstr>造字工房力黑（非商用）常规体</vt:lpstr>
      <vt:lpstr>Times New Roman</vt:lpstr>
      <vt:lpstr>Agency FB</vt:lpstr>
      <vt:lpstr>微软雅黑 Light</vt:lpstr>
      <vt:lpstr>黑体</vt:lpstr>
      <vt:lpstr>锐字工房云字库细圆GBK</vt:lpstr>
      <vt:lpstr>MiSans Demibold</vt:lpstr>
      <vt:lpstr>MiSans Medium</vt:lpstr>
      <vt:lpstr>MiSans Normal</vt:lpstr>
      <vt:lpstr>Wingdings</vt:lpstr>
      <vt:lpstr>等线</vt:lpstr>
      <vt:lpstr>Arial Unicode MS</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23113RKC6C</dc:creator>
  <cp:lastModifiedBy>老韩头</cp:lastModifiedBy>
  <cp:revision>31</cp:revision>
  <dcterms:created xsi:type="dcterms:W3CDTF">2026-04-07T04:20:00Z</dcterms:created>
  <dcterms:modified xsi:type="dcterms:W3CDTF">2026-05-26T15:43:09Z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7F2F1A4C5B30453885B39ED0082271AE_13</vt:lpwstr>
  </property>
  <property fmtid="{D5CDD505-2E9C-101B-9397-08002B2CF9AE}" pid="3" name="KSOProductBuildVer">
    <vt:lpwstr>2052-12.1.0.26375</vt:lpwstr>
  </property>
</Properties>
</file>