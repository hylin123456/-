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349" r:id="rId3"/>
    <p:sldId id="350" r:id="rId5"/>
    <p:sldId id="351" r:id="rId6"/>
    <p:sldId id="352" r:id="rId7"/>
    <p:sldId id="353" r:id="rId8"/>
    <p:sldId id="373" r:id="rId9"/>
    <p:sldId id="375" r:id="rId10"/>
    <p:sldId id="377" r:id="rId11"/>
    <p:sldId id="354" r:id="rId12"/>
    <p:sldId id="355" r:id="rId13"/>
    <p:sldId id="360" r:id="rId14"/>
    <p:sldId id="387" r:id="rId15"/>
    <p:sldId id="420" r:id="rId16"/>
    <p:sldId id="421" r:id="rId17"/>
    <p:sldId id="423" r:id="rId18"/>
    <p:sldId id="424" r:id="rId19"/>
    <p:sldId id="425" r:id="rId20"/>
    <p:sldId id="429" r:id="rId21"/>
    <p:sldId id="430" r:id="rId22"/>
    <p:sldId id="431" r:id="rId23"/>
    <p:sldId id="426" r:id="rId24"/>
    <p:sldId id="427" r:id="rId25"/>
    <p:sldId id="409" r:id="rId26"/>
    <p:sldId id="410" r:id="rId27"/>
    <p:sldId id="411" r:id="rId28"/>
    <p:sldId id="435" r:id="rId29"/>
    <p:sldId id="432" r:id="rId30"/>
    <p:sldId id="364" r:id="rId31"/>
    <p:sldId id="365" r:id="rId32"/>
    <p:sldId id="433" r:id="rId33"/>
    <p:sldId id="434" r:id="rId34"/>
    <p:sldId id="371"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C67"/>
    <a:srgbClr val="557F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96190" autoAdjust="0"/>
  </p:normalViewPr>
  <p:slideViewPr>
    <p:cSldViewPr snapToGrid="0" showGuides="1">
      <p:cViewPr varScale="1">
        <p:scale>
          <a:sx n="123" d="100"/>
          <a:sy n="123" d="100"/>
        </p:scale>
        <p:origin x="736" y="184"/>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34"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935"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4A5EBB-10F6-463D-A1C9-2FF04F725E4C}" type="datetimeFigureOut">
              <a:rPr lang="zh-CN" altLang="en-US" smtClean="0"/>
            </a:fld>
            <a:endParaRPr lang="zh-CN" altLang="en-US"/>
          </a:p>
        </p:txBody>
      </p:sp>
      <p:sp>
        <p:nvSpPr>
          <p:cNvPr id="1048936"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937"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38"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939"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611CF7-5005-43FE-83F8-F59B6FC0F0A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幻灯片图像占位符 1"/>
          <p:cNvSpPr>
            <a:spLocks noGrp="1" noRot="1" noChangeAspect="1"/>
          </p:cNvSpPr>
          <p:nvPr>
            <p:ph type="sldImg"/>
          </p:nvPr>
        </p:nvSpPr>
        <p:spPr/>
      </p:sp>
      <p:sp>
        <p:nvSpPr>
          <p:cNvPr id="1048587" name="备注占位符 2"/>
          <p:cNvSpPr>
            <a:spLocks noGrp="1"/>
          </p:cNvSpPr>
          <p:nvPr>
            <p:ph type="body" idx="1"/>
          </p:nvPr>
        </p:nvSpPr>
        <p:spPr/>
        <p:txBody>
          <a:bodyPr/>
          <a:lstStyle/>
          <a:p>
            <a:endParaRPr lang="zh-CN" altLang="en-US" dirty="0"/>
          </a:p>
        </p:txBody>
      </p:sp>
      <p:sp>
        <p:nvSpPr>
          <p:cNvPr id="1048588"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幻灯片图像占位符 1"/>
          <p:cNvSpPr>
            <a:spLocks noGrp="1" noRot="1" noChangeAspect="1"/>
          </p:cNvSpPr>
          <p:nvPr>
            <p:ph type="sldImg"/>
          </p:nvPr>
        </p:nvSpPr>
        <p:spPr/>
      </p:sp>
      <p:sp>
        <p:nvSpPr>
          <p:cNvPr id="1048604" name="备注占位符 2"/>
          <p:cNvSpPr>
            <a:spLocks noGrp="1"/>
          </p:cNvSpPr>
          <p:nvPr>
            <p:ph type="body" idx="1"/>
          </p:nvPr>
        </p:nvSpPr>
        <p:spPr/>
        <p:txBody>
          <a:bodyPr/>
          <a:lstStyle/>
          <a:p>
            <a:endParaRPr lang="zh-CN" altLang="en-US" dirty="0"/>
          </a:p>
        </p:txBody>
      </p:sp>
      <p:sp>
        <p:nvSpPr>
          <p:cNvPr id="1048605"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幻灯片图像占位符 1"/>
          <p:cNvSpPr>
            <a:spLocks noGrp="1" noRot="1" noChangeAspect="1"/>
          </p:cNvSpPr>
          <p:nvPr>
            <p:ph type="sldImg"/>
          </p:nvPr>
        </p:nvSpPr>
        <p:spPr/>
      </p:sp>
      <p:sp>
        <p:nvSpPr>
          <p:cNvPr id="104861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2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mn-lt"/>
            </a:endParaRPr>
          </a:p>
        </p:txBody>
      </p:sp>
      <p:sp>
        <p:nvSpPr>
          <p:cNvPr id="104861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幻灯片图像占位符 1"/>
          <p:cNvSpPr>
            <a:spLocks noGrp="1" noRot="1" noChangeAspect="1"/>
          </p:cNvSpPr>
          <p:nvPr>
            <p:ph type="sldImg"/>
          </p:nvPr>
        </p:nvSpPr>
        <p:spPr/>
      </p:sp>
      <p:sp>
        <p:nvSpPr>
          <p:cNvPr id="1048638" name="备注占位符 2"/>
          <p:cNvSpPr>
            <a:spLocks noGrp="1"/>
          </p:cNvSpPr>
          <p:nvPr>
            <p:ph type="body" idx="1"/>
          </p:nvPr>
        </p:nvSpPr>
        <p:spPr/>
        <p:txBody>
          <a:bodyPr/>
          <a:lstStyle/>
          <a:p>
            <a:endParaRPr lang="zh-CN" altLang="en-US" dirty="0"/>
          </a:p>
        </p:txBody>
      </p:sp>
      <p:sp>
        <p:nvSpPr>
          <p:cNvPr id="1048639"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幻灯片图像占位符 1"/>
          <p:cNvSpPr>
            <a:spLocks noGrp="1" noRot="1" noChangeAspect="1"/>
          </p:cNvSpPr>
          <p:nvPr>
            <p:ph type="sldImg"/>
          </p:nvPr>
        </p:nvSpPr>
        <p:spPr/>
      </p:sp>
      <p:sp>
        <p:nvSpPr>
          <p:cNvPr id="1048653" name="备注占位符 2"/>
          <p:cNvSpPr>
            <a:spLocks noGrp="1"/>
          </p:cNvSpPr>
          <p:nvPr>
            <p:ph type="body" idx="1"/>
          </p:nvPr>
        </p:nvSpPr>
        <p:spPr/>
        <p:txBody>
          <a:bodyPr/>
          <a:lstStyle/>
          <a:p>
            <a:endParaRPr lang="zh-CN" altLang="en-US" dirty="0"/>
          </a:p>
        </p:txBody>
      </p:sp>
      <p:sp>
        <p:nvSpPr>
          <p:cNvPr id="1048654"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幻灯片图像占位符 1"/>
          <p:cNvSpPr>
            <a:spLocks noGrp="1" noRot="1" noChangeAspect="1"/>
          </p:cNvSpPr>
          <p:nvPr>
            <p:ph type="sldImg"/>
          </p:nvPr>
        </p:nvSpPr>
        <p:spPr/>
      </p:sp>
      <p:sp>
        <p:nvSpPr>
          <p:cNvPr id="1048662"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2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mn-lt"/>
            </a:endParaRPr>
          </a:p>
        </p:txBody>
      </p:sp>
      <p:sp>
        <p:nvSpPr>
          <p:cNvPr id="104866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幻灯片图像占位符 1"/>
          <p:cNvSpPr>
            <a:spLocks noGrp="1" noRot="1" noChangeAspect="1"/>
          </p:cNvSpPr>
          <p:nvPr>
            <p:ph type="sldImg"/>
          </p:nvPr>
        </p:nvSpPr>
        <p:spPr/>
      </p:sp>
      <p:sp>
        <p:nvSpPr>
          <p:cNvPr id="1048676" name="备注占位符 2"/>
          <p:cNvSpPr>
            <a:spLocks noGrp="1"/>
          </p:cNvSpPr>
          <p:nvPr>
            <p:ph type="body" idx="1"/>
          </p:nvPr>
        </p:nvSpPr>
        <p:spPr/>
        <p:txBody>
          <a:bodyPr/>
          <a:lstStyle/>
          <a:p>
            <a:endParaRPr lang="zh-CN" altLang="en-US" dirty="0"/>
          </a:p>
        </p:txBody>
      </p:sp>
      <p:sp>
        <p:nvSpPr>
          <p:cNvPr id="1048677"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幻灯片图像占位符 1"/>
          <p:cNvSpPr>
            <a:spLocks noGrp="1" noRot="1" noChangeAspect="1"/>
          </p:cNvSpPr>
          <p:nvPr>
            <p:ph type="sldImg"/>
          </p:nvPr>
        </p:nvSpPr>
        <p:spPr/>
      </p:sp>
      <p:sp>
        <p:nvSpPr>
          <p:cNvPr id="1048729"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lang="en-US" altLang="zh-CN" sz="1200" spc="600" dirty="0">
              <a:solidFill>
                <a:schemeClr val="bg1"/>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sp>
        <p:nvSpPr>
          <p:cNvPr id="1048730"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幻灯片图像占位符 1"/>
          <p:cNvSpPr>
            <a:spLocks noGrp="1" noRot="1" noChangeAspect="1"/>
          </p:cNvSpPr>
          <p:nvPr>
            <p:ph type="sldImg"/>
          </p:nvPr>
        </p:nvSpPr>
        <p:spPr/>
      </p:sp>
      <p:sp>
        <p:nvSpPr>
          <p:cNvPr id="1048771" name="备注占位符 2"/>
          <p:cNvSpPr>
            <a:spLocks noGrp="1"/>
          </p:cNvSpPr>
          <p:nvPr>
            <p:ph type="body" idx="1"/>
          </p:nvPr>
        </p:nvSpPr>
        <p:spPr/>
        <p:txBody>
          <a:bodyPr/>
          <a:lstStyle/>
          <a:p>
            <a:endParaRPr lang="en-US" altLang="zh-CN" dirty="0"/>
          </a:p>
        </p:txBody>
      </p:sp>
      <p:sp>
        <p:nvSpPr>
          <p:cNvPr id="1048772"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lstStyle/>
          <a:p>
            <a:endParaRPr lang="zh-CN" altLang="en-US" dirty="0"/>
          </a:p>
        </p:txBody>
      </p:sp>
      <p:sp>
        <p:nvSpPr>
          <p:cNvPr id="1048781"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幻灯片图像占位符 1"/>
          <p:cNvSpPr>
            <a:spLocks noGrp="1" noRot="1" noChangeAspect="1"/>
          </p:cNvSpPr>
          <p:nvPr>
            <p:ph type="sldImg"/>
          </p:nvPr>
        </p:nvSpPr>
        <p:spPr/>
      </p:sp>
      <p:sp>
        <p:nvSpPr>
          <p:cNvPr id="1048780" name="备注占位符 2"/>
          <p:cNvSpPr>
            <a:spLocks noGrp="1"/>
          </p:cNvSpPr>
          <p:nvPr>
            <p:ph type="body" idx="1"/>
          </p:nvPr>
        </p:nvSpPr>
        <p:spPr/>
        <p:txBody>
          <a:bodyPr/>
          <a:lstStyle/>
          <a:p>
            <a:endParaRPr lang="zh-CN" altLang="en-US" dirty="0"/>
          </a:p>
        </p:txBody>
      </p:sp>
      <p:sp>
        <p:nvSpPr>
          <p:cNvPr id="1048781"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9" name="幻灯片图像占位符 1"/>
          <p:cNvSpPr>
            <a:spLocks noGrp="1" noRot="1" noChangeAspect="1"/>
          </p:cNvSpPr>
          <p:nvPr>
            <p:ph type="sldImg"/>
          </p:nvPr>
        </p:nvSpPr>
        <p:spPr/>
      </p:sp>
      <p:sp>
        <p:nvSpPr>
          <p:cNvPr id="1048840" name="备注占位符 2"/>
          <p:cNvSpPr>
            <a:spLocks noGrp="1"/>
          </p:cNvSpPr>
          <p:nvPr>
            <p:ph type="body" idx="1"/>
          </p:nvPr>
        </p:nvSpPr>
        <p:spPr/>
        <p:txBody>
          <a:bodyPr/>
          <a:lstStyle/>
          <a:p>
            <a:endParaRPr lang="zh-CN" altLang="en-US" dirty="0"/>
          </a:p>
        </p:txBody>
      </p:sp>
      <p:sp>
        <p:nvSpPr>
          <p:cNvPr id="1048841"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1" name="幻灯片图像占位符 1"/>
          <p:cNvSpPr>
            <a:spLocks noGrp="1" noRot="1" noChangeAspect="1"/>
          </p:cNvSpPr>
          <p:nvPr>
            <p:ph type="sldImg"/>
          </p:nvPr>
        </p:nvSpPr>
        <p:spPr/>
      </p:sp>
      <p:sp>
        <p:nvSpPr>
          <p:cNvPr id="1048812" name="备注占位符 2"/>
          <p:cNvSpPr>
            <a:spLocks noGrp="1"/>
          </p:cNvSpPr>
          <p:nvPr>
            <p:ph type="body" idx="1"/>
          </p:nvPr>
        </p:nvSpPr>
        <p:spPr/>
        <p:txBody>
          <a:bodyPr/>
          <a:lstStyle/>
          <a:p>
            <a:endParaRPr lang="en-US" altLang="zh-CN" dirty="0"/>
          </a:p>
        </p:txBody>
      </p:sp>
      <p:sp>
        <p:nvSpPr>
          <p:cNvPr id="1048813" name="灯片编号占位符 3"/>
          <p:cNvSpPr>
            <a:spLocks noGrp="1"/>
          </p:cNvSpPr>
          <p:nvPr>
            <p:ph type="sldNum" sz="quarter" idx="10"/>
          </p:nvPr>
        </p:nvSpPr>
        <p:spPr/>
        <p:txBody>
          <a:bodyPr/>
          <a:lstStyle/>
          <a:p>
            <a:fld id="{04611CF7-5005-43FE-83F8-F59B6FC0F0A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84"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1048885"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1048886"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87"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88"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84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843" name="内容占位符 2"/>
          <p:cNvSpPr>
            <a:spLocks noGrp="1"/>
          </p:cNvSpPr>
          <p:nvPr>
            <p:ph idx="1" hasCustomPrompt="1"/>
          </p:nvPr>
        </p:nvSpPr>
        <p:spPr>
          <a:xfrm>
            <a:off x="838200" y="1825625"/>
            <a:ext cx="10515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44"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4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46"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09"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1048910"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1048911"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12"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13"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14"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915" name="内容占位符 2"/>
          <p:cNvSpPr>
            <a:spLocks noGrp="1"/>
          </p:cNvSpPr>
          <p:nvPr>
            <p:ph sz="half" idx="1" hasCustomPrompt="1"/>
          </p:nvPr>
        </p:nvSpPr>
        <p:spPr>
          <a:xfrm>
            <a:off x="838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16" name="内容占位符 3"/>
          <p:cNvSpPr>
            <a:spLocks noGrp="1"/>
          </p:cNvSpPr>
          <p:nvPr>
            <p:ph sz="half" idx="2" hasCustomPrompt="1"/>
          </p:nvPr>
        </p:nvSpPr>
        <p:spPr>
          <a:xfrm>
            <a:off x="6172200" y="1825625"/>
            <a:ext cx="5181600" cy="435133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17"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18"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19"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20"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1048921"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22"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23"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48924"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25" name="日期占位符 6"/>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26"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27" name="灯片编号占位符 8"/>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89"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890" name="日期占位符 2"/>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91"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2" name="灯片编号占位符 4"/>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77" name="日期占位符 1"/>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578"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579" name="灯片编号占位符 3"/>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28"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1048929"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30"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31"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32"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33"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898"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1048899"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900"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1048901" name="日期占位符 4"/>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02"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03" name="灯片编号占位符 6"/>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904"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1048905" name="竖排文字占位符 2"/>
          <p:cNvSpPr>
            <a:spLocks noGrp="1"/>
          </p:cNvSpPr>
          <p:nvPr>
            <p:ph type="body" orient="vert" idx="1" hasCustomPrompt="1"/>
          </p:nvPr>
        </p:nvSpPr>
        <p:spPr>
          <a:xfrm>
            <a:off x="838200" y="1825625"/>
            <a:ext cx="10515600" cy="43513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906"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907"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908"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893"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1048894"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95" name="日期占位符 3"/>
          <p:cNvSpPr>
            <a:spLocks noGrp="1"/>
          </p:cNvSpPr>
          <p:nvPr>
            <p:ph type="dt" sz="half" idx="10"/>
          </p:nvPr>
        </p:nvSpPr>
        <p:spPr>
          <a:xfrm>
            <a:off x="838200" y="6356350"/>
            <a:ext cx="2743200" cy="365125"/>
          </a:xfrm>
          <a:prstGeom prst="rect">
            <a:avLst/>
          </a:prstGeom>
        </p:spPr>
        <p:txBody>
          <a:bodyPr/>
          <a:lstStyle/>
          <a:p>
            <a:fld id="{39351B01-D27C-44B9-86C4-6069CF4A3737}" type="datetimeFigureOut">
              <a:rPr lang="zh-CN" altLang="en-US" smtClean="0"/>
            </a:fld>
            <a:endParaRPr lang="zh-CN" altLang="en-US"/>
          </a:p>
        </p:txBody>
      </p:sp>
      <p:sp>
        <p:nvSpPr>
          <p:cNvPr id="1048896"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1048897" name="灯片编号占位符 5"/>
          <p:cNvSpPr>
            <a:spLocks noGrp="1"/>
          </p:cNvSpPr>
          <p:nvPr>
            <p:ph type="sldNum" sz="quarter" idx="12"/>
          </p:nvPr>
        </p:nvSpPr>
        <p:spPr>
          <a:xfrm>
            <a:off x="8610600" y="6356350"/>
            <a:ext cx="2743200" cy="365125"/>
          </a:xfrm>
          <a:prstGeom prst="rect">
            <a:avLst/>
          </a:prstGeom>
        </p:spPr>
        <p:txBody>
          <a:bodyPr/>
          <a:lstStyle/>
          <a:p>
            <a:fld id="{920C2D7C-0779-45E4-815E-D57472C6940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文本框 2"/>
          <p:cNvSpPr txBox="1"/>
          <p:nvPr userDrawn="1"/>
        </p:nvSpPr>
        <p:spPr>
          <a:xfrm>
            <a:off x="1909192" y="2652141"/>
            <a:ext cx="7406640" cy="230832"/>
          </a:xfrm>
          <a:prstGeom prst="rect">
            <a:avLst/>
          </a:prstGeom>
          <a:noFill/>
        </p:spPr>
        <p:txBody>
          <a:bodyPr wrap="square" rtlCol="0">
            <a:spAutoFit/>
          </a:bodyPr>
          <a:lstStyle/>
          <a:p>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平台上提供的</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作品，雷锋</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网</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-WWW.LFPPT.COM</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每天更新</a:t>
            </a:r>
            <a:r>
              <a:rPr lang="en-US" altLang="zh-CN"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PPT</a:t>
            </a:r>
            <a:r>
              <a:rPr lang="zh-CN" altLang="en-US" sz="900" dirty="0">
                <a:noFill/>
                <a:effectLst>
                  <a:outerShdw sx="1000" sy="1000" algn="ctr" rotWithShape="0">
                    <a:srgbClr val="000000"/>
                  </a:outerShdw>
                </a:effectLst>
                <a:latin typeface="微软雅黑" panose="020B0503020204020204" pitchFamily="34" charset="-122"/>
                <a:ea typeface="微软雅黑" panose="020B0503020204020204" pitchFamily="34" charset="-122"/>
                <a:sym typeface="+mn-ea"/>
              </a:rPr>
              <a:t>模板</a:t>
            </a:r>
            <a:endParaRPr lang="zh-CN" altLang="en-US" sz="900" dirty="0">
              <a:noFill/>
              <a:latin typeface="微软雅黑" panose="020B0503020204020204" pitchFamily="34" charset="-122"/>
              <a:ea typeface="微软雅黑" panose="020B0503020204020204" pitchFamily="34" charset="-122"/>
              <a:sym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themeOverride" Target="../theme/themeOverride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2.xml"/><Relationship Id="rId14" Type="http://schemas.openxmlformats.org/officeDocument/2006/relationships/slideLayout" Target="../slideLayouts/slideLayout7.xml"/><Relationship Id="rId13" Type="http://schemas.openxmlformats.org/officeDocument/2006/relationships/themeOverride" Target="../theme/themeOverride2.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image" Target="../media/image2.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themeOverride" Target="../theme/themeOverride3.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tags" Target="../tags/tag13.xml"/><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tags" Target="../tags/tag1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themeOverride" Target="../theme/themeOverride4.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hemeOverride" Target="../theme/themeOverride5.xml"/><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7.xml"/><Relationship Id="rId3" Type="http://schemas.openxmlformats.org/officeDocument/2006/relationships/themeOverride" Target="../theme/themeOverride6.xml"/><Relationship Id="rId2" Type="http://schemas.openxmlformats.org/officeDocument/2006/relationships/image" Target="../media/image15.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7.xml"/><Relationship Id="rId2" Type="http://schemas.openxmlformats.org/officeDocument/2006/relationships/slide" Target="slide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29.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7" Type="http://schemas.openxmlformats.org/officeDocument/2006/relationships/notesSlide" Target="../notesSlides/notesSlide29.xml"/><Relationship Id="rId26" Type="http://schemas.openxmlformats.org/officeDocument/2006/relationships/slideLayout" Target="../slideLayouts/slideLayout7.xml"/><Relationship Id="rId25" Type="http://schemas.openxmlformats.org/officeDocument/2006/relationships/tags" Target="../tags/tag48.xml"/><Relationship Id="rId24" Type="http://schemas.openxmlformats.org/officeDocument/2006/relationships/image" Target="../media/image2.png"/><Relationship Id="rId23" Type="http://schemas.openxmlformats.org/officeDocument/2006/relationships/tags" Target="../tags/tag47.xml"/><Relationship Id="rId22" Type="http://schemas.openxmlformats.org/officeDocument/2006/relationships/tags" Target="../tags/tag46.xml"/><Relationship Id="rId21" Type="http://schemas.openxmlformats.org/officeDocument/2006/relationships/tags" Target="../tags/tag45.xml"/><Relationship Id="rId20" Type="http://schemas.openxmlformats.org/officeDocument/2006/relationships/tags" Target="../tags/tag44.xml"/><Relationship Id="rId2" Type="http://schemas.openxmlformats.org/officeDocument/2006/relationships/tags" Target="../tags/tag26.xml"/><Relationship Id="rId19" Type="http://schemas.openxmlformats.org/officeDocument/2006/relationships/tags" Target="../tags/tag43.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2.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7.xml"/><Relationship Id="rId2" Type="http://schemas.openxmlformats.org/officeDocument/2006/relationships/image" Target="../media/image17.jpe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580"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小组成员</a:t>
            </a:r>
            <a:r>
              <a:rPr lang="en-US" altLang="zh-CN">
                <a:cs typeface="+mn-ea"/>
                <a:sym typeface="+mn-lt"/>
              </a:rPr>
              <a:t>(</a:t>
            </a:r>
            <a:r>
              <a:rPr lang="zh-CN" altLang="en-US">
                <a:cs typeface="+mn-ea"/>
                <a:sym typeface="+mn-lt"/>
              </a:rPr>
              <a:t>汇报顺序</a:t>
            </a:r>
            <a:r>
              <a:rPr lang="en-US" altLang="zh-CN">
                <a:cs typeface="+mn-ea"/>
                <a:sym typeface="+mn-lt"/>
              </a:rPr>
              <a:t>)</a:t>
            </a:r>
            <a:r>
              <a:rPr lang="zh-CN" altLang="en-US">
                <a:cs typeface="+mn-ea"/>
                <a:sym typeface="+mn-lt"/>
              </a:rPr>
              <a:t>：钟子俊、沈仕伟、王宝乐、林宜升、赵雄</a:t>
            </a:r>
            <a:endParaRPr lang="zh-CN" altLang="en-US">
              <a:cs typeface="+mn-ea"/>
              <a:sym typeface="+mn-lt"/>
            </a:endParaRPr>
          </a:p>
          <a:p>
            <a:pPr algn="ctr"/>
            <a:endParaRPr lang="zh-CN" altLang="en-US">
              <a:cs typeface="+mn-ea"/>
              <a:sym typeface="+mn-lt"/>
            </a:endParaRPr>
          </a:p>
        </p:txBody>
      </p:sp>
      <p:grpSp>
        <p:nvGrpSpPr>
          <p:cNvPr id="26" name="组合 25"/>
          <p:cNvGrpSpPr/>
          <p:nvPr/>
        </p:nvGrpSpPr>
        <p:grpSpPr>
          <a:xfrm>
            <a:off x="0" y="1205865"/>
            <a:ext cx="12192000" cy="3091815"/>
            <a:chOff x="0" y="1407160"/>
            <a:chExt cx="4064000" cy="4043680"/>
          </a:xfrm>
          <a:solidFill>
            <a:schemeClr val="accent1"/>
          </a:solidFill>
          <a:effectLst>
            <a:outerShdw blurRad="50800" dist="38100" dir="13500000" algn="br" rotWithShape="0">
              <a:prstClr val="black">
                <a:alpha val="40000"/>
              </a:prstClr>
            </a:outerShdw>
          </a:effectLst>
        </p:grpSpPr>
        <p:sp>
          <p:nvSpPr>
            <p:cNvPr id="1048581" name="矩形 31"/>
            <p:cNvSpPr/>
            <p:nvPr/>
          </p:nvSpPr>
          <p:spPr>
            <a:xfrm>
              <a:off x="0" y="1407160"/>
              <a:ext cx="4064000" cy="4043680"/>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582" name="文本框 33"/>
            <p:cNvSpPr txBox="1"/>
            <p:nvPr/>
          </p:nvSpPr>
          <p:spPr>
            <a:xfrm>
              <a:off x="106468" y="2826079"/>
              <a:ext cx="3812752" cy="1205879"/>
            </a:xfrm>
            <a:prstGeom prst="rect">
              <a:avLst/>
            </a:prstGeom>
          </p:spPr>
          <p:style>
            <a:lnRef idx="0">
              <a:srgbClr val="FFFFFF"/>
            </a:lnRef>
            <a:fillRef idx="1">
              <a:schemeClr val="accent1"/>
            </a:fillRef>
            <a:effectRef idx="0">
              <a:srgbClr val="FFFFFF"/>
            </a:effectRef>
            <a:fontRef idx="minor">
              <a:schemeClr val="lt1"/>
            </a:fontRef>
          </p:style>
          <p:txBody>
            <a:bodyPr wrap="square" rtlCol="0">
              <a:spAutoFit/>
            </a:bodyPr>
            <a:lstStyle/>
            <a:p>
              <a:pPr algn="ct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中期汇报</a:t>
              </a:r>
              <a:r>
                <a:rPr lang="en-US" altLang="zh-CN"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r>
                <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rPr>
                <a:t>灵巧手物抓取生成</a:t>
              </a:r>
              <a:endParaRPr lang="zh-CN" altLang="en-US" sz="5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pic>
        <p:nvPicPr>
          <p:cNvPr id="2097152" name="图片 14"/>
          <p:cNvPicPr>
            <a:picLocks noChangeAspect="1"/>
          </p:cNvPicPr>
          <p:nvPr/>
        </p:nvPicPr>
        <p:blipFill>
          <a:blip r:embed="rId2" cstate="print"/>
          <a:srcRect/>
          <a:stretch>
            <a:fillRect/>
          </a:stretch>
        </p:blipFill>
        <p:spPr>
          <a:xfrm>
            <a:off x="5003162" y="374347"/>
            <a:ext cx="2174882" cy="456069"/>
          </a:xfrm>
          <a:prstGeom prst="rect">
            <a:avLst/>
          </a:prstGeom>
        </p:spPr>
      </p:pic>
      <p:sp>
        <p:nvSpPr>
          <p:cNvPr id="1048583" name="文本框 1"/>
          <p:cNvSpPr txBox="1"/>
          <p:nvPr/>
        </p:nvSpPr>
        <p:spPr>
          <a:xfrm>
            <a:off x="556203" y="4858385"/>
            <a:ext cx="7197090" cy="64516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小组成员</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汇报顺序</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：沈仕伟、王玉峰、韩育霖</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4" name="文本框 3"/>
          <p:cNvSpPr txBox="1"/>
          <p:nvPr/>
        </p:nvSpPr>
        <p:spPr>
          <a:xfrm>
            <a:off x="5409565" y="6225540"/>
            <a:ext cx="1372235" cy="368300"/>
          </a:xfrm>
          <a:prstGeom prst="rect">
            <a:avLst/>
          </a:prstGeom>
          <a:noFill/>
        </p:spPr>
        <p:txBody>
          <a:bodyPr wrap="square" rtlCol="0">
            <a:spAutoFit/>
          </a:bodyPr>
          <a:lstStyle/>
          <a:p>
            <a:r>
              <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2026.4.29</a:t>
            </a:r>
            <a:endPar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585" name="文本框 4"/>
          <p:cNvSpPr txBox="1"/>
          <p:nvPr/>
        </p:nvSpPr>
        <p:spPr>
          <a:xfrm>
            <a:off x="9238672" y="4858443"/>
            <a:ext cx="2397125" cy="36830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汇报小组：第三组</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9000" b="-9000"/>
          </a:stretch>
        </a:blipFill>
        <a:effectLst/>
      </p:bgPr>
    </p:bg>
    <p:spTree>
      <p:nvGrpSpPr>
        <p:cNvPr id="1" name=""/>
        <p:cNvGrpSpPr/>
        <p:nvPr/>
      </p:nvGrpSpPr>
      <p:grpSpPr>
        <a:xfrm>
          <a:off x="0" y="0"/>
          <a:ext cx="0" cy="0"/>
          <a:chOff x="0" y="0"/>
          <a:chExt cx="0" cy="0"/>
        </a:xfrm>
      </p:grpSpPr>
      <p:sp>
        <p:nvSpPr>
          <p:cNvPr id="1048589" name="矩形 13"/>
          <p:cNvSpPr/>
          <p:nvPr/>
        </p:nvSpPr>
        <p:spPr>
          <a:xfrm>
            <a:off x="0" y="0"/>
            <a:ext cx="8178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gency FB" panose="020B0503020202020204" pitchFamily="34" charset="0"/>
              <a:ea typeface="微软雅黑 Light" panose="020B0502040204020203" pitchFamily="34" charset="-122"/>
              <a:sym typeface="Agency FB" panose="020B0503020202020204" pitchFamily="34" charset="0"/>
            </a:endParaRPr>
          </a:p>
        </p:txBody>
      </p:sp>
      <p:grpSp>
        <p:nvGrpSpPr>
          <p:cNvPr id="42" name="组合 14"/>
          <p:cNvGrpSpPr/>
          <p:nvPr/>
        </p:nvGrpSpPr>
        <p:grpSpPr>
          <a:xfrm>
            <a:off x="7498080" y="2702560"/>
            <a:ext cx="4043680" cy="1737360"/>
            <a:chOff x="7498080" y="2702560"/>
            <a:chExt cx="4043680" cy="1737360"/>
          </a:xfrm>
        </p:grpSpPr>
        <p:sp>
          <p:nvSpPr>
            <p:cNvPr id="1048590" name="矩形 15"/>
            <p:cNvSpPr/>
            <p:nvPr/>
          </p:nvSpPr>
          <p:spPr>
            <a:xfrm>
              <a:off x="7498080" y="2702560"/>
              <a:ext cx="3759200" cy="1452880"/>
            </a:xfrm>
            <a:prstGeom prst="rect">
              <a:avLst/>
            </a:prstGeom>
            <a:solidFill>
              <a:schemeClr val="accent1">
                <a:alpha val="75000"/>
              </a:schemeClr>
            </a:solidFill>
            <a:ln>
              <a:noFill/>
            </a:ln>
            <a:effectLst>
              <a:outerShdw blurRad="50800" dist="38100" dir="270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048591" name="矩形 16"/>
            <p:cNvSpPr/>
            <p:nvPr/>
          </p:nvSpPr>
          <p:spPr>
            <a:xfrm>
              <a:off x="10754360" y="3652520"/>
              <a:ext cx="787400" cy="787400"/>
            </a:xfrm>
            <a:prstGeom prst="rect">
              <a:avLst/>
            </a:prstGeom>
            <a:noFill/>
            <a:ln w="38100">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造字工房力黑（非商用）常规体" pitchFamily="50" charset="-122"/>
                <a:ea typeface="造字工房力黑（非商用）常规体" pitchFamily="50" charset="-122"/>
                <a:sym typeface="Agency FB" panose="020B0503020202020204" pitchFamily="34" charset="0"/>
              </a:endParaRPr>
            </a:p>
          </p:txBody>
        </p:sp>
        <p:sp>
          <p:nvSpPr>
            <p:cNvPr id="1048592" name="文本框 17"/>
            <p:cNvSpPr txBox="1"/>
            <p:nvPr/>
          </p:nvSpPr>
          <p:spPr>
            <a:xfrm>
              <a:off x="7675418" y="3059668"/>
              <a:ext cx="3353262" cy="583565"/>
            </a:xfrm>
            <a:prstGeom prst="rect">
              <a:avLst/>
            </a:prstGeom>
            <a:noFill/>
          </p:spPr>
          <p:txBody>
            <a:bodyPr wrap="square" rtlCol="0">
              <a:spAutoFit/>
            </a:bodyPr>
            <a:lstStyle/>
            <a:p>
              <a:r>
                <a:rPr lang="zh-CN" altLang="en-US" sz="3200" spc="300" dirty="0">
                  <a:solidFill>
                    <a:schemeClr val="bg1"/>
                  </a:solidFill>
                  <a:latin typeface="黑体" panose="02010609060101010101" charset="-122"/>
                  <a:ea typeface="黑体" panose="02010609060101010101" charset="-122"/>
                  <a:sym typeface="Agency FB" panose="020B0503020202020204" pitchFamily="34" charset="0"/>
                </a:rPr>
                <a:t>目录</a:t>
              </a:r>
              <a:endParaRPr lang="zh-CN" altLang="en-US" sz="3200" spc="300" dirty="0">
                <a:solidFill>
                  <a:schemeClr val="bg1"/>
                </a:solidFill>
                <a:latin typeface="黑体" panose="02010609060101010101" charset="-122"/>
                <a:ea typeface="黑体" panose="02010609060101010101" charset="-122"/>
                <a:sym typeface="Agency FB" panose="020B0503020202020204" pitchFamily="34" charset="0"/>
              </a:endParaRPr>
            </a:p>
          </p:txBody>
        </p:sp>
      </p:grpSp>
      <p:sp>
        <p:nvSpPr>
          <p:cNvPr id="1048593" name="Diamond 286"/>
          <p:cNvSpPr/>
          <p:nvPr>
            <p:custDataLst>
              <p:tags r:id="rId2"/>
            </p:custDataLst>
          </p:nvPr>
        </p:nvSpPr>
        <p:spPr>
          <a:xfrm>
            <a:off x="1926590" y="4408170"/>
            <a:ext cx="759460" cy="759460"/>
          </a:xfrm>
          <a:prstGeom prst="diamond">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04</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4" name="TextBox 300"/>
          <p:cNvSpPr txBox="1"/>
          <p:nvPr>
            <p:custDataLst>
              <p:tags r:id="rId3"/>
            </p:custDataLst>
          </p:nvPr>
        </p:nvSpPr>
        <p:spPr>
          <a:xfrm>
            <a:off x="2495550" y="4601845"/>
            <a:ext cx="4821555" cy="369570"/>
          </a:xfrm>
          <a:prstGeom prst="rect">
            <a:avLst/>
          </a:prstGeom>
          <a:noFill/>
        </p:spPr>
        <p:txBody>
          <a:bodyPr wrap="none" lIns="360000" tIns="0" rIns="0" bIns="0" anchor="b" anchorCtr="0">
            <a:noAutofit/>
          </a:bodyPr>
          <a:lstStyle/>
          <a:p>
            <a:pPr algn="l"/>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拟采用方法</a:t>
            </a:r>
            <a:endPar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5" name="Diamond 288"/>
          <p:cNvSpPr/>
          <p:nvPr>
            <p:custDataLst>
              <p:tags r:id="rId4"/>
            </p:custDataLst>
          </p:nvPr>
        </p:nvSpPr>
        <p:spPr>
          <a:xfrm>
            <a:off x="1926590" y="3338830"/>
            <a:ext cx="759460" cy="759460"/>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03</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6" name="TextBox 298"/>
          <p:cNvSpPr txBox="1"/>
          <p:nvPr>
            <p:custDataLst>
              <p:tags r:id="rId5"/>
            </p:custDataLst>
          </p:nvPr>
        </p:nvSpPr>
        <p:spPr>
          <a:xfrm>
            <a:off x="2495550" y="3533140"/>
            <a:ext cx="4821555" cy="369570"/>
          </a:xfrm>
          <a:prstGeom prst="rect">
            <a:avLst/>
          </a:prstGeom>
          <a:noFill/>
        </p:spPr>
        <p:txBody>
          <a:bodyPr wrap="none" lIns="360000" tIns="0" rIns="0" bIns="0" anchor="b" anchorCtr="0">
            <a:noAutofit/>
          </a:bodyPr>
          <a:lstStyle/>
          <a:p>
            <a:pPr algn="l"/>
            <a:r>
              <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课题进展</a:t>
            </a:r>
            <a:endParaRPr lang="zh-CN" altLang="en-US" sz="2400" spc="600" dirty="0">
              <a:solidFill>
                <a:schemeClr val="accent3">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7" name="Diamond 290"/>
          <p:cNvSpPr/>
          <p:nvPr>
            <p:custDataLst>
              <p:tags r:id="rId6"/>
            </p:custDataLst>
          </p:nvPr>
        </p:nvSpPr>
        <p:spPr>
          <a:xfrm>
            <a:off x="1926590" y="2270125"/>
            <a:ext cx="759460" cy="759460"/>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02</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598" name="TextBox 296"/>
          <p:cNvSpPr txBox="1"/>
          <p:nvPr>
            <p:custDataLst>
              <p:tags r:id="rId7"/>
            </p:custDataLst>
          </p:nvPr>
        </p:nvSpPr>
        <p:spPr>
          <a:xfrm>
            <a:off x="2495550" y="2464435"/>
            <a:ext cx="4821555" cy="369570"/>
          </a:xfrm>
          <a:prstGeom prst="rect">
            <a:avLst/>
          </a:prstGeom>
          <a:noFill/>
        </p:spPr>
        <p:txBody>
          <a:bodyPr wrap="none" lIns="360000" tIns="0" rIns="0" bIns="0" anchor="b" anchorCtr="0">
            <a:noAutofit/>
          </a:bodyPr>
          <a:lstStyle/>
          <a:p>
            <a:pPr algn="l"/>
            <a:r>
              <a:rPr lang="zh-CN" altLang="en-US" sz="2400" spc="600" dirty="0">
                <a:solidFill>
                  <a:schemeClr val="accent2">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预期目标</a:t>
            </a:r>
            <a:endParaRPr lang="zh-CN" altLang="en-US" sz="2400" spc="600" dirty="0">
              <a:solidFill>
                <a:schemeClr val="accent2">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
        <p:nvSpPr>
          <p:cNvPr id="1048599" name="Diamond 292"/>
          <p:cNvSpPr/>
          <p:nvPr>
            <p:custDataLst>
              <p:tags r:id="rId8"/>
            </p:custDataLst>
          </p:nvPr>
        </p:nvSpPr>
        <p:spPr>
          <a:xfrm>
            <a:off x="1926590" y="1200785"/>
            <a:ext cx="759460" cy="75946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01</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600" name="TextBox 294"/>
          <p:cNvSpPr txBox="1"/>
          <p:nvPr>
            <p:custDataLst>
              <p:tags r:id="rId9"/>
            </p:custDataLst>
          </p:nvPr>
        </p:nvSpPr>
        <p:spPr>
          <a:xfrm>
            <a:off x="2495550" y="1395730"/>
            <a:ext cx="4821555" cy="369570"/>
          </a:xfrm>
          <a:prstGeom prst="rect">
            <a:avLst/>
          </a:prstGeom>
          <a:noFill/>
        </p:spPr>
        <p:txBody>
          <a:bodyPr wrap="none" lIns="360000" tIns="0" rIns="0" bIns="0" anchor="b" anchorCtr="0">
            <a:noAutofit/>
          </a:bodyPr>
          <a:lstStyle/>
          <a:p>
            <a:pPr algn="l"/>
            <a:r>
              <a:rPr lang="zh-CN" altLang="en-US" sz="2400" spc="600" dirty="0">
                <a:solidFill>
                  <a:schemeClr val="accent1">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选题背景和意义</a:t>
            </a:r>
            <a:endParaRPr lang="zh-CN" altLang="en-US" sz="2400" spc="600" dirty="0">
              <a:solidFill>
                <a:schemeClr val="accent1">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pic>
        <p:nvPicPr>
          <p:cNvPr id="2097153" name="图片 24"/>
          <p:cNvPicPr>
            <a:picLocks noChangeAspect="1"/>
          </p:cNvPicPr>
          <p:nvPr/>
        </p:nvPicPr>
        <p:blipFill>
          <a:blip r:embed="rId10" cstate="print"/>
          <a:srcRect/>
          <a:stretch>
            <a:fillRect/>
          </a:stretch>
        </p:blipFill>
        <p:spPr>
          <a:xfrm>
            <a:off x="511168" y="372358"/>
            <a:ext cx="2174882" cy="456069"/>
          </a:xfrm>
          <a:prstGeom prst="rect">
            <a:avLst/>
          </a:prstGeom>
        </p:spPr>
      </p:pic>
      <p:sp>
        <p:nvSpPr>
          <p:cNvPr id="1048601" name="Diamond 286"/>
          <p:cNvSpPr/>
          <p:nvPr>
            <p:custDataLst>
              <p:tags r:id="rId11"/>
            </p:custDataLst>
          </p:nvPr>
        </p:nvSpPr>
        <p:spPr>
          <a:xfrm>
            <a:off x="1926590" y="5551805"/>
            <a:ext cx="759460" cy="759460"/>
          </a:xfrm>
          <a:prstGeom prst="diamond">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a:r>
              <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rPr>
              <a:t>05</a:t>
            </a:r>
            <a:endParaRPr lang="en-US" altLang="zh-CN" sz="1600">
              <a:solidFill>
                <a:schemeClr val="bg1"/>
              </a:solidFill>
              <a:latin typeface="造字工房力黑（非商用）常规体" pitchFamily="50" charset="-122"/>
              <a:ea typeface="造字工房力黑（非商用）常规体" pitchFamily="50" charset="-122"/>
              <a:cs typeface="+mn-ea"/>
              <a:sym typeface="Agency FB" panose="020B0503020202020204" pitchFamily="34" charset="0"/>
            </a:endParaRPr>
          </a:p>
        </p:txBody>
      </p:sp>
      <p:sp>
        <p:nvSpPr>
          <p:cNvPr id="1048602" name="TextBox 300"/>
          <p:cNvSpPr txBox="1"/>
          <p:nvPr>
            <p:custDataLst>
              <p:tags r:id="rId12"/>
            </p:custDataLst>
          </p:nvPr>
        </p:nvSpPr>
        <p:spPr>
          <a:xfrm>
            <a:off x="2495550" y="5746750"/>
            <a:ext cx="4821555" cy="369570"/>
          </a:xfrm>
          <a:prstGeom prst="rect">
            <a:avLst/>
          </a:prstGeom>
          <a:noFill/>
        </p:spPr>
        <p:txBody>
          <a:bodyPr wrap="none" lIns="360000" tIns="0" rIns="0" bIns="0" anchor="b" anchorCtr="0">
            <a:noAutofit/>
          </a:bodyPr>
          <a:lstStyle/>
          <a:p>
            <a:pPr algn="l"/>
            <a:r>
              <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成员分工及工作安排</a:t>
            </a:r>
            <a:endParaRPr lang="zh-CN" altLang="en-US" sz="2400" spc="600" dirty="0">
              <a:solidFill>
                <a:schemeClr val="accent4">
                  <a:lumMod val="100000"/>
                </a:schemeClr>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606"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54" name="图片 1"/>
          <p:cNvPicPr/>
          <p:nvPr/>
        </p:nvPicPr>
        <p:blipFill>
          <a:blip r:embed="rId2"/>
          <a:srcRect r="17832"/>
          <a:stretch>
            <a:fillRect/>
          </a:stretch>
        </p:blipFill>
        <p:spPr>
          <a:xfrm>
            <a:off x="4064000" y="1407160"/>
            <a:ext cx="8128000" cy="4043680"/>
          </a:xfrm>
          <a:prstGeom prst="rect">
            <a:avLst/>
          </a:prstGeom>
        </p:spPr>
      </p:pic>
      <p:grpSp>
        <p:nvGrpSpPr>
          <p:cNvPr id="46" name="组合 22"/>
          <p:cNvGrpSpPr/>
          <p:nvPr/>
        </p:nvGrpSpPr>
        <p:grpSpPr>
          <a:xfrm>
            <a:off x="0" y="478155"/>
            <a:ext cx="12192001" cy="4972685"/>
            <a:chOff x="0" y="478155"/>
            <a:chExt cx="12192001" cy="4972685"/>
          </a:xfrm>
        </p:grpSpPr>
        <p:grpSp>
          <p:nvGrpSpPr>
            <p:cNvPr id="47" name="组合 25"/>
            <p:cNvGrpSpPr/>
            <p:nvPr/>
          </p:nvGrpSpPr>
          <p:grpSpPr>
            <a:xfrm>
              <a:off x="0" y="1407160"/>
              <a:ext cx="4064000" cy="4043680"/>
              <a:chOff x="0" y="1407160"/>
              <a:chExt cx="4064000" cy="4043680"/>
            </a:xfrm>
          </p:grpSpPr>
          <p:sp>
            <p:nvSpPr>
              <p:cNvPr id="1048607"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08" name="文本框 33"/>
              <p:cNvSpPr txBox="1"/>
              <p:nvPr/>
            </p:nvSpPr>
            <p:spPr>
              <a:xfrm>
                <a:off x="127000" y="3210560"/>
                <a:ext cx="3810000" cy="1260475"/>
              </a:xfrm>
              <a:prstGeom prst="rect">
                <a:avLst/>
              </a:prstGeom>
              <a:noFill/>
            </p:spPr>
            <p:txBody>
              <a:bodyPr wrap="square" rtlCol="0">
                <a:noAutofit/>
              </a:bodyPr>
              <a:lstStyle/>
              <a:p>
                <a:pPr algn="ctr"/>
                <a:r>
                  <a:rPr lang="zh-CN" altLang="en-US" sz="4000" dirty="0">
                    <a:solidFill>
                      <a:schemeClr val="bg1"/>
                    </a:solidFill>
                    <a:latin typeface="黑体" panose="02010609060101010101" charset="-122"/>
                    <a:ea typeface="黑体" panose="02010609060101010101" charset="-122"/>
                    <a:cs typeface="Times New Roman" panose="02020603050405020304" pitchFamily="18" charset="0"/>
                    <a:sym typeface="+mn-lt"/>
                  </a:rPr>
                  <a:t>选题背景和意义</a:t>
                </a:r>
                <a:endParaRPr lang="en-US" altLang="zh-CN" sz="4000" dirty="0">
                  <a:solidFill>
                    <a:schemeClr val="bg1"/>
                  </a:solidFill>
                  <a:latin typeface="黑体" panose="02010609060101010101" charset="-122"/>
                  <a:ea typeface="黑体" panose="02010609060101010101" charset="-122"/>
                  <a:cs typeface="Times New Roman" panose="02020603050405020304" pitchFamily="18" charset="0"/>
                  <a:sym typeface="+mn-lt"/>
                </a:endParaRPr>
              </a:p>
            </p:txBody>
          </p:sp>
        </p:grpSp>
        <p:grpSp>
          <p:nvGrpSpPr>
            <p:cNvPr id="48" name="组合 26"/>
            <p:cNvGrpSpPr/>
            <p:nvPr/>
          </p:nvGrpSpPr>
          <p:grpSpPr>
            <a:xfrm>
              <a:off x="7564229" y="478155"/>
              <a:ext cx="4627772" cy="1386840"/>
              <a:chOff x="7564229" y="478155"/>
              <a:chExt cx="4627772" cy="1386840"/>
            </a:xfrm>
          </p:grpSpPr>
          <p:sp>
            <p:nvSpPr>
              <p:cNvPr id="1048609" name="任意多边形 28"/>
              <p:cNvSpPr/>
              <p:nvPr/>
            </p:nvSpPr>
            <p:spPr>
              <a:xfrm flipH="1" flipV="1">
                <a:off x="7564229" y="478155"/>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10" name="文本框 30"/>
              <p:cNvSpPr txBox="1"/>
              <p:nvPr/>
            </p:nvSpPr>
            <p:spPr>
              <a:xfrm>
                <a:off x="7712365" y="756076"/>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ONE</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611" name="文本框 27"/>
            <p:cNvSpPr txBox="1"/>
            <p:nvPr/>
          </p:nvSpPr>
          <p:spPr>
            <a:xfrm>
              <a:off x="9550399" y="3052435"/>
              <a:ext cx="2349194" cy="1577339"/>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01</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55" name="图片 13"/>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43"/>
          <p:cNvGrpSpPr/>
          <p:nvPr/>
        </p:nvGrpSpPr>
        <p:grpSpPr>
          <a:xfrm>
            <a:off x="0" y="156335"/>
            <a:ext cx="11940390" cy="497839"/>
            <a:chOff x="0" y="156335"/>
            <a:chExt cx="11940390" cy="497839"/>
          </a:xfrm>
        </p:grpSpPr>
        <p:grpSp>
          <p:nvGrpSpPr>
            <p:cNvPr id="60" name="组合 44"/>
            <p:cNvGrpSpPr/>
            <p:nvPr/>
          </p:nvGrpSpPr>
          <p:grpSpPr>
            <a:xfrm>
              <a:off x="0" y="156335"/>
              <a:ext cx="9666514" cy="497839"/>
              <a:chOff x="0" y="248698"/>
              <a:chExt cx="9666514" cy="497839"/>
            </a:xfrm>
          </p:grpSpPr>
          <p:grpSp>
            <p:nvGrpSpPr>
              <p:cNvPr id="61" name="组合 46"/>
              <p:cNvGrpSpPr/>
              <p:nvPr/>
            </p:nvGrpSpPr>
            <p:grpSpPr>
              <a:xfrm>
                <a:off x="0" y="294640"/>
                <a:ext cx="880552" cy="375920"/>
                <a:chOff x="0" y="294640"/>
                <a:chExt cx="1094740" cy="467360"/>
              </a:xfrm>
              <a:solidFill>
                <a:srgbClr val="EE8A10"/>
              </a:solidFill>
            </p:grpSpPr>
            <p:sp>
              <p:nvSpPr>
                <p:cNvPr id="1048626"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27"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28"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29"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2" name="组合 48"/>
              <p:cNvGrpSpPr/>
              <p:nvPr/>
            </p:nvGrpSpPr>
            <p:grpSpPr>
              <a:xfrm>
                <a:off x="3356076" y="408709"/>
                <a:ext cx="1749361" cy="147782"/>
                <a:chOff x="635462" y="775854"/>
                <a:chExt cx="1749361" cy="147782"/>
              </a:xfrm>
              <a:solidFill>
                <a:srgbClr val="EE8A10"/>
              </a:solidFill>
            </p:grpSpPr>
            <p:sp>
              <p:nvSpPr>
                <p:cNvPr id="1048630"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1"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2"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3"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34"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8"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6"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9" name="标题 8"/>
          <p:cNvSpPr>
            <a:spLocks noGrp="1"/>
          </p:cNvSpPr>
          <p:nvPr>
            <p:custDataLst>
              <p:tags r:id="rId2"/>
            </p:custDataLst>
          </p:nvPr>
        </p:nvSpPr>
        <p:spPr>
          <a:xfrm>
            <a:off x="335280" y="709295"/>
            <a:ext cx="8285480" cy="609600"/>
          </a:xfrm>
          <a:prstGeom prst="rect">
            <a:avLst/>
          </a:prstGeom>
          <a:noFill/>
        </p:spPr>
        <p:txBody>
          <a:bodyPr vert="horz" lIns="0" tIns="0" rIns="0" bIns="0" rtlCol="0" anchor="t" anchorCtr="0">
            <a:no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通用机器人的灵巧抓取在现实中的运用</a:t>
            </a:r>
            <a:endParaRPr lang="zh-CN" altLang="en-US" sz="2800">
              <a:latin typeface="黑体" panose="02010609060101010101" charset="-122"/>
              <a:ea typeface="黑体" panose="02010609060101010101" charset="-122"/>
            </a:endParaRPr>
          </a:p>
        </p:txBody>
      </p:sp>
      <p:sp>
        <p:nvSpPr>
          <p:cNvPr id="11" name="文本占位符 10"/>
          <p:cNvSpPr>
            <a:spLocks noGrp="1"/>
          </p:cNvSpPr>
          <p:nvPr>
            <p:custDataLst>
              <p:tags r:id="rId3"/>
            </p:custDataLst>
          </p:nvPr>
        </p:nvSpPr>
        <p:spPr>
          <a:xfrm>
            <a:off x="641350" y="4792345"/>
            <a:ext cx="5080000" cy="126682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随着具身智能与机器人技术的快速发展，研发一个能够抓取现实世界中任何物体的灵巧手，已成为通用具身智能机器人发展的核心关键。相较于传统的平行夹持器或真空吸盘等简单末端执行器，五指灵巧手在结构上高度还原了人类的手部构造，这赋予了它们在操作灵活性、运动精确度以及任务多功能性上无可比拟的显著优势。</a:t>
            </a:r>
            <a:endParaRPr lang="zh-CN" altLang="en-US"/>
          </a:p>
        </p:txBody>
      </p:sp>
      <p:pic>
        <p:nvPicPr>
          <p:cNvPr id="2" name="图片 1" descr="AA1ZtP0x"/>
          <p:cNvPicPr>
            <a:picLocks noChangeAspect="1"/>
          </p:cNvPicPr>
          <p:nvPr/>
        </p:nvPicPr>
        <p:blipFill>
          <a:blip r:embed="rId4"/>
          <a:stretch>
            <a:fillRect/>
          </a:stretch>
        </p:blipFill>
        <p:spPr>
          <a:xfrm>
            <a:off x="6849110" y="1573530"/>
            <a:ext cx="4387215" cy="2863850"/>
          </a:xfrm>
          <a:prstGeom prst="rect">
            <a:avLst/>
          </a:prstGeom>
        </p:spPr>
      </p:pic>
      <p:pic>
        <p:nvPicPr>
          <p:cNvPr id="3" name="图片 2" descr="images"/>
          <p:cNvPicPr>
            <a:picLocks noChangeAspect="1"/>
          </p:cNvPicPr>
          <p:nvPr/>
        </p:nvPicPr>
        <p:blipFill>
          <a:blip r:embed="rId5"/>
          <a:stretch>
            <a:fillRect/>
          </a:stretch>
        </p:blipFill>
        <p:spPr>
          <a:xfrm>
            <a:off x="560070" y="1567180"/>
            <a:ext cx="5077460" cy="2870200"/>
          </a:xfrm>
          <a:prstGeom prst="rect">
            <a:avLst/>
          </a:prstGeom>
        </p:spPr>
      </p:pic>
      <p:sp>
        <p:nvSpPr>
          <p:cNvPr id="13" name="文本占位符 12"/>
          <p:cNvSpPr>
            <a:spLocks noGrp="1"/>
          </p:cNvSpPr>
          <p:nvPr>
            <p:custDataLst>
              <p:tags r:id="rId6"/>
            </p:custDataLst>
          </p:nvPr>
        </p:nvSpPr>
        <p:spPr>
          <a:xfrm>
            <a:off x="6753225" y="4792345"/>
            <a:ext cx="4829175" cy="201993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如今，智能机器人正越来越密集地被部署在充满人类活动的生活与工作环境中。这意味着，机器人需要像人类一样去交互、接触广泛多样的常见物体，甚至需要熟练使用那些专门为人类手部设计的工具。因此，开发一种高精度且具备通用适配能力的灵巧抓取生成算法，构成了具身智能物理交互的最底层基石。</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578485" y="70294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cs typeface="黑体" panose="02010609060101010101" charset="-122"/>
              </a:rPr>
              <a:t>机器手是如何</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拿</a:t>
            </a:r>
            <a:r>
              <a:rPr lang="en-US" altLang="zh-CN" sz="2800">
                <a:latin typeface="黑体" panose="02010609060101010101" charset="-122"/>
                <a:ea typeface="黑体" panose="02010609060101010101" charset="-122"/>
                <a:cs typeface="黑体" panose="02010609060101010101" charset="-122"/>
              </a:rPr>
              <a:t>”</a:t>
            </a:r>
            <a:r>
              <a:rPr lang="zh-CN" altLang="en-US" sz="2800">
                <a:latin typeface="黑体" panose="02010609060101010101" charset="-122"/>
                <a:ea typeface="黑体" panose="02010609060101010101" charset="-122"/>
                <a:cs typeface="黑体" panose="02010609060101010101" charset="-122"/>
              </a:rPr>
              <a:t>起物体的？</a:t>
            </a:r>
            <a:endParaRPr lang="zh-CN" altLang="en-US" sz="2800">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324725" y="1233805"/>
            <a:ext cx="4751705" cy="1814830"/>
          </a:xfrm>
          <a:prstGeom prst="rect">
            <a:avLst/>
          </a:prstGeom>
          <a:noFill/>
        </p:spPr>
        <p:txBody>
          <a:bodyPr wrap="square" rtlCol="0">
            <a:spAutoFit/>
          </a:bodyPr>
          <a:lstStyle/>
          <a:p>
            <a:r>
              <a:rPr lang="zh-CN" altLang="en-US" sz="1600"/>
              <a:t>机器人抓取在原理上可以拆解为几个简单易懂的步骤。首先，机器人需要</a:t>
            </a:r>
            <a:r>
              <a:rPr lang="en-US" altLang="zh-CN" sz="1600"/>
              <a:t>“</a:t>
            </a:r>
            <a:r>
              <a:rPr lang="zh-CN" altLang="en-US" sz="1600"/>
              <a:t>看到</a:t>
            </a:r>
            <a:r>
              <a:rPr lang="en-US" altLang="zh-CN" sz="1600"/>
              <a:t>”</a:t>
            </a:r>
            <a:r>
              <a:rPr lang="zh-CN" altLang="en-US" sz="1600"/>
              <a:t>并理解物体，通常通过提取</a:t>
            </a:r>
            <a:r>
              <a:rPr lang="en-US" altLang="zh-CN" sz="1600"/>
              <a:t>3D</a:t>
            </a:r>
            <a:r>
              <a:rPr lang="zh-CN" altLang="en-US" sz="1600"/>
              <a:t>点云等形式来获取物体的形状特征</a:t>
            </a:r>
            <a:r>
              <a:rPr lang="en-US" altLang="zh-CN" sz="1600"/>
              <a:t> </a:t>
            </a:r>
            <a:r>
              <a:rPr lang="zh-CN" altLang="en-US" sz="1600"/>
              <a:t>。接着，算法大脑要计算出一个精准的</a:t>
            </a:r>
            <a:r>
              <a:rPr lang="en-US" altLang="zh-CN" sz="1600"/>
              <a:t>“</a:t>
            </a:r>
            <a:r>
              <a:rPr lang="zh-CN" altLang="en-US" sz="1600"/>
              <a:t>抓取姿态</a:t>
            </a:r>
            <a:r>
              <a:rPr lang="en-US" altLang="zh-CN" sz="1600"/>
              <a:t>”——</a:t>
            </a:r>
            <a:r>
              <a:rPr lang="zh-CN" altLang="en-US" sz="1600"/>
              <a:t>这就好比决定手要放在空间中的哪个位置（平移）、手腕怎么转动（旋转）、以及每根手指的关节需要弯曲多少度（关节角度）</a:t>
            </a:r>
            <a:r>
              <a:rPr lang="en-US" altLang="zh-CN" sz="1600"/>
              <a:t> </a:t>
            </a:r>
            <a:r>
              <a:rPr lang="zh-CN" altLang="en-US" sz="1600"/>
              <a:t>。</a:t>
            </a:r>
            <a:endParaRPr lang="zh-CN" altLang="en-US" sz="1600"/>
          </a:p>
        </p:txBody>
      </p:sp>
      <p:sp>
        <p:nvSpPr>
          <p:cNvPr id="17" name="文本框 16"/>
          <p:cNvSpPr txBox="1"/>
          <p:nvPr/>
        </p:nvSpPr>
        <p:spPr>
          <a:xfrm>
            <a:off x="7325360" y="3261995"/>
            <a:ext cx="4445000" cy="3046095"/>
          </a:xfrm>
          <a:prstGeom prst="rect">
            <a:avLst/>
          </a:prstGeom>
          <a:noFill/>
        </p:spPr>
        <p:txBody>
          <a:bodyPr wrap="square" rtlCol="0">
            <a:spAutoFit/>
          </a:bodyPr>
          <a:lstStyle/>
          <a:p>
            <a:r>
              <a:rPr lang="zh-CN" altLang="en-US" sz="1600"/>
              <a:t>在过去，科学家主要靠</a:t>
            </a:r>
            <a:r>
              <a:rPr lang="en-US" altLang="zh-CN" sz="1600"/>
              <a:t>“</a:t>
            </a:r>
            <a:r>
              <a:rPr lang="zh-CN" altLang="en-US" sz="1600"/>
              <a:t>硬算</a:t>
            </a:r>
            <a:r>
              <a:rPr lang="en-US" altLang="zh-CN" sz="1600"/>
              <a:t>”</a:t>
            </a:r>
            <a:r>
              <a:rPr lang="zh-CN" altLang="en-US" sz="1600"/>
              <a:t>（分析法），利用复杂的力学公式来计算手指施加的力是否能稳稳锁住物体并满足特定物理约束</a:t>
            </a:r>
            <a:r>
              <a:rPr lang="en-US" altLang="zh-CN" sz="1600"/>
              <a:t> </a:t>
            </a:r>
            <a:r>
              <a:rPr lang="zh-CN" altLang="en-US" sz="1600"/>
              <a:t>。但这种方法计算量极大且成功率低</a:t>
            </a:r>
            <a:r>
              <a:rPr lang="en-US" altLang="zh-CN" sz="1600"/>
              <a:t> </a:t>
            </a:r>
            <a:r>
              <a:rPr lang="zh-CN" altLang="en-US" sz="1600"/>
              <a:t>。如今，主流方法转为了</a:t>
            </a:r>
            <a:r>
              <a:rPr lang="en-US" altLang="zh-CN" sz="1600"/>
              <a:t>“</a:t>
            </a:r>
            <a:r>
              <a:rPr lang="zh-CN" altLang="en-US" sz="1600"/>
              <a:t>数据学习</a:t>
            </a:r>
            <a:r>
              <a:rPr lang="en-US" altLang="zh-CN" sz="1600"/>
              <a:t>”</a:t>
            </a:r>
            <a:r>
              <a:rPr lang="zh-CN" altLang="en-US" sz="1600"/>
              <a:t>（数据驱动法），即让</a:t>
            </a:r>
            <a:r>
              <a:rPr lang="en-US" altLang="zh-CN" sz="1600"/>
              <a:t>AI</a:t>
            </a:r>
            <a:r>
              <a:rPr lang="zh-CN" altLang="en-US" sz="1600"/>
              <a:t>学习海量成功抓取的例子，直接预测抓取动作</a:t>
            </a:r>
            <a:r>
              <a:rPr lang="en-US" altLang="zh-CN" sz="1600"/>
              <a:t> </a:t>
            </a:r>
            <a:r>
              <a:rPr lang="zh-CN" altLang="en-US" sz="1600"/>
              <a:t>。无论用哪种方法，一个成功的抓取都必须满足三大常识：第一，手指内侧要紧紧贴合甚至拉近物体表面</a:t>
            </a:r>
            <a:r>
              <a:rPr lang="en-US" altLang="zh-CN" sz="1600"/>
              <a:t> </a:t>
            </a:r>
            <a:r>
              <a:rPr lang="zh-CN" altLang="en-US" sz="1600"/>
              <a:t>；第二，机器人的手不能不合常理地</a:t>
            </a:r>
            <a:r>
              <a:rPr lang="en-US" altLang="zh-CN" sz="1600"/>
              <a:t>“</a:t>
            </a:r>
            <a:r>
              <a:rPr lang="zh-CN" altLang="en-US" sz="1600"/>
              <a:t>穿透</a:t>
            </a:r>
            <a:r>
              <a:rPr lang="en-US" altLang="zh-CN" sz="1600"/>
              <a:t>”</a:t>
            </a:r>
            <a:r>
              <a:rPr lang="zh-CN" altLang="en-US" sz="1600"/>
              <a:t>到物体内部</a:t>
            </a:r>
            <a:r>
              <a:rPr lang="en-US" altLang="zh-CN" sz="1600"/>
              <a:t> </a:t>
            </a:r>
            <a:r>
              <a:rPr lang="zh-CN" altLang="en-US" sz="1600"/>
              <a:t>；第三，手指和手指之间不能互相碰撞</a:t>
            </a:r>
            <a:r>
              <a:rPr lang="en-US" altLang="zh-CN" sz="1600"/>
              <a:t>“</a:t>
            </a:r>
            <a:r>
              <a:rPr lang="zh-CN" altLang="en-US" sz="1600"/>
              <a:t>打架</a:t>
            </a:r>
            <a:r>
              <a:rPr lang="en-US" altLang="zh-CN" sz="1600"/>
              <a:t>” </a:t>
            </a:r>
            <a:r>
              <a:rPr lang="zh-CN" altLang="en-US" sz="1600"/>
              <a:t>。满足了这些，机器人就能像人一样稳稳拿起物体。</a:t>
            </a:r>
            <a:endParaRPr lang="zh-CN" altLang="en-US" sz="1600"/>
          </a:p>
        </p:txBody>
      </p:sp>
      <p:pic>
        <p:nvPicPr>
          <p:cNvPr id="3" name="图片 2" descr="v2-24074fb0dc8a56e248cc708d33958eb9_r"/>
          <p:cNvPicPr>
            <a:picLocks noChangeAspect="1"/>
          </p:cNvPicPr>
          <p:nvPr/>
        </p:nvPicPr>
        <p:blipFill>
          <a:blip r:embed="rId3"/>
          <a:stretch>
            <a:fillRect/>
          </a:stretch>
        </p:blipFill>
        <p:spPr>
          <a:xfrm>
            <a:off x="304800" y="1509395"/>
            <a:ext cx="6786880" cy="46843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483235" y="68580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现有方法的缺点和局限性</a:t>
            </a:r>
            <a:endParaRPr lang="zh-CN" altLang="en-US" sz="2800">
              <a:latin typeface="黑体" panose="02010609060101010101" charset="-122"/>
              <a:ea typeface="黑体" panose="02010609060101010101" charset="-122"/>
            </a:endParaRPr>
          </a:p>
        </p:txBody>
      </p:sp>
      <p:sp>
        <p:nvSpPr>
          <p:cNvPr id="5" name="文本占位符 4"/>
          <p:cNvSpPr>
            <a:spLocks noGrp="1"/>
          </p:cNvSpPr>
          <p:nvPr>
            <p:custDataLst>
              <p:tags r:id="rId3"/>
            </p:custDataLst>
          </p:nvPr>
        </p:nvSpPr>
        <p:spPr>
          <a:xfrm>
            <a:off x="6632575" y="1362710"/>
            <a:ext cx="4906645"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回顾当前的灵巧抓取技术，虽然已有许多尝试，但面临着严峻的挑战。早期的分析学方法主要依赖物理引擎约束来优化抓取姿态，但由于灵巧手自身具有极高的运动自由度，加之需要搜索的构型空间极其庞大，导致这类优化算法的过程极为复杂且抓取成功率偏低。近年来，数据驱动的方法逐渐兴起，特别是基于回归的方法，试图直接从物体的</a:t>
            </a:r>
            <a:r>
              <a:rPr lang="en-US" altLang="zh-CN"/>
              <a:t>3D</a:t>
            </a:r>
            <a:r>
              <a:rPr lang="zh-CN" altLang="en-US"/>
              <a:t>输入中预测抓取参数。</a:t>
            </a:r>
            <a:endParaRPr lang="zh-CN" altLang="en-US"/>
          </a:p>
        </p:txBody>
      </p:sp>
      <p:sp>
        <p:nvSpPr>
          <p:cNvPr id="7" name="文本占位符 6"/>
          <p:cNvSpPr>
            <a:spLocks noGrp="1"/>
          </p:cNvSpPr>
          <p:nvPr>
            <p:custDataLst>
              <p:tags r:id="rId4"/>
            </p:custDataLst>
          </p:nvPr>
        </p:nvSpPr>
        <p:spPr>
          <a:xfrm>
            <a:off x="6631940" y="4044315"/>
            <a:ext cx="4907280" cy="152400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然而，这类回归模型经常遭遇</a:t>
            </a:r>
            <a:r>
              <a:rPr lang="en-US" altLang="zh-CN"/>
              <a:t>“</a:t>
            </a:r>
            <a:r>
              <a:rPr lang="zh-CN" altLang="en-US"/>
              <a:t>模式崩溃（</a:t>
            </a:r>
            <a:r>
              <a:rPr lang="en-US" altLang="zh-CN"/>
              <a:t>mode collapse</a:t>
            </a:r>
            <a:r>
              <a:rPr lang="zh-CN" altLang="en-US"/>
              <a:t>）</a:t>
            </a:r>
            <a:r>
              <a:rPr lang="en-US" altLang="zh-CN"/>
              <a:t>”</a:t>
            </a:r>
            <a:r>
              <a:rPr lang="zh-CN" altLang="en-US"/>
              <a:t>和预测平均化的问题，导致它们生成的抓取姿态严重缺乏多样性，只能生成几种固定套路。此外，由于现实世界中物体的几何形状具备浩如烟海的多样性，如何稳健、高效地为各种异形物体生成高质量、且具有高度可用性的抓取姿态，仍然是目前整个机器人视觉与控制领域的一大技术鸿沟。</a:t>
            </a:r>
            <a:endParaRPr lang="zh-CN" altLang="en-US"/>
          </a:p>
        </p:txBody>
      </p:sp>
      <p:pic>
        <p:nvPicPr>
          <p:cNvPr id="9" name="图片 8" descr="v2-fca0fd59431d292f22246cfa015f6880_1440w"/>
          <p:cNvPicPr>
            <a:picLocks noChangeAspect="1"/>
          </p:cNvPicPr>
          <p:nvPr/>
        </p:nvPicPr>
        <p:blipFill>
          <a:blip r:embed="rId5"/>
          <a:stretch>
            <a:fillRect/>
          </a:stretch>
        </p:blipFill>
        <p:spPr>
          <a:xfrm>
            <a:off x="284480" y="1484630"/>
            <a:ext cx="6083300" cy="4629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564515" y="70739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现有工作的的部分解决方案</a:t>
            </a:r>
            <a:endParaRPr lang="zh-CN" altLang="en-US" sz="2800">
              <a:latin typeface="黑体" panose="02010609060101010101" charset="-122"/>
              <a:ea typeface="黑体" panose="02010609060101010101" charset="-122"/>
            </a:endParaRPr>
          </a:p>
        </p:txBody>
      </p:sp>
      <p:sp>
        <p:nvSpPr>
          <p:cNvPr id="4" name="文本占位符 4"/>
          <p:cNvSpPr>
            <a:spLocks noGrp="1"/>
          </p:cNvSpPr>
          <p:nvPr>
            <p:custDataLst>
              <p:tags r:id="rId3"/>
            </p:custDataLst>
          </p:nvPr>
        </p:nvSpPr>
        <p:spPr>
          <a:xfrm>
            <a:off x="6632575" y="1621790"/>
            <a:ext cx="4906645" cy="211582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为了解决抓取多样性的问题，学术界近期将目光投向了生成式模型。其中，扩散模型因其能够通过迭代去噪机制，将简单的各向同性高斯分布完美映射为复杂的高维数据分布，展现出了在捕获灵巧抓取复杂性上的巨大潜力。然而，现有的文献表明，直接将扩散模型应用于抓取参数生成时，往往会产生次优的抓取结果。</a:t>
            </a:r>
            <a:endParaRPr lang="zh-CN" altLang="en-US"/>
          </a:p>
        </p:txBody>
      </p:sp>
      <p:sp>
        <p:nvSpPr>
          <p:cNvPr id="6" name="文本占位符 6"/>
          <p:cNvSpPr>
            <a:spLocks noGrp="1"/>
          </p:cNvSpPr>
          <p:nvPr>
            <p:custDataLst>
              <p:tags r:id="rId4"/>
            </p:custDataLst>
          </p:nvPr>
        </p:nvSpPr>
        <p:spPr>
          <a:xfrm>
            <a:off x="6632575" y="4081145"/>
            <a:ext cx="4907280" cy="229171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最严重的问题在于，由于纯粹的数据驱动网络在训练和采样过程中缺乏强制执行物理规则的约束机制，模型频繁生成具有严重</a:t>
            </a:r>
            <a:r>
              <a:rPr lang="en-US" altLang="zh-CN"/>
              <a:t>“</a:t>
            </a:r>
            <a:r>
              <a:rPr lang="zh-CN" altLang="en-US"/>
              <a:t>穿透（</a:t>
            </a:r>
            <a:r>
              <a:rPr lang="en-US" altLang="zh-CN"/>
              <a:t>Penetration</a:t>
            </a:r>
            <a:r>
              <a:rPr lang="zh-CN" altLang="en-US"/>
              <a:t>）</a:t>
            </a:r>
            <a:r>
              <a:rPr lang="en-US" altLang="zh-CN"/>
              <a:t>”</a:t>
            </a:r>
            <a:r>
              <a:rPr lang="zh-CN" altLang="en-US"/>
              <a:t>现象的姿态（即机器人的手模进入了物体内部），或者导致手指与物体接触不充分。换言之，不讲物理定律的生成模型无法直接用于真实的物理机器人。如何将显式的物理定律融合进扩散模型，是现有文献亟待攻克的难关。</a:t>
            </a:r>
            <a:endParaRPr lang="zh-CN" altLang="en-US"/>
          </a:p>
        </p:txBody>
      </p:sp>
      <p:pic>
        <p:nvPicPr>
          <p:cNvPr id="8" name="图片 7"/>
          <p:cNvPicPr>
            <a:picLocks noChangeAspect="1"/>
          </p:cNvPicPr>
          <p:nvPr/>
        </p:nvPicPr>
        <p:blipFill>
          <a:blip r:embed="rId5"/>
          <a:stretch>
            <a:fillRect/>
          </a:stretch>
        </p:blipFill>
        <p:spPr>
          <a:xfrm>
            <a:off x="335280" y="2318385"/>
            <a:ext cx="5969635" cy="2866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组合 43"/>
          <p:cNvGrpSpPr/>
          <p:nvPr/>
        </p:nvGrpSpPr>
        <p:grpSpPr>
          <a:xfrm>
            <a:off x="0" y="156335"/>
            <a:ext cx="11940390" cy="497839"/>
            <a:chOff x="0" y="156335"/>
            <a:chExt cx="11940390" cy="497839"/>
          </a:xfrm>
        </p:grpSpPr>
        <p:grpSp>
          <p:nvGrpSpPr>
            <p:cNvPr id="67" name="组合 44"/>
            <p:cNvGrpSpPr/>
            <p:nvPr/>
          </p:nvGrpSpPr>
          <p:grpSpPr>
            <a:xfrm>
              <a:off x="0" y="156335"/>
              <a:ext cx="9666514" cy="497839"/>
              <a:chOff x="0" y="248698"/>
              <a:chExt cx="9666514" cy="497839"/>
            </a:xfrm>
          </p:grpSpPr>
          <p:grpSp>
            <p:nvGrpSpPr>
              <p:cNvPr id="68" name="组合 46"/>
              <p:cNvGrpSpPr/>
              <p:nvPr/>
            </p:nvGrpSpPr>
            <p:grpSpPr>
              <a:xfrm>
                <a:off x="0" y="294640"/>
                <a:ext cx="880552" cy="375920"/>
                <a:chOff x="0" y="294640"/>
                <a:chExt cx="1094740" cy="467360"/>
              </a:xfrm>
              <a:solidFill>
                <a:srgbClr val="EE8A10"/>
              </a:solidFill>
            </p:grpSpPr>
            <p:sp>
              <p:nvSpPr>
                <p:cNvPr id="1048641"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2"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43"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44" name="文本框 47"/>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one</a:t>
                </a:r>
                <a:endParaRPr lang="zh-CN" altLang="en-US" sz="2400" b="1" spc="600" dirty="0">
                  <a:latin typeface="锐字工房云字库细圆GBK" panose="02010604000000000000" pitchFamily="2" charset="-122"/>
                  <a:ea typeface="锐字工房云字库细圆GBK" panose="02010604000000000000" pitchFamily="2" charset="-122"/>
                </a:endParaRPr>
              </a:p>
            </p:txBody>
          </p:sp>
          <p:grpSp>
            <p:nvGrpSpPr>
              <p:cNvPr id="69" name="组合 48"/>
              <p:cNvGrpSpPr/>
              <p:nvPr/>
            </p:nvGrpSpPr>
            <p:grpSpPr>
              <a:xfrm>
                <a:off x="3356076" y="408709"/>
                <a:ext cx="1749361" cy="147782"/>
                <a:chOff x="635462" y="775854"/>
                <a:chExt cx="1749361" cy="147782"/>
              </a:xfrm>
              <a:solidFill>
                <a:srgbClr val="EE8A10"/>
              </a:solidFill>
            </p:grpSpPr>
            <p:sp>
              <p:nvSpPr>
                <p:cNvPr id="1048645" name="椭圆 50"/>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6" name="椭圆 51"/>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7" name="椭圆 52"/>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8" name="椭圆 53"/>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49" name="椭圆 54"/>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29" name="直接连接符 49"/>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57" name="图片 45"/>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652780" y="737870"/>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选题意义与核心研究价值</a:t>
            </a:r>
            <a:endParaRPr lang="zh-CN" altLang="en-US" sz="2800">
              <a:latin typeface="黑体" panose="02010609060101010101" charset="-122"/>
              <a:ea typeface="黑体" panose="02010609060101010101" charset="-122"/>
            </a:endParaRPr>
          </a:p>
        </p:txBody>
      </p:sp>
      <p:sp>
        <p:nvSpPr>
          <p:cNvPr id="7" name="文本占位符 6"/>
          <p:cNvSpPr>
            <a:spLocks noGrp="1"/>
          </p:cNvSpPr>
          <p:nvPr>
            <p:custDataLst>
              <p:tags r:id="rId3"/>
            </p:custDataLst>
          </p:nvPr>
        </p:nvSpPr>
        <p:spPr>
          <a:xfrm>
            <a:off x="652780" y="5022215"/>
            <a:ext cx="10714355" cy="1226185"/>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本研究具有较高的应用工程意义。目前开源的抓取数据集普遍存在数据分布狭窄、物体类别局限以及难以大规模扩展等致命缺陷。本研究计划构建一个规模较大、多样性强的灵巧抓取数据集，这不仅能显著提升基于扩散生成算法的上限，也将极大促进整个机器人控制与机器视觉交叉领域的长远发展，向着通用化灵巧抓取迈出关键一步。同时设计一个相应的算法，来使得对应抓取的灵活度上升，使得能够灵活抓取到相应的目标。</a:t>
            </a:r>
            <a:endParaRPr lang="zh-CN" altLang="en-US"/>
          </a:p>
        </p:txBody>
      </p:sp>
      <p:pic>
        <p:nvPicPr>
          <p:cNvPr id="3" name="图片 2" descr="images (1)"/>
          <p:cNvPicPr>
            <a:picLocks noChangeAspect="1"/>
          </p:cNvPicPr>
          <p:nvPr/>
        </p:nvPicPr>
        <p:blipFill>
          <a:blip r:embed="rId4"/>
          <a:stretch>
            <a:fillRect/>
          </a:stretch>
        </p:blipFill>
        <p:spPr>
          <a:xfrm>
            <a:off x="593090" y="1620520"/>
            <a:ext cx="5175885" cy="2835910"/>
          </a:xfrm>
          <a:prstGeom prst="rect">
            <a:avLst/>
          </a:prstGeom>
        </p:spPr>
      </p:pic>
      <p:pic>
        <p:nvPicPr>
          <p:cNvPr id="5" name="图片 4" descr="v2_4dad3dea97f84f7abae9fa7c5e99fa21@5888275_oswg509055oswg1080oswg609_img_000"/>
          <p:cNvPicPr>
            <a:picLocks noChangeAspect="1"/>
          </p:cNvPicPr>
          <p:nvPr/>
        </p:nvPicPr>
        <p:blipFill>
          <a:blip r:embed="rId5"/>
          <a:stretch>
            <a:fillRect/>
          </a:stretch>
        </p:blipFill>
        <p:spPr>
          <a:xfrm>
            <a:off x="6261735" y="1620520"/>
            <a:ext cx="4937125" cy="2784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655"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58"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73" name="雷锋PPT网www.lfppt.com"/>
          <p:cNvGrpSpPr/>
          <p:nvPr/>
        </p:nvGrpSpPr>
        <p:grpSpPr>
          <a:xfrm>
            <a:off x="0" y="713740"/>
            <a:ext cx="12192001" cy="4737100"/>
            <a:chOff x="0" y="713740"/>
            <a:chExt cx="12192001" cy="4737100"/>
          </a:xfrm>
        </p:grpSpPr>
        <p:grpSp>
          <p:nvGrpSpPr>
            <p:cNvPr id="74" name="组合 25"/>
            <p:cNvGrpSpPr/>
            <p:nvPr/>
          </p:nvGrpSpPr>
          <p:grpSpPr>
            <a:xfrm>
              <a:off x="0" y="1407160"/>
              <a:ext cx="4064000" cy="4043680"/>
              <a:chOff x="0" y="1407160"/>
              <a:chExt cx="4064000" cy="4043680"/>
            </a:xfrm>
          </p:grpSpPr>
          <p:sp>
            <p:nvSpPr>
              <p:cNvPr id="1048656"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57" name="文本框 33"/>
              <p:cNvSpPr txBox="1"/>
              <p:nvPr/>
            </p:nvSpPr>
            <p:spPr>
              <a:xfrm>
                <a:off x="104775" y="3052624"/>
                <a:ext cx="3810000" cy="706755"/>
              </a:xfrm>
              <a:prstGeom prst="rect">
                <a:avLst/>
              </a:prstGeom>
              <a:noFill/>
            </p:spPr>
            <p:txBody>
              <a:bodyPr wrap="square" rtlCol="0">
                <a:spAutoFit/>
              </a:bodyPr>
              <a:lstStyle/>
              <a:p>
                <a:pPr algn="ct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预期目标</a:t>
                </a:r>
                <a:endPar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grpSp>
        <p:grpSp>
          <p:nvGrpSpPr>
            <p:cNvPr id="75" name="组合 26"/>
            <p:cNvGrpSpPr/>
            <p:nvPr/>
          </p:nvGrpSpPr>
          <p:grpSpPr>
            <a:xfrm>
              <a:off x="7564229" y="713740"/>
              <a:ext cx="4627772" cy="1386840"/>
              <a:chOff x="7564229" y="713740"/>
              <a:chExt cx="4627772" cy="1386840"/>
            </a:xfrm>
          </p:grpSpPr>
          <p:sp>
            <p:nvSpPr>
              <p:cNvPr id="1048658"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659" name="文本框 30"/>
              <p:cNvSpPr txBox="1"/>
              <p:nvPr/>
            </p:nvSpPr>
            <p:spPr>
              <a:xfrm>
                <a:off x="771236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TWO</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660"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02</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59"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组合 2"/>
          <p:cNvGrpSpPr/>
          <p:nvPr/>
        </p:nvGrpSpPr>
        <p:grpSpPr>
          <a:xfrm>
            <a:off x="0" y="156335"/>
            <a:ext cx="11940390" cy="497839"/>
            <a:chOff x="0" y="156335"/>
            <a:chExt cx="11940390" cy="497839"/>
          </a:xfrm>
        </p:grpSpPr>
        <p:grpSp>
          <p:nvGrpSpPr>
            <p:cNvPr id="80" name="组合 3"/>
            <p:cNvGrpSpPr/>
            <p:nvPr/>
          </p:nvGrpSpPr>
          <p:grpSpPr>
            <a:xfrm>
              <a:off x="0" y="156335"/>
              <a:ext cx="9666514" cy="497839"/>
              <a:chOff x="0" y="248698"/>
              <a:chExt cx="9666514" cy="497839"/>
            </a:xfrm>
          </p:grpSpPr>
          <p:grpSp>
            <p:nvGrpSpPr>
              <p:cNvPr id="81" name="组合 4"/>
              <p:cNvGrpSpPr/>
              <p:nvPr/>
            </p:nvGrpSpPr>
            <p:grpSpPr>
              <a:xfrm>
                <a:off x="0" y="294640"/>
                <a:ext cx="880552" cy="375920"/>
                <a:chOff x="0" y="294640"/>
                <a:chExt cx="1094740" cy="467360"/>
              </a:xfrm>
              <a:solidFill>
                <a:srgbClr val="EE8A10"/>
              </a:solidFill>
            </p:grpSpPr>
            <p:sp>
              <p:nvSpPr>
                <p:cNvPr id="1048665"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66"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667"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68"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two</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82" name="组合 6"/>
              <p:cNvGrpSpPr/>
              <p:nvPr/>
            </p:nvGrpSpPr>
            <p:grpSpPr>
              <a:xfrm>
                <a:off x="3356076" y="408709"/>
                <a:ext cx="1749361" cy="147782"/>
                <a:chOff x="635462" y="775854"/>
                <a:chExt cx="1749361" cy="147782"/>
              </a:xfrm>
              <a:solidFill>
                <a:srgbClr val="EE8A10"/>
              </a:solidFill>
            </p:grpSpPr>
            <p:sp>
              <p:nvSpPr>
                <p:cNvPr id="1048669"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0"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1"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2"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3"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0"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60"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2" name="标题 1"/>
          <p:cNvSpPr>
            <a:spLocks noGrp="1"/>
          </p:cNvSpPr>
          <p:nvPr>
            <p:custDataLst>
              <p:tags r:id="rId2"/>
            </p:custDataLst>
          </p:nvPr>
        </p:nvSpPr>
        <p:spPr>
          <a:xfrm>
            <a:off x="652780" y="650875"/>
            <a:ext cx="10972800" cy="609600"/>
          </a:xfrm>
          <a:prstGeom prst="rect">
            <a:avLst/>
          </a:prstGeom>
          <a:noFill/>
        </p:spPr>
        <p:txBody>
          <a:bodyPr vert="horz" lIns="0" tIns="0" rIns="0" bIns="0" rtlCol="0" anchor="t" anchorCtr="0">
            <a:normAutofit/>
          </a:bodyPr>
          <a:lstStyle>
            <a:lvl1pPr marL="0" indent="0" algn="l" defTabSz="914400" rtl="0" eaLnBrk="1" fontAlgn="auto" latinLnBrk="0" hangingPunct="1">
              <a:lnSpc>
                <a:spcPct val="111000"/>
              </a:lnSpc>
              <a:spcBef>
                <a:spcPct val="0"/>
              </a:spcBef>
              <a:spcAft>
                <a:spcPct val="0"/>
              </a:spcAft>
              <a:buNone/>
              <a:defRPr sz="3600" b="0" u="none" strike="noStrike" kern="1200" cap="none" spc="0" normalizeH="0" baseline="0">
                <a:solidFill>
                  <a:schemeClr val="tx1"/>
                </a:solidFill>
                <a:uFillTx/>
                <a:latin typeface="MiSans Demibold" panose="00000700000000000000" charset="-122"/>
                <a:ea typeface="MiSans Medium" panose="00000600000000000000" charset="-122"/>
                <a:cs typeface="+mj-cs"/>
                <a:sym typeface="MiSans Demibold" panose="00000700000000000000" charset="-122"/>
              </a:defRPr>
            </a:lvl1pPr>
          </a:lstStyle>
          <a:p>
            <a:r>
              <a:rPr lang="zh-CN" altLang="en-US" sz="2800">
                <a:latin typeface="黑体" panose="02010609060101010101" charset="-122"/>
                <a:ea typeface="黑体" panose="02010609060101010101" charset="-122"/>
              </a:rPr>
              <a:t>预期研究目标</a:t>
            </a:r>
            <a:endParaRPr lang="zh-CN" altLang="en-US" sz="2800">
              <a:latin typeface="黑体" panose="02010609060101010101" charset="-122"/>
              <a:ea typeface="黑体" panose="02010609060101010101" charset="-122"/>
            </a:endParaRPr>
          </a:p>
        </p:txBody>
      </p:sp>
      <p:sp>
        <p:nvSpPr>
          <p:cNvPr id="7" name="文本占位符 6"/>
          <p:cNvSpPr>
            <a:spLocks noGrp="1"/>
          </p:cNvSpPr>
          <p:nvPr>
            <p:custDataLst>
              <p:tags r:id="rId3"/>
            </p:custDataLst>
          </p:nvPr>
        </p:nvSpPr>
        <p:spPr>
          <a:xfrm>
            <a:off x="648018" y="4866005"/>
            <a:ext cx="10714355" cy="1604010"/>
          </a:xfrm>
          <a:prstGeom prst="rect">
            <a:avLst/>
          </a:prstGeom>
          <a:noFill/>
        </p:spPr>
        <p:txBody>
          <a:bodyPr vert="horz" lIns="0" tIns="0" rIns="0" bIns="0" rtlCol="0" anchor="t">
            <a:noAutofit/>
          </a:bodyPr>
          <a:lstStyle>
            <a:lvl1pPr marL="0" indent="0" algn="l" defTabSz="914400" rtl="0" eaLnBrk="1" fontAlgn="auto" latinLnBrk="0" hangingPunct="1">
              <a:lnSpc>
                <a:spcPct val="125000"/>
              </a:lnSpc>
              <a:spcBef>
                <a:spcPct val="0"/>
              </a:spcBef>
              <a:spcAft>
                <a:spcPct val="0"/>
              </a:spcAft>
              <a:buFont typeface="Arial" panose="020B0604020202020204" pitchFamily="34" charset="0"/>
              <a:buNone/>
              <a:defRPr sz="1600" b="0" u="none" strike="noStrike" kern="1200" cap="none" spc="0" normalizeH="0" baseline="0">
                <a:solidFill>
                  <a:schemeClr val="tx1"/>
                </a:solidFill>
                <a:uFillTx/>
                <a:latin typeface="MiSans Medium" panose="00000600000000000000" charset="-122"/>
                <a:ea typeface="MiSans Normal" panose="00000500000000000000" charset="-122"/>
                <a:cs typeface="+mn-cs"/>
                <a:sym typeface="MiSans Medium" panose="000006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iSans Medium" panose="00000600000000000000" charset="-122"/>
                <a:ea typeface="MiSans Normal" panose="00000500000000000000" charset="-122"/>
                <a:cs typeface="+mn-cs"/>
                <a:sym typeface="MiSans Medium" panose="000006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本研究旨在围绕灵巧手抓取问题，系统梳理当前主流方法在数据构建、抓取表示、物理建模与策略学习等方面的关键技术进展，重点分析以</a:t>
            </a:r>
            <a:r>
              <a:rPr lang="en-US" altLang="zh-CN" dirty="0" err="1"/>
              <a:t>DexGraspNet、D</a:t>
            </a:r>
            <a:r>
              <a:rPr lang="en-US" altLang="zh-CN" dirty="0"/>
              <a:t>(R,O) </a:t>
            </a:r>
            <a:r>
              <a:rPr lang="en-US" altLang="zh-CN" dirty="0" err="1"/>
              <a:t>Grasp、DexGrasp</a:t>
            </a:r>
            <a:r>
              <a:rPr lang="en-US" altLang="zh-CN" dirty="0"/>
              <a:t> Anything</a:t>
            </a:r>
            <a:r>
              <a:rPr lang="zh-CN" altLang="en-US" dirty="0"/>
              <a:t>和</a:t>
            </a:r>
            <a:r>
              <a:rPr lang="en-US" altLang="zh-CN" dirty="0" err="1"/>
              <a:t>UniDexGrasp</a:t>
            </a:r>
            <a:r>
              <a:rPr lang="en-US" altLang="zh-CN" dirty="0"/>
              <a:t>++</a:t>
            </a:r>
            <a:r>
              <a:rPr lang="zh-CN" altLang="en-US" dirty="0"/>
              <a:t>为代表的方法在提升抓取泛化能力、物理可行性与学习效率方面的核心思想与局限性。在此基础上，构建一个统一的分析框架，总结不同技术路线之间的内在联系与发展趋势，归纳当前方法在跨物体、跨结构泛化以及真实场景部署中的关键瓶颈，并进一步明确未来可能的研究方向，如表示与物理约束的融合建模。最终形成一篇具有系统性、对比性与前瞻性的综述论文，为后续灵巧操作与具身智能研究提供理论参考与方法指导。</a:t>
            </a:r>
            <a:endParaRPr lang="zh-CN" altLang="en-US" dirty="0"/>
          </a:p>
        </p:txBody>
      </p:sp>
      <p:pic>
        <p:nvPicPr>
          <p:cNvPr id="3" name="图片 2" descr="A2SSnJNlu9JVBGi5EiIC6y0qVS80DMG5NfwECQSMHVT6k3Gmrm3XNPZ_BXTOqek9DuG3k-Eme7ygoBa4ZStS2pS-hNXL-xl_MD4jb325ntHl60iHHpP4VAMthkUx98eAse0ZuiDiK-2fjdDZegm9Y7m-jUZC_qWDE2fuae6sG23vJxwjylOorPzFO0NEpw_1"/>
          <p:cNvPicPr>
            <a:picLocks noChangeAspect="1"/>
          </p:cNvPicPr>
          <p:nvPr/>
        </p:nvPicPr>
        <p:blipFill>
          <a:blip r:embed="rId4"/>
          <a:stretch>
            <a:fillRect/>
          </a:stretch>
        </p:blipFill>
        <p:spPr>
          <a:xfrm>
            <a:off x="2722245" y="1148080"/>
            <a:ext cx="6431280" cy="3613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sp>
        <p:nvSpPr>
          <p:cNvPr id="1048722"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69" name="Picture 2"/>
          <p:cNvPicPr>
            <a:picLocks noChangeAspect="1" noChangeArrowheads="1"/>
          </p:cNvPicPr>
          <p:nvPr/>
        </p:nvPicPr>
        <p:blipFill rotWithShape="1">
          <a:blip r:embed="rId2" cstate="print"/>
          <a:srcRect/>
          <a:stretch>
            <a:fillRect/>
          </a:stretch>
        </p:blipFill>
        <p:spPr bwMode="auto">
          <a:xfrm>
            <a:off x="4191000" y="1407160"/>
            <a:ext cx="8001000" cy="4043680"/>
          </a:xfrm>
          <a:prstGeom prst="rect">
            <a:avLst/>
          </a:prstGeom>
          <a:noFill/>
        </p:spPr>
      </p:pic>
      <p:grpSp>
        <p:nvGrpSpPr>
          <p:cNvPr id="107" name="组合 22"/>
          <p:cNvGrpSpPr/>
          <p:nvPr/>
        </p:nvGrpSpPr>
        <p:grpSpPr>
          <a:xfrm>
            <a:off x="0" y="713740"/>
            <a:ext cx="12192001" cy="4737100"/>
            <a:chOff x="0" y="713740"/>
            <a:chExt cx="12192001" cy="4737100"/>
          </a:xfrm>
        </p:grpSpPr>
        <p:grpSp>
          <p:nvGrpSpPr>
            <p:cNvPr id="108" name="组合 25"/>
            <p:cNvGrpSpPr/>
            <p:nvPr/>
          </p:nvGrpSpPr>
          <p:grpSpPr>
            <a:xfrm>
              <a:off x="0" y="1407160"/>
              <a:ext cx="4064000" cy="4043680"/>
              <a:chOff x="0" y="1407160"/>
              <a:chExt cx="4064000" cy="4043680"/>
            </a:xfrm>
          </p:grpSpPr>
          <p:sp>
            <p:nvSpPr>
              <p:cNvPr id="1048723"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24" name="文本框 33"/>
              <p:cNvSpPr txBox="1"/>
              <p:nvPr/>
            </p:nvSpPr>
            <p:spPr>
              <a:xfrm>
                <a:off x="127000" y="3052564"/>
                <a:ext cx="3810000" cy="706755"/>
              </a:xfrm>
              <a:prstGeom prst="rect">
                <a:avLst/>
              </a:prstGeom>
              <a:noFill/>
            </p:spPr>
            <p:txBody>
              <a:bodyPr wrap="square" rtlCol="0">
                <a:spAutoFit/>
              </a:bodyPr>
              <a:lstStyle/>
              <a:p>
                <a:pPr algn="ctr"/>
                <a:r>
                  <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rPr>
                  <a:t>课题进展</a:t>
                </a:r>
                <a:endParaRPr lang="zh-CN" altLang="en-US" sz="4000" spc="600" dirty="0">
                  <a:solidFill>
                    <a:schemeClr val="bg1"/>
                  </a:solidFill>
                  <a:latin typeface="黑体" panose="02010609060101010101" charset="-122"/>
                  <a:ea typeface="黑体" panose="02010609060101010101" charset="-122"/>
                  <a:cs typeface="Times New Roman" panose="02020603050405020304" pitchFamily="18" charset="0"/>
                  <a:sym typeface="Agency FB" panose="020B0503020202020204" pitchFamily="34" charset="0"/>
                </a:endParaRPr>
              </a:p>
            </p:txBody>
          </p:sp>
        </p:grpSp>
        <p:grpSp>
          <p:nvGrpSpPr>
            <p:cNvPr id="109" name="组合 26"/>
            <p:cNvGrpSpPr/>
            <p:nvPr/>
          </p:nvGrpSpPr>
          <p:grpSpPr>
            <a:xfrm>
              <a:off x="7130472" y="713740"/>
              <a:ext cx="5061529" cy="1386840"/>
              <a:chOff x="7130472" y="713740"/>
              <a:chExt cx="5061529" cy="1386840"/>
            </a:xfrm>
          </p:grpSpPr>
          <p:sp>
            <p:nvSpPr>
              <p:cNvPr id="1048725" name="任意多边形 28"/>
              <p:cNvSpPr/>
              <p:nvPr/>
            </p:nvSpPr>
            <p:spPr>
              <a:xfrm flipH="1" flipV="1">
                <a:off x="7130472" y="713740"/>
                <a:ext cx="5061527"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26" name="文本框 30"/>
              <p:cNvSpPr txBox="1"/>
              <p:nvPr/>
            </p:nvSpPr>
            <p:spPr>
              <a:xfrm>
                <a:off x="7564229" y="991661"/>
                <a:ext cx="4627772" cy="701040"/>
              </a:xfrm>
              <a:prstGeom prst="rect">
                <a:avLst/>
              </a:prstGeom>
              <a:noFill/>
            </p:spPr>
            <p:txBody>
              <a:bodyPr wrap="square" rtlCol="0">
                <a:spAutoFit/>
              </a:bodyPr>
              <a:lstStyle/>
              <a:p>
                <a:pPr algn="r"/>
                <a:r>
                  <a:rPr lang="en-US" altLang="zh-CN" sz="3600" spc="300" dirty="0">
                    <a:solidFill>
                      <a:schemeClr val="bg1"/>
                    </a:solidFill>
                    <a:latin typeface="造字工房力黑（非商用）常规体" pitchFamily="50" charset="-122"/>
                    <a:ea typeface="造字工房力黑（非商用）常规体" pitchFamily="50" charset="-122"/>
                    <a:cs typeface="+mn-ea"/>
                    <a:sym typeface="+mn-lt"/>
                  </a:rPr>
                  <a:t>PART THREE</a:t>
                </a:r>
                <a:endParaRPr lang="zh-CN" altLang="en-US" sz="36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27"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03</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0" name="图片 14"/>
          <p:cNvPicPr>
            <a:picLocks noChangeAspect="1"/>
          </p:cNvPicPr>
          <p:nvPr/>
        </p:nvPicPr>
        <p:blipFill>
          <a:blip r:embed="rId3"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4225290"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自2023年以来，灵巧手抓取姿势生成进入快速发展阶段，其核心特征是从传统监督学习方法全面转向生成式建模（尤其是扩散模型），并逐步向物理一致性建模、跨场景泛化以及任务语义融合三个方向演进。从整体脉络来看，该阶段研究可以划分为四条主线：</a:t>
            </a:r>
            <a:r>
              <a:rPr lang="zh-CN" altLang="en-US" i="0" dirty="0">
                <a:solidFill>
                  <a:srgbClr val="FF0000"/>
                </a:solidFill>
                <a:effectLst/>
                <a:latin typeface="微软雅黑" panose="020B0503020204020204" pitchFamily="34" charset="-122"/>
                <a:ea typeface="微软雅黑" panose="020B0503020204020204" pitchFamily="34" charset="-122"/>
              </a:rPr>
              <a:t>生成模型驱动、物理约束融合、大规模数据与场景扩展，以及语义与泛化能力提升</a:t>
            </a:r>
            <a:r>
              <a:rPr lang="zh-CN" altLang="en-US" i="0" dirty="0">
                <a:effectLst/>
                <a:latin typeface="微软雅黑" panose="020B0503020204020204" pitchFamily="34" charset="-122"/>
                <a:ea typeface="微软雅黑" panose="020B0503020204020204" pitchFamily="34" charset="-122"/>
              </a:rPr>
              <a:t>。</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p:txBody>
      </p:sp>
      <p:pic>
        <p:nvPicPr>
          <p:cNvPr id="2" name="图片 1" descr="20260426130411-2d2d166b-9b437560"/>
          <p:cNvPicPr>
            <a:picLocks noChangeAspect="1"/>
          </p:cNvPicPr>
          <p:nvPr/>
        </p:nvPicPr>
        <p:blipFill>
          <a:blip r:embed="rId2"/>
          <a:stretch>
            <a:fillRect/>
          </a:stretch>
        </p:blipFill>
        <p:spPr>
          <a:xfrm>
            <a:off x="5330825" y="1344295"/>
            <a:ext cx="6308725" cy="42056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dirty="0">
                <a:effectLst/>
                <a:latin typeface="微软雅黑" panose="020B0503020204020204" pitchFamily="34" charset="-122"/>
                <a:ea typeface="微软雅黑" panose="020B0503020204020204" pitchFamily="34" charset="-122"/>
                <a:sym typeface="+mn-ea"/>
              </a:rPr>
              <a:t>在生成模型方面，</a:t>
            </a:r>
            <a:r>
              <a:rPr lang="zh-CN" altLang="en-US" b="1" dirty="0">
                <a:effectLst/>
                <a:latin typeface="微软雅黑" panose="020B0503020204020204" pitchFamily="34" charset="-122"/>
                <a:ea typeface="微软雅黑" panose="020B0503020204020204" pitchFamily="34" charset="-122"/>
                <a:sym typeface="+mn-ea"/>
              </a:rPr>
              <a:t>扩散模型</a:t>
            </a:r>
            <a:r>
              <a:rPr lang="zh-CN" altLang="en-US" dirty="0">
                <a:effectLst/>
                <a:latin typeface="微软雅黑" panose="020B0503020204020204" pitchFamily="34" charset="-122"/>
                <a:ea typeface="微软雅黑" panose="020B0503020204020204" pitchFamily="34" charset="-122"/>
                <a:sym typeface="+mn-ea"/>
              </a:rPr>
              <a:t>成为2023年以来的主导技术路线。2024年，</a:t>
            </a:r>
            <a:r>
              <a:rPr lang="en-US" altLang="zh-CN" dirty="0">
                <a:effectLst/>
                <a:latin typeface="微软雅黑" panose="020B0503020204020204" pitchFamily="34" charset="-122"/>
                <a:ea typeface="微软雅黑" panose="020B0503020204020204" pitchFamily="34" charset="-122"/>
                <a:sym typeface="+mn-ea"/>
              </a:rPr>
              <a:t>Weng </a:t>
            </a:r>
            <a:r>
              <a:rPr lang="zh-CN" altLang="en-US" dirty="0">
                <a:effectLst/>
                <a:latin typeface="微软雅黑" panose="020B0503020204020204" pitchFamily="34" charset="-122"/>
                <a:ea typeface="微软雅黑" panose="020B0503020204020204" pitchFamily="34" charset="-122"/>
                <a:sym typeface="+mn-ea"/>
              </a:rPr>
              <a:t>等人提出 </a:t>
            </a:r>
            <a:r>
              <a:rPr lang="en-US" altLang="zh-CN" dirty="0">
                <a:effectLst/>
                <a:latin typeface="微软雅黑" panose="020B0503020204020204" pitchFamily="34" charset="-122"/>
                <a:ea typeface="微软雅黑" panose="020B0503020204020204" pitchFamily="34" charset="-122"/>
                <a:sym typeface="+mn-ea"/>
              </a:rPr>
              <a:t>DexDiffuser（2024, arXiv），</a:t>
            </a:r>
            <a:r>
              <a:rPr lang="zh-CN" altLang="en-US" dirty="0">
                <a:effectLst/>
                <a:latin typeface="微软雅黑" panose="020B0503020204020204" pitchFamily="34" charset="-122"/>
                <a:ea typeface="微软雅黑" panose="020B0503020204020204" pitchFamily="34" charset="-122"/>
                <a:sym typeface="+mn-ea"/>
              </a:rPr>
              <a:t>首次系统性地将条件扩散模型应用于灵巧手抓取生成问题，通过在点云条件下对抓取姿态进行逐步去噪采样，实现了多模态抓取生成，并结合评估器引导（</a:t>
            </a:r>
            <a:r>
              <a:rPr lang="en-US" altLang="zh-CN" dirty="0">
                <a:effectLst/>
                <a:latin typeface="微软雅黑" panose="020B0503020204020204" pitchFamily="34" charset="-122"/>
                <a:ea typeface="微软雅黑" panose="020B0503020204020204" pitchFamily="34" charset="-122"/>
                <a:sym typeface="+mn-ea"/>
              </a:rPr>
              <a:t>Evaluator-Guided Diffusion）</a:t>
            </a:r>
            <a:r>
              <a:rPr lang="zh-CN" altLang="en-US" dirty="0">
                <a:effectLst/>
                <a:latin typeface="微软雅黑" panose="020B0503020204020204" pitchFamily="34" charset="-122"/>
                <a:ea typeface="微软雅黑" panose="020B0503020204020204" pitchFamily="34" charset="-122"/>
                <a:sym typeface="+mn-ea"/>
              </a:rPr>
              <a:t>进一步提升抓取成功率。实验表明，该方法在仿真与真实机器人中均显著优于此前方法，验证了扩散模型在高自由度抓取空间中的建模能力 。随后，</a:t>
            </a:r>
            <a:r>
              <a:rPr lang="en-US" altLang="zh-CN" dirty="0">
                <a:effectLst/>
                <a:latin typeface="微软雅黑" panose="020B0503020204020204" pitchFamily="34" charset="-122"/>
                <a:ea typeface="微软雅黑" panose="020B0503020204020204" pitchFamily="34" charset="-122"/>
                <a:sym typeface="+mn-ea"/>
              </a:rPr>
              <a:t>Zhang </a:t>
            </a:r>
            <a:r>
              <a:rPr lang="zh-CN" altLang="en-US" dirty="0">
                <a:effectLst/>
                <a:latin typeface="微软雅黑" panose="020B0503020204020204" pitchFamily="34" charset="-122"/>
                <a:ea typeface="微软雅黑" panose="020B0503020204020204" pitchFamily="34" charset="-122"/>
                <a:sym typeface="+mn-ea"/>
              </a:rPr>
              <a:t>等人提出 </a:t>
            </a:r>
            <a:r>
              <a:rPr lang="en-US" altLang="zh-CN" dirty="0">
                <a:effectLst/>
                <a:latin typeface="微软雅黑" panose="020B0503020204020204" pitchFamily="34" charset="-122"/>
                <a:ea typeface="微软雅黑" panose="020B0503020204020204" pitchFamily="34" charset="-122"/>
                <a:sym typeface="+mn-ea"/>
              </a:rPr>
              <a:t>DexGrasp-Diffusion（2024, arXiv），</a:t>
            </a:r>
            <a:r>
              <a:rPr lang="zh-CN" altLang="en-US" dirty="0">
                <a:effectLst/>
                <a:latin typeface="微软雅黑" panose="020B0503020204020204" pitchFamily="34" charset="-122"/>
                <a:ea typeface="微软雅黑" panose="020B0503020204020204" pitchFamily="34" charset="-122"/>
                <a:sym typeface="+mn-ea"/>
              </a:rPr>
              <a:t>进一步将扩散模型与功能性抓取结合，引入物理判别器与功能判别器，使模型能够生成符合特定任务可供性的抓取姿态，从而推动抓取从“几何合理”向“功能合理”转变 。</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在此基础上，研究开始关注生成模型的物理一致性问题。传统扩散模型虽然能够生成多样抓取，但往往缺乏物理约束，导致穿透或不稳定接触。为此，</a:t>
            </a:r>
            <a:r>
              <a:rPr lang="en-US" altLang="zh-CN" i="0" dirty="0">
                <a:effectLst/>
                <a:latin typeface="微软雅黑" panose="020B0503020204020204" pitchFamily="34" charset="-122"/>
                <a:ea typeface="微软雅黑" panose="020B0503020204020204" pitchFamily="34" charset="-122"/>
              </a:rPr>
              <a:t>Zhong </a:t>
            </a:r>
            <a:r>
              <a:rPr lang="zh-CN" altLang="en-US" i="0" dirty="0">
                <a:effectLst/>
                <a:latin typeface="微软雅黑" panose="020B0503020204020204" pitchFamily="34" charset="-122"/>
                <a:ea typeface="微软雅黑" panose="020B0503020204020204" pitchFamily="34" charset="-122"/>
              </a:rPr>
              <a:t>等人在 </a:t>
            </a:r>
            <a:r>
              <a:rPr lang="en-US" altLang="zh-CN" i="0" dirty="0">
                <a:effectLst/>
                <a:latin typeface="微软雅黑" panose="020B0503020204020204" pitchFamily="34" charset="-122"/>
                <a:ea typeface="微软雅黑" panose="020B0503020204020204" pitchFamily="34" charset="-122"/>
              </a:rPr>
              <a:t>DexGrasp Anything（CVPR 2025） </a:t>
            </a:r>
            <a:r>
              <a:rPr lang="zh-CN" altLang="en-US" i="0" dirty="0">
                <a:effectLst/>
                <a:latin typeface="微软雅黑" panose="020B0503020204020204" pitchFamily="34" charset="-122"/>
                <a:ea typeface="微软雅黑" panose="020B0503020204020204" pitchFamily="34" charset="-122"/>
              </a:rPr>
              <a:t>中提出将</a:t>
            </a:r>
            <a:r>
              <a:rPr lang="zh-CN" altLang="en-US" b="1" i="0" dirty="0">
                <a:solidFill>
                  <a:srgbClr val="FF0000"/>
                </a:solidFill>
                <a:effectLst/>
                <a:latin typeface="微软雅黑" panose="020B0503020204020204" pitchFamily="34" charset="-122"/>
                <a:ea typeface="微软雅黑" panose="020B0503020204020204" pitchFamily="34" charset="-122"/>
              </a:rPr>
              <a:t>物理约束</a:t>
            </a:r>
            <a:r>
              <a:rPr lang="zh-CN" altLang="en-US" i="0" dirty="0">
                <a:effectLst/>
                <a:latin typeface="微软雅黑" panose="020B0503020204020204" pitchFamily="34" charset="-122"/>
                <a:ea typeface="微软雅黑" panose="020B0503020204020204" pitchFamily="34" charset="-122"/>
              </a:rPr>
              <a:t>直接融入扩散模型的训练与采样阶段，通过设计接触、穿透与结构约束损失，使生成分布在训练过程中即受到物理规则约束，从而显著提升抓取的稳定性与泛化能力 。该工作标志着研究范式从“生成后再优化”转向“生成即物理可行”，也是后续可微物理建模方向的重要基础。进一步地，2025–2026年的最新研究开始探索将</a:t>
            </a:r>
            <a:r>
              <a:rPr lang="zh-CN" altLang="en-US" b="1" i="0" dirty="0">
                <a:effectLst/>
                <a:latin typeface="微软雅黑" panose="020B0503020204020204" pitchFamily="34" charset="-122"/>
                <a:ea typeface="微软雅黑" panose="020B0503020204020204" pitchFamily="34" charset="-122"/>
              </a:rPr>
              <a:t>可微物理仿真（</a:t>
            </a:r>
            <a:r>
              <a:rPr lang="en-US" altLang="zh-CN" b="1" i="0" dirty="0">
                <a:effectLst/>
                <a:latin typeface="微软雅黑" panose="020B0503020204020204" pitchFamily="34" charset="-122"/>
                <a:ea typeface="微软雅黑" panose="020B0503020204020204" pitchFamily="34" charset="-122"/>
              </a:rPr>
              <a:t>differentiable simulation）</a:t>
            </a:r>
            <a:r>
              <a:rPr lang="zh-CN" altLang="en-US" b="1" i="0" dirty="0">
                <a:effectLst/>
                <a:latin typeface="微软雅黑" panose="020B0503020204020204" pitchFamily="34" charset="-122"/>
                <a:ea typeface="微软雅黑" panose="020B0503020204020204" pitchFamily="34" charset="-122"/>
              </a:rPr>
              <a:t>嵌入训练过程，通过对接触力、摩擦约束及动力学一致性的可微建模，使生成模型能够在训练阶段直接学习物理规律，从而减少对后验优化的依赖。</a:t>
            </a:r>
            <a:endParaRPr lang="zh-CN" altLang="en-US" b="1"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与此同时，大规模数据驱动成为推动模型性能提升的关键因素。</a:t>
            </a:r>
            <a:r>
              <a:rPr lang="en-US" altLang="zh-CN" i="0" dirty="0">
                <a:effectLst/>
                <a:latin typeface="微软雅黑" panose="020B0503020204020204" pitchFamily="34" charset="-122"/>
                <a:ea typeface="微软雅黑" panose="020B0503020204020204" pitchFamily="34" charset="-122"/>
              </a:rPr>
              <a:t>Zhang </a:t>
            </a:r>
            <a:r>
              <a:rPr lang="zh-CN" altLang="en-US" i="0" dirty="0">
                <a:effectLst/>
                <a:latin typeface="微软雅黑" panose="020B0503020204020204" pitchFamily="34" charset="-122"/>
                <a:ea typeface="微软雅黑" panose="020B0503020204020204" pitchFamily="34" charset="-122"/>
              </a:rPr>
              <a:t>等人在 </a:t>
            </a:r>
            <a:r>
              <a:rPr lang="en-US" altLang="zh-CN" i="0" dirty="0">
                <a:effectLst/>
                <a:latin typeface="微软雅黑" panose="020B0503020204020204" pitchFamily="34" charset="-122"/>
                <a:ea typeface="微软雅黑" panose="020B0503020204020204" pitchFamily="34" charset="-122"/>
              </a:rPr>
              <a:t>DexGraspNet 2.0（CoRL 2024 / arXiv 2024） </a:t>
            </a:r>
            <a:r>
              <a:rPr lang="zh-CN" altLang="en-US" i="0" dirty="0">
                <a:effectLst/>
                <a:latin typeface="微软雅黑" panose="020B0503020204020204" pitchFamily="34" charset="-122"/>
                <a:ea typeface="微软雅黑" panose="020B0503020204020204" pitchFamily="34" charset="-122"/>
              </a:rPr>
              <a:t>中构建了包含427 </a:t>
            </a:r>
            <a:r>
              <a:rPr lang="en-US" altLang="zh-CN" i="0" dirty="0">
                <a:effectLst/>
                <a:latin typeface="微软雅黑" panose="020B0503020204020204" pitchFamily="34" charset="-122"/>
                <a:ea typeface="微软雅黑" panose="020B0503020204020204" pitchFamily="34" charset="-122"/>
              </a:rPr>
              <a:t>million</a:t>
            </a:r>
            <a:r>
              <a:rPr lang="zh-CN" altLang="en-US" i="0" dirty="0">
                <a:effectLst/>
                <a:latin typeface="微软雅黑" panose="020B0503020204020204" pitchFamily="34" charset="-122"/>
                <a:ea typeface="微软雅黑" panose="020B0503020204020204" pitchFamily="34" charset="-122"/>
              </a:rPr>
              <a:t>抓取的大规模数据集，并提出基于扩散模型的生成方法，在杂乱场景（</a:t>
            </a:r>
            <a:r>
              <a:rPr lang="en-US" altLang="zh-CN" i="0" dirty="0">
                <a:effectLst/>
                <a:latin typeface="微软雅黑" panose="020B0503020204020204" pitchFamily="34" charset="-122"/>
                <a:ea typeface="微软雅黑" panose="020B0503020204020204" pitchFamily="34" charset="-122"/>
              </a:rPr>
              <a:t>cluttered scenes）</a:t>
            </a:r>
            <a:r>
              <a:rPr lang="zh-CN" altLang="en-US" i="0" dirty="0">
                <a:effectLst/>
                <a:latin typeface="微软雅黑" panose="020B0503020204020204" pitchFamily="34" charset="-122"/>
                <a:ea typeface="微软雅黑" panose="020B0503020204020204" pitchFamily="34" charset="-122"/>
              </a:rPr>
              <a:t>中实现了显著性能提升，并在真实机器人上取得超过90%的抓取成功率 。该工作表明，</a:t>
            </a:r>
            <a:r>
              <a:rPr lang="zh-CN" altLang="en-US" b="1" i="0" dirty="0">
                <a:solidFill>
                  <a:srgbClr val="FF0000"/>
                </a:solidFill>
                <a:effectLst/>
                <a:latin typeface="微软雅黑" panose="020B0503020204020204" pitchFamily="34" charset="-122"/>
                <a:ea typeface="微软雅黑" panose="020B0503020204020204" pitchFamily="34" charset="-122"/>
              </a:rPr>
              <a:t>数据规模与场景复杂度</a:t>
            </a:r>
            <a:r>
              <a:rPr lang="zh-CN" altLang="en-US" i="0" dirty="0">
                <a:effectLst/>
                <a:latin typeface="微软雅黑" panose="020B0503020204020204" pitchFamily="34" charset="-122"/>
                <a:ea typeface="微软雅黑" panose="020B0503020204020204" pitchFamily="34" charset="-122"/>
              </a:rPr>
              <a:t>对于提升模型泛化能力具有决定性作用。此外，</a:t>
            </a:r>
            <a:r>
              <a:rPr lang="en-US" altLang="zh-CN" i="0" dirty="0">
                <a:effectLst/>
                <a:latin typeface="微软雅黑" panose="020B0503020204020204" pitchFamily="34" charset="-122"/>
                <a:ea typeface="微软雅黑" panose="020B0503020204020204" pitchFamily="34" charset="-122"/>
              </a:rPr>
              <a:t>DexGrasp Anything（2025）</a:t>
            </a:r>
            <a:r>
              <a:rPr lang="zh-CN" altLang="en-US" i="0" dirty="0">
                <a:effectLst/>
                <a:latin typeface="微软雅黑" panose="020B0503020204020204" pitchFamily="34" charset="-122"/>
                <a:ea typeface="微软雅黑" panose="020B0503020204020204" pitchFamily="34" charset="-122"/>
              </a:rPr>
              <a:t>进一步扩展数据规模至数百万抓取并覆盖超过15000类物体，为“通用灵巧抓取”提供了数据基础 。</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dirty="0">
                <a:effectLst/>
                <a:latin typeface="微软雅黑" panose="020B0503020204020204" pitchFamily="34" charset="-122"/>
                <a:ea typeface="微软雅黑" panose="020B0503020204020204" pitchFamily="34" charset="-122"/>
                <a:sym typeface="+mn-ea"/>
              </a:rPr>
              <a:t>在泛化与语义建模方面，研究逐渐突破“单物体几何抓取”的限制，转向跨类别、跨任务的统一建模。</a:t>
            </a:r>
            <a:r>
              <a:rPr lang="en-US" altLang="zh-CN" dirty="0">
                <a:effectLst/>
                <a:latin typeface="微软雅黑" panose="020B0503020204020204" pitchFamily="34" charset="-122"/>
                <a:ea typeface="微软雅黑" panose="020B0503020204020204" pitchFamily="34" charset="-122"/>
                <a:sym typeface="+mn-ea"/>
              </a:rPr>
              <a:t>Jian </a:t>
            </a:r>
            <a:r>
              <a:rPr lang="zh-CN" altLang="en-US" dirty="0">
                <a:effectLst/>
                <a:latin typeface="微软雅黑" panose="020B0503020204020204" pitchFamily="34" charset="-122"/>
                <a:ea typeface="微软雅黑" panose="020B0503020204020204" pitchFamily="34" charset="-122"/>
                <a:sym typeface="+mn-ea"/>
              </a:rPr>
              <a:t>等人在 </a:t>
            </a:r>
            <a:r>
              <a:rPr lang="en-US" altLang="zh-CN" dirty="0">
                <a:effectLst/>
                <a:latin typeface="微软雅黑" panose="020B0503020204020204" pitchFamily="34" charset="-122"/>
                <a:ea typeface="微软雅黑" panose="020B0503020204020204" pitchFamily="34" charset="-122"/>
                <a:sym typeface="+mn-ea"/>
              </a:rPr>
              <a:t>G-DexGrasp（2025, arXiv） </a:t>
            </a:r>
            <a:r>
              <a:rPr lang="zh-CN" altLang="en-US" dirty="0">
                <a:effectLst/>
                <a:latin typeface="微软雅黑" panose="020B0503020204020204" pitchFamily="34" charset="-122"/>
                <a:ea typeface="微软雅黑" panose="020B0503020204020204" pitchFamily="34" charset="-122"/>
                <a:sym typeface="+mn-ea"/>
              </a:rPr>
              <a:t>中提出检索增强生成（</a:t>
            </a:r>
            <a:r>
              <a:rPr lang="en-US" altLang="zh-CN" dirty="0">
                <a:effectLst/>
                <a:latin typeface="微软雅黑" panose="020B0503020204020204" pitchFamily="34" charset="-122"/>
                <a:ea typeface="微软雅黑" panose="020B0503020204020204" pitchFamily="34" charset="-122"/>
                <a:sym typeface="+mn-ea"/>
              </a:rPr>
              <a:t>retrieval-augmented generation）</a:t>
            </a:r>
            <a:r>
              <a:rPr lang="zh-CN" altLang="en-US" dirty="0">
                <a:effectLst/>
                <a:latin typeface="微软雅黑" panose="020B0503020204020204" pitchFamily="34" charset="-122"/>
                <a:ea typeface="微软雅黑" panose="020B0503020204020204" pitchFamily="34" charset="-122"/>
                <a:sym typeface="+mn-ea"/>
              </a:rPr>
              <a:t>框架，通过引入部件级接触先验与可供性分布，使模型能够在未见类别物体和语言指令条件下生成合理抓取 。这一方向体现出明显趋势，即将抓取问题从“几何匹配”拓展为“语义驱动的交互决策问题”。同时，结合语言模型与3</a:t>
            </a:r>
            <a:r>
              <a:rPr lang="en-US" altLang="zh-CN" dirty="0">
                <a:effectLst/>
                <a:latin typeface="微软雅黑" panose="020B0503020204020204" pitchFamily="34" charset="-122"/>
                <a:ea typeface="微软雅黑" panose="020B0503020204020204" pitchFamily="34" charset="-122"/>
                <a:sym typeface="+mn-ea"/>
              </a:rPr>
              <a:t>D</a:t>
            </a:r>
            <a:r>
              <a:rPr lang="zh-CN" altLang="en-US" dirty="0">
                <a:effectLst/>
                <a:latin typeface="微软雅黑" panose="020B0503020204020204" pitchFamily="34" charset="-122"/>
                <a:ea typeface="微软雅黑" panose="020B0503020204020204" pitchFamily="34" charset="-122"/>
                <a:sym typeface="+mn-ea"/>
              </a:rPr>
              <a:t>表示的统一建模也逐渐成为研究热点，使抓取生成能够适应“倒水”“旋拧”等具体操作任务。</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参考文献总览</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253990"/>
          </a:xfrm>
          <a:prstGeom prst="rect">
            <a:avLst/>
          </a:prstGeom>
          <a:noFill/>
        </p:spPr>
        <p:txBody>
          <a:bodyPr wrap="square">
            <a:noAutofit/>
          </a:bodyPr>
          <a:lstStyle/>
          <a:p>
            <a:pPr indent="457200" algn="l" fontAlgn="auto">
              <a:lnSpc>
                <a:spcPct val="150000"/>
              </a:lnSpc>
              <a:buFont typeface="+mj-lt"/>
              <a:buNone/>
            </a:pPr>
            <a:r>
              <a:rPr lang="zh-CN" altLang="en-US" sz="1200" i="0" dirty="0">
                <a:effectLst/>
                <a:latin typeface="微软雅黑" panose="020B0503020204020204" pitchFamily="34" charset="-122"/>
                <a:ea typeface="微软雅黑" panose="020B0503020204020204" pitchFamily="34" charset="-122"/>
              </a:rPr>
              <a:t>一、生成模型：</a:t>
            </a:r>
            <a:endParaRPr lang="zh-CN" altLang="en-US"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DexDiffuser: Generating Dexterous Grasps with Diffusion Models(2024)</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DexGrasp-Diffusion: Diffusion-based Unified Functional Grasp Synthesis(2024)</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UGG: Unified Generative Grasping with Transformer and Diffusion Models(NeurIPS 2023)</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sz="1200" i="0" dirty="0">
                <a:effectLst/>
                <a:latin typeface="微软雅黑" panose="020B0503020204020204" pitchFamily="34" charset="-122"/>
                <a:ea typeface="微软雅黑" panose="020B0503020204020204" pitchFamily="34" charset="-122"/>
              </a:rPr>
              <a:t>二、物理感知 / 物理约束生成：</a:t>
            </a:r>
            <a:endParaRPr lang="zh-CN" altLang="en-US"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DexGrasp Anything: Towards Universal Robotic Dexterous Grasping with Physics Awareness(CVPR 2025)</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Contact Map Transfer with Conditional Diffusion Model for Generalizable Dexterous Grasping(2024)</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sz="1200" i="0" dirty="0">
                <a:effectLst/>
                <a:latin typeface="微软雅黑" panose="020B0503020204020204" pitchFamily="34" charset="-122"/>
                <a:ea typeface="微软雅黑" panose="020B0503020204020204" pitchFamily="34" charset="-122"/>
              </a:rPr>
              <a:t>三、大规模数据集与</a:t>
            </a:r>
            <a:r>
              <a:rPr lang="en-US" altLang="zh-CN" sz="1200" i="0" dirty="0">
                <a:effectLst/>
                <a:latin typeface="微软雅黑" panose="020B0503020204020204" pitchFamily="34" charset="-122"/>
                <a:ea typeface="微软雅黑" panose="020B0503020204020204" pitchFamily="34" charset="-122"/>
              </a:rPr>
              <a:t>Benchmark</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DexGraspNet: A Large-Scale Robotic Dexterous Grasp Dataset for General Objects(ICRA 2023)</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DexGraspNet 2.0: Learning Generative Dexterous Grasping in Large-scale Cluttered Scenes(CoRL 2024 / arXiv)</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sz="1200" i="0" dirty="0">
                <a:effectLst/>
                <a:latin typeface="微软雅黑" panose="020B0503020204020204" pitchFamily="34" charset="-122"/>
                <a:ea typeface="微软雅黑" panose="020B0503020204020204" pitchFamily="34" charset="-122"/>
              </a:rPr>
              <a:t>四、泛化与语义驱动抓取</a:t>
            </a:r>
            <a:endParaRPr lang="zh-CN" altLang="en-US"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G-DexGrasp: Generalizable Dexterous Grasping via Retrieval-Augmented Generation(2025)</a:t>
            </a:r>
            <a:endParaRPr lang="en-US" altLang="zh-CN" sz="1200"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sz="1200" i="0" dirty="0">
                <a:effectLst/>
                <a:latin typeface="微软雅黑" panose="020B0503020204020204" pitchFamily="34" charset="-122"/>
                <a:ea typeface="微软雅黑" panose="020B0503020204020204" pitchFamily="34" charset="-122"/>
              </a:rPr>
              <a:t>UniDexGrasp: Universal Dexterous Grasping via Learning Diverse Grasping Strategies(2023)</a:t>
            </a:r>
            <a:endParaRPr lang="en-US" altLang="zh-CN" sz="1200"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进入2026年前后，研究进一步呈现出三个显著融合趋势。首先，在物理层面，</a:t>
            </a:r>
            <a:r>
              <a:rPr lang="zh-CN" altLang="en-US" b="1" i="0" dirty="0">
                <a:effectLst/>
                <a:latin typeface="微软雅黑" panose="020B0503020204020204" pitchFamily="34" charset="-122"/>
                <a:ea typeface="微软雅黑" panose="020B0503020204020204" pitchFamily="34" charset="-122"/>
              </a:rPr>
              <a:t>生成模型与可微物理仿真的结合</a:t>
            </a:r>
            <a:r>
              <a:rPr lang="zh-CN" altLang="en-US" i="0" dirty="0">
                <a:effectLst/>
                <a:latin typeface="微软雅黑" panose="020B0503020204020204" pitchFamily="34" charset="-122"/>
                <a:ea typeface="微软雅黑" panose="020B0503020204020204" pitchFamily="34" charset="-122"/>
              </a:rPr>
              <a:t>正在成为核心方向，使模型能够在训练过程中直接满足接触动力学约束；其次，在数据与表示层面，模型逐渐从单一模态（点云）扩展到</a:t>
            </a:r>
            <a:r>
              <a:rPr lang="zh-CN" altLang="en-US" b="1" i="0" dirty="0">
                <a:effectLst/>
                <a:latin typeface="微软雅黑" panose="020B0503020204020204" pitchFamily="34" charset="-122"/>
                <a:ea typeface="微软雅黑" panose="020B0503020204020204" pitchFamily="34" charset="-122"/>
              </a:rPr>
              <a:t>多模态融合</a:t>
            </a:r>
            <a:r>
              <a:rPr lang="zh-CN" altLang="en-US" i="0" dirty="0">
                <a:effectLst/>
                <a:latin typeface="微软雅黑" panose="020B0503020204020204" pitchFamily="34" charset="-122"/>
                <a:ea typeface="微软雅黑" panose="020B0503020204020204" pitchFamily="34" charset="-122"/>
              </a:rPr>
              <a:t>（几何、接触、语言、任务）；最后，在系统层面，抓取生成开始与执行策略、强化学习及闭环控制相结合，使生成的抓取不仅在几何上合理，而且在真实机器人执行中具备可行性。</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2026</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年的方向探索）</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593715"/>
          </a:xfrm>
          <a:prstGeom prst="rect">
            <a:avLst/>
          </a:prstGeom>
          <a:noFill/>
        </p:spPr>
        <p:txBody>
          <a:bodyPr wrap="square">
            <a:noAutofit/>
          </a:bodyPr>
          <a:lstStyle/>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1.T(R,O)-Grasp</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T(R,O) Grasp </a:t>
            </a:r>
            <a:r>
              <a:rPr lang="zh-CN" altLang="en-US" i="0" dirty="0">
                <a:effectLst/>
                <a:latin typeface="微软雅黑" panose="020B0503020204020204" pitchFamily="34" charset="-122"/>
                <a:ea typeface="微软雅黑" panose="020B0503020204020204" pitchFamily="34" charset="-122"/>
              </a:rPr>
              <a:t>是新加坡国立大学（</a:t>
            </a:r>
            <a:r>
              <a:rPr lang="en-US" altLang="zh-CN" i="0" dirty="0">
                <a:effectLst/>
                <a:latin typeface="微软雅黑" panose="020B0503020204020204" pitchFamily="34" charset="-122"/>
                <a:ea typeface="微软雅黑" panose="020B0503020204020204" pitchFamily="34" charset="-122"/>
              </a:rPr>
              <a:t>NUS）</a:t>
            </a:r>
            <a:r>
              <a:rPr lang="zh-CN" altLang="en-US" i="0" dirty="0">
                <a:effectLst/>
                <a:latin typeface="微软雅黑" panose="020B0503020204020204" pitchFamily="34" charset="-122"/>
                <a:ea typeface="微软雅黑" panose="020B0503020204020204" pitchFamily="34" charset="-122"/>
              </a:rPr>
              <a:t>邵林团队提出的一种基于图扩散模型的跨智能体灵巧抓取方法。简单来说，它让机器人能够像人类一样，快速、精准地学会如何用“灵巧手”去抓取各种形状复杂的物体，而且这套方法可以通用于不同种类的机械手。这项研究成果已被机器人领域顶级会议 </a:t>
            </a:r>
            <a:r>
              <a:rPr lang="en-US" altLang="zh-CN" i="0" dirty="0">
                <a:effectLst/>
                <a:latin typeface="微软雅黑" panose="020B0503020204020204" pitchFamily="34" charset="-122"/>
                <a:ea typeface="微软雅黑" panose="020B0503020204020204" pitchFamily="34" charset="-122"/>
              </a:rPr>
              <a:t>ICRA 2026 </a:t>
            </a:r>
            <a:r>
              <a:rPr lang="zh-CN" altLang="en-US" i="0" dirty="0">
                <a:effectLst/>
                <a:latin typeface="微软雅黑" panose="020B0503020204020204" pitchFamily="34" charset="-122"/>
                <a:ea typeface="微软雅黑" panose="020B0503020204020204" pitchFamily="34" charset="-122"/>
              </a:rPr>
              <a:t>接收。</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核心创新：</a:t>
            </a:r>
            <a:r>
              <a:rPr lang="en-US" altLang="zh-CN" i="0" dirty="0">
                <a:effectLst/>
                <a:latin typeface="微软雅黑" panose="020B0503020204020204" pitchFamily="34" charset="-122"/>
                <a:ea typeface="微软雅黑" panose="020B0503020204020204" pitchFamily="34" charset="-122"/>
              </a:rPr>
              <a:t>T(R,O) </a:t>
            </a:r>
            <a:r>
              <a:rPr lang="zh-CN" altLang="en-US" i="0" dirty="0">
                <a:effectLst/>
                <a:latin typeface="微软雅黑" panose="020B0503020204020204" pitchFamily="34" charset="-122"/>
                <a:ea typeface="微软雅黑" panose="020B0503020204020204" pitchFamily="34" charset="-122"/>
              </a:rPr>
              <a:t>图结构</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为了解决传统方法计算慢、泛化难的问题，该团队提出了一种新的表征方式——</a:t>
            </a:r>
            <a:r>
              <a:rPr lang="en-US" altLang="zh-CN" i="0" dirty="0">
                <a:effectLst/>
                <a:latin typeface="微软雅黑" panose="020B0503020204020204" pitchFamily="34" charset="-122"/>
                <a:ea typeface="微软雅黑" panose="020B0503020204020204" pitchFamily="34" charset="-122"/>
              </a:rPr>
              <a:t>T(R,O) </a:t>
            </a:r>
            <a:r>
              <a:rPr lang="zh-CN" altLang="en-US" i="0" dirty="0">
                <a:effectLst/>
                <a:latin typeface="微软雅黑" panose="020B0503020204020204" pitchFamily="34" charset="-122"/>
                <a:ea typeface="微软雅黑" panose="020B0503020204020204" pitchFamily="34" charset="-122"/>
              </a:rPr>
              <a:t>图结构。</a:t>
            </a:r>
            <a:r>
              <a:rPr lang="en-US" altLang="zh-CN" i="0" dirty="0">
                <a:effectLst/>
                <a:latin typeface="微软雅黑" panose="020B0503020204020204" pitchFamily="34" charset="-122"/>
                <a:ea typeface="微软雅黑" panose="020B0503020204020204" pitchFamily="34" charset="-122"/>
              </a:rPr>
              <a:t>T(R,O) </a:t>
            </a:r>
            <a:r>
              <a:rPr lang="zh-CN" altLang="en-US" i="0" dirty="0">
                <a:effectLst/>
                <a:latin typeface="微软雅黑" panose="020B0503020204020204" pitchFamily="34" charset="-122"/>
                <a:ea typeface="微软雅黑" panose="020B0503020204020204" pitchFamily="34" charset="-122"/>
              </a:rPr>
              <a:t>代表 </a:t>
            </a:r>
            <a:r>
              <a:rPr lang="en-US" altLang="zh-CN" i="0" dirty="0">
                <a:effectLst/>
                <a:latin typeface="微软雅黑" panose="020B0503020204020204" pitchFamily="34" charset="-122"/>
                <a:ea typeface="微软雅黑" panose="020B0503020204020204" pitchFamily="34" charset="-122"/>
              </a:rPr>
              <a:t>Robot-Object Spatial Transformation（</a:t>
            </a:r>
            <a:r>
              <a:rPr lang="zh-CN" altLang="en-US" i="0" dirty="0">
                <a:effectLst/>
                <a:latin typeface="微软雅黑" panose="020B0503020204020204" pitchFamily="34" charset="-122"/>
                <a:ea typeface="微软雅黑" panose="020B0503020204020204" pitchFamily="34" charset="-122"/>
              </a:rPr>
              <a:t>机器手-物体空间变换）。</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原理： 它不再使用计算量巨大的距离矩阵，而是将“物体”和“机器手关节”看作图中的节点，将它们之间的相对位置关系看作边。这种图结构既保留了物体与机械手交互的几何信息，又极大地降低了计算复杂度，使得模型更轻量、更高效。</a:t>
            </a:r>
            <a:endParaRPr lang="zh-CN" altLang="en-US" i="0" dirty="0">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r>
              <a:rPr lang="en-US" altLang="zh-CN"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2026</a:t>
            </a:r>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年的方向探索）</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593715"/>
          </a:xfrm>
          <a:prstGeom prst="rect">
            <a:avLst/>
          </a:prstGeom>
          <a:noFill/>
        </p:spPr>
        <p:txBody>
          <a:bodyPr wrap="square">
            <a:noAutofit/>
          </a:bodyPr>
          <a:lstStyle/>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T(R,O) Grasp </a:t>
            </a:r>
            <a:r>
              <a:rPr lang="zh-CN" altLang="en-US" i="0" dirty="0">
                <a:effectLst/>
                <a:latin typeface="微软雅黑" panose="020B0503020204020204" pitchFamily="34" charset="-122"/>
                <a:ea typeface="微软雅黑" panose="020B0503020204020204" pitchFamily="34" charset="-122"/>
              </a:rPr>
              <a:t>的工作流程主要分为三个阶段：</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1</a:t>
            </a:r>
            <a:r>
              <a:rPr lang="zh-CN" altLang="en-US" i="0" dirty="0">
                <a:effectLst/>
                <a:latin typeface="微软雅黑" panose="020B0503020204020204" pitchFamily="34" charset="-122"/>
                <a:ea typeface="微软雅黑" panose="020B0503020204020204" pitchFamily="34" charset="-122"/>
              </a:rPr>
              <a:t>）图构建： 输入物体的点云数据和机械手的配置信息，构建 </a:t>
            </a:r>
            <a:r>
              <a:rPr lang="en-US" altLang="zh-CN" i="0" dirty="0">
                <a:effectLst/>
                <a:latin typeface="微软雅黑" panose="020B0503020204020204" pitchFamily="34" charset="-122"/>
                <a:ea typeface="微软雅黑" panose="020B0503020204020204" pitchFamily="34" charset="-122"/>
              </a:rPr>
              <a:t>T(R,O) </a:t>
            </a:r>
            <a:r>
              <a:rPr lang="zh-CN" altLang="en-US" i="0" dirty="0">
                <a:effectLst/>
                <a:latin typeface="微软雅黑" panose="020B0503020204020204" pitchFamily="34" charset="-122"/>
                <a:ea typeface="微软雅黑" panose="020B0503020204020204" pitchFamily="34" charset="-122"/>
              </a:rPr>
              <a:t>图。</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2</a:t>
            </a:r>
            <a:r>
              <a:rPr lang="zh-CN" altLang="en-US" i="0" dirty="0">
                <a:effectLst/>
                <a:latin typeface="微软雅黑" panose="020B0503020204020204" pitchFamily="34" charset="-122"/>
                <a:ea typeface="微软雅黑" panose="020B0503020204020204" pitchFamily="34" charset="-122"/>
              </a:rPr>
              <a:t>）图扩散预测： 利用图扩散网络（</a:t>
            </a:r>
            <a:r>
              <a:rPr lang="en-US" altLang="zh-CN" i="0" dirty="0">
                <a:effectLst/>
                <a:latin typeface="微软雅黑" panose="020B0503020204020204" pitchFamily="34" charset="-122"/>
                <a:ea typeface="微软雅黑" panose="020B0503020204020204" pitchFamily="34" charset="-122"/>
              </a:rPr>
              <a:t>Graph Diffusion Network），</a:t>
            </a:r>
            <a:r>
              <a:rPr lang="zh-CN" altLang="en-US" i="0" dirty="0">
                <a:effectLst/>
                <a:latin typeface="微软雅黑" panose="020B0503020204020204" pitchFamily="34" charset="-122"/>
                <a:ea typeface="微软雅黑" panose="020B0503020204020204" pitchFamily="34" charset="-122"/>
              </a:rPr>
              <a:t>通过“加噪-去噪”的过程，预测出机械手各个关节的最佳位姿矩阵。</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3</a:t>
            </a:r>
            <a:r>
              <a:rPr lang="zh-CN" altLang="en-US" i="0" dirty="0">
                <a:effectLst/>
                <a:latin typeface="微软雅黑" panose="020B0503020204020204" pitchFamily="34" charset="-122"/>
                <a:ea typeface="微软雅黑" panose="020B0503020204020204" pitchFamily="34" charset="-122"/>
              </a:rPr>
              <a:t>）逆运动学求解： 根据预测出的关节位姿，通过逆运动学算法（如 </a:t>
            </a:r>
            <a:r>
              <a:rPr lang="en-US" altLang="zh-CN" i="0" dirty="0">
                <a:effectLst/>
                <a:latin typeface="微软雅黑" panose="020B0503020204020204" pitchFamily="34" charset="-122"/>
                <a:ea typeface="微软雅黑" panose="020B0503020204020204" pitchFamily="34" charset="-122"/>
              </a:rPr>
              <a:t>Pyrokitoolkit）</a:t>
            </a:r>
            <a:r>
              <a:rPr lang="zh-CN" altLang="en-US" i="0" dirty="0">
                <a:effectLst/>
                <a:latin typeface="微软雅黑" panose="020B0503020204020204" pitchFamily="34" charset="-122"/>
                <a:ea typeface="微软雅黑" panose="020B0503020204020204" pitchFamily="34" charset="-122"/>
              </a:rPr>
              <a:t>计算出具体的机械手动作指令。</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为什么它很重要？</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在 </a:t>
            </a:r>
            <a:r>
              <a:rPr lang="en-US" altLang="zh-CN" i="0" dirty="0">
                <a:effectLst/>
                <a:latin typeface="微软雅黑" panose="020B0503020204020204" pitchFamily="34" charset="-122"/>
                <a:ea typeface="微软雅黑" panose="020B0503020204020204" pitchFamily="34" charset="-122"/>
              </a:rPr>
              <a:t>T(R,O) Grasp </a:t>
            </a:r>
            <a:r>
              <a:rPr lang="zh-CN" altLang="en-US" i="0" dirty="0">
                <a:effectLst/>
                <a:latin typeface="微软雅黑" panose="020B0503020204020204" pitchFamily="34" charset="-122"/>
                <a:ea typeface="微软雅黑" panose="020B0503020204020204" pitchFamily="34" charset="-122"/>
              </a:rPr>
              <a:t>之前，灵巧手抓取主要面临两难选择：</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机器人中心方法： 速度快，但换个手就得重新学，泛化性差。</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物体中心/交互中心方法（如 </a:t>
            </a:r>
            <a:r>
              <a:rPr lang="en-US" altLang="zh-CN" i="0" dirty="0">
                <a:effectLst/>
                <a:latin typeface="微软雅黑" panose="020B0503020204020204" pitchFamily="34" charset="-122"/>
                <a:ea typeface="微软雅黑" panose="020B0503020204020204" pitchFamily="34" charset="-122"/>
              </a:rPr>
              <a:t>D(R,O)）： </a:t>
            </a:r>
            <a:r>
              <a:rPr lang="zh-CN" altLang="en-US" i="0" dirty="0">
                <a:effectLst/>
                <a:latin typeface="微软雅黑" panose="020B0503020204020204" pitchFamily="34" charset="-122"/>
                <a:ea typeface="微软雅黑" panose="020B0503020204020204" pitchFamily="34" charset="-122"/>
              </a:rPr>
              <a:t>泛化性好，但计算量太大，难以实时运行。</a:t>
            </a:r>
            <a:endParaRPr lang="zh-CN" altLang="en-US" i="0" dirty="0">
              <a:effectLst/>
              <a:latin typeface="微软雅黑" panose="020B0503020204020204" pitchFamily="34" charset="-122"/>
              <a:ea typeface="微软雅黑" panose="020B0503020204020204" pitchFamily="34" charset="-122"/>
            </a:endParaRPr>
          </a:p>
        </p:txBody>
      </p:sp>
      <p:sp>
        <p:nvSpPr>
          <p:cNvPr id="2" name="文本框 1"/>
          <p:cNvSpPr txBox="1"/>
          <p:nvPr/>
        </p:nvSpPr>
        <p:spPr>
          <a:xfrm>
            <a:off x="0" y="6376670"/>
            <a:ext cx="11617325" cy="460375"/>
          </a:xfrm>
          <a:prstGeom prst="rect">
            <a:avLst/>
          </a:prstGeom>
          <a:noFill/>
        </p:spPr>
        <p:txBody>
          <a:bodyPr wrap="square" rtlCol="0">
            <a:spAutoFit/>
          </a:bodyPr>
          <a:p>
            <a:r>
              <a:rPr lang="en-US" altLang="zh-CN" sz="1200">
                <a:latin typeface="黑体" panose="02010609060101010101" charset="-122"/>
                <a:ea typeface="黑体" panose="02010609060101010101" charset="-122"/>
              </a:rPr>
              <a:t>Fei, X., Xu, Z., Fang, H., Zhang, T., &amp; Shao, L. (2025). T(R,O) Grasp: Efficient Graph Diffusion of Robot-Object Spatial Transformation for Cross-Embodiment Dexterous Grasping. arXiv preprint arXiv:2510.12724.</a:t>
            </a:r>
            <a:endParaRPr lang="en-US" altLang="zh-CN" sz="1200">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5263515"/>
          </a:xfrm>
          <a:prstGeom prst="rect">
            <a:avLst/>
          </a:prstGeom>
          <a:noFill/>
        </p:spPr>
        <p:txBody>
          <a:bodyPr wrap="square">
            <a:noAutofit/>
          </a:bodyPr>
          <a:lstStyle/>
          <a:p>
            <a:pPr indent="457200" algn="l" fontAlgn="auto">
              <a:lnSpc>
                <a:spcPct val="150000"/>
              </a:lnSpc>
              <a:buFont typeface="+mj-lt"/>
              <a:buNone/>
            </a:pPr>
            <a:r>
              <a:rPr lang="en-US" i="0" dirty="0">
                <a:effectLst/>
                <a:latin typeface="微软雅黑" panose="020B0503020204020204" pitchFamily="34" charset="-122"/>
                <a:ea typeface="微软雅黑" panose="020B0503020204020204" pitchFamily="34" charset="-122"/>
              </a:rPr>
              <a:t>2. </a:t>
            </a:r>
            <a:r>
              <a:rPr lang="en-US" altLang="zh-CN" i="0" dirty="0">
                <a:effectLst/>
                <a:latin typeface="微软雅黑" panose="020B0503020204020204" pitchFamily="34" charset="-122"/>
                <a:ea typeface="微软雅黑" panose="020B0503020204020204" pitchFamily="34" charset="-122"/>
              </a:rPr>
              <a:t>UniMorphGrasp（2026, arXiv）</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UniMorphGrasp </a:t>
            </a:r>
            <a:r>
              <a:rPr lang="zh-CN" altLang="en-US" i="0" dirty="0">
                <a:effectLst/>
                <a:latin typeface="微软雅黑" panose="020B0503020204020204" pitchFamily="34" charset="-122"/>
                <a:ea typeface="微软雅黑" panose="020B0503020204020204" pitchFamily="34" charset="-122"/>
              </a:rPr>
              <a:t>是 2026 年 3 月发表在 </a:t>
            </a:r>
            <a:r>
              <a:rPr lang="en-US" altLang="zh-CN" i="0" dirty="0">
                <a:effectLst/>
                <a:latin typeface="微软雅黑" panose="020B0503020204020204" pitchFamily="34" charset="-122"/>
                <a:ea typeface="微软雅黑" panose="020B0503020204020204" pitchFamily="34" charset="-122"/>
              </a:rPr>
              <a:t>arXiv </a:t>
            </a:r>
            <a:r>
              <a:rPr lang="zh-CN" altLang="en-US" i="0" dirty="0">
                <a:effectLst/>
                <a:latin typeface="微软雅黑" panose="020B0503020204020204" pitchFamily="34" charset="-122"/>
                <a:ea typeface="微软雅黑" panose="020B0503020204020204" pitchFamily="34" charset="-122"/>
              </a:rPr>
              <a:t>上的一项前沿研究，旨在解决跨具身灵巧抓取的难题。具体来说，就是让机器人能够使用不同结构、不同形态的机械手生成稳定且多样的抓取姿态。</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它提出了一种基于扩散模型的生成框架，核心创新在于引入了</a:t>
            </a:r>
            <a:r>
              <a:rPr lang="en-US" altLang="zh-CN"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形态感知</a:t>
            </a:r>
            <a:r>
              <a:rPr lang="en-US" altLang="zh-CN"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机制。</a:t>
            </a:r>
            <a:r>
              <a:rPr lang="en-US" altLang="zh-CN" i="0" dirty="0">
                <a:effectLst/>
                <a:latin typeface="微软雅黑" panose="020B0503020204020204" pitchFamily="34" charset="-122"/>
                <a:ea typeface="微软雅黑" panose="020B0503020204020204" pitchFamily="34" charset="-122"/>
              </a:rPr>
              <a:t>UniMorphGrasp </a:t>
            </a:r>
            <a:r>
              <a:rPr lang="zh-CN" altLang="en-US" i="0" dirty="0">
                <a:effectLst/>
                <a:latin typeface="微软雅黑" panose="020B0503020204020204" pitchFamily="34" charset="-122"/>
                <a:ea typeface="微软雅黑" panose="020B0503020204020204" pitchFamily="34" charset="-122"/>
              </a:rPr>
              <a:t>的重要性在于：</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统一表征：将不同机械手的抓取姿态映射到一个统一的</a:t>
            </a:r>
            <a:r>
              <a:rPr lang="en-US" altLang="zh-CN"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类人手</a:t>
            </a:r>
            <a:r>
              <a:rPr lang="en-US" altLang="zh-CN"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规范空间，为不同形态的手提供共同的学习基础。</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图结构编码：将机械手的运动学结构编码为图，使模型能理解不同手的构造。</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层级损失函数：利用手部运动学的层级结构来指导训练，提升抓取质量。</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解决了现有方法只能针对特定机械手设计、无法泛化到未见过的机械手形态的问题。</a:t>
            </a:r>
            <a:endParaRPr lang="zh-CN" altLang="en-US" i="0" dirty="0">
              <a:effectLst/>
              <a:latin typeface="微软雅黑" panose="020B0503020204020204" pitchFamily="34" charset="-122"/>
              <a:ea typeface="微软雅黑" panose="020B0503020204020204" pitchFamily="34" charset="-122"/>
            </a:endParaRPr>
          </a:p>
        </p:txBody>
      </p:sp>
      <p:sp>
        <p:nvSpPr>
          <p:cNvPr id="2" name="文本框 1"/>
          <p:cNvSpPr txBox="1"/>
          <p:nvPr/>
        </p:nvSpPr>
        <p:spPr>
          <a:xfrm>
            <a:off x="95250" y="6397625"/>
            <a:ext cx="11588750" cy="460375"/>
          </a:xfrm>
          <a:prstGeom prst="rect">
            <a:avLst/>
          </a:prstGeom>
          <a:noFill/>
        </p:spPr>
        <p:txBody>
          <a:bodyPr wrap="square" rtlCol="0">
            <a:spAutoFit/>
          </a:bodyPr>
          <a:p>
            <a:r>
              <a:rPr lang="en-US" altLang="zh-CN" sz="1200">
                <a:latin typeface="微软雅黑" panose="020B0503020204020204" pitchFamily="34" charset="-122"/>
                <a:ea typeface="微软雅黑" panose="020B0503020204020204" pitchFamily="34" charset="-122"/>
              </a:rPr>
              <a:t>Wu, Z., Zhang, X., Chen, Z., Deng, J., Potamias, R. A., &amp; Luo, S. (2026). UniMorphGrasp: Diffusion Model with Morphology-Awareness for Cross-Embodiment Dexterous Grasp Generation. arXiv preprint arXiv:2602.00915.</a:t>
            </a:r>
            <a:endParaRPr lang="en-US" altLang="zh-CN" sz="12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文本框 1"/>
          <p:cNvSpPr txBox="1"/>
          <p:nvPr/>
        </p:nvSpPr>
        <p:spPr>
          <a:xfrm>
            <a:off x="880745" y="822325"/>
            <a:ext cx="11696700" cy="521970"/>
          </a:xfrm>
          <a:prstGeom prst="rect">
            <a:avLst/>
          </a:prstGeom>
        </p:spPr>
        <p:txBody>
          <a:bodyPr wrap="square">
            <a:spAutoFit/>
          </a:bodyPr>
          <a:lstStyle/>
          <a:p>
            <a:r>
              <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灵巧手抓取文献调研</a:t>
            </a:r>
            <a:endParaRPr lang="zh-CN" altLang="en-US" sz="28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127" name="组合 2"/>
          <p:cNvGrpSpPr/>
          <p:nvPr/>
        </p:nvGrpSpPr>
        <p:grpSpPr>
          <a:xfrm>
            <a:off x="0" y="156335"/>
            <a:ext cx="11940390" cy="497839"/>
            <a:chOff x="0" y="156335"/>
            <a:chExt cx="11940390" cy="497839"/>
          </a:xfrm>
        </p:grpSpPr>
        <p:grpSp>
          <p:nvGrpSpPr>
            <p:cNvPr id="128" name="组合 3"/>
            <p:cNvGrpSpPr/>
            <p:nvPr/>
          </p:nvGrpSpPr>
          <p:grpSpPr>
            <a:xfrm>
              <a:off x="0" y="156335"/>
              <a:ext cx="9666514" cy="497839"/>
              <a:chOff x="0" y="248698"/>
              <a:chExt cx="9666514" cy="497839"/>
            </a:xfrm>
          </p:grpSpPr>
          <p:grpSp>
            <p:nvGrpSpPr>
              <p:cNvPr id="129" name="组合 4"/>
              <p:cNvGrpSpPr/>
              <p:nvPr/>
            </p:nvGrpSpPr>
            <p:grpSpPr>
              <a:xfrm>
                <a:off x="0" y="294640"/>
                <a:ext cx="880552" cy="375920"/>
                <a:chOff x="0" y="294640"/>
                <a:chExt cx="1094740" cy="467360"/>
              </a:xfrm>
              <a:solidFill>
                <a:srgbClr val="EE8A10"/>
              </a:solidFill>
            </p:grpSpPr>
            <p:sp>
              <p:nvSpPr>
                <p:cNvPr id="104876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76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763" name="文本框 5"/>
              <p:cNvSpPr txBox="1"/>
              <p:nvPr/>
            </p:nvSpPr>
            <p:spPr>
              <a:xfrm>
                <a:off x="972489" y="248698"/>
                <a:ext cx="2702560" cy="497839"/>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rPr>
                  <a:t>Part three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sym typeface="Agency FB" panose="020B0503020202020204" pitchFamily="34" charset="0"/>
                </a:endParaRPr>
              </a:p>
            </p:txBody>
          </p:sp>
          <p:grpSp>
            <p:nvGrpSpPr>
              <p:cNvPr id="130" name="组合 6"/>
              <p:cNvGrpSpPr/>
              <p:nvPr/>
            </p:nvGrpSpPr>
            <p:grpSpPr>
              <a:xfrm>
                <a:off x="3356076" y="408709"/>
                <a:ext cx="1749361" cy="147782"/>
                <a:chOff x="635462" y="775854"/>
                <a:chExt cx="1749361" cy="147782"/>
              </a:xfrm>
              <a:solidFill>
                <a:srgbClr val="EE8A10"/>
              </a:solidFill>
            </p:grpSpPr>
            <p:sp>
              <p:nvSpPr>
                <p:cNvPr id="1048764" name="椭圆 7"/>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5" name="椭圆 8"/>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6" name="椭圆 9"/>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7" name="椭圆 10"/>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8" name="椭圆 32"/>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6" name="直接连接符 33"/>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5" name="图片 62"/>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1048769" name="文本框 18"/>
          <p:cNvSpPr txBox="1"/>
          <p:nvPr/>
        </p:nvSpPr>
        <p:spPr>
          <a:xfrm>
            <a:off x="880745" y="1442085"/>
            <a:ext cx="10018395" cy="4159250"/>
          </a:xfrm>
          <a:prstGeom prst="rect">
            <a:avLst/>
          </a:prstGeom>
          <a:noFill/>
        </p:spPr>
        <p:txBody>
          <a:bodyPr wrap="square">
            <a:noAutofit/>
          </a:bodyPr>
          <a:lstStyle/>
          <a:p>
            <a:pPr indent="457200" algn="l" fontAlgn="auto">
              <a:lnSpc>
                <a:spcPct val="150000"/>
              </a:lnSpc>
              <a:buFont typeface="+mj-lt"/>
              <a:buNone/>
            </a:pPr>
            <a:r>
              <a:rPr lang="en-US" altLang="zh-CN" i="0" dirty="0">
                <a:effectLst/>
                <a:latin typeface="微软雅黑" panose="020B0503020204020204" pitchFamily="34" charset="-122"/>
                <a:ea typeface="微软雅黑" panose="020B0503020204020204" pitchFamily="34" charset="-122"/>
              </a:rPr>
              <a:t>3. EFF-Grasp</a:t>
            </a:r>
            <a:endParaRPr lang="en-US" altLang="zh-CN"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两个关键改进：</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1</a:t>
            </a:r>
            <a:r>
              <a:rPr lang="zh-CN" altLang="en-US" i="0" dirty="0">
                <a:effectLst/>
                <a:latin typeface="微软雅黑" panose="020B0503020204020204" pitchFamily="34" charset="-122"/>
                <a:ea typeface="微软雅黑" panose="020B0503020204020204" pitchFamily="34" charset="-122"/>
              </a:rPr>
              <a:t>）解决效率问题：采用</a:t>
            </a:r>
            <a:r>
              <a:rPr lang="en-US" altLang="zh-CN" i="0" dirty="0">
                <a:effectLst/>
                <a:latin typeface="微软雅黑" panose="020B0503020204020204" pitchFamily="34" charset="-122"/>
                <a:ea typeface="微软雅黑" panose="020B0503020204020204" pitchFamily="34" charset="-122"/>
              </a:rPr>
              <a:t> Flow Matching </a:t>
            </a:r>
            <a:r>
              <a:rPr lang="zh-CN" altLang="en-US" i="0" dirty="0">
                <a:effectLst/>
                <a:latin typeface="微软雅黑" panose="020B0503020204020204" pitchFamily="34" charset="-122"/>
                <a:ea typeface="微软雅黑" panose="020B0503020204020204" pitchFamily="34" charset="-122"/>
              </a:rPr>
              <a:t>框架，将生成过程改为确定性常微分方程。这消除了随机扰动，可以用更少的步数生成高质量抓取。</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zh-CN" altLang="en-US" i="0" dirty="0">
                <a:effectLst/>
                <a:latin typeface="微软雅黑" panose="020B0503020204020204" pitchFamily="34" charset="-122"/>
                <a:ea typeface="微软雅黑" panose="020B0503020204020204" pitchFamily="34" charset="-122"/>
              </a:rPr>
              <a:t>（</a:t>
            </a:r>
            <a:r>
              <a:rPr lang="en-US" altLang="zh-CN" i="0" dirty="0">
                <a:effectLst/>
                <a:latin typeface="微软雅黑" panose="020B0503020204020204" pitchFamily="34" charset="-122"/>
                <a:ea typeface="微软雅黑" panose="020B0503020204020204" pitchFamily="34" charset="-122"/>
              </a:rPr>
              <a:t>2</a:t>
            </a:r>
            <a:r>
              <a:rPr lang="zh-CN" altLang="en-US" i="0" dirty="0">
                <a:effectLst/>
                <a:latin typeface="微软雅黑" panose="020B0503020204020204" pitchFamily="34" charset="-122"/>
                <a:ea typeface="微软雅黑" panose="020B0503020204020204" pitchFamily="34" charset="-122"/>
              </a:rPr>
              <a:t>）解决物理可行性问题：引入无需训练的物理感知能量引导。</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en-US" i="0" dirty="0">
                <a:effectLst/>
                <a:latin typeface="微软雅黑" panose="020B0503020204020204" pitchFamily="34" charset="-122"/>
                <a:ea typeface="微软雅黑" panose="020B0503020204020204" pitchFamily="34" charset="-122"/>
              </a:rPr>
              <a:t>○</a:t>
            </a:r>
            <a:r>
              <a:rPr lang="" altLang="en-US" i="0" dirty="0">
                <a:effectLst/>
                <a:latin typeface="微软雅黑" panose="020B0503020204020204" pitchFamily="34" charset="-122"/>
                <a:ea typeface="微软雅黑" panose="020B0503020204020204" pitchFamily="34" charset="-122"/>
              </a:rPr>
              <a:t> </a:t>
            </a:r>
            <a:r>
              <a:rPr lang="zh-CN" altLang="en-US" i="0" dirty="0">
                <a:effectLst/>
                <a:latin typeface="微软雅黑" panose="020B0503020204020204" pitchFamily="34" charset="-122"/>
                <a:ea typeface="微软雅黑" panose="020B0503020204020204" pitchFamily="34" charset="-122"/>
              </a:rPr>
              <a:t>机制：在推理阶段，利用物理能量函数（防穿模、保接触等）计算一个</a:t>
            </a:r>
            <a:r>
              <a:rPr lang="en-US" altLang="zh-CN"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能量场</a:t>
            </a:r>
            <a:r>
              <a:rPr lang="en-US" altLang="zh-CN" i="0" dirty="0">
                <a:effectLst/>
                <a:latin typeface="微软雅黑" panose="020B0503020204020204" pitchFamily="34" charset="-122"/>
                <a:ea typeface="微软雅黑" panose="020B0503020204020204" pitchFamily="34" charset="-122"/>
              </a:rPr>
              <a:t>”</a:t>
            </a:r>
            <a:r>
              <a:rPr lang="zh-CN" altLang="en-US" i="0" dirty="0">
                <a:effectLst/>
                <a:latin typeface="微软雅黑" panose="020B0503020204020204" pitchFamily="34" charset="-122"/>
                <a:ea typeface="微软雅黑" panose="020B0503020204020204" pitchFamily="34" charset="-122"/>
              </a:rPr>
              <a:t>。</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en-US" i="0" dirty="0">
                <a:effectLst/>
                <a:latin typeface="微软雅黑" panose="020B0503020204020204" pitchFamily="34" charset="-122"/>
                <a:ea typeface="微软雅黑" panose="020B0503020204020204" pitchFamily="34" charset="-122"/>
              </a:rPr>
              <a:t>○</a:t>
            </a:r>
            <a:r>
              <a:rPr lang="" altLang="en-US" i="0" dirty="0">
                <a:effectLst/>
                <a:latin typeface="微软雅黑" panose="020B0503020204020204" pitchFamily="34" charset="-122"/>
                <a:ea typeface="微软雅黑" panose="020B0503020204020204" pitchFamily="34" charset="-122"/>
              </a:rPr>
              <a:t> </a:t>
            </a:r>
            <a:r>
              <a:rPr lang="zh-CN" altLang="en-US" i="0" dirty="0">
                <a:effectLst/>
                <a:latin typeface="微软雅黑" panose="020B0503020204020204" pitchFamily="34" charset="-122"/>
                <a:ea typeface="微软雅黑" panose="020B0503020204020204" pitchFamily="34" charset="-122"/>
              </a:rPr>
              <a:t>实现：通过局部蒙特卡洛采样评估物理能量，将这个引导项与原始的</a:t>
            </a:r>
            <a:r>
              <a:rPr lang="en-US" altLang="zh-CN" i="0" dirty="0">
                <a:effectLst/>
                <a:latin typeface="微软雅黑" panose="020B0503020204020204" pitchFamily="34" charset="-122"/>
                <a:ea typeface="微软雅黑" panose="020B0503020204020204" pitchFamily="34" charset="-122"/>
              </a:rPr>
              <a:t>Flow Matching</a:t>
            </a:r>
            <a:r>
              <a:rPr lang="zh-CN" altLang="en-US" i="0" dirty="0">
                <a:effectLst/>
                <a:latin typeface="微软雅黑" panose="020B0503020204020204" pitchFamily="34" charset="-122"/>
                <a:ea typeface="微软雅黑" panose="020B0503020204020204" pitchFamily="34" charset="-122"/>
              </a:rPr>
              <a:t>场结合，动态修正生成轨迹。</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r>
              <a:rPr lang="en-US" altLang="en-US" i="0" dirty="0">
                <a:effectLst/>
                <a:latin typeface="微软雅黑" panose="020B0503020204020204" pitchFamily="34" charset="-122"/>
                <a:ea typeface="微软雅黑" panose="020B0503020204020204" pitchFamily="34" charset="-122"/>
              </a:rPr>
              <a:t>○</a:t>
            </a:r>
            <a:r>
              <a:rPr lang="" altLang="en-US" i="0" dirty="0">
                <a:effectLst/>
                <a:latin typeface="微软雅黑" panose="020B0503020204020204" pitchFamily="34" charset="-122"/>
                <a:ea typeface="微软雅黑" panose="020B0503020204020204" pitchFamily="34" charset="-122"/>
              </a:rPr>
              <a:t> </a:t>
            </a:r>
            <a:r>
              <a:rPr lang="zh-CN" altLang="en-US" i="0" dirty="0">
                <a:effectLst/>
                <a:latin typeface="微软雅黑" panose="020B0503020204020204" pitchFamily="34" charset="-122"/>
                <a:ea typeface="微软雅黑" panose="020B0503020204020204" pitchFamily="34" charset="-122"/>
              </a:rPr>
              <a:t>优势：不需要额外的物理训练或模拟反馈。</a:t>
            </a:r>
            <a:endParaRPr lang="zh-CN" altLang="en-US" i="0" dirty="0">
              <a:effectLst/>
              <a:latin typeface="微软雅黑" panose="020B0503020204020204" pitchFamily="34" charset="-122"/>
              <a:ea typeface="微软雅黑" panose="020B0503020204020204" pitchFamily="34" charset="-122"/>
            </a:endParaRPr>
          </a:p>
          <a:p>
            <a:pPr indent="457200" algn="l" fontAlgn="auto">
              <a:lnSpc>
                <a:spcPct val="150000"/>
              </a:lnSpc>
              <a:buFont typeface="+mj-lt"/>
              <a:buNone/>
            </a:pPr>
            <a:endParaRPr lang="zh-CN" altLang="en-US" i="0" dirty="0">
              <a:effectLst/>
              <a:latin typeface="微软雅黑" panose="020B0503020204020204" pitchFamily="34" charset="-122"/>
              <a:ea typeface="微软雅黑" panose="020B0503020204020204" pitchFamily="34" charset="-122"/>
            </a:endParaRPr>
          </a:p>
        </p:txBody>
      </p:sp>
      <p:sp>
        <p:nvSpPr>
          <p:cNvPr id="2" name="文本框 1"/>
          <p:cNvSpPr txBox="1"/>
          <p:nvPr/>
        </p:nvSpPr>
        <p:spPr>
          <a:xfrm>
            <a:off x="140335" y="6389370"/>
            <a:ext cx="11517630" cy="460375"/>
          </a:xfrm>
          <a:prstGeom prst="rect">
            <a:avLst/>
          </a:prstGeom>
          <a:noFill/>
        </p:spPr>
        <p:txBody>
          <a:bodyPr wrap="square" rtlCol="0">
            <a:spAutoFit/>
          </a:bodyPr>
          <a:p>
            <a:r>
              <a:rPr lang="en-US" altLang="zh-CN" sz="1200">
                <a:latin typeface="微软雅黑" panose="020B0503020204020204" pitchFamily="34" charset="-122"/>
                <a:ea typeface="微软雅黑" panose="020B0503020204020204" pitchFamily="34" charset="-122"/>
              </a:rPr>
              <a:t>Zhao, Y., Sun, H., Zhong, Z., Gong, Y., &amp; Yin, Y. (2026). EFF-Grasp: Energy-Field Flow Matching for Physics-Aware Dexterous Grasp Generation. arXiv preprint arXiv:2603.16151.</a:t>
            </a:r>
            <a:endParaRPr lang="en-US" altLang="zh-CN" sz="12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77"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34" name="组合 22"/>
          <p:cNvGrpSpPr/>
          <p:nvPr/>
        </p:nvGrpSpPr>
        <p:grpSpPr>
          <a:xfrm>
            <a:off x="0" y="713740"/>
            <a:ext cx="12273281" cy="4737100"/>
            <a:chOff x="0" y="713740"/>
            <a:chExt cx="12273281" cy="4737100"/>
          </a:xfrm>
        </p:grpSpPr>
        <p:grpSp>
          <p:nvGrpSpPr>
            <p:cNvPr id="135" name="组合 25"/>
            <p:cNvGrpSpPr/>
            <p:nvPr/>
          </p:nvGrpSpPr>
          <p:grpSpPr>
            <a:xfrm>
              <a:off x="0" y="1407160"/>
              <a:ext cx="4064000" cy="4043680"/>
              <a:chOff x="0" y="1407160"/>
              <a:chExt cx="4064000" cy="4043680"/>
            </a:xfrm>
          </p:grpSpPr>
          <p:sp>
            <p:nvSpPr>
              <p:cNvPr id="104877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5" name="文本框 33"/>
              <p:cNvSpPr txBox="1"/>
              <p:nvPr/>
            </p:nvSpPr>
            <p:spPr>
              <a:xfrm>
                <a:off x="127000" y="3003729"/>
                <a:ext cx="3810000" cy="706755"/>
              </a:xfrm>
              <a:prstGeom prst="rect">
                <a:avLst/>
              </a:prstGeom>
              <a:noFill/>
            </p:spPr>
            <p:txBody>
              <a:bodyPr wrap="square" rtlCol="0">
                <a:spAutoFit/>
              </a:bodyPr>
              <a:lstStyle/>
              <a:p>
                <a:pPr algn="ctr"/>
                <a:r>
                  <a:rPr lang="zh-CN" altLang="en-US" sz="4000" dirty="0">
                    <a:solidFill>
                      <a:schemeClr val="bg1"/>
                    </a:solidFill>
                    <a:latin typeface="黑体" panose="02010609060101010101" charset="-122"/>
                    <a:ea typeface="黑体" panose="02010609060101010101" charset="-122"/>
                    <a:cs typeface="+mn-ea"/>
                    <a:sym typeface="+mn-lt"/>
                  </a:rPr>
                  <a:t>拟采用方法</a:t>
                </a:r>
                <a:endParaRPr lang="en-US" altLang="zh-CN" sz="4000" dirty="0">
                  <a:solidFill>
                    <a:schemeClr val="bg1"/>
                  </a:solidFill>
                  <a:latin typeface="黑体" panose="02010609060101010101" charset="-122"/>
                  <a:ea typeface="黑体" panose="02010609060101010101" charset="-122"/>
                  <a:cs typeface="+mn-ea"/>
                  <a:sym typeface="+mn-lt"/>
                </a:endParaRPr>
              </a:p>
            </p:txBody>
          </p:sp>
        </p:grpSp>
        <p:grpSp>
          <p:nvGrpSpPr>
            <p:cNvPr id="136" name="组合 26"/>
            <p:cNvGrpSpPr/>
            <p:nvPr/>
          </p:nvGrpSpPr>
          <p:grpSpPr>
            <a:xfrm>
              <a:off x="7564229" y="713740"/>
              <a:ext cx="4709052" cy="1386840"/>
              <a:chOff x="7564229" y="713740"/>
              <a:chExt cx="4709052" cy="1386840"/>
            </a:xfrm>
          </p:grpSpPr>
          <p:sp>
            <p:nvSpPr>
              <p:cNvPr id="1048776"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7" name="文本框 30"/>
              <p:cNvSpPr txBox="1"/>
              <p:nvPr/>
            </p:nvSpPr>
            <p:spPr>
              <a:xfrm>
                <a:off x="779364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78" name="文本框 27"/>
            <p:cNvSpPr txBox="1"/>
            <p:nvPr/>
          </p:nvSpPr>
          <p:spPr>
            <a:xfrm>
              <a:off x="9550399" y="3052435"/>
              <a:ext cx="2349194" cy="157734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04</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8"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7" y="705445"/>
            <a:ext cx="5330278" cy="830997"/>
          </a:xfrm>
          <a:prstGeom prst="rect">
            <a:avLst/>
          </a:prstGeom>
          <a:noFill/>
        </p:spPr>
        <p:txBody>
          <a:bodyPr wrap="square" rtlCol="0">
            <a:spAutoFit/>
          </a:bodyPr>
          <a:lstStyle/>
          <a:p>
            <a:r>
              <a:rPr lang="zh-CN" altLang="en-US" sz="2400" b="1" dirty="0"/>
              <a:t>综述研究方法与分析框架</a:t>
            </a:r>
            <a:endParaRPr lang="zh-CN" altLang="en-US" sz="2400" dirty="0"/>
          </a:p>
          <a:p>
            <a:endParaRPr lang="zh-CN" altLang="en-US" sz="2400" b="1" dirty="0"/>
          </a:p>
        </p:txBody>
      </p:sp>
      <p:sp>
        <p:nvSpPr>
          <p:cNvPr id="5" name="文本框 4"/>
          <p:cNvSpPr txBox="1"/>
          <p:nvPr/>
        </p:nvSpPr>
        <p:spPr>
          <a:xfrm>
            <a:off x="753735" y="1503857"/>
            <a:ext cx="10684530" cy="3304815"/>
          </a:xfrm>
          <a:prstGeom prst="rect">
            <a:avLst/>
          </a:prstGeom>
          <a:noFill/>
        </p:spPr>
        <p:txBody>
          <a:bodyPr wrap="square">
            <a:spAutoFit/>
          </a:bodyPr>
          <a:lstStyle/>
          <a:p>
            <a:pPr>
              <a:lnSpc>
                <a:spcPct val="130000"/>
              </a:lnSpc>
            </a:pPr>
            <a:r>
              <a:rPr lang="zh-CN" altLang="en-US" dirty="0"/>
              <a:t>本课题拟采用 </a:t>
            </a:r>
            <a:r>
              <a:rPr lang="zh-CN" altLang="en-US" b="1" dirty="0"/>
              <a:t>文献综述与比较分析相结合</a:t>
            </a:r>
            <a:r>
              <a:rPr lang="zh-CN" altLang="en-US" dirty="0"/>
              <a:t> 的研究方法，围绕灵巧手抓取生成领域的代表性工作展开系统梳理。研究重点不在于重新设计并训练一个新的抓取生成模型，而在于从已有文献中归纳不同技术路线的核心思想、适用场景、优势与局限，并总结该领域的发展趋势。</a:t>
            </a:r>
            <a:endParaRPr lang="zh-CN" altLang="en-US" dirty="0"/>
          </a:p>
          <a:p>
            <a:pPr>
              <a:lnSpc>
                <a:spcPct val="130000"/>
              </a:lnSpc>
            </a:pPr>
            <a:r>
              <a:rPr lang="zh-CN" altLang="en-US" dirty="0"/>
              <a:t>具体而言，本课题将以近年来具有代表性的灵巧手抓取研究为主要分析对象，包括 </a:t>
            </a:r>
            <a:r>
              <a:rPr lang="en-US" altLang="zh-CN" dirty="0"/>
              <a:t>DexGraspNet</a:t>
            </a:r>
            <a:r>
              <a:rPr lang="zh-CN" altLang="en-US" dirty="0"/>
              <a:t>、</a:t>
            </a:r>
            <a:r>
              <a:rPr lang="en-US" altLang="zh-CN" dirty="0"/>
              <a:t>UniDexGrasp</a:t>
            </a:r>
            <a:r>
              <a:rPr lang="zh-CN" altLang="en-US" dirty="0"/>
              <a:t>、</a:t>
            </a:r>
            <a:r>
              <a:rPr lang="en-US" altLang="zh-CN" dirty="0"/>
              <a:t>UniDexGrasp++</a:t>
            </a:r>
            <a:r>
              <a:rPr lang="zh-CN" altLang="en-US" dirty="0"/>
              <a:t>、</a:t>
            </a:r>
            <a:r>
              <a:rPr lang="en-US" altLang="zh-CN" dirty="0"/>
              <a:t>D(R,O) Grasp</a:t>
            </a:r>
            <a:r>
              <a:rPr lang="zh-CN" altLang="en-US" dirty="0"/>
              <a:t>、</a:t>
            </a:r>
            <a:r>
              <a:rPr lang="en-US" altLang="zh-CN" dirty="0"/>
              <a:t>DexGrasp Anything</a:t>
            </a:r>
            <a:r>
              <a:rPr lang="zh-CN" altLang="en-US" dirty="0"/>
              <a:t>、</a:t>
            </a:r>
            <a:r>
              <a:rPr lang="en-US" altLang="zh-CN" dirty="0"/>
              <a:t>DexDiffuser </a:t>
            </a:r>
            <a:r>
              <a:rPr lang="zh-CN" altLang="en-US" dirty="0"/>
              <a:t>等工作。通过对这些文献的研究目标、输入表示、抓取生成方式、物理约束处理、数据集规模、实验验证方式和泛化能力进行对比，构建一个系统化的综述分析框架。</a:t>
            </a:r>
            <a:endParaRPr lang="zh-CN" altLang="en-US" dirty="0"/>
          </a:p>
          <a:p>
            <a:pPr>
              <a:lnSpc>
                <a:spcPct val="130000"/>
              </a:lnSpc>
            </a:pPr>
            <a:r>
              <a:rPr lang="zh-CN" altLang="en-US" dirty="0"/>
              <a:t>最终，本课题将形成一篇以 </a:t>
            </a:r>
            <a:r>
              <a:rPr lang="zh-CN" altLang="en-US" b="1" dirty="0"/>
              <a:t>“灵巧手抓取生成方法综述”</a:t>
            </a:r>
            <a:r>
              <a:rPr lang="zh-CN" altLang="en-US" dirty="0"/>
              <a:t> 为核心的综述论文，重点回答当前研究中“如何表示抓取”“如何生成抓取”“如何保证物理可行性”“如何提升跨物体与跨场景泛化能力”等关键问题。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6" y="705445"/>
            <a:ext cx="4322359" cy="461665"/>
          </a:xfrm>
          <a:prstGeom prst="rect">
            <a:avLst/>
          </a:prstGeom>
          <a:noFill/>
        </p:spPr>
        <p:txBody>
          <a:bodyPr wrap="square" rtlCol="0">
            <a:spAutoFit/>
          </a:bodyPr>
          <a:lstStyle/>
          <a:p>
            <a:r>
              <a:rPr lang="zh-CN" altLang="en-US" sz="2400" b="1" dirty="0"/>
              <a:t>综述研究流程</a:t>
            </a:r>
            <a:endParaRPr lang="zh-CN" altLang="en-US" sz="2400" b="1" dirty="0"/>
          </a:p>
        </p:txBody>
      </p:sp>
      <p:pic>
        <p:nvPicPr>
          <p:cNvPr id="5" name="图片 4" descr="图形用户界面, 应用程序&#10;&#10;描述已自动生成"/>
          <p:cNvPicPr>
            <a:picLocks noChangeAspect="1"/>
          </p:cNvPicPr>
          <p:nvPr/>
        </p:nvPicPr>
        <p:blipFill rotWithShape="1">
          <a:blip r:embed="rId2">
            <a:extLst>
              <a:ext uri="{28A0092B-C50C-407E-A947-70E740481C1C}">
                <a14:useLocalDpi xmlns:a14="http://schemas.microsoft.com/office/drawing/2010/main" val="0"/>
              </a:ext>
            </a:extLst>
          </a:blip>
          <a:srcRect t="13997"/>
          <a:stretch>
            <a:fillRect/>
          </a:stretch>
        </p:blipFill>
        <p:spPr>
          <a:xfrm>
            <a:off x="550976" y="1167110"/>
            <a:ext cx="11251525" cy="5440224"/>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6" y="705445"/>
            <a:ext cx="4322359" cy="461665"/>
          </a:xfrm>
          <a:prstGeom prst="rect">
            <a:avLst/>
          </a:prstGeom>
          <a:noFill/>
        </p:spPr>
        <p:txBody>
          <a:bodyPr wrap="square" rtlCol="0">
            <a:spAutoFit/>
          </a:bodyPr>
          <a:lstStyle/>
          <a:p>
            <a:r>
              <a:rPr lang="zh-CN" altLang="en-US" sz="2400" b="1" dirty="0"/>
              <a:t>文献分类框架</a:t>
            </a:r>
            <a:endParaRPr lang="zh-CN" altLang="en-US" sz="2400" b="1" dirty="0"/>
          </a:p>
        </p:txBody>
      </p:sp>
      <p:pic>
        <p:nvPicPr>
          <p:cNvPr id="3" name="图片 2" descr="图形用户界面, 文本, 电子邮件&#10;&#10;描述已自动生成"/>
          <p:cNvPicPr>
            <a:picLocks noChangeAspect="1"/>
          </p:cNvPicPr>
          <p:nvPr/>
        </p:nvPicPr>
        <p:blipFill rotWithShape="1">
          <a:blip r:embed="rId2">
            <a:extLst>
              <a:ext uri="{28A0092B-C50C-407E-A947-70E740481C1C}">
                <a14:useLocalDpi xmlns:a14="http://schemas.microsoft.com/office/drawing/2010/main" val="0"/>
              </a:ext>
            </a:extLst>
          </a:blip>
          <a:srcRect t="12656"/>
          <a:stretch>
            <a:fillRect/>
          </a:stretch>
        </p:blipFill>
        <p:spPr>
          <a:xfrm>
            <a:off x="518610" y="1167110"/>
            <a:ext cx="11154780" cy="54775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four</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7" y="705445"/>
            <a:ext cx="2350328" cy="461665"/>
          </a:xfrm>
          <a:prstGeom prst="rect">
            <a:avLst/>
          </a:prstGeom>
          <a:noFill/>
        </p:spPr>
        <p:txBody>
          <a:bodyPr wrap="square" rtlCol="0">
            <a:spAutoFit/>
          </a:bodyPr>
          <a:lstStyle/>
          <a:p>
            <a:r>
              <a:rPr lang="zh-CN" altLang="en-US" sz="2400" b="1" dirty="0"/>
              <a:t>拟采用方法</a:t>
            </a:r>
            <a:endParaRPr lang="zh-CN" altLang="en-US" sz="2400" b="1" dirty="0"/>
          </a:p>
        </p:txBody>
      </p:sp>
      <p:sp>
        <p:nvSpPr>
          <p:cNvPr id="12" name="文本框 11"/>
          <p:cNvSpPr txBox="1"/>
          <p:nvPr/>
        </p:nvSpPr>
        <p:spPr>
          <a:xfrm>
            <a:off x="626745" y="1382395"/>
            <a:ext cx="11199495" cy="4678680"/>
          </a:xfrm>
          <a:prstGeom prst="rect">
            <a:avLst/>
          </a:prstGeom>
          <a:noFill/>
        </p:spPr>
        <p:txBody>
          <a:bodyPr wrap="square">
            <a:noAutofit/>
          </a:bodyPr>
          <a:lstStyle/>
          <a:p>
            <a:pPr indent="457200" fontAlgn="auto">
              <a:lnSpc>
                <a:spcPct val="150000"/>
              </a:lnSpc>
            </a:pPr>
            <a:r>
              <a:rPr lang="zh-CN" altLang="en-US" dirty="0"/>
              <a:t>根据现有的研究：</a:t>
            </a:r>
            <a:endParaRPr lang="zh-CN" altLang="en-US" dirty="0"/>
          </a:p>
          <a:p>
            <a:pPr indent="457200" fontAlgn="auto">
              <a:lnSpc>
                <a:spcPct val="150000"/>
              </a:lnSpc>
            </a:pPr>
            <a:r>
              <a:rPr lang="zh-CN" altLang="en-US" dirty="0"/>
              <a:t>传统方法对于抓取姿势的物理合理性的优化方式是：生成抓取 → 物理引擎检查→ 优化，运算复杂而且未纳入模型训练。</a:t>
            </a:r>
            <a:endParaRPr lang="zh-CN" altLang="en-US" dirty="0"/>
          </a:p>
          <a:p>
            <a:pPr indent="457200" fontAlgn="auto">
              <a:lnSpc>
                <a:spcPct val="150000"/>
              </a:lnSpc>
            </a:pPr>
            <a:r>
              <a:rPr lang="zh-CN" altLang="en-US" dirty="0"/>
              <a:t>现在主流方法是生成抓取 → 加一些手工</a:t>
            </a:r>
            <a:r>
              <a:rPr lang="en-US" altLang="zh-CN" dirty="0"/>
              <a:t>loss（</a:t>
            </a:r>
            <a:r>
              <a:rPr lang="zh-CN" altLang="en-US" dirty="0"/>
              <a:t>不穿透、接触），约束比较粗糙，不能真正代表复杂的物理约束。</a:t>
            </a:r>
            <a:endParaRPr lang="zh-CN" altLang="en-US" dirty="0"/>
          </a:p>
          <a:p>
            <a:pPr indent="457200" fontAlgn="auto">
              <a:lnSpc>
                <a:spcPct val="150000"/>
              </a:lnSpc>
            </a:pPr>
            <a:r>
              <a:rPr lang="zh-CN" altLang="en-US" dirty="0"/>
              <a:t>可以加入一个物理网络做评判，</a:t>
            </a:r>
            <a:r>
              <a:rPr lang="zh-CN" altLang="en-US" b="1" dirty="0"/>
              <a:t>通过</a:t>
            </a:r>
            <a:r>
              <a:rPr lang="en-US" altLang="zh-CN" b="1" dirty="0"/>
              <a:t>{</a:t>
            </a:r>
            <a:r>
              <a:rPr lang="zh-CN" altLang="en-US" b="1" dirty="0"/>
              <a:t>(手姿态, 物体) → 是否稳定</a:t>
            </a:r>
            <a:r>
              <a:rPr lang="en-US" altLang="zh-CN" b="1" dirty="0"/>
              <a:t>}</a:t>
            </a:r>
            <a:r>
              <a:rPr lang="zh-CN" altLang="en-US" b="1" dirty="0"/>
              <a:t>的数据对物理网络进行训练</a:t>
            </a:r>
            <a:r>
              <a:rPr lang="zh-CN" altLang="en-US" dirty="0"/>
              <a:t>，最终形成：</a:t>
            </a:r>
            <a:r>
              <a:rPr lang="en-US" altLang="zh-CN" dirty="0"/>
              <a:t>diffusion</a:t>
            </a:r>
            <a:r>
              <a:rPr lang="zh-CN" altLang="en-US" dirty="0"/>
              <a:t>生成抓取</a:t>
            </a:r>
            <a:r>
              <a:rPr lang="zh-CN" altLang="en-US" dirty="0">
                <a:sym typeface="+mn-ea"/>
              </a:rPr>
              <a:t>→</a:t>
            </a:r>
            <a:r>
              <a:rPr lang="en-US" altLang="zh-CN" dirty="0"/>
              <a:t>physics network</a:t>
            </a:r>
            <a:r>
              <a:rPr lang="zh-CN" altLang="en-US" dirty="0"/>
              <a:t>评分</a:t>
            </a:r>
            <a:r>
              <a:rPr lang="zh-CN" altLang="en-US" dirty="0">
                <a:sym typeface="+mn-ea"/>
              </a:rPr>
              <a:t>→</a:t>
            </a:r>
            <a:r>
              <a:rPr lang="zh-CN" altLang="en-US" dirty="0"/>
              <a:t>反向传播迭代训练</a:t>
            </a:r>
            <a:endParaRPr lang="zh-CN" altLang="en-US" dirty="0"/>
          </a:p>
        </p:txBody>
      </p:sp>
      <p:sp>
        <p:nvSpPr>
          <p:cNvPr id="2" name="文本框 1">
            <a:hlinkClick r:id="rId2" action="ppaction://hlinksldjump"/>
          </p:cNvPr>
          <p:cNvSpPr txBox="1"/>
          <p:nvPr/>
        </p:nvSpPr>
        <p:spPr>
          <a:xfrm>
            <a:off x="10441305" y="5842635"/>
            <a:ext cx="822960" cy="358775"/>
          </a:xfrm>
          <a:prstGeom prst="rect">
            <a:avLst/>
          </a:prstGeom>
          <a:noFill/>
        </p:spPr>
        <p:txBody>
          <a:bodyPr wrap="square" rtlCol="0">
            <a:noAutofit/>
          </a:bodyPr>
          <a:lstStyle/>
          <a:p>
            <a:r>
              <a:rPr lang="zh-CN" altLang="en-US"/>
              <a:t>返回</a:t>
            </a:r>
            <a:endParaRPr lang="zh-CN" altLang="en-US"/>
          </a:p>
        </p:txBody>
      </p:sp>
      <p:sp>
        <p:nvSpPr>
          <p:cNvPr id="3" name="文本框 2"/>
          <p:cNvSpPr txBox="1"/>
          <p:nvPr/>
        </p:nvSpPr>
        <p:spPr>
          <a:xfrm>
            <a:off x="8428355" y="4799330"/>
            <a:ext cx="1156335" cy="368300"/>
          </a:xfrm>
          <a:prstGeom prst="rect">
            <a:avLst/>
          </a:prstGeom>
          <a:noFill/>
        </p:spPr>
        <p:txBody>
          <a:bodyPr wrap="square" rtlCol="0">
            <a:spAutoFit/>
          </a:bodyPr>
          <a:lstStyle/>
          <a:p>
            <a:r>
              <a:rPr lang="zh-CN" altLang="en-US" b="1">
                <a:solidFill>
                  <a:srgbClr val="FF0000"/>
                </a:solidFill>
              </a:rPr>
              <a:t>隐式学习</a:t>
            </a:r>
            <a:endParaRPr lang="zh-CN" altLang="en-US" b="1">
              <a:solidFill>
                <a:srgbClr val="FF0000"/>
              </a:solidFill>
            </a:endParaRPr>
          </a:p>
        </p:txBody>
      </p:sp>
      <p:cxnSp>
        <p:nvCxnSpPr>
          <p:cNvPr id="5" name="直接箭头连接符 4"/>
          <p:cNvCxnSpPr/>
          <p:nvPr/>
        </p:nvCxnSpPr>
        <p:spPr>
          <a:xfrm>
            <a:off x="8552180" y="3850005"/>
            <a:ext cx="300355" cy="85280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77"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34" name="组合 22"/>
          <p:cNvGrpSpPr/>
          <p:nvPr/>
        </p:nvGrpSpPr>
        <p:grpSpPr>
          <a:xfrm>
            <a:off x="0" y="713740"/>
            <a:ext cx="12273281" cy="4737100"/>
            <a:chOff x="0" y="713740"/>
            <a:chExt cx="12273281" cy="4737100"/>
          </a:xfrm>
        </p:grpSpPr>
        <p:grpSp>
          <p:nvGrpSpPr>
            <p:cNvPr id="135" name="组合 25"/>
            <p:cNvGrpSpPr/>
            <p:nvPr/>
          </p:nvGrpSpPr>
          <p:grpSpPr>
            <a:xfrm>
              <a:off x="0" y="1407160"/>
              <a:ext cx="4064000" cy="4043680"/>
              <a:chOff x="0" y="1407160"/>
              <a:chExt cx="4064000" cy="4043680"/>
            </a:xfrm>
          </p:grpSpPr>
          <p:sp>
            <p:nvSpPr>
              <p:cNvPr id="104877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5" name="文本框 33"/>
              <p:cNvSpPr txBox="1"/>
              <p:nvPr/>
            </p:nvSpPr>
            <p:spPr>
              <a:xfrm>
                <a:off x="127000" y="2706549"/>
                <a:ext cx="3810000" cy="1322070"/>
              </a:xfrm>
              <a:prstGeom prst="rect">
                <a:avLst/>
              </a:prstGeom>
              <a:noFill/>
            </p:spPr>
            <p:txBody>
              <a:bodyPr wrap="square" rtlCol="0">
                <a:spAutoFit/>
              </a:bodyPr>
              <a:lstStyle/>
              <a:p>
                <a:pPr algn="ctr"/>
                <a:r>
                  <a:rPr lang="zh-CN" altLang="en-US" sz="4000" dirty="0">
                    <a:solidFill>
                      <a:schemeClr val="bg1"/>
                    </a:solidFill>
                    <a:latin typeface="黑体" panose="02010609060101010101" charset="-122"/>
                    <a:ea typeface="黑体" panose="02010609060101010101" charset="-122"/>
                    <a:cs typeface="+mn-ea"/>
                    <a:sym typeface="+mn-lt"/>
                  </a:rPr>
                  <a:t>成员分工及工作安排</a:t>
                </a:r>
                <a:endParaRPr lang="zh-CN" altLang="en-US" sz="4000" dirty="0">
                  <a:solidFill>
                    <a:schemeClr val="bg1"/>
                  </a:solidFill>
                  <a:latin typeface="黑体" panose="02010609060101010101" charset="-122"/>
                  <a:ea typeface="黑体" panose="02010609060101010101" charset="-122"/>
                  <a:cs typeface="+mn-ea"/>
                  <a:sym typeface="+mn-lt"/>
                </a:endParaRPr>
              </a:p>
            </p:txBody>
          </p:sp>
        </p:grpSp>
        <p:grpSp>
          <p:nvGrpSpPr>
            <p:cNvPr id="136" name="组合 26"/>
            <p:cNvGrpSpPr/>
            <p:nvPr/>
          </p:nvGrpSpPr>
          <p:grpSpPr>
            <a:xfrm>
              <a:off x="7564229" y="713740"/>
              <a:ext cx="4709052" cy="1386840"/>
              <a:chOff x="7564229" y="713740"/>
              <a:chExt cx="4709052" cy="1386840"/>
            </a:xfrm>
          </p:grpSpPr>
          <p:sp>
            <p:nvSpPr>
              <p:cNvPr id="1048776" name="任意多边形 28"/>
              <p:cNvSpPr/>
              <p:nvPr/>
            </p:nvSpPr>
            <p:spPr>
              <a:xfrm flipH="1" flipV="1">
                <a:off x="7564229" y="71374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777" name="文本框 30"/>
              <p:cNvSpPr txBox="1"/>
              <p:nvPr/>
            </p:nvSpPr>
            <p:spPr>
              <a:xfrm>
                <a:off x="7793645" y="991661"/>
                <a:ext cx="4479636" cy="764540"/>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FOUR</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778" name="文本框 27"/>
            <p:cNvSpPr txBox="1"/>
            <p:nvPr/>
          </p:nvSpPr>
          <p:spPr>
            <a:xfrm>
              <a:off x="9550399" y="3052435"/>
              <a:ext cx="2349194" cy="144526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05</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78"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 name="Group 44"/>
          <p:cNvGrpSpPr/>
          <p:nvPr>
            <p:custDataLst>
              <p:tags r:id="rId1"/>
            </p:custDataLst>
          </p:nvPr>
        </p:nvGrpSpPr>
        <p:grpSpPr>
          <a:xfrm flipH="1">
            <a:off x="9801075" y="1225881"/>
            <a:ext cx="602615" cy="604520"/>
            <a:chOff x="7204075" y="-1846263"/>
            <a:chExt cx="1939925" cy="1944688"/>
          </a:xfrm>
        </p:grpSpPr>
        <p:sp>
          <p:nvSpPr>
            <p:cNvPr id="1048782" name="ïşḻïďê-Oval 45"/>
            <p:cNvSpPr/>
            <p:nvPr>
              <p:custDataLst>
                <p:tags r:id="rId2"/>
              </p:custDataLst>
            </p:nvPr>
          </p:nvSpPr>
          <p:spPr bwMode="auto">
            <a:xfrm>
              <a:off x="7204075" y="-1846263"/>
              <a:ext cx="1939925" cy="1944688"/>
            </a:xfrm>
            <a:prstGeom prst="ellipse">
              <a:avLst/>
            </a:prstGeom>
            <a:solidFill>
              <a:schemeClr val="accent4">
                <a:lumMod val="10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141" name="Group 46"/>
            <p:cNvGrpSpPr/>
            <p:nvPr/>
          </p:nvGrpSpPr>
          <p:grpSpPr>
            <a:xfrm>
              <a:off x="7519988" y="-1506538"/>
              <a:ext cx="1312862" cy="1265238"/>
              <a:chOff x="7519988" y="-1506538"/>
              <a:chExt cx="1312862" cy="1265238"/>
            </a:xfrm>
          </p:grpSpPr>
          <p:sp>
            <p:nvSpPr>
              <p:cNvPr id="1048783" name="ïşḻïďê-Freeform: Shape 47"/>
              <p:cNvSpPr/>
              <p:nvPr>
                <p:custDataLst>
                  <p:tags r:id="rId3"/>
                </p:custDataLst>
              </p:nvPr>
            </p:nvSpPr>
            <p:spPr bwMode="auto">
              <a:xfrm>
                <a:off x="7519988" y="-1484313"/>
                <a:ext cx="1176338" cy="1117600"/>
              </a:xfrm>
              <a:custGeom>
                <a:avLst/>
                <a:gdLst>
                  <a:gd name="T0" fmla="*/ 211 w 215"/>
                  <a:gd name="T1" fmla="*/ 164 h 204"/>
                  <a:gd name="T2" fmla="*/ 147 w 215"/>
                  <a:gd name="T3" fmla="*/ 199 h 204"/>
                  <a:gd name="T4" fmla="*/ 46 w 215"/>
                  <a:gd name="T5" fmla="*/ 10 h 204"/>
                  <a:gd name="T6" fmla="*/ 35 w 215"/>
                  <a:gd name="T7" fmla="*/ 1 h 204"/>
                  <a:gd name="T8" fmla="*/ 22 w 215"/>
                  <a:gd name="T9" fmla="*/ 3 h 204"/>
                  <a:gd name="T10" fmla="*/ 1 w 215"/>
                  <a:gd name="T11" fmla="*/ 14 h 204"/>
                  <a:gd name="T12" fmla="*/ 0 w 215"/>
                  <a:gd name="T13" fmla="*/ 17 h 204"/>
                  <a:gd name="T14" fmla="*/ 3 w 215"/>
                  <a:gd name="T15" fmla="*/ 18 h 204"/>
                  <a:gd name="T16" fmla="*/ 24 w 215"/>
                  <a:gd name="T17" fmla="*/ 7 h 204"/>
                  <a:gd name="T18" fmla="*/ 34 w 215"/>
                  <a:gd name="T19" fmla="*/ 6 h 204"/>
                  <a:gd name="T20" fmla="*/ 41 w 215"/>
                  <a:gd name="T21" fmla="*/ 12 h 204"/>
                  <a:gd name="T22" fmla="*/ 144 w 215"/>
                  <a:gd name="T23" fmla="*/ 203 h 204"/>
                  <a:gd name="T24" fmla="*/ 146 w 215"/>
                  <a:gd name="T25" fmla="*/ 204 h 204"/>
                  <a:gd name="T26" fmla="*/ 146 w 215"/>
                  <a:gd name="T27" fmla="*/ 204 h 204"/>
                  <a:gd name="T28" fmla="*/ 148 w 215"/>
                  <a:gd name="T29" fmla="*/ 204 h 204"/>
                  <a:gd name="T30" fmla="*/ 213 w 215"/>
                  <a:gd name="T31" fmla="*/ 168 h 204"/>
                  <a:gd name="T32" fmla="*/ 214 w 215"/>
                  <a:gd name="T33" fmla="*/ 165 h 204"/>
                  <a:gd name="T34" fmla="*/ 211 w 215"/>
                  <a:gd name="T35"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04">
                    <a:moveTo>
                      <a:pt x="211" y="164"/>
                    </a:moveTo>
                    <a:cubicBezTo>
                      <a:pt x="147" y="199"/>
                      <a:pt x="147" y="199"/>
                      <a:pt x="147" y="199"/>
                    </a:cubicBezTo>
                    <a:cubicBezTo>
                      <a:pt x="46" y="10"/>
                      <a:pt x="46" y="10"/>
                      <a:pt x="46" y="10"/>
                    </a:cubicBezTo>
                    <a:cubicBezTo>
                      <a:pt x="43" y="6"/>
                      <a:pt x="40" y="3"/>
                      <a:pt x="35" y="1"/>
                    </a:cubicBezTo>
                    <a:cubicBezTo>
                      <a:pt x="31" y="0"/>
                      <a:pt x="26" y="1"/>
                      <a:pt x="22" y="3"/>
                    </a:cubicBezTo>
                    <a:cubicBezTo>
                      <a:pt x="1" y="14"/>
                      <a:pt x="1" y="14"/>
                      <a:pt x="1" y="14"/>
                    </a:cubicBezTo>
                    <a:cubicBezTo>
                      <a:pt x="0" y="15"/>
                      <a:pt x="0" y="16"/>
                      <a:pt x="0" y="17"/>
                    </a:cubicBezTo>
                    <a:cubicBezTo>
                      <a:pt x="1" y="18"/>
                      <a:pt x="2" y="19"/>
                      <a:pt x="3" y="18"/>
                    </a:cubicBezTo>
                    <a:cubicBezTo>
                      <a:pt x="24" y="7"/>
                      <a:pt x="24" y="7"/>
                      <a:pt x="24" y="7"/>
                    </a:cubicBezTo>
                    <a:cubicBezTo>
                      <a:pt x="27" y="5"/>
                      <a:pt x="31" y="5"/>
                      <a:pt x="34" y="6"/>
                    </a:cubicBezTo>
                    <a:cubicBezTo>
                      <a:pt x="37" y="7"/>
                      <a:pt x="40" y="9"/>
                      <a:pt x="41" y="12"/>
                    </a:cubicBezTo>
                    <a:cubicBezTo>
                      <a:pt x="144" y="203"/>
                      <a:pt x="144" y="203"/>
                      <a:pt x="144" y="203"/>
                    </a:cubicBezTo>
                    <a:cubicBezTo>
                      <a:pt x="145" y="203"/>
                      <a:pt x="145" y="204"/>
                      <a:pt x="146" y="204"/>
                    </a:cubicBezTo>
                    <a:cubicBezTo>
                      <a:pt x="146" y="204"/>
                      <a:pt x="146" y="204"/>
                      <a:pt x="146" y="204"/>
                    </a:cubicBezTo>
                    <a:cubicBezTo>
                      <a:pt x="147" y="204"/>
                      <a:pt x="147" y="204"/>
                      <a:pt x="148" y="204"/>
                    </a:cubicBezTo>
                    <a:cubicBezTo>
                      <a:pt x="213" y="168"/>
                      <a:pt x="213" y="168"/>
                      <a:pt x="213" y="168"/>
                    </a:cubicBezTo>
                    <a:cubicBezTo>
                      <a:pt x="215" y="168"/>
                      <a:pt x="215" y="166"/>
                      <a:pt x="214" y="165"/>
                    </a:cubicBezTo>
                    <a:cubicBezTo>
                      <a:pt x="214" y="164"/>
                      <a:pt x="212" y="164"/>
                      <a:pt x="211" y="164"/>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4" name="ïşḻïďê-Freeform: Shape 48"/>
              <p:cNvSpPr/>
              <p:nvPr>
                <p:custDataLst>
                  <p:tags r:id="rId4"/>
                </p:custDataLst>
              </p:nvPr>
            </p:nvSpPr>
            <p:spPr bwMode="auto">
              <a:xfrm>
                <a:off x="8045450" y="-422275"/>
                <a:ext cx="190500" cy="180975"/>
              </a:xfrm>
              <a:custGeom>
                <a:avLst/>
                <a:gdLst>
                  <a:gd name="T0" fmla="*/ 18 w 35"/>
                  <a:gd name="T1" fmla="*/ 0 h 33"/>
                  <a:gd name="T2" fmla="*/ 11 w 35"/>
                  <a:gd name="T3" fmla="*/ 2 h 33"/>
                  <a:gd name="T4" fmla="*/ 4 w 35"/>
                  <a:gd name="T5" fmla="*/ 24 h 33"/>
                  <a:gd name="T6" fmla="*/ 19 w 35"/>
                  <a:gd name="T7" fmla="*/ 33 h 33"/>
                  <a:gd name="T8" fmla="*/ 26 w 35"/>
                  <a:gd name="T9" fmla="*/ 31 h 33"/>
                  <a:gd name="T10" fmla="*/ 34 w 35"/>
                  <a:gd name="T11" fmla="*/ 21 h 33"/>
                  <a:gd name="T12" fmla="*/ 33 w 35"/>
                  <a:gd name="T13" fmla="*/ 9 h 33"/>
                  <a:gd name="T14" fmla="*/ 18 w 35"/>
                  <a:gd name="T15" fmla="*/ 0 h 33"/>
                  <a:gd name="T16" fmla="*/ 30 w 35"/>
                  <a:gd name="T17" fmla="*/ 20 h 33"/>
                  <a:gd name="T18" fmla="*/ 24 w 35"/>
                  <a:gd name="T19" fmla="*/ 27 h 33"/>
                  <a:gd name="T20" fmla="*/ 19 w 35"/>
                  <a:gd name="T21" fmla="*/ 28 h 33"/>
                  <a:gd name="T22" fmla="*/ 8 w 35"/>
                  <a:gd name="T23" fmla="*/ 22 h 33"/>
                  <a:gd name="T24" fmla="*/ 13 w 35"/>
                  <a:gd name="T25" fmla="*/ 6 h 33"/>
                  <a:gd name="T26" fmla="*/ 18 w 35"/>
                  <a:gd name="T27" fmla="*/ 5 h 33"/>
                  <a:gd name="T28" fmla="*/ 29 w 35"/>
                  <a:gd name="T29" fmla="*/ 11 h 33"/>
                  <a:gd name="T30" fmla="*/ 30 w 35"/>
                  <a:gd name="T31" fmla="*/ 2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33">
                    <a:moveTo>
                      <a:pt x="18" y="0"/>
                    </a:moveTo>
                    <a:cubicBezTo>
                      <a:pt x="16" y="0"/>
                      <a:pt x="13" y="1"/>
                      <a:pt x="11" y="2"/>
                    </a:cubicBezTo>
                    <a:cubicBezTo>
                      <a:pt x="3" y="6"/>
                      <a:pt x="0" y="16"/>
                      <a:pt x="4" y="24"/>
                    </a:cubicBezTo>
                    <a:cubicBezTo>
                      <a:pt x="7" y="30"/>
                      <a:pt x="13" y="33"/>
                      <a:pt x="19" y="33"/>
                    </a:cubicBezTo>
                    <a:cubicBezTo>
                      <a:pt x="21" y="33"/>
                      <a:pt x="24" y="32"/>
                      <a:pt x="26" y="31"/>
                    </a:cubicBezTo>
                    <a:cubicBezTo>
                      <a:pt x="30" y="29"/>
                      <a:pt x="33" y="25"/>
                      <a:pt x="34" y="21"/>
                    </a:cubicBezTo>
                    <a:cubicBezTo>
                      <a:pt x="35" y="17"/>
                      <a:pt x="35" y="13"/>
                      <a:pt x="33" y="9"/>
                    </a:cubicBezTo>
                    <a:cubicBezTo>
                      <a:pt x="30" y="4"/>
                      <a:pt x="24" y="0"/>
                      <a:pt x="18" y="0"/>
                    </a:cubicBezTo>
                    <a:close/>
                    <a:moveTo>
                      <a:pt x="30" y="20"/>
                    </a:moveTo>
                    <a:cubicBezTo>
                      <a:pt x="29" y="23"/>
                      <a:pt x="27" y="25"/>
                      <a:pt x="24" y="27"/>
                    </a:cubicBezTo>
                    <a:cubicBezTo>
                      <a:pt x="22" y="28"/>
                      <a:pt x="20" y="28"/>
                      <a:pt x="19" y="28"/>
                    </a:cubicBezTo>
                    <a:cubicBezTo>
                      <a:pt x="14" y="28"/>
                      <a:pt x="10" y="26"/>
                      <a:pt x="8" y="22"/>
                    </a:cubicBezTo>
                    <a:cubicBezTo>
                      <a:pt x="5" y="16"/>
                      <a:pt x="7" y="9"/>
                      <a:pt x="13" y="6"/>
                    </a:cubicBezTo>
                    <a:cubicBezTo>
                      <a:pt x="15" y="5"/>
                      <a:pt x="17" y="5"/>
                      <a:pt x="18" y="5"/>
                    </a:cubicBezTo>
                    <a:cubicBezTo>
                      <a:pt x="23" y="5"/>
                      <a:pt x="27" y="7"/>
                      <a:pt x="29" y="11"/>
                    </a:cubicBezTo>
                    <a:cubicBezTo>
                      <a:pt x="30" y="14"/>
                      <a:pt x="31" y="17"/>
                      <a:pt x="30" y="20"/>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5" name="ïşḻïďê-Freeform: Shape 49"/>
              <p:cNvSpPr/>
              <p:nvPr>
                <p:custDataLst>
                  <p:tags r:id="rId5"/>
                </p:custDataLst>
              </p:nvPr>
            </p:nvSpPr>
            <p:spPr bwMode="auto">
              <a:xfrm>
                <a:off x="7962900" y="-1506538"/>
                <a:ext cx="869950" cy="1003300"/>
              </a:xfrm>
              <a:custGeom>
                <a:avLst/>
                <a:gdLst>
                  <a:gd name="T0" fmla="*/ 158 w 159"/>
                  <a:gd name="T1" fmla="*/ 135 h 183"/>
                  <a:gd name="T2" fmla="*/ 86 w 159"/>
                  <a:gd name="T3" fmla="*/ 2 h 183"/>
                  <a:gd name="T4" fmla="*/ 84 w 159"/>
                  <a:gd name="T5" fmla="*/ 0 h 183"/>
                  <a:gd name="T6" fmla="*/ 83 w 159"/>
                  <a:gd name="T7" fmla="*/ 1 h 183"/>
                  <a:gd name="T8" fmla="*/ 1 w 159"/>
                  <a:gd name="T9" fmla="*/ 45 h 183"/>
                  <a:gd name="T10" fmla="*/ 0 w 159"/>
                  <a:gd name="T11" fmla="*/ 48 h 183"/>
                  <a:gd name="T12" fmla="*/ 72 w 159"/>
                  <a:gd name="T13" fmla="*/ 181 h 183"/>
                  <a:gd name="T14" fmla="*/ 74 w 159"/>
                  <a:gd name="T15" fmla="*/ 183 h 183"/>
                  <a:gd name="T16" fmla="*/ 74 w 159"/>
                  <a:gd name="T17" fmla="*/ 183 h 183"/>
                  <a:gd name="T18" fmla="*/ 76 w 159"/>
                  <a:gd name="T19" fmla="*/ 182 h 183"/>
                  <a:gd name="T20" fmla="*/ 157 w 159"/>
                  <a:gd name="T21" fmla="*/ 138 h 183"/>
                  <a:gd name="T22" fmla="*/ 158 w 159"/>
                  <a:gd name="T23" fmla="*/ 135 h 183"/>
                  <a:gd name="T24" fmla="*/ 83 w 159"/>
                  <a:gd name="T25" fmla="*/ 6 h 183"/>
                  <a:gd name="T26" fmla="*/ 117 w 159"/>
                  <a:gd name="T27" fmla="*/ 69 h 183"/>
                  <a:gd name="T28" fmla="*/ 39 w 159"/>
                  <a:gd name="T29" fmla="*/ 110 h 183"/>
                  <a:gd name="T30" fmla="*/ 6 w 159"/>
                  <a:gd name="T31" fmla="*/ 48 h 183"/>
                  <a:gd name="T32" fmla="*/ 83 w 159"/>
                  <a:gd name="T33" fmla="*/ 6 h 183"/>
                  <a:gd name="T34" fmla="*/ 75 w 159"/>
                  <a:gd name="T35" fmla="*/ 177 h 183"/>
                  <a:gd name="T36" fmla="*/ 42 w 159"/>
                  <a:gd name="T37" fmla="*/ 114 h 183"/>
                  <a:gd name="T38" fmla="*/ 119 w 159"/>
                  <a:gd name="T39" fmla="*/ 73 h 183"/>
                  <a:gd name="T40" fmla="*/ 153 w 159"/>
                  <a:gd name="T41" fmla="*/ 135 h 183"/>
                  <a:gd name="T42" fmla="*/ 75 w 159"/>
                  <a:gd name="T43" fmla="*/ 17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83">
                    <a:moveTo>
                      <a:pt x="158" y="135"/>
                    </a:moveTo>
                    <a:cubicBezTo>
                      <a:pt x="86" y="2"/>
                      <a:pt x="86" y="2"/>
                      <a:pt x="86" y="2"/>
                    </a:cubicBezTo>
                    <a:cubicBezTo>
                      <a:pt x="86" y="1"/>
                      <a:pt x="85" y="1"/>
                      <a:pt x="84" y="0"/>
                    </a:cubicBezTo>
                    <a:cubicBezTo>
                      <a:pt x="84" y="0"/>
                      <a:pt x="83" y="0"/>
                      <a:pt x="83" y="1"/>
                    </a:cubicBezTo>
                    <a:cubicBezTo>
                      <a:pt x="1" y="45"/>
                      <a:pt x="1" y="45"/>
                      <a:pt x="1" y="45"/>
                    </a:cubicBezTo>
                    <a:cubicBezTo>
                      <a:pt x="0" y="45"/>
                      <a:pt x="0" y="47"/>
                      <a:pt x="0" y="48"/>
                    </a:cubicBezTo>
                    <a:cubicBezTo>
                      <a:pt x="72" y="181"/>
                      <a:pt x="72" y="181"/>
                      <a:pt x="72" y="181"/>
                    </a:cubicBezTo>
                    <a:cubicBezTo>
                      <a:pt x="73" y="182"/>
                      <a:pt x="73" y="182"/>
                      <a:pt x="74" y="183"/>
                    </a:cubicBezTo>
                    <a:cubicBezTo>
                      <a:pt x="74" y="183"/>
                      <a:pt x="74" y="183"/>
                      <a:pt x="74" y="183"/>
                    </a:cubicBezTo>
                    <a:cubicBezTo>
                      <a:pt x="75" y="183"/>
                      <a:pt x="75" y="183"/>
                      <a:pt x="76" y="182"/>
                    </a:cubicBezTo>
                    <a:cubicBezTo>
                      <a:pt x="157" y="138"/>
                      <a:pt x="157" y="138"/>
                      <a:pt x="157" y="138"/>
                    </a:cubicBezTo>
                    <a:cubicBezTo>
                      <a:pt x="158" y="138"/>
                      <a:pt x="159" y="136"/>
                      <a:pt x="158" y="135"/>
                    </a:cubicBezTo>
                    <a:close/>
                    <a:moveTo>
                      <a:pt x="83" y="6"/>
                    </a:moveTo>
                    <a:cubicBezTo>
                      <a:pt x="117" y="69"/>
                      <a:pt x="117" y="69"/>
                      <a:pt x="117" y="69"/>
                    </a:cubicBezTo>
                    <a:cubicBezTo>
                      <a:pt x="39" y="110"/>
                      <a:pt x="39" y="110"/>
                      <a:pt x="39" y="110"/>
                    </a:cubicBezTo>
                    <a:cubicBezTo>
                      <a:pt x="6" y="48"/>
                      <a:pt x="6" y="48"/>
                      <a:pt x="6" y="48"/>
                    </a:cubicBezTo>
                    <a:lnTo>
                      <a:pt x="83" y="6"/>
                    </a:lnTo>
                    <a:close/>
                    <a:moveTo>
                      <a:pt x="75" y="177"/>
                    </a:moveTo>
                    <a:cubicBezTo>
                      <a:pt x="42" y="114"/>
                      <a:pt x="42" y="114"/>
                      <a:pt x="42" y="114"/>
                    </a:cubicBezTo>
                    <a:cubicBezTo>
                      <a:pt x="119" y="73"/>
                      <a:pt x="119" y="73"/>
                      <a:pt x="119" y="73"/>
                    </a:cubicBezTo>
                    <a:cubicBezTo>
                      <a:pt x="153" y="135"/>
                      <a:pt x="153" y="135"/>
                      <a:pt x="153" y="135"/>
                    </a:cubicBezTo>
                    <a:lnTo>
                      <a:pt x="75" y="177"/>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6" name="ïşḻïďê-Freeform: Shape 50"/>
              <p:cNvSpPr/>
              <p:nvPr>
                <p:custDataLst>
                  <p:tags r:id="rId6"/>
                </p:custDataLst>
              </p:nvPr>
            </p:nvSpPr>
            <p:spPr bwMode="auto">
              <a:xfrm>
                <a:off x="8132763" y="-1341438"/>
                <a:ext cx="234950" cy="136525"/>
              </a:xfrm>
              <a:custGeom>
                <a:avLst/>
                <a:gdLst>
                  <a:gd name="T0" fmla="*/ 42 w 43"/>
                  <a:gd name="T1" fmla="*/ 4 h 25"/>
                  <a:gd name="T2" fmla="*/ 43 w 43"/>
                  <a:gd name="T3" fmla="*/ 1 h 25"/>
                  <a:gd name="T4" fmla="*/ 40 w 43"/>
                  <a:gd name="T5" fmla="*/ 0 h 25"/>
                  <a:gd name="T6" fmla="*/ 2 w 43"/>
                  <a:gd name="T7" fmla="*/ 21 h 25"/>
                  <a:gd name="T8" fmla="*/ 1 w 43"/>
                  <a:gd name="T9" fmla="*/ 24 h 25"/>
                  <a:gd name="T10" fmla="*/ 3 w 43"/>
                  <a:gd name="T11" fmla="*/ 25 h 25"/>
                  <a:gd name="T12" fmla="*/ 4 w 43"/>
                  <a:gd name="T13" fmla="*/ 25 h 25"/>
                  <a:gd name="T14" fmla="*/ 42 w 43"/>
                  <a:gd name="T15" fmla="*/ 4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2" y="4"/>
                    </a:moveTo>
                    <a:cubicBezTo>
                      <a:pt x="43" y="4"/>
                      <a:pt x="43" y="2"/>
                      <a:pt x="43" y="1"/>
                    </a:cubicBezTo>
                    <a:cubicBezTo>
                      <a:pt x="42" y="0"/>
                      <a:pt x="41" y="0"/>
                      <a:pt x="40" y="0"/>
                    </a:cubicBezTo>
                    <a:cubicBezTo>
                      <a:pt x="2" y="21"/>
                      <a:pt x="2" y="21"/>
                      <a:pt x="2" y="21"/>
                    </a:cubicBezTo>
                    <a:cubicBezTo>
                      <a:pt x="0" y="21"/>
                      <a:pt x="0" y="23"/>
                      <a:pt x="1" y="24"/>
                    </a:cubicBezTo>
                    <a:cubicBezTo>
                      <a:pt x="1" y="25"/>
                      <a:pt x="2" y="25"/>
                      <a:pt x="3" y="25"/>
                    </a:cubicBezTo>
                    <a:cubicBezTo>
                      <a:pt x="3" y="25"/>
                      <a:pt x="3" y="25"/>
                      <a:pt x="4" y="25"/>
                    </a:cubicBezTo>
                    <a:lnTo>
                      <a:pt x="42" y="4"/>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87" name="ïşḻïďê-Freeform: Shape 51"/>
              <p:cNvSpPr/>
              <p:nvPr>
                <p:custDataLst>
                  <p:tags r:id="rId7"/>
                </p:custDataLst>
              </p:nvPr>
            </p:nvSpPr>
            <p:spPr bwMode="auto">
              <a:xfrm>
                <a:off x="8329613" y="-981075"/>
                <a:ext cx="234950" cy="138113"/>
              </a:xfrm>
              <a:custGeom>
                <a:avLst/>
                <a:gdLst>
                  <a:gd name="T0" fmla="*/ 43 w 43"/>
                  <a:gd name="T1" fmla="*/ 1 h 25"/>
                  <a:gd name="T2" fmla="*/ 39 w 43"/>
                  <a:gd name="T3" fmla="*/ 0 h 25"/>
                  <a:gd name="T4" fmla="*/ 1 w 43"/>
                  <a:gd name="T5" fmla="*/ 21 h 25"/>
                  <a:gd name="T6" fmla="*/ 0 w 43"/>
                  <a:gd name="T7" fmla="*/ 24 h 25"/>
                  <a:gd name="T8" fmla="*/ 2 w 43"/>
                  <a:gd name="T9" fmla="*/ 25 h 25"/>
                  <a:gd name="T10" fmla="*/ 3 w 43"/>
                  <a:gd name="T11" fmla="*/ 25 h 25"/>
                  <a:gd name="T12" fmla="*/ 42 w 43"/>
                  <a:gd name="T13" fmla="*/ 4 h 25"/>
                  <a:gd name="T14" fmla="*/ 43 w 43"/>
                  <a:gd name="T15" fmla="*/ 1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43" y="1"/>
                    </a:moveTo>
                    <a:cubicBezTo>
                      <a:pt x="42" y="0"/>
                      <a:pt x="41" y="0"/>
                      <a:pt x="39" y="0"/>
                    </a:cubicBezTo>
                    <a:cubicBezTo>
                      <a:pt x="1" y="21"/>
                      <a:pt x="1" y="21"/>
                      <a:pt x="1" y="21"/>
                    </a:cubicBezTo>
                    <a:cubicBezTo>
                      <a:pt x="0" y="22"/>
                      <a:pt x="0" y="23"/>
                      <a:pt x="0" y="24"/>
                    </a:cubicBezTo>
                    <a:cubicBezTo>
                      <a:pt x="1" y="25"/>
                      <a:pt x="2" y="25"/>
                      <a:pt x="2" y="25"/>
                    </a:cubicBezTo>
                    <a:cubicBezTo>
                      <a:pt x="3" y="25"/>
                      <a:pt x="3" y="25"/>
                      <a:pt x="3" y="25"/>
                    </a:cubicBezTo>
                    <a:cubicBezTo>
                      <a:pt x="42" y="4"/>
                      <a:pt x="42" y="4"/>
                      <a:pt x="42" y="4"/>
                    </a:cubicBezTo>
                    <a:cubicBezTo>
                      <a:pt x="43" y="4"/>
                      <a:pt x="43" y="2"/>
                      <a:pt x="43" y="1"/>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grpSp>
      <p:grpSp>
        <p:nvGrpSpPr>
          <p:cNvPr id="142" name="Group 62"/>
          <p:cNvGrpSpPr/>
          <p:nvPr>
            <p:custDataLst>
              <p:tags r:id="rId8"/>
            </p:custDataLst>
          </p:nvPr>
        </p:nvGrpSpPr>
        <p:grpSpPr>
          <a:xfrm rot="21540000">
            <a:off x="1534458" y="1231281"/>
            <a:ext cx="624205" cy="624840"/>
            <a:chOff x="2552700" y="-1971675"/>
            <a:chExt cx="1935163" cy="1938338"/>
          </a:xfrm>
        </p:grpSpPr>
        <p:sp>
          <p:nvSpPr>
            <p:cNvPr id="1048788" name="ïşḻïďê-Oval 63"/>
            <p:cNvSpPr/>
            <p:nvPr>
              <p:custDataLst>
                <p:tags r:id="rId9"/>
              </p:custDataLst>
            </p:nvPr>
          </p:nvSpPr>
          <p:spPr bwMode="auto">
            <a:xfrm>
              <a:off x="2552700" y="-1971675"/>
              <a:ext cx="1935163" cy="1938338"/>
            </a:xfrm>
            <a:prstGeom prst="ellipse">
              <a:avLst/>
            </a:prstGeom>
            <a:solidFill>
              <a:schemeClr val="accent2">
                <a:lumMod val="100000"/>
              </a:schemeClr>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nvGrpSpPr>
            <p:cNvPr id="143" name="Group 64"/>
            <p:cNvGrpSpPr/>
            <p:nvPr/>
          </p:nvGrpSpPr>
          <p:grpSpPr>
            <a:xfrm>
              <a:off x="2908300" y="-1620838"/>
              <a:ext cx="1228725" cy="1236663"/>
              <a:chOff x="2908300" y="-1620838"/>
              <a:chExt cx="1228725" cy="1236663"/>
            </a:xfrm>
          </p:grpSpPr>
          <p:sp>
            <p:nvSpPr>
              <p:cNvPr id="1048789" name="ïşḻïďê-Freeform: Shape 65"/>
              <p:cNvSpPr/>
              <p:nvPr>
                <p:custDataLst>
                  <p:tags r:id="rId10"/>
                </p:custDataLst>
              </p:nvPr>
            </p:nvSpPr>
            <p:spPr bwMode="auto">
              <a:xfrm>
                <a:off x="3055938"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2" y="38"/>
                      <a:pt x="5" y="31"/>
                      <a:pt x="5" y="21"/>
                    </a:cubicBezTo>
                    <a:cubicBezTo>
                      <a:pt x="5" y="12"/>
                      <a:pt x="12" y="5"/>
                      <a:pt x="22" y="5"/>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0" name="ïşḻïďê-Freeform: Shape 66"/>
              <p:cNvSpPr/>
              <p:nvPr>
                <p:custDataLst>
                  <p:tags r:id="rId11"/>
                </p:custDataLst>
              </p:nvPr>
            </p:nvSpPr>
            <p:spPr bwMode="auto">
              <a:xfrm>
                <a:off x="3749675" y="-1620838"/>
                <a:ext cx="234950" cy="234950"/>
              </a:xfrm>
              <a:custGeom>
                <a:avLst/>
                <a:gdLst>
                  <a:gd name="T0" fmla="*/ 22 w 43"/>
                  <a:gd name="T1" fmla="*/ 43 h 43"/>
                  <a:gd name="T2" fmla="*/ 43 w 43"/>
                  <a:gd name="T3" fmla="*/ 21 h 43"/>
                  <a:gd name="T4" fmla="*/ 22 w 43"/>
                  <a:gd name="T5" fmla="*/ 0 h 43"/>
                  <a:gd name="T6" fmla="*/ 0 w 43"/>
                  <a:gd name="T7" fmla="*/ 21 h 43"/>
                  <a:gd name="T8" fmla="*/ 22 w 43"/>
                  <a:gd name="T9" fmla="*/ 43 h 43"/>
                  <a:gd name="T10" fmla="*/ 22 w 43"/>
                  <a:gd name="T11" fmla="*/ 5 h 43"/>
                  <a:gd name="T12" fmla="*/ 39 w 43"/>
                  <a:gd name="T13" fmla="*/ 21 h 43"/>
                  <a:gd name="T14" fmla="*/ 22 w 43"/>
                  <a:gd name="T15" fmla="*/ 38 h 43"/>
                  <a:gd name="T16" fmla="*/ 5 w 43"/>
                  <a:gd name="T17" fmla="*/ 21 h 43"/>
                  <a:gd name="T18" fmla="*/ 22 w 43"/>
                  <a:gd name="T19" fmla="*/ 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43">
                    <a:moveTo>
                      <a:pt x="22" y="43"/>
                    </a:moveTo>
                    <a:cubicBezTo>
                      <a:pt x="34" y="43"/>
                      <a:pt x="43" y="33"/>
                      <a:pt x="43" y="21"/>
                    </a:cubicBezTo>
                    <a:cubicBezTo>
                      <a:pt x="43" y="10"/>
                      <a:pt x="34" y="0"/>
                      <a:pt x="22" y="0"/>
                    </a:cubicBezTo>
                    <a:cubicBezTo>
                      <a:pt x="10" y="0"/>
                      <a:pt x="0" y="10"/>
                      <a:pt x="0" y="21"/>
                    </a:cubicBezTo>
                    <a:cubicBezTo>
                      <a:pt x="0" y="33"/>
                      <a:pt x="10" y="43"/>
                      <a:pt x="22" y="43"/>
                    </a:cubicBezTo>
                    <a:close/>
                    <a:moveTo>
                      <a:pt x="22" y="5"/>
                    </a:moveTo>
                    <a:cubicBezTo>
                      <a:pt x="31" y="5"/>
                      <a:pt x="39" y="12"/>
                      <a:pt x="39" y="21"/>
                    </a:cubicBezTo>
                    <a:cubicBezTo>
                      <a:pt x="39" y="31"/>
                      <a:pt x="31" y="38"/>
                      <a:pt x="22" y="38"/>
                    </a:cubicBezTo>
                    <a:cubicBezTo>
                      <a:pt x="13" y="38"/>
                      <a:pt x="5" y="31"/>
                      <a:pt x="5" y="21"/>
                    </a:cubicBezTo>
                    <a:cubicBezTo>
                      <a:pt x="5" y="12"/>
                      <a:pt x="13" y="5"/>
                      <a:pt x="22" y="5"/>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1" name="ïşḻïďê-Freeform: Shape 67"/>
              <p:cNvSpPr/>
              <p:nvPr>
                <p:custDataLst>
                  <p:tags r:id="rId12"/>
                </p:custDataLst>
              </p:nvPr>
            </p:nvSpPr>
            <p:spPr bwMode="auto">
              <a:xfrm>
                <a:off x="2908300" y="-1358900"/>
                <a:ext cx="1228725" cy="974725"/>
              </a:xfrm>
              <a:custGeom>
                <a:avLst/>
                <a:gdLst>
                  <a:gd name="T0" fmla="*/ 205 w 225"/>
                  <a:gd name="T1" fmla="*/ 13 h 178"/>
                  <a:gd name="T2" fmla="*/ 151 w 225"/>
                  <a:gd name="T3" fmla="*/ 13 h 178"/>
                  <a:gd name="T4" fmla="*/ 112 w 225"/>
                  <a:gd name="T5" fmla="*/ 60 h 178"/>
                  <a:gd name="T6" fmla="*/ 74 w 225"/>
                  <a:gd name="T7" fmla="*/ 13 h 178"/>
                  <a:gd name="T8" fmla="*/ 19 w 225"/>
                  <a:gd name="T9" fmla="*/ 13 h 178"/>
                  <a:gd name="T10" fmla="*/ 2 w 225"/>
                  <a:gd name="T11" fmla="*/ 54 h 178"/>
                  <a:gd name="T12" fmla="*/ 26 w 225"/>
                  <a:gd name="T13" fmla="*/ 94 h 178"/>
                  <a:gd name="T14" fmla="*/ 36 w 225"/>
                  <a:gd name="T15" fmla="*/ 178 h 178"/>
                  <a:gd name="T16" fmla="*/ 53 w 225"/>
                  <a:gd name="T17" fmla="*/ 169 h 178"/>
                  <a:gd name="T18" fmla="*/ 74 w 225"/>
                  <a:gd name="T19" fmla="*/ 169 h 178"/>
                  <a:gd name="T20" fmla="*/ 77 w 225"/>
                  <a:gd name="T21" fmla="*/ 60 h 178"/>
                  <a:gd name="T22" fmla="*/ 112 w 225"/>
                  <a:gd name="T23" fmla="*/ 78 h 178"/>
                  <a:gd name="T24" fmla="*/ 147 w 225"/>
                  <a:gd name="T25" fmla="*/ 61 h 178"/>
                  <a:gd name="T26" fmla="*/ 151 w 225"/>
                  <a:gd name="T27" fmla="*/ 169 h 178"/>
                  <a:gd name="T28" fmla="*/ 171 w 225"/>
                  <a:gd name="T29" fmla="*/ 169 h 178"/>
                  <a:gd name="T30" fmla="*/ 189 w 225"/>
                  <a:gd name="T31" fmla="*/ 178 h 178"/>
                  <a:gd name="T32" fmla="*/ 199 w 225"/>
                  <a:gd name="T33" fmla="*/ 169 h 178"/>
                  <a:gd name="T34" fmla="*/ 207 w 225"/>
                  <a:gd name="T35" fmla="*/ 90 h 178"/>
                  <a:gd name="T36" fmla="*/ 81 w 225"/>
                  <a:gd name="T37" fmla="*/ 57 h 178"/>
                  <a:gd name="T38" fmla="*/ 68 w 225"/>
                  <a:gd name="T39" fmla="*/ 24 h 178"/>
                  <a:gd name="T40" fmla="*/ 66 w 225"/>
                  <a:gd name="T41" fmla="*/ 44 h 178"/>
                  <a:gd name="T42" fmla="*/ 69 w 225"/>
                  <a:gd name="T43" fmla="*/ 147 h 178"/>
                  <a:gd name="T44" fmla="*/ 69 w 225"/>
                  <a:gd name="T45" fmla="*/ 169 h 178"/>
                  <a:gd name="T46" fmla="*/ 52 w 225"/>
                  <a:gd name="T47" fmla="*/ 92 h 178"/>
                  <a:gd name="T48" fmla="*/ 41 w 225"/>
                  <a:gd name="T49" fmla="*/ 168 h 178"/>
                  <a:gd name="T50" fmla="*/ 30 w 225"/>
                  <a:gd name="T51" fmla="*/ 169 h 178"/>
                  <a:gd name="T52" fmla="*/ 31 w 225"/>
                  <a:gd name="T53" fmla="*/ 92 h 178"/>
                  <a:gd name="T54" fmla="*/ 31 w 225"/>
                  <a:gd name="T55" fmla="*/ 76 h 178"/>
                  <a:gd name="T56" fmla="*/ 27 w 225"/>
                  <a:gd name="T57" fmla="*/ 35 h 178"/>
                  <a:gd name="T58" fmla="*/ 23 w 225"/>
                  <a:gd name="T59" fmla="*/ 68 h 178"/>
                  <a:gd name="T60" fmla="*/ 27 w 225"/>
                  <a:gd name="T61" fmla="*/ 80 h 178"/>
                  <a:gd name="T62" fmla="*/ 26 w 225"/>
                  <a:gd name="T63" fmla="*/ 89 h 178"/>
                  <a:gd name="T64" fmla="*/ 6 w 225"/>
                  <a:gd name="T65" fmla="*/ 42 h 178"/>
                  <a:gd name="T66" fmla="*/ 48 w 225"/>
                  <a:gd name="T67" fmla="*/ 4 h 178"/>
                  <a:gd name="T68" fmla="*/ 88 w 225"/>
                  <a:gd name="T69" fmla="*/ 47 h 178"/>
                  <a:gd name="T70" fmla="*/ 110 w 225"/>
                  <a:gd name="T71" fmla="*/ 64 h 178"/>
                  <a:gd name="T72" fmla="*/ 114 w 225"/>
                  <a:gd name="T73" fmla="*/ 72 h 178"/>
                  <a:gd name="T74" fmla="*/ 26 w 225"/>
                  <a:gd name="T75" fmla="*/ 43 h 178"/>
                  <a:gd name="T76" fmla="*/ 26 w 225"/>
                  <a:gd name="T77" fmla="*/ 43 h 178"/>
                  <a:gd name="T78" fmla="*/ 198 w 225"/>
                  <a:gd name="T79" fmla="*/ 89 h 178"/>
                  <a:gd name="T80" fmla="*/ 198 w 225"/>
                  <a:gd name="T81" fmla="*/ 80 h 178"/>
                  <a:gd name="T82" fmla="*/ 202 w 225"/>
                  <a:gd name="T83" fmla="*/ 68 h 178"/>
                  <a:gd name="T84" fmla="*/ 198 w 225"/>
                  <a:gd name="T85" fmla="*/ 35 h 178"/>
                  <a:gd name="T86" fmla="*/ 194 w 225"/>
                  <a:gd name="T87" fmla="*/ 76 h 178"/>
                  <a:gd name="T88" fmla="*/ 194 w 225"/>
                  <a:gd name="T89" fmla="*/ 92 h 178"/>
                  <a:gd name="T90" fmla="*/ 195 w 225"/>
                  <a:gd name="T91" fmla="*/ 169 h 178"/>
                  <a:gd name="T92" fmla="*/ 183 w 225"/>
                  <a:gd name="T93" fmla="*/ 168 h 178"/>
                  <a:gd name="T94" fmla="*/ 173 w 225"/>
                  <a:gd name="T95" fmla="*/ 92 h 178"/>
                  <a:gd name="T96" fmla="*/ 155 w 225"/>
                  <a:gd name="T97" fmla="*/ 169 h 178"/>
                  <a:gd name="T98" fmla="*/ 156 w 225"/>
                  <a:gd name="T99" fmla="*/ 147 h 178"/>
                  <a:gd name="T100" fmla="*/ 159 w 225"/>
                  <a:gd name="T101" fmla="*/ 44 h 178"/>
                  <a:gd name="T102" fmla="*/ 157 w 225"/>
                  <a:gd name="T103" fmla="*/ 24 h 178"/>
                  <a:gd name="T104" fmla="*/ 144 w 225"/>
                  <a:gd name="T105" fmla="*/ 57 h 178"/>
                  <a:gd name="T106" fmla="*/ 117 w 225"/>
                  <a:gd name="T107" fmla="*/ 63 h 178"/>
                  <a:gd name="T108" fmla="*/ 137 w 225"/>
                  <a:gd name="T109" fmla="*/ 47 h 178"/>
                  <a:gd name="T110" fmla="*/ 177 w 225"/>
                  <a:gd name="T111" fmla="*/ 4 h 178"/>
                  <a:gd name="T112" fmla="*/ 218 w 225"/>
                  <a:gd name="T113" fmla="*/ 42 h 178"/>
                  <a:gd name="T114" fmla="*/ 203 w 225"/>
                  <a:gd name="T115" fmla="*/ 5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25" h="178">
                    <a:moveTo>
                      <a:pt x="222" y="40"/>
                    </a:moveTo>
                    <a:cubicBezTo>
                      <a:pt x="222" y="40"/>
                      <a:pt x="222" y="40"/>
                      <a:pt x="222" y="40"/>
                    </a:cubicBezTo>
                    <a:cubicBezTo>
                      <a:pt x="205" y="13"/>
                      <a:pt x="205" y="13"/>
                      <a:pt x="205" y="13"/>
                    </a:cubicBezTo>
                    <a:cubicBezTo>
                      <a:pt x="199" y="4"/>
                      <a:pt x="195" y="0"/>
                      <a:pt x="177" y="0"/>
                    </a:cubicBezTo>
                    <a:cubicBezTo>
                      <a:pt x="177" y="0"/>
                      <a:pt x="177" y="0"/>
                      <a:pt x="177" y="0"/>
                    </a:cubicBezTo>
                    <a:cubicBezTo>
                      <a:pt x="158" y="0"/>
                      <a:pt x="154" y="8"/>
                      <a:pt x="151" y="13"/>
                    </a:cubicBezTo>
                    <a:cubicBezTo>
                      <a:pt x="151" y="13"/>
                      <a:pt x="151" y="13"/>
                      <a:pt x="151" y="13"/>
                    </a:cubicBezTo>
                    <a:cubicBezTo>
                      <a:pt x="147" y="20"/>
                      <a:pt x="135" y="41"/>
                      <a:pt x="133" y="44"/>
                    </a:cubicBezTo>
                    <a:cubicBezTo>
                      <a:pt x="131" y="46"/>
                      <a:pt x="119" y="55"/>
                      <a:pt x="112" y="60"/>
                    </a:cubicBezTo>
                    <a:cubicBezTo>
                      <a:pt x="107" y="56"/>
                      <a:pt x="98" y="49"/>
                      <a:pt x="92" y="44"/>
                    </a:cubicBezTo>
                    <a:cubicBezTo>
                      <a:pt x="90" y="41"/>
                      <a:pt x="77" y="20"/>
                      <a:pt x="74" y="13"/>
                    </a:cubicBezTo>
                    <a:cubicBezTo>
                      <a:pt x="74" y="13"/>
                      <a:pt x="74" y="13"/>
                      <a:pt x="74" y="13"/>
                    </a:cubicBezTo>
                    <a:cubicBezTo>
                      <a:pt x="71" y="8"/>
                      <a:pt x="66" y="0"/>
                      <a:pt x="48" y="0"/>
                    </a:cubicBezTo>
                    <a:cubicBezTo>
                      <a:pt x="48" y="0"/>
                      <a:pt x="48" y="0"/>
                      <a:pt x="48" y="0"/>
                    </a:cubicBezTo>
                    <a:cubicBezTo>
                      <a:pt x="29" y="0"/>
                      <a:pt x="26" y="4"/>
                      <a:pt x="19" y="13"/>
                    </a:cubicBezTo>
                    <a:cubicBezTo>
                      <a:pt x="2" y="40"/>
                      <a:pt x="2" y="40"/>
                      <a:pt x="2" y="40"/>
                    </a:cubicBezTo>
                    <a:cubicBezTo>
                      <a:pt x="2" y="40"/>
                      <a:pt x="2" y="40"/>
                      <a:pt x="2" y="40"/>
                    </a:cubicBezTo>
                    <a:cubicBezTo>
                      <a:pt x="0" y="44"/>
                      <a:pt x="0" y="49"/>
                      <a:pt x="2" y="54"/>
                    </a:cubicBezTo>
                    <a:cubicBezTo>
                      <a:pt x="17" y="90"/>
                      <a:pt x="17" y="90"/>
                      <a:pt x="17" y="90"/>
                    </a:cubicBezTo>
                    <a:cubicBezTo>
                      <a:pt x="19" y="92"/>
                      <a:pt x="21" y="94"/>
                      <a:pt x="25" y="94"/>
                    </a:cubicBezTo>
                    <a:cubicBezTo>
                      <a:pt x="25" y="94"/>
                      <a:pt x="25" y="94"/>
                      <a:pt x="26" y="94"/>
                    </a:cubicBezTo>
                    <a:cubicBezTo>
                      <a:pt x="25" y="153"/>
                      <a:pt x="25" y="167"/>
                      <a:pt x="25" y="169"/>
                    </a:cubicBezTo>
                    <a:cubicBezTo>
                      <a:pt x="25" y="169"/>
                      <a:pt x="25" y="169"/>
                      <a:pt x="25" y="169"/>
                    </a:cubicBezTo>
                    <a:cubicBezTo>
                      <a:pt x="26" y="174"/>
                      <a:pt x="30" y="178"/>
                      <a:pt x="36" y="178"/>
                    </a:cubicBezTo>
                    <a:cubicBezTo>
                      <a:pt x="41" y="177"/>
                      <a:pt x="46" y="173"/>
                      <a:pt x="46" y="169"/>
                    </a:cubicBezTo>
                    <a:cubicBezTo>
                      <a:pt x="50" y="122"/>
                      <a:pt x="50" y="122"/>
                      <a:pt x="50" y="122"/>
                    </a:cubicBezTo>
                    <a:cubicBezTo>
                      <a:pt x="53" y="169"/>
                      <a:pt x="53" y="169"/>
                      <a:pt x="53" y="169"/>
                    </a:cubicBezTo>
                    <a:cubicBezTo>
                      <a:pt x="54" y="173"/>
                      <a:pt x="58" y="177"/>
                      <a:pt x="63" y="178"/>
                    </a:cubicBezTo>
                    <a:cubicBezTo>
                      <a:pt x="64" y="178"/>
                      <a:pt x="64" y="178"/>
                      <a:pt x="64" y="178"/>
                    </a:cubicBezTo>
                    <a:cubicBezTo>
                      <a:pt x="69" y="178"/>
                      <a:pt x="73" y="174"/>
                      <a:pt x="74" y="169"/>
                    </a:cubicBezTo>
                    <a:cubicBezTo>
                      <a:pt x="74" y="169"/>
                      <a:pt x="74" y="169"/>
                      <a:pt x="74" y="169"/>
                    </a:cubicBezTo>
                    <a:cubicBezTo>
                      <a:pt x="74" y="166"/>
                      <a:pt x="72" y="100"/>
                      <a:pt x="71" y="51"/>
                    </a:cubicBezTo>
                    <a:cubicBezTo>
                      <a:pt x="77" y="60"/>
                      <a:pt x="77" y="60"/>
                      <a:pt x="77" y="60"/>
                    </a:cubicBezTo>
                    <a:cubicBezTo>
                      <a:pt x="77" y="60"/>
                      <a:pt x="78" y="61"/>
                      <a:pt x="78" y="61"/>
                    </a:cubicBezTo>
                    <a:cubicBezTo>
                      <a:pt x="107" y="77"/>
                      <a:pt x="107" y="77"/>
                      <a:pt x="107" y="77"/>
                    </a:cubicBezTo>
                    <a:cubicBezTo>
                      <a:pt x="108" y="78"/>
                      <a:pt x="110" y="78"/>
                      <a:pt x="112" y="78"/>
                    </a:cubicBezTo>
                    <a:cubicBezTo>
                      <a:pt x="113" y="78"/>
                      <a:pt x="113" y="78"/>
                      <a:pt x="114" y="78"/>
                    </a:cubicBezTo>
                    <a:cubicBezTo>
                      <a:pt x="115" y="78"/>
                      <a:pt x="117" y="78"/>
                      <a:pt x="118" y="77"/>
                    </a:cubicBezTo>
                    <a:cubicBezTo>
                      <a:pt x="147" y="61"/>
                      <a:pt x="147" y="61"/>
                      <a:pt x="147" y="61"/>
                    </a:cubicBezTo>
                    <a:cubicBezTo>
                      <a:pt x="147" y="61"/>
                      <a:pt x="147" y="60"/>
                      <a:pt x="147" y="60"/>
                    </a:cubicBezTo>
                    <a:cubicBezTo>
                      <a:pt x="154" y="51"/>
                      <a:pt x="154" y="51"/>
                      <a:pt x="154" y="51"/>
                    </a:cubicBezTo>
                    <a:cubicBezTo>
                      <a:pt x="152" y="100"/>
                      <a:pt x="151" y="166"/>
                      <a:pt x="151" y="169"/>
                    </a:cubicBezTo>
                    <a:cubicBezTo>
                      <a:pt x="151" y="169"/>
                      <a:pt x="151" y="169"/>
                      <a:pt x="151" y="169"/>
                    </a:cubicBezTo>
                    <a:cubicBezTo>
                      <a:pt x="151" y="174"/>
                      <a:pt x="156" y="178"/>
                      <a:pt x="161" y="178"/>
                    </a:cubicBezTo>
                    <a:cubicBezTo>
                      <a:pt x="167" y="177"/>
                      <a:pt x="171" y="173"/>
                      <a:pt x="171" y="169"/>
                    </a:cubicBezTo>
                    <a:cubicBezTo>
                      <a:pt x="175" y="122"/>
                      <a:pt x="175" y="122"/>
                      <a:pt x="175" y="122"/>
                    </a:cubicBezTo>
                    <a:cubicBezTo>
                      <a:pt x="179" y="169"/>
                      <a:pt x="179" y="169"/>
                      <a:pt x="179" y="169"/>
                    </a:cubicBezTo>
                    <a:cubicBezTo>
                      <a:pt x="179" y="173"/>
                      <a:pt x="183" y="177"/>
                      <a:pt x="189" y="178"/>
                    </a:cubicBezTo>
                    <a:cubicBezTo>
                      <a:pt x="189" y="178"/>
                      <a:pt x="189" y="178"/>
                      <a:pt x="189" y="178"/>
                    </a:cubicBezTo>
                    <a:cubicBezTo>
                      <a:pt x="194" y="178"/>
                      <a:pt x="199" y="174"/>
                      <a:pt x="199" y="169"/>
                    </a:cubicBezTo>
                    <a:cubicBezTo>
                      <a:pt x="199" y="169"/>
                      <a:pt x="199" y="169"/>
                      <a:pt x="199" y="169"/>
                    </a:cubicBezTo>
                    <a:cubicBezTo>
                      <a:pt x="199" y="167"/>
                      <a:pt x="199" y="153"/>
                      <a:pt x="199" y="94"/>
                    </a:cubicBezTo>
                    <a:cubicBezTo>
                      <a:pt x="199" y="94"/>
                      <a:pt x="200" y="94"/>
                      <a:pt x="200" y="94"/>
                    </a:cubicBezTo>
                    <a:cubicBezTo>
                      <a:pt x="203" y="94"/>
                      <a:pt x="206" y="92"/>
                      <a:pt x="207" y="90"/>
                    </a:cubicBezTo>
                    <a:cubicBezTo>
                      <a:pt x="223" y="54"/>
                      <a:pt x="223" y="54"/>
                      <a:pt x="223" y="54"/>
                    </a:cubicBezTo>
                    <a:cubicBezTo>
                      <a:pt x="225" y="49"/>
                      <a:pt x="225" y="44"/>
                      <a:pt x="222" y="40"/>
                    </a:cubicBezTo>
                    <a:close/>
                    <a:moveTo>
                      <a:pt x="81" y="57"/>
                    </a:moveTo>
                    <a:cubicBezTo>
                      <a:pt x="71" y="43"/>
                      <a:pt x="71" y="43"/>
                      <a:pt x="71" y="43"/>
                    </a:cubicBezTo>
                    <a:cubicBezTo>
                      <a:pt x="71" y="37"/>
                      <a:pt x="70" y="32"/>
                      <a:pt x="70" y="27"/>
                    </a:cubicBezTo>
                    <a:cubicBezTo>
                      <a:pt x="70" y="25"/>
                      <a:pt x="69" y="24"/>
                      <a:pt x="68" y="24"/>
                    </a:cubicBezTo>
                    <a:cubicBezTo>
                      <a:pt x="68" y="24"/>
                      <a:pt x="68" y="24"/>
                      <a:pt x="68" y="24"/>
                    </a:cubicBezTo>
                    <a:cubicBezTo>
                      <a:pt x="67" y="24"/>
                      <a:pt x="66" y="25"/>
                      <a:pt x="66" y="27"/>
                    </a:cubicBezTo>
                    <a:cubicBezTo>
                      <a:pt x="66" y="27"/>
                      <a:pt x="66" y="33"/>
                      <a:pt x="66" y="44"/>
                    </a:cubicBezTo>
                    <a:cubicBezTo>
                      <a:pt x="66" y="44"/>
                      <a:pt x="66" y="44"/>
                      <a:pt x="66" y="44"/>
                    </a:cubicBezTo>
                    <a:cubicBezTo>
                      <a:pt x="66" y="58"/>
                      <a:pt x="67" y="78"/>
                      <a:pt x="67" y="98"/>
                    </a:cubicBezTo>
                    <a:cubicBezTo>
                      <a:pt x="68" y="116"/>
                      <a:pt x="68" y="133"/>
                      <a:pt x="69" y="147"/>
                    </a:cubicBezTo>
                    <a:cubicBezTo>
                      <a:pt x="69" y="153"/>
                      <a:pt x="69" y="159"/>
                      <a:pt x="69" y="163"/>
                    </a:cubicBezTo>
                    <a:cubicBezTo>
                      <a:pt x="69" y="166"/>
                      <a:pt x="69" y="167"/>
                      <a:pt x="69" y="169"/>
                    </a:cubicBezTo>
                    <a:cubicBezTo>
                      <a:pt x="69" y="169"/>
                      <a:pt x="69" y="169"/>
                      <a:pt x="69" y="169"/>
                    </a:cubicBezTo>
                    <a:cubicBezTo>
                      <a:pt x="69" y="171"/>
                      <a:pt x="67" y="173"/>
                      <a:pt x="64" y="173"/>
                    </a:cubicBezTo>
                    <a:cubicBezTo>
                      <a:pt x="61" y="173"/>
                      <a:pt x="58" y="171"/>
                      <a:pt x="58" y="168"/>
                    </a:cubicBezTo>
                    <a:cubicBezTo>
                      <a:pt x="52" y="92"/>
                      <a:pt x="52" y="92"/>
                      <a:pt x="52" y="92"/>
                    </a:cubicBezTo>
                    <a:cubicBezTo>
                      <a:pt x="52" y="91"/>
                      <a:pt x="51" y="90"/>
                      <a:pt x="50" y="90"/>
                    </a:cubicBezTo>
                    <a:cubicBezTo>
                      <a:pt x="48" y="90"/>
                      <a:pt x="47" y="91"/>
                      <a:pt x="47" y="92"/>
                    </a:cubicBezTo>
                    <a:cubicBezTo>
                      <a:pt x="41" y="168"/>
                      <a:pt x="41" y="168"/>
                      <a:pt x="41" y="168"/>
                    </a:cubicBezTo>
                    <a:cubicBezTo>
                      <a:pt x="41" y="171"/>
                      <a:pt x="39" y="173"/>
                      <a:pt x="36" y="173"/>
                    </a:cubicBezTo>
                    <a:cubicBezTo>
                      <a:pt x="33" y="173"/>
                      <a:pt x="30" y="171"/>
                      <a:pt x="30" y="169"/>
                    </a:cubicBezTo>
                    <a:cubicBezTo>
                      <a:pt x="30" y="169"/>
                      <a:pt x="30" y="169"/>
                      <a:pt x="30" y="169"/>
                    </a:cubicBezTo>
                    <a:cubicBezTo>
                      <a:pt x="30" y="167"/>
                      <a:pt x="30" y="165"/>
                      <a:pt x="30" y="162"/>
                    </a:cubicBezTo>
                    <a:cubicBezTo>
                      <a:pt x="30" y="157"/>
                      <a:pt x="30" y="151"/>
                      <a:pt x="30" y="144"/>
                    </a:cubicBezTo>
                    <a:cubicBezTo>
                      <a:pt x="30" y="129"/>
                      <a:pt x="30" y="110"/>
                      <a:pt x="31" y="92"/>
                    </a:cubicBezTo>
                    <a:cubicBezTo>
                      <a:pt x="33" y="90"/>
                      <a:pt x="34" y="87"/>
                      <a:pt x="33" y="84"/>
                    </a:cubicBezTo>
                    <a:cubicBezTo>
                      <a:pt x="33" y="84"/>
                      <a:pt x="33" y="84"/>
                      <a:pt x="33" y="83"/>
                    </a:cubicBezTo>
                    <a:cubicBezTo>
                      <a:pt x="33" y="83"/>
                      <a:pt x="32" y="80"/>
                      <a:pt x="31" y="76"/>
                    </a:cubicBezTo>
                    <a:cubicBezTo>
                      <a:pt x="31" y="50"/>
                      <a:pt x="31" y="36"/>
                      <a:pt x="31" y="36"/>
                    </a:cubicBezTo>
                    <a:cubicBezTo>
                      <a:pt x="31" y="35"/>
                      <a:pt x="30" y="34"/>
                      <a:pt x="29" y="34"/>
                    </a:cubicBezTo>
                    <a:cubicBezTo>
                      <a:pt x="28" y="34"/>
                      <a:pt x="27" y="34"/>
                      <a:pt x="27" y="35"/>
                    </a:cubicBezTo>
                    <a:cubicBezTo>
                      <a:pt x="17" y="48"/>
                      <a:pt x="17" y="48"/>
                      <a:pt x="17" y="48"/>
                    </a:cubicBezTo>
                    <a:cubicBezTo>
                      <a:pt x="17" y="48"/>
                      <a:pt x="17" y="49"/>
                      <a:pt x="17" y="50"/>
                    </a:cubicBezTo>
                    <a:cubicBezTo>
                      <a:pt x="17" y="50"/>
                      <a:pt x="20" y="59"/>
                      <a:pt x="23" y="68"/>
                    </a:cubicBezTo>
                    <a:cubicBezTo>
                      <a:pt x="24" y="71"/>
                      <a:pt x="25" y="74"/>
                      <a:pt x="26" y="77"/>
                    </a:cubicBezTo>
                    <a:cubicBezTo>
                      <a:pt x="26" y="77"/>
                      <a:pt x="26" y="77"/>
                      <a:pt x="26" y="77"/>
                    </a:cubicBezTo>
                    <a:cubicBezTo>
                      <a:pt x="26" y="78"/>
                      <a:pt x="27" y="79"/>
                      <a:pt x="27" y="80"/>
                    </a:cubicBezTo>
                    <a:cubicBezTo>
                      <a:pt x="28" y="82"/>
                      <a:pt x="28" y="84"/>
                      <a:pt x="29" y="85"/>
                    </a:cubicBezTo>
                    <a:cubicBezTo>
                      <a:pt x="29" y="85"/>
                      <a:pt x="29" y="85"/>
                      <a:pt x="29" y="85"/>
                    </a:cubicBezTo>
                    <a:cubicBezTo>
                      <a:pt x="29" y="87"/>
                      <a:pt x="28" y="88"/>
                      <a:pt x="26" y="89"/>
                    </a:cubicBezTo>
                    <a:cubicBezTo>
                      <a:pt x="24" y="90"/>
                      <a:pt x="22" y="89"/>
                      <a:pt x="21" y="88"/>
                    </a:cubicBezTo>
                    <a:cubicBezTo>
                      <a:pt x="6" y="52"/>
                      <a:pt x="6" y="52"/>
                      <a:pt x="6" y="52"/>
                    </a:cubicBezTo>
                    <a:cubicBezTo>
                      <a:pt x="5" y="49"/>
                      <a:pt x="5" y="45"/>
                      <a:pt x="6" y="42"/>
                    </a:cubicBezTo>
                    <a:cubicBezTo>
                      <a:pt x="23" y="16"/>
                      <a:pt x="23" y="16"/>
                      <a:pt x="23" y="16"/>
                    </a:cubicBezTo>
                    <a:cubicBezTo>
                      <a:pt x="29" y="8"/>
                      <a:pt x="31" y="4"/>
                      <a:pt x="48" y="4"/>
                    </a:cubicBezTo>
                    <a:cubicBezTo>
                      <a:pt x="48" y="4"/>
                      <a:pt x="48" y="4"/>
                      <a:pt x="48" y="4"/>
                    </a:cubicBezTo>
                    <a:cubicBezTo>
                      <a:pt x="64" y="4"/>
                      <a:pt x="67" y="11"/>
                      <a:pt x="69" y="15"/>
                    </a:cubicBezTo>
                    <a:cubicBezTo>
                      <a:pt x="70" y="15"/>
                      <a:pt x="70" y="15"/>
                      <a:pt x="70" y="15"/>
                    </a:cubicBezTo>
                    <a:cubicBezTo>
                      <a:pt x="74" y="22"/>
                      <a:pt x="88" y="47"/>
                      <a:pt x="88" y="47"/>
                    </a:cubicBezTo>
                    <a:cubicBezTo>
                      <a:pt x="88" y="47"/>
                      <a:pt x="88" y="47"/>
                      <a:pt x="88" y="47"/>
                    </a:cubicBezTo>
                    <a:cubicBezTo>
                      <a:pt x="88" y="47"/>
                      <a:pt x="95" y="52"/>
                      <a:pt x="101" y="57"/>
                    </a:cubicBezTo>
                    <a:cubicBezTo>
                      <a:pt x="104" y="60"/>
                      <a:pt x="108" y="62"/>
                      <a:pt x="110" y="64"/>
                    </a:cubicBezTo>
                    <a:cubicBezTo>
                      <a:pt x="112" y="65"/>
                      <a:pt x="113" y="66"/>
                      <a:pt x="114" y="67"/>
                    </a:cubicBezTo>
                    <a:cubicBezTo>
                      <a:pt x="114" y="67"/>
                      <a:pt x="114" y="67"/>
                      <a:pt x="114" y="67"/>
                    </a:cubicBezTo>
                    <a:cubicBezTo>
                      <a:pt x="115" y="68"/>
                      <a:pt x="115" y="70"/>
                      <a:pt x="114" y="72"/>
                    </a:cubicBezTo>
                    <a:cubicBezTo>
                      <a:pt x="113" y="73"/>
                      <a:pt x="111" y="74"/>
                      <a:pt x="109" y="73"/>
                    </a:cubicBezTo>
                    <a:lnTo>
                      <a:pt x="81" y="57"/>
                    </a:lnTo>
                    <a:close/>
                    <a:moveTo>
                      <a:pt x="26" y="43"/>
                    </a:moveTo>
                    <a:cubicBezTo>
                      <a:pt x="26" y="48"/>
                      <a:pt x="26" y="54"/>
                      <a:pt x="26" y="63"/>
                    </a:cubicBezTo>
                    <a:cubicBezTo>
                      <a:pt x="25" y="58"/>
                      <a:pt x="23" y="54"/>
                      <a:pt x="22" y="50"/>
                    </a:cubicBezTo>
                    <a:lnTo>
                      <a:pt x="26" y="43"/>
                    </a:lnTo>
                    <a:close/>
                    <a:moveTo>
                      <a:pt x="219" y="52"/>
                    </a:moveTo>
                    <a:cubicBezTo>
                      <a:pt x="203" y="88"/>
                      <a:pt x="203" y="88"/>
                      <a:pt x="203" y="88"/>
                    </a:cubicBezTo>
                    <a:cubicBezTo>
                      <a:pt x="202" y="89"/>
                      <a:pt x="200" y="90"/>
                      <a:pt x="198" y="89"/>
                    </a:cubicBezTo>
                    <a:cubicBezTo>
                      <a:pt x="196" y="88"/>
                      <a:pt x="195" y="87"/>
                      <a:pt x="196" y="85"/>
                    </a:cubicBezTo>
                    <a:cubicBezTo>
                      <a:pt x="196" y="85"/>
                      <a:pt x="196" y="85"/>
                      <a:pt x="196" y="85"/>
                    </a:cubicBezTo>
                    <a:cubicBezTo>
                      <a:pt x="196" y="84"/>
                      <a:pt x="197" y="82"/>
                      <a:pt x="198" y="80"/>
                    </a:cubicBezTo>
                    <a:cubicBezTo>
                      <a:pt x="198" y="79"/>
                      <a:pt x="198" y="78"/>
                      <a:pt x="198" y="77"/>
                    </a:cubicBezTo>
                    <a:cubicBezTo>
                      <a:pt x="198" y="77"/>
                      <a:pt x="198" y="77"/>
                      <a:pt x="198" y="77"/>
                    </a:cubicBezTo>
                    <a:cubicBezTo>
                      <a:pt x="199" y="74"/>
                      <a:pt x="201" y="71"/>
                      <a:pt x="202" y="68"/>
                    </a:cubicBezTo>
                    <a:cubicBezTo>
                      <a:pt x="205" y="59"/>
                      <a:pt x="208" y="50"/>
                      <a:pt x="208" y="50"/>
                    </a:cubicBezTo>
                    <a:cubicBezTo>
                      <a:pt x="208" y="49"/>
                      <a:pt x="208" y="48"/>
                      <a:pt x="207" y="48"/>
                    </a:cubicBezTo>
                    <a:cubicBezTo>
                      <a:pt x="198" y="35"/>
                      <a:pt x="198" y="35"/>
                      <a:pt x="198" y="35"/>
                    </a:cubicBezTo>
                    <a:cubicBezTo>
                      <a:pt x="197" y="34"/>
                      <a:pt x="196" y="34"/>
                      <a:pt x="195" y="34"/>
                    </a:cubicBezTo>
                    <a:cubicBezTo>
                      <a:pt x="194" y="34"/>
                      <a:pt x="194" y="35"/>
                      <a:pt x="194" y="36"/>
                    </a:cubicBezTo>
                    <a:cubicBezTo>
                      <a:pt x="194" y="36"/>
                      <a:pt x="194" y="50"/>
                      <a:pt x="194" y="76"/>
                    </a:cubicBezTo>
                    <a:cubicBezTo>
                      <a:pt x="193" y="80"/>
                      <a:pt x="192" y="83"/>
                      <a:pt x="191" y="83"/>
                    </a:cubicBezTo>
                    <a:cubicBezTo>
                      <a:pt x="191" y="84"/>
                      <a:pt x="191" y="84"/>
                      <a:pt x="191" y="84"/>
                    </a:cubicBezTo>
                    <a:cubicBezTo>
                      <a:pt x="190" y="87"/>
                      <a:pt x="192" y="90"/>
                      <a:pt x="194" y="92"/>
                    </a:cubicBezTo>
                    <a:cubicBezTo>
                      <a:pt x="194" y="110"/>
                      <a:pt x="194" y="129"/>
                      <a:pt x="194" y="144"/>
                    </a:cubicBezTo>
                    <a:cubicBezTo>
                      <a:pt x="194" y="151"/>
                      <a:pt x="195" y="157"/>
                      <a:pt x="195" y="162"/>
                    </a:cubicBezTo>
                    <a:cubicBezTo>
                      <a:pt x="195" y="165"/>
                      <a:pt x="195" y="167"/>
                      <a:pt x="195" y="169"/>
                    </a:cubicBezTo>
                    <a:cubicBezTo>
                      <a:pt x="195" y="169"/>
                      <a:pt x="195" y="169"/>
                      <a:pt x="195" y="169"/>
                    </a:cubicBezTo>
                    <a:cubicBezTo>
                      <a:pt x="194" y="171"/>
                      <a:pt x="192" y="173"/>
                      <a:pt x="189" y="173"/>
                    </a:cubicBezTo>
                    <a:cubicBezTo>
                      <a:pt x="186" y="173"/>
                      <a:pt x="183" y="171"/>
                      <a:pt x="183" y="168"/>
                    </a:cubicBezTo>
                    <a:cubicBezTo>
                      <a:pt x="177" y="92"/>
                      <a:pt x="177" y="92"/>
                      <a:pt x="177" y="92"/>
                    </a:cubicBezTo>
                    <a:cubicBezTo>
                      <a:pt x="177" y="91"/>
                      <a:pt x="176" y="90"/>
                      <a:pt x="175" y="90"/>
                    </a:cubicBezTo>
                    <a:cubicBezTo>
                      <a:pt x="174" y="90"/>
                      <a:pt x="173" y="91"/>
                      <a:pt x="173" y="92"/>
                    </a:cubicBezTo>
                    <a:cubicBezTo>
                      <a:pt x="167" y="168"/>
                      <a:pt x="167" y="168"/>
                      <a:pt x="167" y="168"/>
                    </a:cubicBezTo>
                    <a:cubicBezTo>
                      <a:pt x="166" y="171"/>
                      <a:pt x="164" y="173"/>
                      <a:pt x="161" y="173"/>
                    </a:cubicBezTo>
                    <a:cubicBezTo>
                      <a:pt x="158" y="173"/>
                      <a:pt x="155" y="171"/>
                      <a:pt x="155" y="169"/>
                    </a:cubicBezTo>
                    <a:cubicBezTo>
                      <a:pt x="155" y="169"/>
                      <a:pt x="155" y="169"/>
                      <a:pt x="155" y="169"/>
                    </a:cubicBezTo>
                    <a:cubicBezTo>
                      <a:pt x="155" y="167"/>
                      <a:pt x="155" y="166"/>
                      <a:pt x="155" y="163"/>
                    </a:cubicBezTo>
                    <a:cubicBezTo>
                      <a:pt x="156" y="159"/>
                      <a:pt x="156" y="153"/>
                      <a:pt x="156" y="147"/>
                    </a:cubicBezTo>
                    <a:cubicBezTo>
                      <a:pt x="156" y="133"/>
                      <a:pt x="157" y="116"/>
                      <a:pt x="157" y="98"/>
                    </a:cubicBezTo>
                    <a:cubicBezTo>
                      <a:pt x="158" y="78"/>
                      <a:pt x="158" y="58"/>
                      <a:pt x="159" y="44"/>
                    </a:cubicBezTo>
                    <a:cubicBezTo>
                      <a:pt x="159" y="44"/>
                      <a:pt x="159" y="44"/>
                      <a:pt x="159" y="44"/>
                    </a:cubicBezTo>
                    <a:cubicBezTo>
                      <a:pt x="159" y="33"/>
                      <a:pt x="159" y="27"/>
                      <a:pt x="159" y="27"/>
                    </a:cubicBezTo>
                    <a:cubicBezTo>
                      <a:pt x="159" y="25"/>
                      <a:pt x="158" y="24"/>
                      <a:pt x="157" y="24"/>
                    </a:cubicBezTo>
                    <a:cubicBezTo>
                      <a:pt x="157" y="24"/>
                      <a:pt x="157" y="24"/>
                      <a:pt x="157" y="24"/>
                    </a:cubicBezTo>
                    <a:cubicBezTo>
                      <a:pt x="155" y="24"/>
                      <a:pt x="154" y="25"/>
                      <a:pt x="154" y="27"/>
                    </a:cubicBezTo>
                    <a:cubicBezTo>
                      <a:pt x="154" y="32"/>
                      <a:pt x="154" y="37"/>
                      <a:pt x="154" y="43"/>
                    </a:cubicBezTo>
                    <a:cubicBezTo>
                      <a:pt x="144" y="57"/>
                      <a:pt x="144" y="57"/>
                      <a:pt x="144" y="57"/>
                    </a:cubicBezTo>
                    <a:cubicBezTo>
                      <a:pt x="119" y="71"/>
                      <a:pt x="119" y="71"/>
                      <a:pt x="119" y="71"/>
                    </a:cubicBezTo>
                    <a:cubicBezTo>
                      <a:pt x="120" y="68"/>
                      <a:pt x="119" y="65"/>
                      <a:pt x="117" y="63"/>
                    </a:cubicBezTo>
                    <a:cubicBezTo>
                      <a:pt x="117" y="63"/>
                      <a:pt x="117" y="63"/>
                      <a:pt x="117" y="63"/>
                    </a:cubicBezTo>
                    <a:cubicBezTo>
                      <a:pt x="117" y="63"/>
                      <a:pt x="116" y="63"/>
                      <a:pt x="116" y="63"/>
                    </a:cubicBezTo>
                    <a:cubicBezTo>
                      <a:pt x="124" y="57"/>
                      <a:pt x="136" y="47"/>
                      <a:pt x="136" y="47"/>
                    </a:cubicBezTo>
                    <a:cubicBezTo>
                      <a:pt x="136" y="47"/>
                      <a:pt x="137" y="47"/>
                      <a:pt x="137" y="47"/>
                    </a:cubicBezTo>
                    <a:cubicBezTo>
                      <a:pt x="137" y="47"/>
                      <a:pt x="151" y="22"/>
                      <a:pt x="155" y="15"/>
                    </a:cubicBezTo>
                    <a:cubicBezTo>
                      <a:pt x="155" y="15"/>
                      <a:pt x="155" y="15"/>
                      <a:pt x="155" y="15"/>
                    </a:cubicBezTo>
                    <a:cubicBezTo>
                      <a:pt x="157" y="11"/>
                      <a:pt x="161" y="4"/>
                      <a:pt x="177" y="4"/>
                    </a:cubicBezTo>
                    <a:cubicBezTo>
                      <a:pt x="177" y="4"/>
                      <a:pt x="177" y="4"/>
                      <a:pt x="177" y="4"/>
                    </a:cubicBezTo>
                    <a:cubicBezTo>
                      <a:pt x="194" y="4"/>
                      <a:pt x="196" y="8"/>
                      <a:pt x="201" y="16"/>
                    </a:cubicBezTo>
                    <a:cubicBezTo>
                      <a:pt x="218" y="42"/>
                      <a:pt x="218" y="42"/>
                      <a:pt x="218" y="42"/>
                    </a:cubicBezTo>
                    <a:cubicBezTo>
                      <a:pt x="220" y="45"/>
                      <a:pt x="220" y="49"/>
                      <a:pt x="219" y="52"/>
                    </a:cubicBezTo>
                    <a:close/>
                    <a:moveTo>
                      <a:pt x="198" y="43"/>
                    </a:moveTo>
                    <a:cubicBezTo>
                      <a:pt x="203" y="50"/>
                      <a:pt x="203" y="50"/>
                      <a:pt x="203" y="50"/>
                    </a:cubicBezTo>
                    <a:cubicBezTo>
                      <a:pt x="202" y="54"/>
                      <a:pt x="200" y="58"/>
                      <a:pt x="198" y="63"/>
                    </a:cubicBezTo>
                    <a:cubicBezTo>
                      <a:pt x="198" y="54"/>
                      <a:pt x="198" y="48"/>
                      <a:pt x="198" y="43"/>
                    </a:cubicBez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grpSp>
      <p:grpSp>
        <p:nvGrpSpPr>
          <p:cNvPr id="144" name="Group 70"/>
          <p:cNvGrpSpPr>
            <a:grpSpLocks noChangeAspect="1"/>
          </p:cNvGrpSpPr>
          <p:nvPr>
            <p:custDataLst>
              <p:tags r:id="rId13"/>
            </p:custDataLst>
          </p:nvPr>
        </p:nvGrpSpPr>
        <p:grpSpPr bwMode="auto">
          <a:xfrm>
            <a:off x="5681848" y="1548783"/>
            <a:ext cx="624840" cy="625475"/>
            <a:chOff x="1544" y="1525"/>
            <a:chExt cx="426" cy="426"/>
          </a:xfrm>
        </p:grpSpPr>
        <p:sp>
          <p:nvSpPr>
            <p:cNvPr id="1048792" name="ïşḻïďê-Oval 71"/>
            <p:cNvSpPr/>
            <p:nvPr>
              <p:custDataLst>
                <p:tags r:id="rId14"/>
              </p:custDataLst>
            </p:nvPr>
          </p:nvSpPr>
          <p:spPr bwMode="auto">
            <a:xfrm>
              <a:off x="1544" y="1525"/>
              <a:ext cx="426" cy="426"/>
            </a:xfrm>
            <a:prstGeom prst="ellipse">
              <a:avLst/>
            </a:prstGeom>
            <a:solidFill>
              <a:schemeClr val="accent1"/>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3" name="ïşḻïďê-Freeform: Shape 72"/>
            <p:cNvSpPr/>
            <p:nvPr>
              <p:custDataLst>
                <p:tags r:id="rId15"/>
              </p:custDataLst>
            </p:nvPr>
          </p:nvSpPr>
          <p:spPr bwMode="auto">
            <a:xfrm>
              <a:off x="1672" y="1606"/>
              <a:ext cx="60" cy="264"/>
            </a:xfrm>
            <a:custGeom>
              <a:avLst/>
              <a:gdLst>
                <a:gd name="T0" fmla="*/ 50 w 50"/>
                <a:gd name="T1" fmla="*/ 173 h 220"/>
                <a:gd name="T2" fmla="*/ 36 w 50"/>
                <a:gd name="T3" fmla="*/ 0 h 220"/>
                <a:gd name="T4" fmla="*/ 0 w 50"/>
                <a:gd name="T5" fmla="*/ 14 h 220"/>
                <a:gd name="T6" fmla="*/ 0 w 50"/>
                <a:gd name="T7" fmla="*/ 173 h 220"/>
                <a:gd name="T8" fmla="*/ 0 w 50"/>
                <a:gd name="T9" fmla="*/ 173 h 220"/>
                <a:gd name="T10" fmla="*/ 0 w 50"/>
                <a:gd name="T11" fmla="*/ 174 h 220"/>
                <a:gd name="T12" fmla="*/ 0 w 50"/>
                <a:gd name="T13" fmla="*/ 174 h 220"/>
                <a:gd name="T14" fmla="*/ 25 w 50"/>
                <a:gd name="T15" fmla="*/ 220 h 220"/>
                <a:gd name="T16" fmla="*/ 50 w 50"/>
                <a:gd name="T17" fmla="*/ 174 h 220"/>
                <a:gd name="T18" fmla="*/ 50 w 50"/>
                <a:gd name="T19" fmla="*/ 174 h 220"/>
                <a:gd name="T20" fmla="*/ 50 w 50"/>
                <a:gd name="T21" fmla="*/ 174 h 220"/>
                <a:gd name="T22" fmla="*/ 31 w 50"/>
                <a:gd name="T23" fmla="*/ 201 h 220"/>
                <a:gd name="T24" fmla="*/ 7 w 50"/>
                <a:gd name="T25" fmla="*/ 177 h 220"/>
                <a:gd name="T26" fmla="*/ 16 w 50"/>
                <a:gd name="T27" fmla="*/ 177 h 220"/>
                <a:gd name="T28" fmla="*/ 18 w 50"/>
                <a:gd name="T29" fmla="*/ 177 h 220"/>
                <a:gd name="T30" fmla="*/ 44 w 50"/>
                <a:gd name="T31" fmla="*/ 175 h 220"/>
                <a:gd name="T32" fmla="*/ 45 w 50"/>
                <a:gd name="T33" fmla="*/ 53 h 220"/>
                <a:gd name="T34" fmla="*/ 4 w 50"/>
                <a:gd name="T35" fmla="*/ 34 h 220"/>
                <a:gd name="T36" fmla="*/ 45 w 50"/>
                <a:gd name="T37" fmla="*/ 53 h 220"/>
                <a:gd name="T38" fmla="*/ 19 w 50"/>
                <a:gd name="T39" fmla="*/ 172 h 220"/>
                <a:gd name="T40" fmla="*/ 31 w 50"/>
                <a:gd name="T41" fmla="*/ 58 h 220"/>
                <a:gd name="T42" fmla="*/ 23 w 50"/>
                <a:gd name="T43" fmla="*/ 171 h 220"/>
                <a:gd name="T44" fmla="*/ 4 w 50"/>
                <a:gd name="T45" fmla="*/ 58 h 220"/>
                <a:gd name="T46" fmla="*/ 14 w 50"/>
                <a:gd name="T47" fmla="*/ 173 h 220"/>
                <a:gd name="T48" fmla="*/ 36 w 50"/>
                <a:gd name="T49" fmla="*/ 169 h 220"/>
                <a:gd name="T50" fmla="*/ 45 w 50"/>
                <a:gd name="T51" fmla="*/ 58 h 220"/>
                <a:gd name="T52" fmla="*/ 36 w 50"/>
                <a:gd name="T53" fmla="*/ 169 h 220"/>
                <a:gd name="T54" fmla="*/ 36 w 50"/>
                <a:gd name="T55" fmla="*/ 5 h 220"/>
                <a:gd name="T56" fmla="*/ 45 w 50"/>
                <a:gd name="T57" fmla="*/ 29 h 220"/>
                <a:gd name="T58" fmla="*/ 4 w 50"/>
                <a:gd name="T59" fmla="*/ 14 h 220"/>
                <a:gd name="T60" fmla="*/ 22 w 50"/>
                <a:gd name="T61" fmla="*/ 206 h 220"/>
                <a:gd name="T62" fmla="*/ 25 w 50"/>
                <a:gd name="T63" fmla="*/ 21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220">
                  <a:moveTo>
                    <a:pt x="50" y="173"/>
                  </a:moveTo>
                  <a:cubicBezTo>
                    <a:pt x="50" y="173"/>
                    <a:pt x="50" y="173"/>
                    <a:pt x="50" y="173"/>
                  </a:cubicBezTo>
                  <a:cubicBezTo>
                    <a:pt x="50" y="14"/>
                    <a:pt x="50" y="14"/>
                    <a:pt x="50" y="14"/>
                  </a:cubicBezTo>
                  <a:cubicBezTo>
                    <a:pt x="50" y="6"/>
                    <a:pt x="44" y="0"/>
                    <a:pt x="36" y="0"/>
                  </a:cubicBezTo>
                  <a:cubicBezTo>
                    <a:pt x="13" y="0"/>
                    <a:pt x="13" y="0"/>
                    <a:pt x="13" y="0"/>
                  </a:cubicBezTo>
                  <a:cubicBezTo>
                    <a:pt x="6" y="0"/>
                    <a:pt x="0" y="6"/>
                    <a:pt x="0" y="14"/>
                  </a:cubicBezTo>
                  <a:cubicBezTo>
                    <a:pt x="0" y="173"/>
                    <a:pt x="0" y="173"/>
                    <a:pt x="0" y="173"/>
                  </a:cubicBezTo>
                  <a:cubicBezTo>
                    <a:pt x="0" y="173"/>
                    <a:pt x="0" y="173"/>
                    <a:pt x="0" y="173"/>
                  </a:cubicBezTo>
                  <a:cubicBezTo>
                    <a:pt x="0" y="173"/>
                    <a:pt x="0" y="173"/>
                    <a:pt x="0" y="173"/>
                  </a:cubicBezTo>
                  <a:cubicBezTo>
                    <a:pt x="0" y="173"/>
                    <a:pt x="0" y="173"/>
                    <a:pt x="0" y="173"/>
                  </a:cubicBezTo>
                  <a:cubicBezTo>
                    <a:pt x="0" y="174"/>
                    <a:pt x="0" y="174"/>
                    <a:pt x="0" y="174"/>
                  </a:cubicBezTo>
                  <a:cubicBezTo>
                    <a:pt x="0" y="174"/>
                    <a:pt x="0" y="174"/>
                    <a:pt x="0" y="174"/>
                  </a:cubicBezTo>
                  <a:cubicBezTo>
                    <a:pt x="0" y="174"/>
                    <a:pt x="0" y="174"/>
                    <a:pt x="0" y="174"/>
                  </a:cubicBezTo>
                  <a:cubicBezTo>
                    <a:pt x="0" y="174"/>
                    <a:pt x="0" y="174"/>
                    <a:pt x="0" y="174"/>
                  </a:cubicBezTo>
                  <a:cubicBezTo>
                    <a:pt x="23" y="218"/>
                    <a:pt x="23" y="218"/>
                    <a:pt x="23" y="218"/>
                  </a:cubicBezTo>
                  <a:cubicBezTo>
                    <a:pt x="23" y="219"/>
                    <a:pt x="24" y="220"/>
                    <a:pt x="25" y="220"/>
                  </a:cubicBezTo>
                  <a:cubicBezTo>
                    <a:pt x="26" y="220"/>
                    <a:pt x="27" y="219"/>
                    <a:pt x="27" y="218"/>
                  </a:cubicBezTo>
                  <a:cubicBezTo>
                    <a:pt x="50" y="174"/>
                    <a:pt x="50" y="174"/>
                    <a:pt x="50" y="174"/>
                  </a:cubicBezTo>
                  <a:cubicBezTo>
                    <a:pt x="50" y="174"/>
                    <a:pt x="50" y="174"/>
                    <a:pt x="50" y="174"/>
                  </a:cubicBezTo>
                  <a:cubicBezTo>
                    <a:pt x="50" y="174"/>
                    <a:pt x="50" y="174"/>
                    <a:pt x="50" y="174"/>
                  </a:cubicBezTo>
                  <a:cubicBezTo>
                    <a:pt x="50" y="174"/>
                    <a:pt x="50" y="174"/>
                    <a:pt x="50" y="174"/>
                  </a:cubicBezTo>
                  <a:cubicBezTo>
                    <a:pt x="50" y="174"/>
                    <a:pt x="50" y="174"/>
                    <a:pt x="50" y="174"/>
                  </a:cubicBezTo>
                  <a:cubicBezTo>
                    <a:pt x="50" y="174"/>
                    <a:pt x="50" y="174"/>
                    <a:pt x="50" y="173"/>
                  </a:cubicBezTo>
                  <a:close/>
                  <a:moveTo>
                    <a:pt x="31" y="201"/>
                  </a:moveTo>
                  <a:cubicBezTo>
                    <a:pt x="19" y="201"/>
                    <a:pt x="19" y="201"/>
                    <a:pt x="19" y="201"/>
                  </a:cubicBezTo>
                  <a:cubicBezTo>
                    <a:pt x="7" y="177"/>
                    <a:pt x="7" y="177"/>
                    <a:pt x="7" y="177"/>
                  </a:cubicBezTo>
                  <a:cubicBezTo>
                    <a:pt x="8" y="177"/>
                    <a:pt x="9" y="177"/>
                    <a:pt x="11" y="177"/>
                  </a:cubicBezTo>
                  <a:cubicBezTo>
                    <a:pt x="13" y="177"/>
                    <a:pt x="14" y="177"/>
                    <a:pt x="16" y="177"/>
                  </a:cubicBezTo>
                  <a:cubicBezTo>
                    <a:pt x="16" y="177"/>
                    <a:pt x="16" y="177"/>
                    <a:pt x="17" y="177"/>
                  </a:cubicBezTo>
                  <a:cubicBezTo>
                    <a:pt x="17" y="177"/>
                    <a:pt x="17" y="177"/>
                    <a:pt x="18" y="177"/>
                  </a:cubicBezTo>
                  <a:cubicBezTo>
                    <a:pt x="20" y="176"/>
                    <a:pt x="22" y="176"/>
                    <a:pt x="24" y="176"/>
                  </a:cubicBezTo>
                  <a:cubicBezTo>
                    <a:pt x="31" y="174"/>
                    <a:pt x="38" y="173"/>
                    <a:pt x="44" y="175"/>
                  </a:cubicBezTo>
                  <a:lnTo>
                    <a:pt x="31" y="201"/>
                  </a:lnTo>
                  <a:close/>
                  <a:moveTo>
                    <a:pt x="45" y="53"/>
                  </a:moveTo>
                  <a:cubicBezTo>
                    <a:pt x="4" y="53"/>
                    <a:pt x="4" y="53"/>
                    <a:pt x="4" y="53"/>
                  </a:cubicBezTo>
                  <a:cubicBezTo>
                    <a:pt x="4" y="34"/>
                    <a:pt x="4" y="34"/>
                    <a:pt x="4" y="34"/>
                  </a:cubicBezTo>
                  <a:cubicBezTo>
                    <a:pt x="45" y="34"/>
                    <a:pt x="45" y="34"/>
                    <a:pt x="45" y="34"/>
                  </a:cubicBezTo>
                  <a:lnTo>
                    <a:pt x="45" y="53"/>
                  </a:lnTo>
                  <a:close/>
                  <a:moveTo>
                    <a:pt x="23" y="171"/>
                  </a:moveTo>
                  <a:cubicBezTo>
                    <a:pt x="22" y="171"/>
                    <a:pt x="20" y="172"/>
                    <a:pt x="19" y="172"/>
                  </a:cubicBezTo>
                  <a:cubicBezTo>
                    <a:pt x="19" y="58"/>
                    <a:pt x="19" y="58"/>
                    <a:pt x="19" y="58"/>
                  </a:cubicBezTo>
                  <a:cubicBezTo>
                    <a:pt x="31" y="58"/>
                    <a:pt x="31" y="58"/>
                    <a:pt x="31" y="58"/>
                  </a:cubicBezTo>
                  <a:cubicBezTo>
                    <a:pt x="31" y="169"/>
                    <a:pt x="31" y="169"/>
                    <a:pt x="31" y="169"/>
                  </a:cubicBezTo>
                  <a:cubicBezTo>
                    <a:pt x="28" y="170"/>
                    <a:pt x="26" y="170"/>
                    <a:pt x="23" y="171"/>
                  </a:cubicBezTo>
                  <a:close/>
                  <a:moveTo>
                    <a:pt x="4" y="172"/>
                  </a:moveTo>
                  <a:cubicBezTo>
                    <a:pt x="4" y="58"/>
                    <a:pt x="4" y="58"/>
                    <a:pt x="4" y="58"/>
                  </a:cubicBezTo>
                  <a:cubicBezTo>
                    <a:pt x="14" y="58"/>
                    <a:pt x="14" y="58"/>
                    <a:pt x="14" y="58"/>
                  </a:cubicBezTo>
                  <a:cubicBezTo>
                    <a:pt x="14" y="173"/>
                    <a:pt x="14" y="173"/>
                    <a:pt x="14" y="173"/>
                  </a:cubicBezTo>
                  <a:cubicBezTo>
                    <a:pt x="11" y="173"/>
                    <a:pt x="7" y="173"/>
                    <a:pt x="4" y="172"/>
                  </a:cubicBezTo>
                  <a:close/>
                  <a:moveTo>
                    <a:pt x="36" y="169"/>
                  </a:moveTo>
                  <a:cubicBezTo>
                    <a:pt x="36" y="58"/>
                    <a:pt x="36" y="58"/>
                    <a:pt x="36" y="58"/>
                  </a:cubicBezTo>
                  <a:cubicBezTo>
                    <a:pt x="45" y="58"/>
                    <a:pt x="45" y="58"/>
                    <a:pt x="45" y="58"/>
                  </a:cubicBezTo>
                  <a:cubicBezTo>
                    <a:pt x="45" y="170"/>
                    <a:pt x="45" y="170"/>
                    <a:pt x="45" y="170"/>
                  </a:cubicBezTo>
                  <a:cubicBezTo>
                    <a:pt x="42" y="169"/>
                    <a:pt x="39" y="169"/>
                    <a:pt x="36" y="169"/>
                  </a:cubicBezTo>
                  <a:close/>
                  <a:moveTo>
                    <a:pt x="13" y="5"/>
                  </a:moveTo>
                  <a:cubicBezTo>
                    <a:pt x="36" y="5"/>
                    <a:pt x="36" y="5"/>
                    <a:pt x="36" y="5"/>
                  </a:cubicBezTo>
                  <a:cubicBezTo>
                    <a:pt x="41" y="5"/>
                    <a:pt x="45" y="9"/>
                    <a:pt x="45" y="14"/>
                  </a:cubicBezTo>
                  <a:cubicBezTo>
                    <a:pt x="45" y="29"/>
                    <a:pt x="45" y="29"/>
                    <a:pt x="45" y="29"/>
                  </a:cubicBezTo>
                  <a:cubicBezTo>
                    <a:pt x="4" y="29"/>
                    <a:pt x="4" y="29"/>
                    <a:pt x="4" y="29"/>
                  </a:cubicBezTo>
                  <a:cubicBezTo>
                    <a:pt x="4" y="14"/>
                    <a:pt x="4" y="14"/>
                    <a:pt x="4" y="14"/>
                  </a:cubicBezTo>
                  <a:cubicBezTo>
                    <a:pt x="4" y="9"/>
                    <a:pt x="8" y="5"/>
                    <a:pt x="13" y="5"/>
                  </a:cubicBezTo>
                  <a:close/>
                  <a:moveTo>
                    <a:pt x="22" y="206"/>
                  </a:moveTo>
                  <a:cubicBezTo>
                    <a:pt x="28" y="206"/>
                    <a:pt x="28" y="206"/>
                    <a:pt x="28" y="206"/>
                  </a:cubicBezTo>
                  <a:cubicBezTo>
                    <a:pt x="25" y="212"/>
                    <a:pt x="25" y="212"/>
                    <a:pt x="25" y="212"/>
                  </a:cubicBezTo>
                  <a:lnTo>
                    <a:pt x="22" y="206"/>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sp>
          <p:nvSpPr>
            <p:cNvPr id="1048794" name="ïşḻïďê-Freeform: Shape 73"/>
            <p:cNvSpPr/>
            <p:nvPr>
              <p:custDataLst>
                <p:tags r:id="rId16"/>
              </p:custDataLst>
            </p:nvPr>
          </p:nvSpPr>
          <p:spPr bwMode="auto">
            <a:xfrm>
              <a:off x="1765" y="1606"/>
              <a:ext cx="77" cy="264"/>
            </a:xfrm>
            <a:custGeom>
              <a:avLst/>
              <a:gdLst>
                <a:gd name="T0" fmla="*/ 61 w 64"/>
                <a:gd name="T1" fmla="*/ 0 h 220"/>
                <a:gd name="T2" fmla="*/ 3 w 64"/>
                <a:gd name="T3" fmla="*/ 0 h 220"/>
                <a:gd name="T4" fmla="*/ 0 w 64"/>
                <a:gd name="T5" fmla="*/ 3 h 220"/>
                <a:gd name="T6" fmla="*/ 0 w 64"/>
                <a:gd name="T7" fmla="*/ 217 h 220"/>
                <a:gd name="T8" fmla="*/ 3 w 64"/>
                <a:gd name="T9" fmla="*/ 220 h 220"/>
                <a:gd name="T10" fmla="*/ 61 w 64"/>
                <a:gd name="T11" fmla="*/ 220 h 220"/>
                <a:gd name="T12" fmla="*/ 64 w 64"/>
                <a:gd name="T13" fmla="*/ 217 h 220"/>
                <a:gd name="T14" fmla="*/ 64 w 64"/>
                <a:gd name="T15" fmla="*/ 3 h 220"/>
                <a:gd name="T16" fmla="*/ 61 w 64"/>
                <a:gd name="T17" fmla="*/ 0 h 220"/>
                <a:gd name="T18" fmla="*/ 5 w 64"/>
                <a:gd name="T19" fmla="*/ 215 h 220"/>
                <a:gd name="T20" fmla="*/ 5 w 64"/>
                <a:gd name="T21" fmla="*/ 5 h 220"/>
                <a:gd name="T22" fmla="*/ 59 w 64"/>
                <a:gd name="T23" fmla="*/ 5 h 220"/>
                <a:gd name="T24" fmla="*/ 59 w 64"/>
                <a:gd name="T25" fmla="*/ 22 h 220"/>
                <a:gd name="T26" fmla="*/ 39 w 64"/>
                <a:gd name="T27" fmla="*/ 22 h 220"/>
                <a:gd name="T28" fmla="*/ 37 w 64"/>
                <a:gd name="T29" fmla="*/ 25 h 220"/>
                <a:gd name="T30" fmla="*/ 39 w 64"/>
                <a:gd name="T31" fmla="*/ 27 h 220"/>
                <a:gd name="T32" fmla="*/ 59 w 64"/>
                <a:gd name="T33" fmla="*/ 27 h 220"/>
                <a:gd name="T34" fmla="*/ 59 w 64"/>
                <a:gd name="T35" fmla="*/ 47 h 220"/>
                <a:gd name="T36" fmla="*/ 32 w 64"/>
                <a:gd name="T37" fmla="*/ 47 h 220"/>
                <a:gd name="T38" fmla="*/ 30 w 64"/>
                <a:gd name="T39" fmla="*/ 49 h 220"/>
                <a:gd name="T40" fmla="*/ 32 w 64"/>
                <a:gd name="T41" fmla="*/ 51 h 220"/>
                <a:gd name="T42" fmla="*/ 59 w 64"/>
                <a:gd name="T43" fmla="*/ 51 h 220"/>
                <a:gd name="T44" fmla="*/ 59 w 64"/>
                <a:gd name="T45" fmla="*/ 71 h 220"/>
                <a:gd name="T46" fmla="*/ 39 w 64"/>
                <a:gd name="T47" fmla="*/ 71 h 220"/>
                <a:gd name="T48" fmla="*/ 37 w 64"/>
                <a:gd name="T49" fmla="*/ 73 h 220"/>
                <a:gd name="T50" fmla="*/ 39 w 64"/>
                <a:gd name="T51" fmla="*/ 76 h 220"/>
                <a:gd name="T52" fmla="*/ 59 w 64"/>
                <a:gd name="T53" fmla="*/ 76 h 220"/>
                <a:gd name="T54" fmla="*/ 59 w 64"/>
                <a:gd name="T55" fmla="*/ 95 h 220"/>
                <a:gd name="T56" fmla="*/ 32 w 64"/>
                <a:gd name="T57" fmla="*/ 95 h 220"/>
                <a:gd name="T58" fmla="*/ 30 w 64"/>
                <a:gd name="T59" fmla="*/ 97 h 220"/>
                <a:gd name="T60" fmla="*/ 32 w 64"/>
                <a:gd name="T61" fmla="*/ 100 h 220"/>
                <a:gd name="T62" fmla="*/ 59 w 64"/>
                <a:gd name="T63" fmla="*/ 100 h 220"/>
                <a:gd name="T64" fmla="*/ 59 w 64"/>
                <a:gd name="T65" fmla="*/ 119 h 220"/>
                <a:gd name="T66" fmla="*/ 39 w 64"/>
                <a:gd name="T67" fmla="*/ 119 h 220"/>
                <a:gd name="T68" fmla="*/ 37 w 64"/>
                <a:gd name="T69" fmla="*/ 122 h 220"/>
                <a:gd name="T70" fmla="*/ 39 w 64"/>
                <a:gd name="T71" fmla="*/ 124 h 220"/>
                <a:gd name="T72" fmla="*/ 59 w 64"/>
                <a:gd name="T73" fmla="*/ 124 h 220"/>
                <a:gd name="T74" fmla="*/ 59 w 64"/>
                <a:gd name="T75" fmla="*/ 143 h 220"/>
                <a:gd name="T76" fmla="*/ 32 w 64"/>
                <a:gd name="T77" fmla="*/ 143 h 220"/>
                <a:gd name="T78" fmla="*/ 30 w 64"/>
                <a:gd name="T79" fmla="*/ 146 h 220"/>
                <a:gd name="T80" fmla="*/ 32 w 64"/>
                <a:gd name="T81" fmla="*/ 148 h 220"/>
                <a:gd name="T82" fmla="*/ 59 w 64"/>
                <a:gd name="T83" fmla="*/ 148 h 220"/>
                <a:gd name="T84" fmla="*/ 59 w 64"/>
                <a:gd name="T85" fmla="*/ 168 h 220"/>
                <a:gd name="T86" fmla="*/ 39 w 64"/>
                <a:gd name="T87" fmla="*/ 168 h 220"/>
                <a:gd name="T88" fmla="*/ 37 w 64"/>
                <a:gd name="T89" fmla="*/ 170 h 220"/>
                <a:gd name="T90" fmla="*/ 39 w 64"/>
                <a:gd name="T91" fmla="*/ 172 h 220"/>
                <a:gd name="T92" fmla="*/ 59 w 64"/>
                <a:gd name="T93" fmla="*/ 172 h 220"/>
                <a:gd name="T94" fmla="*/ 59 w 64"/>
                <a:gd name="T95" fmla="*/ 192 h 220"/>
                <a:gd name="T96" fmla="*/ 32 w 64"/>
                <a:gd name="T97" fmla="*/ 192 h 220"/>
                <a:gd name="T98" fmla="*/ 30 w 64"/>
                <a:gd name="T99" fmla="*/ 194 h 220"/>
                <a:gd name="T100" fmla="*/ 32 w 64"/>
                <a:gd name="T101" fmla="*/ 196 h 220"/>
                <a:gd name="T102" fmla="*/ 59 w 64"/>
                <a:gd name="T103" fmla="*/ 196 h 220"/>
                <a:gd name="T104" fmla="*/ 59 w 64"/>
                <a:gd name="T105" fmla="*/ 215 h 220"/>
                <a:gd name="T106" fmla="*/ 5 w 64"/>
                <a:gd name="T107" fmla="*/ 215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 h="220">
                  <a:moveTo>
                    <a:pt x="61" y="0"/>
                  </a:moveTo>
                  <a:cubicBezTo>
                    <a:pt x="3" y="0"/>
                    <a:pt x="3" y="0"/>
                    <a:pt x="3" y="0"/>
                  </a:cubicBezTo>
                  <a:cubicBezTo>
                    <a:pt x="1" y="0"/>
                    <a:pt x="0" y="1"/>
                    <a:pt x="0" y="3"/>
                  </a:cubicBezTo>
                  <a:cubicBezTo>
                    <a:pt x="0" y="217"/>
                    <a:pt x="0" y="217"/>
                    <a:pt x="0" y="217"/>
                  </a:cubicBezTo>
                  <a:cubicBezTo>
                    <a:pt x="0" y="218"/>
                    <a:pt x="1" y="220"/>
                    <a:pt x="3" y="220"/>
                  </a:cubicBezTo>
                  <a:cubicBezTo>
                    <a:pt x="61" y="220"/>
                    <a:pt x="61" y="220"/>
                    <a:pt x="61" y="220"/>
                  </a:cubicBezTo>
                  <a:cubicBezTo>
                    <a:pt x="63" y="220"/>
                    <a:pt x="64" y="218"/>
                    <a:pt x="64" y="217"/>
                  </a:cubicBezTo>
                  <a:cubicBezTo>
                    <a:pt x="64" y="3"/>
                    <a:pt x="64" y="3"/>
                    <a:pt x="64" y="3"/>
                  </a:cubicBezTo>
                  <a:cubicBezTo>
                    <a:pt x="64" y="1"/>
                    <a:pt x="63" y="0"/>
                    <a:pt x="61" y="0"/>
                  </a:cubicBezTo>
                  <a:close/>
                  <a:moveTo>
                    <a:pt x="5" y="215"/>
                  </a:moveTo>
                  <a:cubicBezTo>
                    <a:pt x="5" y="5"/>
                    <a:pt x="5" y="5"/>
                    <a:pt x="5" y="5"/>
                  </a:cubicBezTo>
                  <a:cubicBezTo>
                    <a:pt x="59" y="5"/>
                    <a:pt x="59" y="5"/>
                    <a:pt x="59" y="5"/>
                  </a:cubicBezTo>
                  <a:cubicBezTo>
                    <a:pt x="59" y="22"/>
                    <a:pt x="59" y="22"/>
                    <a:pt x="59" y="22"/>
                  </a:cubicBezTo>
                  <a:cubicBezTo>
                    <a:pt x="39" y="22"/>
                    <a:pt x="39" y="22"/>
                    <a:pt x="39" y="22"/>
                  </a:cubicBezTo>
                  <a:cubicBezTo>
                    <a:pt x="38" y="22"/>
                    <a:pt x="37" y="24"/>
                    <a:pt x="37" y="25"/>
                  </a:cubicBezTo>
                  <a:cubicBezTo>
                    <a:pt x="37" y="26"/>
                    <a:pt x="38" y="27"/>
                    <a:pt x="39" y="27"/>
                  </a:cubicBezTo>
                  <a:cubicBezTo>
                    <a:pt x="59" y="27"/>
                    <a:pt x="59" y="27"/>
                    <a:pt x="59" y="27"/>
                  </a:cubicBezTo>
                  <a:cubicBezTo>
                    <a:pt x="59" y="47"/>
                    <a:pt x="59" y="47"/>
                    <a:pt x="59" y="47"/>
                  </a:cubicBezTo>
                  <a:cubicBezTo>
                    <a:pt x="32" y="47"/>
                    <a:pt x="32" y="47"/>
                    <a:pt x="32" y="47"/>
                  </a:cubicBezTo>
                  <a:cubicBezTo>
                    <a:pt x="31" y="47"/>
                    <a:pt x="30" y="48"/>
                    <a:pt x="30" y="49"/>
                  </a:cubicBezTo>
                  <a:cubicBezTo>
                    <a:pt x="30" y="50"/>
                    <a:pt x="31" y="51"/>
                    <a:pt x="32" y="51"/>
                  </a:cubicBezTo>
                  <a:cubicBezTo>
                    <a:pt x="59" y="51"/>
                    <a:pt x="59" y="51"/>
                    <a:pt x="59" y="51"/>
                  </a:cubicBezTo>
                  <a:cubicBezTo>
                    <a:pt x="59" y="71"/>
                    <a:pt x="59" y="71"/>
                    <a:pt x="59" y="71"/>
                  </a:cubicBezTo>
                  <a:cubicBezTo>
                    <a:pt x="39" y="71"/>
                    <a:pt x="39" y="71"/>
                    <a:pt x="39" y="71"/>
                  </a:cubicBezTo>
                  <a:cubicBezTo>
                    <a:pt x="38" y="71"/>
                    <a:pt x="37" y="72"/>
                    <a:pt x="37" y="73"/>
                  </a:cubicBezTo>
                  <a:cubicBezTo>
                    <a:pt x="37" y="74"/>
                    <a:pt x="38" y="76"/>
                    <a:pt x="39" y="76"/>
                  </a:cubicBezTo>
                  <a:cubicBezTo>
                    <a:pt x="59" y="76"/>
                    <a:pt x="59" y="76"/>
                    <a:pt x="59" y="76"/>
                  </a:cubicBezTo>
                  <a:cubicBezTo>
                    <a:pt x="59" y="95"/>
                    <a:pt x="59" y="95"/>
                    <a:pt x="59" y="95"/>
                  </a:cubicBezTo>
                  <a:cubicBezTo>
                    <a:pt x="32" y="95"/>
                    <a:pt x="32" y="95"/>
                    <a:pt x="32" y="95"/>
                  </a:cubicBezTo>
                  <a:cubicBezTo>
                    <a:pt x="31" y="95"/>
                    <a:pt x="30" y="96"/>
                    <a:pt x="30" y="97"/>
                  </a:cubicBezTo>
                  <a:cubicBezTo>
                    <a:pt x="30" y="99"/>
                    <a:pt x="31" y="100"/>
                    <a:pt x="32" y="100"/>
                  </a:cubicBezTo>
                  <a:cubicBezTo>
                    <a:pt x="59" y="100"/>
                    <a:pt x="59" y="100"/>
                    <a:pt x="59" y="100"/>
                  </a:cubicBezTo>
                  <a:cubicBezTo>
                    <a:pt x="59" y="119"/>
                    <a:pt x="59" y="119"/>
                    <a:pt x="59" y="119"/>
                  </a:cubicBezTo>
                  <a:cubicBezTo>
                    <a:pt x="39" y="119"/>
                    <a:pt x="39" y="119"/>
                    <a:pt x="39" y="119"/>
                  </a:cubicBezTo>
                  <a:cubicBezTo>
                    <a:pt x="38" y="119"/>
                    <a:pt x="37" y="120"/>
                    <a:pt x="37" y="122"/>
                  </a:cubicBezTo>
                  <a:cubicBezTo>
                    <a:pt x="37" y="123"/>
                    <a:pt x="38" y="124"/>
                    <a:pt x="39" y="124"/>
                  </a:cubicBezTo>
                  <a:cubicBezTo>
                    <a:pt x="59" y="124"/>
                    <a:pt x="59" y="124"/>
                    <a:pt x="59" y="124"/>
                  </a:cubicBezTo>
                  <a:cubicBezTo>
                    <a:pt x="59" y="143"/>
                    <a:pt x="59" y="143"/>
                    <a:pt x="59" y="143"/>
                  </a:cubicBezTo>
                  <a:cubicBezTo>
                    <a:pt x="32" y="143"/>
                    <a:pt x="32" y="143"/>
                    <a:pt x="32" y="143"/>
                  </a:cubicBezTo>
                  <a:cubicBezTo>
                    <a:pt x="31" y="143"/>
                    <a:pt x="30" y="144"/>
                    <a:pt x="30" y="146"/>
                  </a:cubicBezTo>
                  <a:cubicBezTo>
                    <a:pt x="30" y="147"/>
                    <a:pt x="31" y="148"/>
                    <a:pt x="32" y="148"/>
                  </a:cubicBezTo>
                  <a:cubicBezTo>
                    <a:pt x="59" y="148"/>
                    <a:pt x="59" y="148"/>
                    <a:pt x="59" y="148"/>
                  </a:cubicBezTo>
                  <a:cubicBezTo>
                    <a:pt x="59" y="168"/>
                    <a:pt x="59" y="168"/>
                    <a:pt x="59" y="168"/>
                  </a:cubicBezTo>
                  <a:cubicBezTo>
                    <a:pt x="39" y="168"/>
                    <a:pt x="39" y="168"/>
                    <a:pt x="39" y="168"/>
                  </a:cubicBezTo>
                  <a:cubicBezTo>
                    <a:pt x="38" y="168"/>
                    <a:pt x="37" y="169"/>
                    <a:pt x="37" y="170"/>
                  </a:cubicBezTo>
                  <a:cubicBezTo>
                    <a:pt x="37" y="171"/>
                    <a:pt x="38" y="172"/>
                    <a:pt x="39" y="172"/>
                  </a:cubicBezTo>
                  <a:cubicBezTo>
                    <a:pt x="59" y="172"/>
                    <a:pt x="59" y="172"/>
                    <a:pt x="59" y="172"/>
                  </a:cubicBezTo>
                  <a:cubicBezTo>
                    <a:pt x="59" y="192"/>
                    <a:pt x="59" y="192"/>
                    <a:pt x="59" y="192"/>
                  </a:cubicBezTo>
                  <a:cubicBezTo>
                    <a:pt x="32" y="192"/>
                    <a:pt x="32" y="192"/>
                    <a:pt x="32" y="192"/>
                  </a:cubicBezTo>
                  <a:cubicBezTo>
                    <a:pt x="31" y="192"/>
                    <a:pt x="30" y="193"/>
                    <a:pt x="30" y="194"/>
                  </a:cubicBezTo>
                  <a:cubicBezTo>
                    <a:pt x="30" y="195"/>
                    <a:pt x="31" y="196"/>
                    <a:pt x="32" y="196"/>
                  </a:cubicBezTo>
                  <a:cubicBezTo>
                    <a:pt x="59" y="196"/>
                    <a:pt x="59" y="196"/>
                    <a:pt x="59" y="196"/>
                  </a:cubicBezTo>
                  <a:cubicBezTo>
                    <a:pt x="59" y="215"/>
                    <a:pt x="59" y="215"/>
                    <a:pt x="59" y="215"/>
                  </a:cubicBezTo>
                  <a:lnTo>
                    <a:pt x="5" y="215"/>
                  </a:lnTo>
                  <a:close/>
                </a:path>
              </a:pathLst>
            </a:custGeom>
            <a:solidFill>
              <a:srgbClr val="FFFFFF"/>
            </a:solidFill>
            <a:ln>
              <a:noFill/>
            </a:ln>
          </p:spPr>
          <p:txBody>
            <a:bodyPr anchor="ctr"/>
            <a:lstStyle/>
            <a:p>
              <a:pPr algn="ctr"/>
              <a:endParaRPr>
                <a:latin typeface="锐字工房云字库细圆GBK" panose="02010604000000000000" pitchFamily="2" charset="-122"/>
                <a:ea typeface="锐字工房云字库细圆GBK" panose="02010604000000000000" pitchFamily="2" charset="-122"/>
                <a:cs typeface="+mn-ea"/>
                <a:sym typeface="+mn-lt"/>
              </a:endParaRPr>
            </a:p>
          </p:txBody>
        </p:sp>
      </p:grpSp>
      <p:sp>
        <p:nvSpPr>
          <p:cNvPr id="1048795" name="ïşḻïďê-TextBox 77"/>
          <p:cNvSpPr txBox="1"/>
          <p:nvPr>
            <p:custDataLst>
              <p:tags r:id="rId17"/>
            </p:custDataLst>
          </p:nvPr>
        </p:nvSpPr>
        <p:spPr bwMode="auto">
          <a:xfrm>
            <a:off x="22861" y="1865750"/>
            <a:ext cx="4067810" cy="708660"/>
          </a:xfrm>
          <a:prstGeom prst="rect">
            <a:avLst/>
          </a:prstGeom>
          <a:noFill/>
        </p:spPr>
        <p:txBody>
          <a:bodyPr wrap="none" lIns="0" tIns="0" rIns="288000" bIns="0" anchor="b" anchorCtr="0">
            <a:noAutofit/>
          </a:bodyPr>
          <a:lstStyle/>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沈仕伟</a:t>
            </a:r>
            <a:endParaRPr lang="en-US" altLang="zh-CN" sz="2000" b="1" dirty="0">
              <a:solidFill>
                <a:schemeClr val="accent2">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grpSp>
        <p:nvGrpSpPr>
          <p:cNvPr id="145" name="Group 79"/>
          <p:cNvGrpSpPr/>
          <p:nvPr>
            <p:custDataLst>
              <p:tags r:id="rId18"/>
            </p:custDataLst>
          </p:nvPr>
        </p:nvGrpSpPr>
        <p:grpSpPr>
          <a:xfrm>
            <a:off x="8280250" y="1887545"/>
            <a:ext cx="3660140" cy="4458973"/>
            <a:chOff x="3566870" y="3798889"/>
            <a:chExt cx="3627347" cy="1983206"/>
          </a:xfrm>
        </p:grpSpPr>
        <p:sp>
          <p:nvSpPr>
            <p:cNvPr id="1048796" name="ïşḻïďê-TextBox 80"/>
            <p:cNvSpPr txBox="1"/>
            <p:nvPr>
              <p:custDataLst>
                <p:tags r:id="rId19"/>
              </p:custDataLst>
            </p:nvPr>
          </p:nvSpPr>
          <p:spPr bwMode="auto">
            <a:xfrm>
              <a:off x="3826146" y="3798889"/>
              <a:ext cx="3234657" cy="291465"/>
            </a:xfrm>
            <a:prstGeom prst="rect">
              <a:avLst/>
            </a:prstGeom>
            <a:noFill/>
          </p:spPr>
          <p:txBody>
            <a:bodyPr wrap="none" lIns="288000" tIns="0" rIns="288000" bIns="0" anchor="b" anchorCtr="0">
              <a:noAutofit/>
            </a:bodyPr>
            <a:lstStyle/>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韩育霖</a:t>
              </a:r>
              <a:endParaRPr lang="en-US" altLang="zh-CN" sz="2000" b="1" dirty="0">
                <a:solidFill>
                  <a:schemeClr val="accent4">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sp>
          <p:nvSpPr>
            <p:cNvPr id="1048797" name="ïşḻïďê-TextBox 81"/>
            <p:cNvSpPr txBox="1"/>
            <p:nvPr>
              <p:custDataLst>
                <p:tags r:id="rId20"/>
              </p:custDataLst>
            </p:nvPr>
          </p:nvSpPr>
          <p:spPr bwMode="auto">
            <a:xfrm>
              <a:off x="3566870" y="4195134"/>
              <a:ext cx="3627347" cy="1586958"/>
            </a:xfrm>
            <a:prstGeom prst="rect">
              <a:avLst/>
            </a:prstGeom>
            <a:noFill/>
          </p:spPr>
          <p:txBody>
            <a:bodyPr wrap="square" lIns="288000" tIns="0" rIns="288000" bIns="0" anchor="t" anchorCtr="0">
              <a:noAutofit/>
            </a:bodyPr>
            <a:lstStyle/>
            <a:p>
              <a:pPr>
                <a:lnSpc>
                  <a:spcPct val="120000"/>
                </a:lnSpc>
              </a:pPr>
              <a:r>
                <a:rPr lang="zh-CN" altLang="en-US" sz="1800" b="1" dirty="0">
                  <a:effectLst/>
                  <a:latin typeface="黑体" panose="02010609060101010101" charset="-122"/>
                  <a:ea typeface="黑体" panose="02010609060101010101" charset="-122"/>
                  <a:cs typeface="黑体" panose="02010609060101010101" charset="-122"/>
                  <a:sym typeface="+mn-lt"/>
                </a:rPr>
                <a:t>整合文献调研与算法设计成果，撰写不少于5000字的综述报告，确保逻辑清晰、引用规范；制作课题汇报PPT，提炼核心创新点与实验结论，准备答辩材料。</a:t>
              </a:r>
              <a:endParaRPr lang="zh-CN" altLang="en-US" sz="1800" b="1" dirty="0">
                <a:effectLst/>
                <a:latin typeface="黑体" panose="02010609060101010101" charset="-122"/>
                <a:ea typeface="黑体" panose="02010609060101010101" charset="-122"/>
                <a:cs typeface="黑体" panose="02010609060101010101" charset="-122"/>
                <a:sym typeface="+mn-lt"/>
              </a:endParaRPr>
            </a:p>
          </p:txBody>
        </p:sp>
      </p:grpSp>
      <p:grpSp>
        <p:nvGrpSpPr>
          <p:cNvPr id="146" name="Group 88"/>
          <p:cNvGrpSpPr/>
          <p:nvPr>
            <p:custDataLst>
              <p:tags r:id="rId21"/>
            </p:custDataLst>
          </p:nvPr>
        </p:nvGrpSpPr>
        <p:grpSpPr>
          <a:xfrm>
            <a:off x="4018317" y="2488890"/>
            <a:ext cx="4394129" cy="2089738"/>
            <a:chOff x="12202209" y="3767218"/>
            <a:chExt cx="4015561" cy="2520663"/>
          </a:xfrm>
        </p:grpSpPr>
        <p:sp>
          <p:nvSpPr>
            <p:cNvPr id="1048798" name="ïşḻïďê-TextBox 89"/>
            <p:cNvSpPr txBox="1"/>
            <p:nvPr>
              <p:custDataLst>
                <p:tags r:id="rId22"/>
              </p:custDataLst>
            </p:nvPr>
          </p:nvSpPr>
          <p:spPr bwMode="auto">
            <a:xfrm>
              <a:off x="12202209" y="3767218"/>
              <a:ext cx="3848677" cy="698540"/>
            </a:xfrm>
            <a:prstGeom prst="rect">
              <a:avLst/>
            </a:prstGeom>
            <a:noFill/>
          </p:spPr>
          <p:txBody>
            <a:bodyPr wrap="none" lIns="0" tIns="0" rIns="288000" bIns="0" anchor="b" anchorCtr="0">
              <a:noAutofit/>
            </a:bodyPr>
            <a:lstStyle/>
            <a:p>
              <a:pPr algn="ctr" latinLnBrk="0"/>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王玉峰</a:t>
              </a:r>
              <a:endParaRPr lang="en-US" altLang="zh-CN" sz="2000" b="1" dirty="0">
                <a:solidFill>
                  <a:schemeClr val="accent1">
                    <a:lumMod val="100000"/>
                  </a:schemeClr>
                </a:solidFill>
                <a:effectLst/>
                <a:latin typeface="Times New Roman" panose="02020603050405020304" pitchFamily="18" charset="0"/>
                <a:ea typeface="锐字工房云字库细圆GBK" panose="02010604000000000000" pitchFamily="2" charset="-122"/>
                <a:cs typeface="Times New Roman" panose="02020603050405020304" pitchFamily="18" charset="0"/>
                <a:sym typeface="+mn-lt"/>
              </a:endParaRPr>
            </a:p>
          </p:txBody>
        </p:sp>
        <p:sp>
          <p:nvSpPr>
            <p:cNvPr id="1048799" name="ïşḻïďê-TextBox 90"/>
            <p:cNvSpPr txBox="1"/>
            <p:nvPr>
              <p:custDataLst>
                <p:tags r:id="rId23"/>
              </p:custDataLst>
            </p:nvPr>
          </p:nvSpPr>
          <p:spPr bwMode="auto">
            <a:xfrm>
              <a:off x="12369093" y="4694717"/>
              <a:ext cx="3848677" cy="1593164"/>
            </a:xfrm>
            <a:prstGeom prst="rect">
              <a:avLst/>
            </a:prstGeom>
            <a:noFill/>
          </p:spPr>
          <p:txBody>
            <a:bodyPr wrap="square" lIns="0" tIns="0" rIns="288000" bIns="0" anchor="t" anchorCtr="0"/>
            <a:lstStyle/>
            <a:p>
              <a:pPr>
                <a:lnSpc>
                  <a:spcPct val="120000"/>
                </a:lnSpc>
              </a:pPr>
              <a:r>
                <a:rPr lang="zh-CN" altLang="en-US" b="1" i="0" dirty="0">
                  <a:solidFill>
                    <a:schemeClr val="tx1"/>
                  </a:solidFill>
                  <a:effectLst/>
                  <a:latin typeface="黑体" panose="02010609060101010101" charset="-122"/>
                  <a:ea typeface="黑体" panose="02010609060101010101" charset="-122"/>
                  <a:cs typeface="黑体" panose="02010609060101010101" charset="-122"/>
                </a:rPr>
                <a:t>基于文献调研结果，对比现有先进方法，分析其在跨构型泛化、推理效率、物理约束处理等方面的优缺点；提出改进方向或新方法的技术路线，制定完整方案。</a:t>
              </a:r>
              <a:endParaRPr lang="en-US" altLang="zh-CN" b="1" i="0" dirty="0">
                <a:solidFill>
                  <a:schemeClr val="tx1"/>
                </a:solidFill>
                <a:effectLst/>
                <a:latin typeface="黑体" panose="02010609060101010101" charset="-122"/>
                <a:ea typeface="黑体" panose="02010609060101010101" charset="-122"/>
                <a:cs typeface="黑体" panose="02010609060101010101" charset="-122"/>
                <a:sym typeface="+mn-lt"/>
              </a:endParaRPr>
            </a:p>
          </p:txBody>
        </p:sp>
      </p:grpSp>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five</a:t>
                </a:r>
                <a:endPar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24" cstate="print"/>
            <a:srcRect/>
            <a:stretch>
              <a:fillRect/>
            </a:stretch>
          </p:blipFill>
          <p:spPr>
            <a:xfrm>
              <a:off x="9765508" y="161931"/>
              <a:ext cx="2174882" cy="456069"/>
            </a:xfrm>
            <a:prstGeom prst="rect">
              <a:avLst/>
            </a:prstGeom>
          </p:spPr>
        </p:pic>
      </p:grpSp>
      <p:sp>
        <p:nvSpPr>
          <p:cNvPr id="1048809" name="文本框 7"/>
          <p:cNvSpPr txBox="1"/>
          <p:nvPr/>
        </p:nvSpPr>
        <p:spPr>
          <a:xfrm>
            <a:off x="4415622" y="820547"/>
            <a:ext cx="3529330" cy="583565"/>
          </a:xfrm>
          <a:prstGeom prst="rect">
            <a:avLst/>
          </a:prstGeom>
          <a:noFill/>
        </p:spPr>
        <p:txBody>
          <a:bodyPr wrap="square" rtlCol="0">
            <a:spAutoFit/>
          </a:bodyPr>
          <a:lstStyle/>
          <a:p>
            <a:pPr algn="ctr"/>
            <a:r>
              <a:rPr lang="zh-CN" altLang="en-US" sz="3200" b="1" dirty="0">
                <a:latin typeface="Times New Roman" panose="02020603050405020304" pitchFamily="18" charset="0"/>
                <a:cs typeface="Times New Roman" panose="02020603050405020304" pitchFamily="18" charset="0"/>
              </a:rPr>
              <a:t>灵巧手物抓取生成</a:t>
            </a:r>
            <a:endParaRPr lang="zh-CN" altLang="en-US" sz="3200" b="1" dirty="0">
              <a:latin typeface="Times New Roman" panose="02020603050405020304" pitchFamily="18" charset="0"/>
              <a:cs typeface="Times New Roman" panose="02020603050405020304" pitchFamily="18" charset="0"/>
            </a:endParaRPr>
          </a:p>
        </p:txBody>
      </p:sp>
      <p:sp>
        <p:nvSpPr>
          <p:cNvPr id="1048810" name="ïşḻïďê-TextBox 90"/>
          <p:cNvSpPr txBox="1"/>
          <p:nvPr>
            <p:custDataLst>
              <p:tags r:id="rId25"/>
            </p:custDataLst>
          </p:nvPr>
        </p:nvSpPr>
        <p:spPr bwMode="auto">
          <a:xfrm>
            <a:off x="538480" y="2713990"/>
            <a:ext cx="3474085" cy="3964305"/>
          </a:xfrm>
          <a:prstGeom prst="rect">
            <a:avLst/>
          </a:prstGeom>
          <a:noFill/>
        </p:spPr>
        <p:txBody>
          <a:bodyPr wrap="square" lIns="0" tIns="0" rIns="288000" bIns="0" anchor="t" anchorCtr="0">
            <a:noAutofit/>
          </a:bodyPr>
          <a:lstStyle/>
          <a:p>
            <a:pPr>
              <a:lnSpc>
                <a:spcPct val="120000"/>
              </a:lnSpc>
            </a:pPr>
            <a:r>
              <a:rPr lang="zh-CN" altLang="en-US" b="1" dirty="0">
                <a:solidFill>
                  <a:schemeClr val="tx1">
                    <a:lumMod val="85000"/>
                    <a:lumOff val="15000"/>
                  </a:schemeClr>
                </a:solidFill>
                <a:effectLst/>
                <a:latin typeface="黑体" panose="02010609060101010101" charset="-122"/>
                <a:ea typeface="黑体" panose="02010609060101010101" charset="-122"/>
                <a:cs typeface="Times New Roman" panose="02020603050405020304" pitchFamily="18" charset="0"/>
                <a:sym typeface="+mn-lt"/>
              </a:rPr>
              <a:t>主要负责相关文献的补充与对比分析工作。在已有核心文献的基础上，进一步检索并筛选更多具有代表性的国内外研究成果，重点覆盖数据驱动方法、抓取表示建模、物理约束建模以及策略学习等不同技术方向。通，为后续综述论文的整体分析框架完善与研究趋势总结提供支撑。</a:t>
            </a:r>
            <a:endParaRPr lang="zh-CN" altLang="en-US" b="1" dirty="0">
              <a:solidFill>
                <a:schemeClr val="tx1">
                  <a:lumMod val="85000"/>
                  <a:lumOff val="15000"/>
                </a:schemeClr>
              </a:solidFill>
              <a:effectLst/>
              <a:latin typeface="黑体" panose="02010609060101010101" charset="-122"/>
              <a:ea typeface="黑体" panose="02010609060101010101" charset="-122"/>
              <a:cs typeface="Times New Roman" panose="02020603050405020304" pitchFamily="18"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3" name="矩形 20"/>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097181" name="Picture 2"/>
          <p:cNvPicPr>
            <a:picLocks noChangeAspect="1" noChangeArrowheads="1"/>
          </p:cNvPicPr>
          <p:nvPr/>
        </p:nvPicPr>
        <p:blipFill rotWithShape="1">
          <a:blip r:embed="rId1" cstate="print"/>
          <a:srcRect/>
          <a:stretch>
            <a:fillRect/>
          </a:stretch>
        </p:blipFill>
        <p:spPr bwMode="auto">
          <a:xfrm>
            <a:off x="4191000" y="1407160"/>
            <a:ext cx="8001000" cy="4043680"/>
          </a:xfrm>
          <a:prstGeom prst="rect">
            <a:avLst/>
          </a:prstGeom>
          <a:noFill/>
        </p:spPr>
      </p:pic>
      <p:grpSp>
        <p:nvGrpSpPr>
          <p:cNvPr id="163" name="组合 22"/>
          <p:cNvGrpSpPr/>
          <p:nvPr/>
        </p:nvGrpSpPr>
        <p:grpSpPr>
          <a:xfrm>
            <a:off x="20955" y="764540"/>
            <a:ext cx="12385040" cy="4686300"/>
            <a:chOff x="0" y="795020"/>
            <a:chExt cx="12070080" cy="4655820"/>
          </a:xfrm>
        </p:grpSpPr>
        <p:grpSp>
          <p:nvGrpSpPr>
            <p:cNvPr id="164" name="组合 25"/>
            <p:cNvGrpSpPr/>
            <p:nvPr/>
          </p:nvGrpSpPr>
          <p:grpSpPr>
            <a:xfrm>
              <a:off x="0" y="1407160"/>
              <a:ext cx="4064000" cy="4043680"/>
              <a:chOff x="0" y="1407160"/>
              <a:chExt cx="4064000" cy="4043680"/>
            </a:xfrm>
          </p:grpSpPr>
          <p:sp>
            <p:nvSpPr>
              <p:cNvPr id="1048834" name="矩形 31"/>
              <p:cNvSpPr/>
              <p:nvPr/>
            </p:nvSpPr>
            <p:spPr>
              <a:xfrm>
                <a:off x="0" y="1407160"/>
                <a:ext cx="4064000" cy="40436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835" name="文本框 33"/>
              <p:cNvSpPr txBox="1"/>
              <p:nvPr/>
            </p:nvSpPr>
            <p:spPr>
              <a:xfrm>
                <a:off x="449286" y="2685933"/>
                <a:ext cx="2885086" cy="1486330"/>
              </a:xfrm>
              <a:prstGeom prst="rect">
                <a:avLst/>
              </a:prstGeom>
              <a:noFill/>
            </p:spPr>
            <p:txBody>
              <a:bodyPr wrap="square" rtlCol="0">
                <a:noAutofit/>
              </a:bodyPr>
              <a:lstStyle/>
              <a:p>
                <a:pPr algn="ctr">
                  <a:lnSpc>
                    <a:spcPct val="100000"/>
                  </a:lnSpc>
                </a:pPr>
                <a:r>
                  <a:rPr lang="zh-CN" altLang="en-US" sz="4000" dirty="0">
                    <a:solidFill>
                      <a:schemeClr val="bg1"/>
                    </a:solidFill>
                    <a:latin typeface="黑体" panose="02010609060101010101" charset="-122"/>
                    <a:ea typeface="黑体" panose="02010609060101010101" charset="-122"/>
                    <a:cs typeface="+mn-ea"/>
                    <a:sym typeface="+mn-lt"/>
                  </a:rPr>
                  <a:t>下一步需要完成的工作</a:t>
                </a:r>
                <a:endParaRPr lang="zh-CN" altLang="en-US" sz="4000" dirty="0">
                  <a:solidFill>
                    <a:schemeClr val="bg1"/>
                  </a:solidFill>
                  <a:latin typeface="黑体" panose="02010609060101010101" charset="-122"/>
                  <a:ea typeface="黑体" panose="02010609060101010101" charset="-122"/>
                  <a:cs typeface="+mn-ea"/>
                  <a:sym typeface="+mn-lt"/>
                </a:endParaRPr>
              </a:p>
            </p:txBody>
          </p:sp>
        </p:grpSp>
        <p:grpSp>
          <p:nvGrpSpPr>
            <p:cNvPr id="165" name="组合 26"/>
            <p:cNvGrpSpPr/>
            <p:nvPr/>
          </p:nvGrpSpPr>
          <p:grpSpPr>
            <a:xfrm>
              <a:off x="7184045" y="795020"/>
              <a:ext cx="4886035" cy="1386840"/>
              <a:chOff x="7184045" y="795020"/>
              <a:chExt cx="4886035" cy="1386840"/>
            </a:xfrm>
          </p:grpSpPr>
          <p:sp>
            <p:nvSpPr>
              <p:cNvPr id="1048836" name="任意多边形 28"/>
              <p:cNvSpPr/>
              <p:nvPr/>
            </p:nvSpPr>
            <p:spPr>
              <a:xfrm flipH="1" flipV="1">
                <a:off x="7442309" y="795020"/>
                <a:ext cx="4627771" cy="1386840"/>
              </a:xfrm>
              <a:custGeom>
                <a:avLst/>
                <a:gdLst>
                  <a:gd name="connsiteX0" fmla="*/ 0 w 7147560"/>
                  <a:gd name="connsiteY0" fmla="*/ 0 h 2814320"/>
                  <a:gd name="connsiteX1" fmla="*/ 6443980 w 7147560"/>
                  <a:gd name="connsiteY1" fmla="*/ 0 h 2814320"/>
                  <a:gd name="connsiteX2" fmla="*/ 7147560 w 7147560"/>
                  <a:gd name="connsiteY2" fmla="*/ 2814320 h 2814320"/>
                  <a:gd name="connsiteX3" fmla="*/ 0 w 7147560"/>
                  <a:gd name="connsiteY3" fmla="*/ 2814320 h 2814320"/>
                  <a:gd name="connsiteX0-1" fmla="*/ 0 w 8689506"/>
                  <a:gd name="connsiteY0-2" fmla="*/ 0 h 2814320"/>
                  <a:gd name="connsiteX1-3" fmla="*/ 6443980 w 8689506"/>
                  <a:gd name="connsiteY1-4" fmla="*/ 0 h 2814320"/>
                  <a:gd name="connsiteX2-5" fmla="*/ 8689506 w 8689506"/>
                  <a:gd name="connsiteY2-6" fmla="*/ 2814320 h 2814320"/>
                  <a:gd name="connsiteX3-7" fmla="*/ 0 w 8689506"/>
                  <a:gd name="connsiteY3-8" fmla="*/ 2814320 h 2814320"/>
                  <a:gd name="connsiteX4" fmla="*/ 0 w 8689506"/>
                  <a:gd name="connsiteY4" fmla="*/ 0 h 2814320"/>
                  <a:gd name="connsiteX0-9" fmla="*/ 0 w 9235080"/>
                  <a:gd name="connsiteY0-10" fmla="*/ 0 h 2834640"/>
                  <a:gd name="connsiteX1-11" fmla="*/ 6443980 w 9235080"/>
                  <a:gd name="connsiteY1-12" fmla="*/ 0 h 2834640"/>
                  <a:gd name="connsiteX2-13" fmla="*/ 9235080 w 9235080"/>
                  <a:gd name="connsiteY2-14" fmla="*/ 2834640 h 2834640"/>
                  <a:gd name="connsiteX3-15" fmla="*/ 0 w 9235080"/>
                  <a:gd name="connsiteY3-16" fmla="*/ 2814320 h 2834640"/>
                  <a:gd name="connsiteX4-17" fmla="*/ 0 w 9235080"/>
                  <a:gd name="connsiteY4-18" fmla="*/ 0 h 2834640"/>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9235080" h="2834640">
                    <a:moveTo>
                      <a:pt x="0" y="0"/>
                    </a:moveTo>
                    <a:lnTo>
                      <a:pt x="6443980" y="0"/>
                    </a:lnTo>
                    <a:lnTo>
                      <a:pt x="9235080" y="2834640"/>
                    </a:lnTo>
                    <a:lnTo>
                      <a:pt x="0" y="2814320"/>
                    </a:lnTo>
                    <a:lnTo>
                      <a:pt x="0" y="0"/>
                    </a:lnTo>
                    <a:close/>
                  </a:path>
                </a:pathLst>
              </a:cu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sp>
            <p:nvSpPr>
              <p:cNvPr id="1048837" name="文本框 30"/>
              <p:cNvSpPr txBox="1"/>
              <p:nvPr/>
            </p:nvSpPr>
            <p:spPr>
              <a:xfrm>
                <a:off x="7184045" y="933241"/>
                <a:ext cx="4479636" cy="702158"/>
              </a:xfrm>
              <a:prstGeom prst="rect">
                <a:avLst/>
              </a:prstGeom>
              <a:noFill/>
            </p:spPr>
            <p:txBody>
              <a:bodyPr wrap="square" rtlCol="0">
                <a:spAutoFit/>
              </a:bodyPr>
              <a:lstStyle/>
              <a:p>
                <a:pPr algn="r"/>
                <a:r>
                  <a:rPr lang="en-US" altLang="zh-CN" sz="4000" spc="300" dirty="0">
                    <a:solidFill>
                      <a:schemeClr val="bg1"/>
                    </a:solidFill>
                    <a:latin typeface="造字工房力黑（非商用）常规体" pitchFamily="50" charset="-122"/>
                    <a:ea typeface="造字工房力黑（非商用）常规体" pitchFamily="50" charset="-122"/>
                    <a:cs typeface="+mn-ea"/>
                    <a:sym typeface="+mn-lt"/>
                  </a:rPr>
                  <a:t>PART SIX</a:t>
                </a:r>
                <a:endParaRPr lang="zh-CN" altLang="en-US" sz="4000" spc="300" dirty="0">
                  <a:solidFill>
                    <a:schemeClr val="bg1"/>
                  </a:solidFill>
                  <a:latin typeface="造字工房力黑（非商用）常规体" pitchFamily="50" charset="-122"/>
                  <a:ea typeface="造字工房力黑（非商用）常规体" pitchFamily="50" charset="-122"/>
                  <a:cs typeface="+mn-ea"/>
                  <a:sym typeface="+mn-lt"/>
                </a:endParaRPr>
              </a:p>
            </p:txBody>
          </p:sp>
        </p:grpSp>
        <p:sp>
          <p:nvSpPr>
            <p:cNvPr id="1048838" name="文本框 27"/>
            <p:cNvSpPr txBox="1"/>
            <p:nvPr/>
          </p:nvSpPr>
          <p:spPr>
            <a:xfrm>
              <a:off x="9550399" y="3052435"/>
              <a:ext cx="2349194" cy="1435860"/>
            </a:xfrm>
            <a:prstGeom prst="rect">
              <a:avLst/>
            </a:prstGeom>
            <a:noFill/>
            <a:ln>
              <a:solidFill>
                <a:schemeClr val="bg1"/>
              </a:solidFill>
            </a:ln>
          </p:spPr>
          <p:txBody>
            <a:bodyPr wrap="square" rtlCol="0">
              <a:spAutoFit/>
            </a:bodyPr>
            <a:lstStyle/>
            <a:p>
              <a:pPr algn="ctr"/>
              <a:r>
                <a:rPr lang="en-US" altLang="zh-CN" sz="8800" spc="600" dirty="0">
                  <a:solidFill>
                    <a:schemeClr val="bg1"/>
                  </a:solidFill>
                  <a:latin typeface="造字工房力黑（非商用）常规体" pitchFamily="50" charset="-122"/>
                  <a:ea typeface="造字工房力黑（非商用）常规体" pitchFamily="50" charset="-122"/>
                  <a:cs typeface="+mn-ea"/>
                  <a:sym typeface="+mn-lt"/>
                </a:rPr>
                <a:t>06</a:t>
              </a:r>
              <a:endParaRPr lang="zh-CN" altLang="en-US" sz="8800" spc="600" dirty="0">
                <a:solidFill>
                  <a:schemeClr val="bg1"/>
                </a:solidFill>
                <a:latin typeface="造字工房力黑（非商用）常规体" pitchFamily="50" charset="-122"/>
                <a:ea typeface="造字工房力黑（非商用）常规体" pitchFamily="50" charset="-122"/>
                <a:cs typeface="+mn-ea"/>
                <a:sym typeface="+mn-lt"/>
              </a:endParaRPr>
            </a:p>
          </p:txBody>
        </p:sp>
      </p:grpSp>
      <p:pic>
        <p:nvPicPr>
          <p:cNvPr id="2097182" name="图片 14"/>
          <p:cNvPicPr>
            <a:picLocks noChangeAspect="1"/>
          </p:cNvPicPr>
          <p:nvPr/>
        </p:nvPicPr>
        <p:blipFill>
          <a:blip r:embed="rId2" cstate="print"/>
          <a:srcRect/>
          <a:stretch>
            <a:fillRect/>
          </a:stretch>
        </p:blipFill>
        <p:spPr>
          <a:xfrm>
            <a:off x="874769" y="477840"/>
            <a:ext cx="2174882" cy="4560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98"/>
          <p:cNvGrpSpPr/>
          <p:nvPr/>
        </p:nvGrpSpPr>
        <p:grpSpPr>
          <a:xfrm>
            <a:off x="0" y="156335"/>
            <a:ext cx="11940390" cy="461665"/>
            <a:chOff x="0" y="156335"/>
            <a:chExt cx="11940390" cy="461665"/>
          </a:xfrm>
        </p:grpSpPr>
        <p:grpSp>
          <p:nvGrpSpPr>
            <p:cNvPr id="148" name="组合 99"/>
            <p:cNvGrpSpPr/>
            <p:nvPr/>
          </p:nvGrpSpPr>
          <p:grpSpPr>
            <a:xfrm>
              <a:off x="0" y="156335"/>
              <a:ext cx="9666514" cy="460375"/>
              <a:chOff x="0" y="248698"/>
              <a:chExt cx="9666514" cy="460375"/>
            </a:xfrm>
          </p:grpSpPr>
          <p:grpSp>
            <p:nvGrpSpPr>
              <p:cNvPr id="149" name="组合 101"/>
              <p:cNvGrpSpPr/>
              <p:nvPr/>
            </p:nvGrpSpPr>
            <p:grpSpPr>
              <a:xfrm>
                <a:off x="0" y="294640"/>
                <a:ext cx="880552" cy="375920"/>
                <a:chOff x="0" y="294640"/>
                <a:chExt cx="1094740" cy="467360"/>
              </a:xfrm>
              <a:solidFill>
                <a:srgbClr val="EE8A10"/>
              </a:solidFill>
            </p:grpSpPr>
            <p:sp>
              <p:nvSpPr>
                <p:cNvPr id="1048800" name="燕尾形 11"/>
                <p:cNvSpPr/>
                <p:nvPr/>
              </p:nvSpPr>
              <p:spPr>
                <a:xfrm>
                  <a:off x="416560" y="294640"/>
                  <a:ext cx="375920" cy="467360"/>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1" name="燕尾形 12"/>
                <p:cNvSpPr/>
                <p:nvPr/>
              </p:nvSpPr>
              <p:spPr>
                <a:xfrm>
                  <a:off x="718820" y="294640"/>
                  <a:ext cx="375920" cy="46736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802" name="五边形 13"/>
                <p:cNvSpPr/>
                <p:nvPr/>
              </p:nvSpPr>
              <p:spPr>
                <a:xfrm>
                  <a:off x="0" y="294640"/>
                  <a:ext cx="518160" cy="4673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803" name="文本框 102"/>
              <p:cNvSpPr txBox="1"/>
              <p:nvPr/>
            </p:nvSpPr>
            <p:spPr>
              <a:xfrm>
                <a:off x="972489" y="248698"/>
                <a:ext cx="2702560" cy="460375"/>
              </a:xfrm>
              <a:prstGeom prst="rect">
                <a:avLst/>
              </a:prstGeom>
              <a:noFill/>
            </p:spPr>
            <p:txBody>
              <a:bodyPr wrap="square" rtlCol="0">
                <a:spAutoFit/>
              </a:bodyPr>
              <a:lstStyle/>
              <a:p>
                <a:r>
                  <a:rPr lang="en-US" altLang="zh-CN" sz="2400" spc="600" dirty="0">
                    <a:solidFill>
                      <a:schemeClr val="accent1">
                        <a:lumMod val="100000"/>
                      </a:schemeClr>
                    </a:solidFill>
                    <a:latin typeface="Times New Roman" panose="02020603050405020304" pitchFamily="18" charset="0"/>
                    <a:ea typeface="造字工房力黑（非商用）常规体" pitchFamily="50" charset="-122"/>
                    <a:cs typeface="Times New Roman" panose="02020603050405020304" pitchFamily="18" charset="0"/>
                  </a:rPr>
                  <a:t>Part six</a:t>
                </a:r>
                <a:endParaRPr lang="en-US" altLang="zh-CN" sz="2400" b="1" spc="600" dirty="0">
                  <a:latin typeface="锐字工房云字库细圆GBK" panose="02010604000000000000" pitchFamily="2" charset="-122"/>
                  <a:ea typeface="锐字工房云字库细圆GBK" panose="02010604000000000000" pitchFamily="2" charset="-122"/>
                </a:endParaRPr>
              </a:p>
            </p:txBody>
          </p:sp>
          <p:grpSp>
            <p:nvGrpSpPr>
              <p:cNvPr id="150" name="组合 103"/>
              <p:cNvGrpSpPr/>
              <p:nvPr/>
            </p:nvGrpSpPr>
            <p:grpSpPr>
              <a:xfrm>
                <a:off x="3356076" y="408709"/>
                <a:ext cx="1749361" cy="147782"/>
                <a:chOff x="635462" y="775854"/>
                <a:chExt cx="1749361" cy="147782"/>
              </a:xfrm>
              <a:solidFill>
                <a:srgbClr val="EE8A10"/>
              </a:solidFill>
            </p:grpSpPr>
            <p:sp>
              <p:nvSpPr>
                <p:cNvPr id="1048804" name="椭圆 105"/>
                <p:cNvSpPr/>
                <p:nvPr/>
              </p:nvSpPr>
              <p:spPr>
                <a:xfrm>
                  <a:off x="635462" y="775855"/>
                  <a:ext cx="147781" cy="147781"/>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5" name="椭圆 106"/>
                <p:cNvSpPr/>
                <p:nvPr/>
              </p:nvSpPr>
              <p:spPr>
                <a:xfrm>
                  <a:off x="1036319" y="775854"/>
                  <a:ext cx="147781" cy="147781"/>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6" name="椭圆 107"/>
                <p:cNvSpPr/>
                <p:nvPr/>
              </p:nvSpPr>
              <p:spPr>
                <a:xfrm>
                  <a:off x="1437176" y="775855"/>
                  <a:ext cx="147781" cy="14778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7" name="椭圆 108"/>
                <p:cNvSpPr/>
                <p:nvPr/>
              </p:nvSpPr>
              <p:spPr>
                <a:xfrm>
                  <a:off x="1836185" y="775854"/>
                  <a:ext cx="147781" cy="147781"/>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08" name="椭圆 109"/>
                <p:cNvSpPr/>
                <p:nvPr/>
              </p:nvSpPr>
              <p:spPr>
                <a:xfrm>
                  <a:off x="2237042" y="775854"/>
                  <a:ext cx="147781" cy="14778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145737" name="直接连接符 104"/>
              <p:cNvCxnSpPr/>
              <p:nvPr/>
            </p:nvCxnSpPr>
            <p:spPr>
              <a:xfrm>
                <a:off x="5212080" y="477520"/>
                <a:ext cx="4454434" cy="0"/>
              </a:xfrm>
              <a:prstGeom prst="line">
                <a:avLst/>
              </a:prstGeom>
              <a:ln w="317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pic>
          <p:nvPicPr>
            <p:cNvPr id="2097179" name="图片 100"/>
            <p:cNvPicPr>
              <a:picLocks noChangeAspect="1"/>
            </p:cNvPicPr>
            <p:nvPr/>
          </p:nvPicPr>
          <p:blipFill>
            <a:blip r:embed="rId1" cstate="print"/>
            <a:srcRect/>
            <a:stretch>
              <a:fillRect/>
            </a:stretch>
          </p:blipFill>
          <p:spPr>
            <a:xfrm>
              <a:off x="9765508" y="161931"/>
              <a:ext cx="2174882" cy="456069"/>
            </a:xfrm>
            <a:prstGeom prst="rect">
              <a:avLst/>
            </a:prstGeom>
          </p:spPr>
        </p:pic>
      </p:grpSp>
      <p:sp>
        <p:nvSpPr>
          <p:cNvPr id="4" name="文本框 3"/>
          <p:cNvSpPr txBox="1"/>
          <p:nvPr/>
        </p:nvSpPr>
        <p:spPr>
          <a:xfrm>
            <a:off x="550977" y="705445"/>
            <a:ext cx="2350328"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下一步研究工作</a:t>
            </a:r>
            <a:endParaRPr lang="zh-CN" altLang="en-US" sz="2400" b="1" dirty="0">
              <a:latin typeface="微软雅黑" panose="020B0503020204020204" pitchFamily="34" charset="-122"/>
              <a:ea typeface="微软雅黑" panose="020B0503020204020204" pitchFamily="34" charset="-122"/>
            </a:endParaRPr>
          </a:p>
        </p:txBody>
      </p:sp>
      <p:pic>
        <p:nvPicPr>
          <p:cNvPr id="6" name="图片 5" descr="CJVUbnpA2dEJqTNScuQWk9W3wDNFRMmfhpKnPGG6ceggasS7Cfil-xt23hNBc4NMsoHTvZy0bb76ivI_myG5xTpqdM8sKtxFa-djsMJkhYdiI0-4cu8qaYv28YFYkVe7oZtl2cb2ErCzPpVDwzCqf8Gc4AcVnwY9v-I5zqV603EOFceNGDipug_mPilRMaTO"/>
          <p:cNvPicPr>
            <a:picLocks noChangeAspect="1"/>
          </p:cNvPicPr>
          <p:nvPr/>
        </p:nvPicPr>
        <p:blipFill>
          <a:blip r:embed="rId2"/>
          <a:stretch>
            <a:fillRect/>
          </a:stretch>
        </p:blipFill>
        <p:spPr>
          <a:xfrm>
            <a:off x="187325" y="1513655"/>
            <a:ext cx="5908675" cy="4819015"/>
          </a:xfrm>
          <a:prstGeom prst="rect">
            <a:avLst/>
          </a:prstGeom>
        </p:spPr>
      </p:pic>
      <p:sp>
        <p:nvSpPr>
          <p:cNvPr id="7" name="文本框 6"/>
          <p:cNvSpPr txBox="1"/>
          <p:nvPr/>
        </p:nvSpPr>
        <p:spPr>
          <a:xfrm>
            <a:off x="5827396" y="965835"/>
            <a:ext cx="6028631" cy="5777230"/>
          </a:xfrm>
          <a:prstGeom prst="rect">
            <a:avLst/>
          </a:prstGeom>
          <a:noFill/>
        </p:spPr>
        <p:txBody>
          <a:bodyPr wrap="square">
            <a:noAutofit/>
          </a:bodyPr>
          <a:lstStyle/>
          <a:p>
            <a:pPr indent="0">
              <a:lnSpc>
                <a:spcPct val="120000"/>
              </a:lnSpc>
              <a:buNone/>
            </a:pPr>
            <a:r>
              <a:rPr lang="zh-CN" altLang="en-US" sz="2000" b="1" dirty="0">
                <a:latin typeface="微软雅黑" panose="020B0503020204020204" pitchFamily="34" charset="-122"/>
                <a:ea typeface="微软雅黑" panose="020B0503020204020204" pitchFamily="34" charset="-122"/>
              </a:rPr>
              <a:t>下一步工作计划</a:t>
            </a:r>
            <a:endParaRPr lang="en-US" altLang="zh-CN" sz="2000" b="1"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在中期阶段完成相关文献的系统阅读与初步整理基础上，后续工作将重点围绕综述论文的完善与深化展开。首先，将对已有文献进行进一步归纳与分类，从数据构建、抓取表示、物理建模及策略学习等多个维度建立更加清晰且系统化的分析框架，并补充更多具有代表性的最新研究工作以增强综述的全面性。</a:t>
            </a:r>
            <a:endParaRPr lang="en-US" altLang="zh-CN"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其次，在现有分析基础上深入挖掘不同方法之间的内在联系与差异，强化对各类方法优缺点及适用场景的对比分析，从而提升论文的深度与学术价值。</a:t>
            </a:r>
            <a:endParaRPr lang="zh-CN" altLang="en-US"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同时，将针对当前灵巧抓取领域在泛化能力、物理一致性及真实场景部署方面存在的关键问题进行总结与提炼，明确未来潜在研究方向。最后，完成综述论文的整体撰写、结构优化与内容完善，并进行多轮修改与润色，确保论文逻辑清晰、论述严谨，达到最终提交要求。</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9" name="矩形 7"/>
          <p:cNvSpPr/>
          <p:nvPr/>
        </p:nvSpPr>
        <p:spPr>
          <a:xfrm>
            <a:off x="0" y="1205865"/>
            <a:ext cx="12192000" cy="3091815"/>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lang="zh-CN" altLang="en-US">
              <a:latin typeface="造字工房力黑（非商用）常规体" pitchFamily="50" charset="-122"/>
              <a:ea typeface="造字工房力黑（非商用）常规体" pitchFamily="50" charset="-122"/>
              <a:cs typeface="+mn-ea"/>
              <a:sym typeface="+mn-lt"/>
            </a:endParaRPr>
          </a:p>
        </p:txBody>
      </p:sp>
      <p:pic>
        <p:nvPicPr>
          <p:cNvPr id="2097189" name="图片 9"/>
          <p:cNvPicPr>
            <a:picLocks noChangeAspect="1"/>
          </p:cNvPicPr>
          <p:nvPr/>
        </p:nvPicPr>
        <p:blipFill>
          <a:blip r:embed="rId1" cstate="print"/>
          <a:srcRect/>
          <a:stretch>
            <a:fillRect/>
          </a:stretch>
        </p:blipFill>
        <p:spPr>
          <a:xfrm>
            <a:off x="5003162" y="374347"/>
            <a:ext cx="2174882" cy="456069"/>
          </a:xfrm>
          <a:prstGeom prst="rect">
            <a:avLst/>
          </a:prstGeom>
        </p:spPr>
      </p:pic>
      <p:sp>
        <p:nvSpPr>
          <p:cNvPr id="1048880" name="文本框 10"/>
          <p:cNvSpPr txBox="1"/>
          <p:nvPr/>
        </p:nvSpPr>
        <p:spPr>
          <a:xfrm>
            <a:off x="556203" y="4858385"/>
            <a:ext cx="7197090" cy="64516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小组成员</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汇报顺序</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：沈仕伟、</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王玉峰、韩育霖</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1" name="文本框 11"/>
          <p:cNvSpPr txBox="1"/>
          <p:nvPr/>
        </p:nvSpPr>
        <p:spPr>
          <a:xfrm>
            <a:off x="5409565" y="6225540"/>
            <a:ext cx="1372235" cy="368300"/>
          </a:xfrm>
          <a:prstGeom prst="rect">
            <a:avLst/>
          </a:prstGeom>
          <a:noFill/>
        </p:spPr>
        <p:txBody>
          <a:bodyPr wrap="square" rtlCol="0">
            <a:spAutoFit/>
          </a:bodyPr>
          <a:lstStyle/>
          <a:p>
            <a:r>
              <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2026.4.29</a:t>
            </a:r>
            <a:endParaRPr lang="en-US"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2" name="文本框 12"/>
          <p:cNvSpPr txBox="1"/>
          <p:nvPr/>
        </p:nvSpPr>
        <p:spPr>
          <a:xfrm>
            <a:off x="9238672" y="4858443"/>
            <a:ext cx="2397125" cy="368300"/>
          </a:xfrm>
          <a:prstGeom prst="rect">
            <a:avLst/>
          </a:prstGeom>
          <a:noFill/>
        </p:spPr>
        <p:txBody>
          <a:bodyPr wrap="square" rtlCol="0">
            <a:spAutoFit/>
          </a:bodyPr>
          <a:lstStyle/>
          <a:p>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汇报小组：第三组</a:t>
            </a:r>
            <a:endPar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48883" name="文本框 13"/>
          <p:cNvSpPr txBox="1"/>
          <p:nvPr/>
        </p:nvSpPr>
        <p:spPr>
          <a:xfrm>
            <a:off x="2054257" y="2367051"/>
            <a:ext cx="8407413" cy="768350"/>
          </a:xfrm>
          <a:prstGeom prst="rect">
            <a:avLst/>
          </a:prstGeom>
          <a:noFill/>
        </p:spPr>
        <p:txBody>
          <a:bodyPr wrap="square" rtlCol="0">
            <a:spAutoFit/>
          </a:bodyPr>
          <a:lstStyle/>
          <a:p>
            <a:pPr algn="ctr"/>
            <a:r>
              <a:rPr lang="zh-CN" altLang="en-US" sz="4400" b="1" dirty="0">
                <a:solidFill>
                  <a:schemeClr val="bg1"/>
                </a:solidFill>
                <a:latin typeface="微软雅黑" panose="020B0503020204020204" pitchFamily="34" charset="-122"/>
                <a:ea typeface="微软雅黑" panose="020B0503020204020204" pitchFamily="34" charset="-122"/>
              </a:rPr>
              <a:t>感谢指正与批评</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KSO_WM_DIAGRAM_VIRTUALLY_FRAME" val="{&quot;height&quot;:405.3244094488189,&quot;left&quot;:151.7,&quot;top&quot;:91.6255905511811,&quot;width&quot;:424.4837795275591}"/>
</p:tagLst>
</file>

<file path=ppt/tags/tag2.xml><?xml version="1.0" encoding="utf-8"?>
<p:tagLst xmlns:p="http://schemas.openxmlformats.org/presentationml/2006/main">
  <p:tag name="KSO_WM_DIAGRAM_VIRTUALLY_FRAME" val="{&quot;height&quot;:405.3244094488189,&quot;left&quot;:151.7,&quot;top&quot;:91.6255905511811,&quot;width&quot;:424.4837795275591}"/>
</p:tagLst>
</file>

<file path=ppt/tags/tag3.xml><?xml version="1.0" encoding="utf-8"?>
<p:tagLst xmlns:p="http://schemas.openxmlformats.org/presentationml/2006/main">
  <p:tag name="KSO_WM_DIAGRAM_VIRTUALLY_FRAME" val="{&quot;height&quot;:405.3244094488189,&quot;left&quot;:151.7,&quot;top&quot;:91.6255905511811,&quot;width&quot;:424.4837795275591}"/>
</p:tagLst>
</file>

<file path=ppt/tags/tag4.xml><?xml version="1.0" encoding="utf-8"?>
<p:tagLst xmlns:p="http://schemas.openxmlformats.org/presentationml/2006/main">
  <p:tag name="KSO_WM_DIAGRAM_VIRTUALLY_FRAME" val="{&quot;height&quot;:405.3244094488189,&quot;left&quot;:151.7,&quot;top&quot;:91.6255905511811,&quot;width&quot;:424.4837795275591}"/>
</p:tagLst>
</file>

<file path=ppt/tags/tag5.xml><?xml version="1.0" encoding="utf-8"?>
<p:tagLst xmlns:p="http://schemas.openxmlformats.org/presentationml/2006/main">
  <p:tag name="KSO_WM_DIAGRAM_VIRTUALLY_FRAME" val="{&quot;height&quot;:405.3244094488189,&quot;left&quot;:151.7,&quot;top&quot;:91.6255905511811,&quot;width&quot;:424.4837795275591}"/>
</p:tagLst>
</file>

<file path=ppt/tags/tag6.xml><?xml version="1.0" encoding="utf-8"?>
<p:tagLst xmlns:p="http://schemas.openxmlformats.org/presentationml/2006/main">
  <p:tag name="KSO_WM_DIAGRAM_VIRTUALLY_FRAME" val="{&quot;height&quot;:405.3244094488189,&quot;left&quot;:151.7,&quot;top&quot;:91.6255905511811,&quot;width&quot;:424.4837795275591}"/>
</p:tagLst>
</file>

<file path=ppt/tags/tag7.xml><?xml version="1.0" encoding="utf-8"?>
<p:tagLst xmlns:p="http://schemas.openxmlformats.org/presentationml/2006/main">
  <p:tag name="KSO_WM_DIAGRAM_VIRTUALLY_FRAME" val="{&quot;height&quot;:405.3244094488189,&quot;left&quot;:151.7,&quot;top&quot;:91.6255905511811,&quot;width&quot;:424.4837795275591}"/>
</p:tagLst>
</file>

<file path=ppt/tags/tag8.xml><?xml version="1.0" encoding="utf-8"?>
<p:tagLst xmlns:p="http://schemas.openxmlformats.org/presentationml/2006/main">
  <p:tag name="KSO_WM_DIAGRAM_VIRTUALLY_FRAME" val="{&quot;height&quot;:405.3244094488189,&quot;left&quot;:151.7,&quot;top&quot;:91.6255905511811,&quot;width&quot;:424.4837795275591}"/>
</p:tagLst>
</file>

<file path=ppt/tags/tag9.xml><?xml version="1.0" encoding="utf-8"?>
<p:tagLst xmlns:p="http://schemas.openxmlformats.org/presentationml/2006/main">
  <p:tag name="KSO_WM_DIAGRAM_VIRTUALLY_FRAME" val="{&quot;height&quot;:405.3244094488189,&quot;left&quot;:151.7,&quot;top&quot;:91.6255905511811,&quot;width&quot;:424.4837795275591}"/>
</p:tagLst>
</file>

<file path=ppt/tags/tag10.xml><?xml version="1.0" encoding="utf-8"?>
<p:tagLst xmlns:p="http://schemas.openxmlformats.org/presentationml/2006/main">
  <p:tag name="KSO_WM_DIAGRAM_VIRTUALLY_FRAME" val="{&quot;height&quot;:405.3244094488189,&quot;left&quot;:151.7,&quot;top&quot;:91.6255905511811,&quot;width&quot;:424.4837795275591}"/>
</p:tagLst>
</file>

<file path=ppt/tags/tag11.xml><?xml version="1.0" encoding="utf-8"?>
<p:tagLst xmlns:p="http://schemas.openxmlformats.org/presentationml/2006/main">
  <p:tag name="KSO_WM_BEAUTIFY_FLAG" val="#fgm#"/>
  <p:tag name="KSO_WM_FIGMA_FLAG" val="#fgm#"/>
  <p:tag name="KSO_WM_UNIT_INDEX" val="1"/>
  <p:tag name="KSO_WM_UNIT_TYPE" val="a"/>
  <p:tag name="KSO_WM_LAYOUT_CHECK_HASH" val="d598b3f8c2034e9bc6df32d0865f37dca86900ee"/>
  <p:tag name="KSO_WM_NEWLAYOUT_ID" val="slide_eb3a68e03bcdf3d9"/>
</p:tagLst>
</file>

<file path=ppt/tags/tag12.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Lst>
</file>

<file path=ppt/tags/tag13.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Lst>
</file>

<file path=ppt/tags/tag14.xml><?xml version="1.0" encoding="utf-8"?>
<p:tagLst xmlns:p="http://schemas.openxmlformats.org/presentationml/2006/main">
  <p:tag name="KSO_WM_BEAUTIFY_FLAG" val="#fgm#"/>
  <p:tag name="KSO_WM_FIGMA_FLAG" val="#fgm#"/>
  <p:tag name="KSO_WM_UNIT_INDEX" val="1"/>
  <p:tag name="KSO_WM_UNIT_TYPE" val="a"/>
  <p:tag name="KSO_WM_LAYOUT_CHECK_HASH" val="5539c4e0d3ce57b96189d35c9094ffaebf036924"/>
  <p:tag name="KSO_WM_NEWLAYOUT_GROUP_ID" val="layout_59"/>
  <p:tag name="KSO_WM_NEWLAYOUT_ID" val="slide_a37e02253c1e1e31"/>
  <p:tag name="KSO_WM_UNIT_PRESET_TEXT" val="单击此处添加标题"/>
</p:tagLst>
</file>

<file path=ppt/tags/tag15.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16.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17.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18.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19.xml><?xml version="1.0" encoding="utf-8"?>
<p:tagLst xmlns:p="http://schemas.openxmlformats.org/presentationml/2006/main">
  <p:tag name="KSO_WM_BEAUTIFY_FLAG" val="#fgm#"/>
  <p:tag name="KSO_WM_DIAGRAM_GROUP_CODE" val="1"/>
  <p:tag name="KSO_WM_FIGMA_FLAG" val="#fgm#"/>
  <p:tag name="KSO_WM_UNIT_INDEX" val="1_1_1"/>
  <p:tag name="KSO_WM_UNIT_TYPE" val="l_h_f"/>
  <p:tag name="KSO_WM_UNIT_PRESET_TEXT" val="单击此处添加项正文"/>
</p:tagLst>
</file>

<file path=ppt/tags/tag20.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1.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2.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3.xml><?xml version="1.0" encoding="utf-8"?>
<p:tagLst xmlns:p="http://schemas.openxmlformats.org/presentationml/2006/main">
  <p:tag name="KSO_WM_BEAUTIFY_FLAG" val="#fgm#"/>
  <p:tag name="KSO_WM_FIGMA_FLAG" val="#fgm#"/>
  <p:tag name="KSO_WM_UNIT_INDEX" val="1"/>
  <p:tag name="KSO_WM_UNIT_TYPE" val="a"/>
  <p:tag name="KSO_WM_LAYOUT_CHECK_HASH" val="4fe5668eb3e23ec15b849857bb8c93b10dcb72cd"/>
  <p:tag name="KSO_WM_NEWLAYOUT_GROUP_ID" val="layout_51"/>
  <p:tag name="KSO_WM_NEWLAYOUT_ID" val="slide_54fafa5e2dac5e66"/>
  <p:tag name="KSO_WM_UNIT_PRESET_TEXT" val="单击此处添加标题"/>
</p:tagLst>
</file>

<file path=ppt/tags/tag24.xml><?xml version="1.0" encoding="utf-8"?>
<p:tagLst xmlns:p="http://schemas.openxmlformats.org/presentationml/2006/main">
  <p:tag name="KSO_WM_BEAUTIFY_FLAG" val="#fgm#"/>
  <p:tag name="KSO_WM_DIAGRAM_GROUP_CODE" val="1"/>
  <p:tag name="KSO_WM_FIGMA_FLAG" val="#fgm#"/>
  <p:tag name="KSO_WM_UNIT_INDEX" val="1_2_1"/>
  <p:tag name="KSO_WM_UNIT_TYPE" val="l_h_f"/>
  <p:tag name="KSO_WM_UNIT_PRESET_TEXT" val="单击此处添加项正文"/>
</p:tagLst>
</file>

<file path=ppt/tags/tag25.xml><?xml version="1.0" encoding="utf-8"?>
<p:tagLst xmlns:p="http://schemas.openxmlformats.org/presentationml/2006/main">
  <p:tag name="KSO_WM_DIAGRAM_VIRTUALLY_FRAME" val="{&quot;height&quot;:472.85,&quot;left&quot;:1.8000787401574805,&quot;top&quot;:42.5,&quot;width&quot;:944.9999212598425}"/>
</p:tagLst>
</file>

<file path=ppt/tags/tag26.xml><?xml version="1.0" encoding="utf-8"?>
<p:tagLst xmlns:p="http://schemas.openxmlformats.org/presentationml/2006/main">
  <p:tag name="KSO_WM_DIAGRAM_VIRTUALLY_FRAME" val="{&quot;height&quot;:472.85,&quot;left&quot;:1.8000787401574805,&quot;top&quot;:42.5,&quot;width&quot;:944.9999212598425}"/>
</p:tagLst>
</file>

<file path=ppt/tags/tag27.xml><?xml version="1.0" encoding="utf-8"?>
<p:tagLst xmlns:p="http://schemas.openxmlformats.org/presentationml/2006/main">
  <p:tag name="KSO_WM_DIAGRAM_VIRTUALLY_FRAME" val="{&quot;height&quot;:472.85,&quot;left&quot;:1.8000787401574805,&quot;top&quot;:42.5,&quot;width&quot;:944.9999212598425}"/>
</p:tagLst>
</file>

<file path=ppt/tags/tag28.xml><?xml version="1.0" encoding="utf-8"?>
<p:tagLst xmlns:p="http://schemas.openxmlformats.org/presentationml/2006/main">
  <p:tag name="KSO_WM_DIAGRAM_VIRTUALLY_FRAME" val="{&quot;height&quot;:472.85,&quot;left&quot;:1.8000787401574805,&quot;top&quot;:42.5,&quot;width&quot;:944.9999212598425}"/>
</p:tagLst>
</file>

<file path=ppt/tags/tag29.xml><?xml version="1.0" encoding="utf-8"?>
<p:tagLst xmlns:p="http://schemas.openxmlformats.org/presentationml/2006/main">
  <p:tag name="KSO_WM_DIAGRAM_VIRTUALLY_FRAME" val="{&quot;height&quot;:472.85,&quot;left&quot;:1.8000787401574805,&quot;top&quot;:42.5,&quot;width&quot;:944.9999212598425}"/>
</p:tagLst>
</file>

<file path=ppt/tags/tag30.xml><?xml version="1.0" encoding="utf-8"?>
<p:tagLst xmlns:p="http://schemas.openxmlformats.org/presentationml/2006/main">
  <p:tag name="KSO_WM_DIAGRAM_VIRTUALLY_FRAME" val="{&quot;height&quot;:472.85,&quot;left&quot;:1.8000787401574805,&quot;top&quot;:42.5,&quot;width&quot;:944.9999212598425}"/>
</p:tagLst>
</file>

<file path=ppt/tags/tag31.xml><?xml version="1.0" encoding="utf-8"?>
<p:tagLst xmlns:p="http://schemas.openxmlformats.org/presentationml/2006/main">
  <p:tag name="KSO_WM_DIAGRAM_VIRTUALLY_FRAME" val="{&quot;height&quot;:472.85,&quot;left&quot;:1.8000787401574805,&quot;top&quot;:42.5,&quot;width&quot;:944.9999212598425}"/>
</p:tagLst>
</file>

<file path=ppt/tags/tag32.xml><?xml version="1.0" encoding="utf-8"?>
<p:tagLst xmlns:p="http://schemas.openxmlformats.org/presentationml/2006/main">
  <p:tag name="KSO_WM_DIAGRAM_VIRTUALLY_FRAME" val="{&quot;height&quot;:472.85,&quot;left&quot;:1.8000787401574805,&quot;top&quot;:42.5,&quot;width&quot;:944.9999212598425}"/>
</p:tagLst>
</file>

<file path=ppt/tags/tag33.xml><?xml version="1.0" encoding="utf-8"?>
<p:tagLst xmlns:p="http://schemas.openxmlformats.org/presentationml/2006/main">
  <p:tag name="KSO_WM_DIAGRAM_VIRTUALLY_FRAME" val="{&quot;height&quot;:472.85,&quot;left&quot;:1.8000787401574805,&quot;top&quot;:42.5,&quot;width&quot;:944.9999212598425}"/>
</p:tagLst>
</file>

<file path=ppt/tags/tag34.xml><?xml version="1.0" encoding="utf-8"?>
<p:tagLst xmlns:p="http://schemas.openxmlformats.org/presentationml/2006/main">
  <p:tag name="KSO_WM_DIAGRAM_VIRTUALLY_FRAME" val="{&quot;height&quot;:472.85,&quot;left&quot;:1.8000787401574805,&quot;top&quot;:42.5,&quot;width&quot;:944.9999212598425}"/>
</p:tagLst>
</file>

<file path=ppt/tags/tag35.xml><?xml version="1.0" encoding="utf-8"?>
<p:tagLst xmlns:p="http://schemas.openxmlformats.org/presentationml/2006/main">
  <p:tag name="KSO_WM_DIAGRAM_VIRTUALLY_FRAME" val="{&quot;height&quot;:472.85,&quot;left&quot;:1.8000787401574805,&quot;top&quot;:42.5,&quot;width&quot;:944.9999212598425}"/>
</p:tagLst>
</file>

<file path=ppt/tags/tag36.xml><?xml version="1.0" encoding="utf-8"?>
<p:tagLst xmlns:p="http://schemas.openxmlformats.org/presentationml/2006/main">
  <p:tag name="KSO_WM_DIAGRAM_VIRTUALLY_FRAME" val="{&quot;height&quot;:472.85,&quot;left&quot;:1.8000787401574805,&quot;top&quot;:42.5,&quot;width&quot;:944.9999212598425}"/>
</p:tagLst>
</file>

<file path=ppt/tags/tag37.xml><?xml version="1.0" encoding="utf-8"?>
<p:tagLst xmlns:p="http://schemas.openxmlformats.org/presentationml/2006/main">
  <p:tag name="KSO_WM_DIAGRAM_VIRTUALLY_FRAME" val="{&quot;height&quot;:472.85,&quot;left&quot;:1.8000787401574805,&quot;top&quot;:42.5,&quot;width&quot;:944.9999212598425}"/>
</p:tagLst>
</file>

<file path=ppt/tags/tag38.xml><?xml version="1.0" encoding="utf-8"?>
<p:tagLst xmlns:p="http://schemas.openxmlformats.org/presentationml/2006/main">
  <p:tag name="KSO_WM_DIAGRAM_VIRTUALLY_FRAME" val="{&quot;height&quot;:472.85,&quot;left&quot;:1.8000787401574805,&quot;top&quot;:42.5,&quot;width&quot;:944.9999212598425}"/>
</p:tagLst>
</file>

<file path=ppt/tags/tag39.xml><?xml version="1.0" encoding="utf-8"?>
<p:tagLst xmlns:p="http://schemas.openxmlformats.org/presentationml/2006/main">
  <p:tag name="KSO_WM_DIAGRAM_VIRTUALLY_FRAME" val="{&quot;height&quot;:472.85,&quot;left&quot;:1.8000787401574805,&quot;top&quot;:42.5,&quot;width&quot;:944.9999212598425}"/>
</p:tagLst>
</file>

<file path=ppt/tags/tag40.xml><?xml version="1.0" encoding="utf-8"?>
<p:tagLst xmlns:p="http://schemas.openxmlformats.org/presentationml/2006/main">
  <p:tag name="KSO_WM_DIAGRAM_VIRTUALLY_FRAME" val="{&quot;height&quot;:472.85,&quot;left&quot;:1.8000787401574805,&quot;top&quot;:42.5,&quot;width&quot;:944.9999212598425}"/>
</p:tagLst>
</file>

<file path=ppt/tags/tag41.xml><?xml version="1.0" encoding="utf-8"?>
<p:tagLst xmlns:p="http://schemas.openxmlformats.org/presentationml/2006/main">
  <p:tag name="KSO_WM_DIAGRAM_VIRTUALLY_FRAME" val="{&quot;height&quot;:472.85,&quot;left&quot;:1.8000787401574805,&quot;top&quot;:42.5,&quot;width&quot;:944.9999212598425}"/>
</p:tagLst>
</file>

<file path=ppt/tags/tag42.xml><?xml version="1.0" encoding="utf-8"?>
<p:tagLst xmlns:p="http://schemas.openxmlformats.org/presentationml/2006/main">
  <p:tag name="KSO_WM_DIAGRAM_VIRTUALLY_FRAME" val="{&quot;height&quot;:472.85,&quot;left&quot;:1.8000787401574805,&quot;top&quot;:42.5,&quot;width&quot;:944.9999212598425}"/>
</p:tagLst>
</file>

<file path=ppt/tags/tag43.xml><?xml version="1.0" encoding="utf-8"?>
<p:tagLst xmlns:p="http://schemas.openxmlformats.org/presentationml/2006/main">
  <p:tag name="KSO_WM_DIAGRAM_VIRTUALLY_FRAME" val="{&quot;height&quot;:472.85,&quot;left&quot;:1.8000787401574805,&quot;top&quot;:42.5,&quot;width&quot;:944.9999212598425}"/>
</p:tagLst>
</file>

<file path=ppt/tags/tag44.xml><?xml version="1.0" encoding="utf-8"?>
<p:tagLst xmlns:p="http://schemas.openxmlformats.org/presentationml/2006/main">
  <p:tag name="KSO_WM_DIAGRAM_VIRTUALLY_FRAME" val="{&quot;height&quot;:472.85,&quot;left&quot;:15.35,&quot;top&quot;:42.5,&quot;width&quot;:931.45}"/>
</p:tagLst>
</file>

<file path=ppt/tags/tag45.xml><?xml version="1.0" encoding="utf-8"?>
<p:tagLst xmlns:p="http://schemas.openxmlformats.org/presentationml/2006/main">
  <p:tag name="KSO_WM_DIAGRAM_VIRTUALLY_FRAME" val="{&quot;height&quot;:472.85,&quot;left&quot;:1.8000787401574805,&quot;top&quot;:42.5,&quot;width&quot;:944.9999212598425}"/>
</p:tagLst>
</file>

<file path=ppt/tags/tag46.xml><?xml version="1.0" encoding="utf-8"?>
<p:tagLst xmlns:p="http://schemas.openxmlformats.org/presentationml/2006/main">
  <p:tag name="KSO_WM_DIAGRAM_VIRTUALLY_FRAME" val="{&quot;height&quot;:472.85,&quot;left&quot;:1.8000787401574805,&quot;top&quot;:42.5,&quot;width&quot;:944.9999212598425}"/>
</p:tagLst>
</file>

<file path=ppt/tags/tag47.xml><?xml version="1.0" encoding="utf-8"?>
<p:tagLst xmlns:p="http://schemas.openxmlformats.org/presentationml/2006/main">
  <p:tag name="KSO_WM_DIAGRAM_VIRTUALLY_FRAME" val="{&quot;height&quot;:472.85,&quot;left&quot;:15.35,&quot;top&quot;:42.5,&quot;width&quot;:931.45}"/>
</p:tagLst>
</file>

<file path=ppt/tags/tag48.xml><?xml version="1.0" encoding="utf-8"?>
<p:tagLst xmlns:p="http://schemas.openxmlformats.org/presentationml/2006/main">
  <p:tag name="KSO_WM_DIAGRAM_VIRTUALLY_FRAME" val="{&quot;height&quot;:472.85,&quot;left&quot;:15.35,&quot;top&quot;:42.5,&quot;width&quot;:931.45}"/>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68395"/>
    </a:dk2>
    <a:lt2>
      <a:srgbClr val="F0F0F0"/>
    </a:lt2>
    <a:accent1>
      <a:srgbClr val="1F5F8A"/>
    </a:accent1>
    <a:accent2>
      <a:srgbClr val="2980B9"/>
    </a:accent2>
    <a:accent3>
      <a:srgbClr val="4098D4"/>
    </a:accent3>
    <a:accent4>
      <a:srgbClr val="7AB7E0"/>
    </a:accent4>
    <a:accent5>
      <a:srgbClr val="9FCBE9"/>
    </a:accent5>
    <a:accent6>
      <a:srgbClr val="C6E0F2"/>
    </a:accent6>
    <a:hlink>
      <a:srgbClr val="1F5F8A"/>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8063</Words>
  <Application>WPS 演示</Application>
  <PresentationFormat>宽屏</PresentationFormat>
  <Paragraphs>287</Paragraphs>
  <Slides>32</Slides>
  <Notes>32</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32</vt:i4>
      </vt:variant>
    </vt:vector>
  </HeadingPairs>
  <TitlesOfParts>
    <vt:vector size="58" baseType="lpstr">
      <vt:lpstr>Arial</vt:lpstr>
      <vt:lpstr>宋体</vt:lpstr>
      <vt:lpstr>Wingdings</vt:lpstr>
      <vt:lpstr>微软雅黑</vt:lpstr>
      <vt:lpstr>造字工房力黑（非商用）常规体</vt:lpstr>
      <vt:lpstr>Times New Roman</vt:lpstr>
      <vt:lpstr>Agency FB</vt:lpstr>
      <vt:lpstr>微软雅黑 Light</vt:lpstr>
      <vt:lpstr>黑体</vt:lpstr>
      <vt:lpstr>锐字工房云字库细圆GBK</vt:lpstr>
      <vt:lpstr>MiSans Demibold</vt:lpstr>
      <vt:lpstr>MiSans Medium</vt:lpstr>
      <vt:lpstr>MiSans Normal</vt:lpstr>
      <vt:lpstr>Wingdings</vt:lpstr>
      <vt:lpstr>等线</vt:lpstr>
      <vt:lpstr>Arial Unicode MS</vt:lpstr>
      <vt:lpstr>等线 Light</vt:lpstr>
      <vt:lpstr>Calibri</vt:lpstr>
      <vt:lpstr>MiSans Demibold</vt:lpstr>
      <vt:lpstr>MiSans Medium</vt:lpstr>
      <vt:lpstr>MiSans Normal</vt:lpstr>
      <vt:lpstr>造字工房力黑（非商用）常规体</vt:lpstr>
      <vt:lpstr>锐字工房云字库细圆GBK</vt:lpstr>
      <vt:lpstr>Segoe Print</vt:lpstr>
      <vt:lpstr>造字工房体 常规体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23113RKC6C</dc:creator>
  <cp:lastModifiedBy>老韩头</cp:lastModifiedBy>
  <cp:revision>16</cp:revision>
  <dcterms:created xsi:type="dcterms:W3CDTF">2026-04-07T04:20:00Z</dcterms:created>
  <dcterms:modified xsi:type="dcterms:W3CDTF">2026-04-29T04:40:44Z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A1550ED43CCE4EE28464A787DDF7DE0D_13</vt:lpwstr>
  </property>
  <property fmtid="{D5CDD505-2E9C-101B-9397-08002B2CF9AE}" pid="3" name="KSOProductBuildVer">
    <vt:lpwstr>2052-12.1.0.25225</vt:lpwstr>
  </property>
</Properties>
</file>