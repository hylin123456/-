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Lst>
  <p:notesMasterIdLst>
    <p:notesMasterId r:id="rId4"/>
  </p:notesMasterIdLst>
  <p:sldIdLst>
    <p:sldId id="349" r:id="rId3"/>
    <p:sldId id="350" r:id="rId5"/>
    <p:sldId id="351" r:id="rId6"/>
    <p:sldId id="352" r:id="rId7"/>
    <p:sldId id="353" r:id="rId8"/>
    <p:sldId id="373" r:id="rId9"/>
    <p:sldId id="375" r:id="rId10"/>
    <p:sldId id="377" r:id="rId11"/>
    <p:sldId id="354" r:id="rId12"/>
    <p:sldId id="355" r:id="rId13"/>
    <p:sldId id="360" r:id="rId14"/>
    <p:sldId id="361" r:id="rId15"/>
    <p:sldId id="362" r:id="rId16"/>
    <p:sldId id="405" r:id="rId17"/>
    <p:sldId id="406" r:id="rId18"/>
    <p:sldId id="407" r:id="rId19"/>
    <p:sldId id="408" r:id="rId20"/>
    <p:sldId id="363" r:id="rId21"/>
    <p:sldId id="379" r:id="rId22"/>
    <p:sldId id="394" r:id="rId23"/>
    <p:sldId id="380" r:id="rId24"/>
    <p:sldId id="391" r:id="rId25"/>
    <p:sldId id="393" r:id="rId26"/>
    <p:sldId id="383" r:id="rId27"/>
    <p:sldId id="384" r:id="rId28"/>
    <p:sldId id="385" r:id="rId29"/>
    <p:sldId id="386" r:id="rId30"/>
    <p:sldId id="395" r:id="rId31"/>
    <p:sldId id="396" r:id="rId32"/>
    <p:sldId id="397" r:id="rId33"/>
    <p:sldId id="387" r:id="rId34"/>
    <p:sldId id="409" r:id="rId35"/>
    <p:sldId id="410" r:id="rId36"/>
    <p:sldId id="411" r:id="rId37"/>
    <p:sldId id="364" r:id="rId38"/>
    <p:sldId id="365" r:id="rId39"/>
    <p:sldId id="399" r:id="rId40"/>
    <p:sldId id="367" r:id="rId41"/>
    <p:sldId id="369" r:id="rId42"/>
    <p:sldId id="402" r:id="rId43"/>
    <p:sldId id="404" r:id="rId44"/>
    <p:sldId id="403" r:id="rId45"/>
    <p:sldId id="371" r:id="rId46"/>
  </p:sldIdLst>
  <p:sldSz cx="12192000" cy="68580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showPr>
  <p:clrMru>
    <a:srgbClr val="113C67"/>
    <a:srgbClr val="557F9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61886" autoAdjust="0"/>
  </p:normalViewPr>
  <p:slideViewPr>
    <p:cSldViewPr snapToGrid="0" showGuides="1">
      <p:cViewPr varScale="1">
        <p:scale>
          <a:sx n="51" d="100"/>
          <a:sy n="51" d="100"/>
        </p:scale>
        <p:origin x="1906" y="53"/>
      </p:cViewPr>
      <p:guideLst>
        <p:guide orient="horz" pos="2160"/>
        <p:guide pos="3840"/>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9" Type="http://schemas.openxmlformats.org/officeDocument/2006/relationships/tableStyles" Target="tableStyles.xml"/><Relationship Id="rId48" Type="http://schemas.openxmlformats.org/officeDocument/2006/relationships/viewProps" Target="viewProps.xml"/><Relationship Id="rId47" Type="http://schemas.openxmlformats.org/officeDocument/2006/relationships/presProps" Target="presProps.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94" name=""/>
        <p:cNvGrpSpPr/>
        <p:nvPr/>
      </p:nvGrpSpPr>
      <p:grpSpPr>
        <a:xfrm>
          <a:off x="0" y="0"/>
          <a:ext cx="0" cy="0"/>
          <a:chOff x="0" y="0"/>
          <a:chExt cx="0" cy="0"/>
        </a:xfrm>
      </p:grpSpPr>
      <p:sp>
        <p:nvSpPr>
          <p:cNvPr id="1048934"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1048935"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4A5EBB-10F6-463D-A1C9-2FF04F725E4C}" type="datetimeFigureOut">
              <a:rPr lang="zh-CN" altLang="en-US" smtClean="0"/>
            </a:fld>
            <a:endParaRPr lang="zh-CN" altLang="en-US"/>
          </a:p>
        </p:txBody>
      </p:sp>
      <p:sp>
        <p:nvSpPr>
          <p:cNvPr id="1048936"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p>
            <a:endParaRPr lang="zh-CN" altLang="en-US"/>
          </a:p>
        </p:txBody>
      </p:sp>
      <p:sp>
        <p:nvSpPr>
          <p:cNvPr id="1048937"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8938"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1048939"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611CF7-5005-43FE-83F8-F59B6FC0F0A6}"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28" name=""/>
        <p:cNvGrpSpPr/>
        <p:nvPr/>
      </p:nvGrpSpPr>
      <p:grpSpPr>
        <a:xfrm>
          <a:off x="0" y="0"/>
          <a:ext cx="0" cy="0"/>
          <a:chOff x="0" y="0"/>
          <a:chExt cx="0" cy="0"/>
        </a:xfrm>
      </p:grpSpPr>
      <p:sp>
        <p:nvSpPr>
          <p:cNvPr id="1048586" name="幻灯片图像占位符 1"/>
          <p:cNvSpPr>
            <a:spLocks noGrp="1" noRot="1" noChangeAspect="1"/>
          </p:cNvSpPr>
          <p:nvPr>
            <p:ph type="sldImg"/>
          </p:nvPr>
        </p:nvSpPr>
        <p:spPr/>
      </p:sp>
      <p:sp>
        <p:nvSpPr>
          <p:cNvPr id="1048587" name="备注占位符 2"/>
          <p:cNvSpPr>
            <a:spLocks noGrp="1"/>
          </p:cNvSpPr>
          <p:nvPr>
            <p:ph type="body" idx="1"/>
          </p:nvPr>
        </p:nvSpPr>
        <p:spPr/>
        <p:txBody>
          <a:bodyPr/>
          <a:p>
            <a:endParaRPr lang="zh-CN" altLang="en-US" dirty="0"/>
          </a:p>
        </p:txBody>
      </p:sp>
      <p:sp>
        <p:nvSpPr>
          <p:cNvPr id="1048588" name="灯片编号占位符 3"/>
          <p:cNvSpPr>
            <a:spLocks noGrp="1"/>
          </p:cNvSpPr>
          <p:nvPr>
            <p:ph type="sldNum" sz="quarter" idx="10"/>
          </p:nvPr>
        </p:nvSpPr>
        <p:spPr/>
        <p:txBody>
          <a:bodyPr/>
          <a:p>
            <a:fld id="{04611CF7-5005-43FE-83F8-F59B6FC0F0A6}"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44" name=""/>
        <p:cNvGrpSpPr/>
        <p:nvPr/>
      </p:nvGrpSpPr>
      <p:grpSpPr>
        <a:xfrm>
          <a:off x="0" y="0"/>
          <a:ext cx="0" cy="0"/>
          <a:chOff x="0" y="0"/>
          <a:chExt cx="0" cy="0"/>
        </a:xfrm>
      </p:grpSpPr>
      <p:sp>
        <p:nvSpPr>
          <p:cNvPr id="1048603" name="幻灯片图像占位符 1"/>
          <p:cNvSpPr>
            <a:spLocks noGrp="1" noRot="1" noChangeAspect="1"/>
          </p:cNvSpPr>
          <p:nvPr>
            <p:ph type="sldImg"/>
          </p:nvPr>
        </p:nvSpPr>
        <p:spPr/>
      </p:sp>
      <p:sp>
        <p:nvSpPr>
          <p:cNvPr id="1048604" name="备注占位符 2"/>
          <p:cNvSpPr>
            <a:spLocks noGrp="1"/>
          </p:cNvSpPr>
          <p:nvPr>
            <p:ph type="body" idx="1"/>
          </p:nvPr>
        </p:nvSpPr>
        <p:spPr/>
        <p:txBody>
          <a:bodyPr/>
          <a:p>
            <a:endParaRPr lang="zh-CN" altLang="en-US" dirty="0"/>
          </a:p>
        </p:txBody>
      </p:sp>
      <p:sp>
        <p:nvSpPr>
          <p:cNvPr id="1048605" name="灯片编号占位符 3"/>
          <p:cNvSpPr>
            <a:spLocks noGrp="1"/>
          </p:cNvSpPr>
          <p:nvPr>
            <p:ph type="sldNum" sz="quarter" idx="10"/>
          </p:nvPr>
        </p:nvSpPr>
        <p:spPr/>
        <p:txBody>
          <a:bodyPr/>
          <a:p>
            <a:fld id="{04611CF7-5005-43FE-83F8-F59B6FC0F0A6}"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50" name=""/>
        <p:cNvGrpSpPr/>
        <p:nvPr/>
      </p:nvGrpSpPr>
      <p:grpSpPr>
        <a:xfrm>
          <a:off x="0" y="0"/>
          <a:ext cx="0" cy="0"/>
          <a:chOff x="0" y="0"/>
          <a:chExt cx="0" cy="0"/>
        </a:xfrm>
      </p:grpSpPr>
      <p:sp>
        <p:nvSpPr>
          <p:cNvPr id="1048612" name="幻灯片图像占位符 1"/>
          <p:cNvSpPr>
            <a:spLocks noGrp="1" noRot="1" noChangeAspect="1"/>
          </p:cNvSpPr>
          <p:nvPr>
            <p:ph type="sldImg"/>
          </p:nvPr>
        </p:nvSpPr>
        <p:spPr/>
      </p:sp>
      <p:sp>
        <p:nvSpPr>
          <p:cNvPr id="1048613" name="备注占位符 2"/>
          <p:cNvSpPr>
            <a:spLocks noGrp="1"/>
          </p:cNvSpPr>
          <p:nvPr>
            <p:ph type="body" idx="1"/>
          </p:nvPr>
        </p:nvSpPr>
        <p:spPr/>
        <p:txBody>
          <a:bodyPr/>
          <a:p>
            <a:pPr marL="0" marR="0" lvl="0" indent="0" algn="l" defTabSz="914400" rtl="0" eaLnBrk="1" fontAlgn="auto" latinLnBrk="0" hangingPunct="1">
              <a:lnSpc>
                <a:spcPct val="100000"/>
              </a:lnSpc>
              <a:spcBef>
                <a:spcPts val="0"/>
              </a:spcBef>
              <a:spcAft>
                <a:spcPts val="0"/>
              </a:spcAft>
              <a:buClrTx/>
              <a:buSzTx/>
              <a:buFontTx/>
              <a:buNone/>
            </a:pPr>
            <a:endParaRPr lang="en-US" altLang="zh-CN" sz="1200" dirty="0">
              <a:solidFill>
                <a:schemeClr val="bg1"/>
              </a:solidFill>
              <a:latin typeface="Times New Roman" panose="02020603050405020304" pitchFamily="18" charset="0"/>
              <a:ea typeface="造字工房力黑（非商用）常规体" pitchFamily="50" charset="-122"/>
              <a:cs typeface="Times New Roman" panose="02020603050405020304" pitchFamily="18" charset="0"/>
              <a:sym typeface="+mn-lt"/>
            </a:endParaRPr>
          </a:p>
        </p:txBody>
      </p:sp>
      <p:sp>
        <p:nvSpPr>
          <p:cNvPr id="1048614" name="灯片编号占位符 3"/>
          <p:cNvSpPr>
            <a:spLocks noGrp="1"/>
          </p:cNvSpPr>
          <p:nvPr>
            <p:ph type="sldNum" sz="quarter" idx="10"/>
          </p:nvPr>
        </p:nvSpPr>
        <p:spPr/>
        <p:txBody>
          <a:bodyPr/>
          <a:p>
            <a:fld id="{04611CF7-5005-43FE-83F8-F59B6FC0F0A6}"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64" name=""/>
        <p:cNvGrpSpPr/>
        <p:nvPr/>
      </p:nvGrpSpPr>
      <p:grpSpPr>
        <a:xfrm>
          <a:off x="0" y="0"/>
          <a:ext cx="0" cy="0"/>
          <a:chOff x="0" y="0"/>
          <a:chExt cx="0" cy="0"/>
        </a:xfrm>
      </p:grpSpPr>
      <p:sp>
        <p:nvSpPr>
          <p:cNvPr id="1048637" name="幻灯片图像占位符 1"/>
          <p:cNvSpPr>
            <a:spLocks noGrp="1" noRot="1" noChangeAspect="1"/>
          </p:cNvSpPr>
          <p:nvPr>
            <p:ph type="sldImg"/>
          </p:nvPr>
        </p:nvSpPr>
        <p:spPr/>
      </p:sp>
      <p:sp>
        <p:nvSpPr>
          <p:cNvPr id="1048638" name="备注占位符 2"/>
          <p:cNvSpPr>
            <a:spLocks noGrp="1"/>
          </p:cNvSpPr>
          <p:nvPr>
            <p:ph type="body" idx="1"/>
          </p:nvPr>
        </p:nvSpPr>
        <p:spPr/>
        <p:txBody>
          <a:bodyPr/>
          <a:p>
            <a:endParaRPr lang="zh-CN" altLang="en-US" dirty="0"/>
          </a:p>
        </p:txBody>
      </p:sp>
      <p:sp>
        <p:nvSpPr>
          <p:cNvPr id="1048639" name="灯片编号占位符 3"/>
          <p:cNvSpPr>
            <a:spLocks noGrp="1"/>
          </p:cNvSpPr>
          <p:nvPr>
            <p:ph type="sldNum" sz="quarter" idx="10"/>
          </p:nvPr>
        </p:nvSpPr>
        <p:spPr/>
        <p:txBody>
          <a:bodyPr/>
          <a:p>
            <a:fld id="{04611CF7-5005-43FE-83F8-F59B6FC0F0A6}"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71" name=""/>
        <p:cNvGrpSpPr/>
        <p:nvPr/>
      </p:nvGrpSpPr>
      <p:grpSpPr>
        <a:xfrm>
          <a:off x="0" y="0"/>
          <a:ext cx="0" cy="0"/>
          <a:chOff x="0" y="0"/>
          <a:chExt cx="0" cy="0"/>
        </a:xfrm>
      </p:grpSpPr>
      <p:sp>
        <p:nvSpPr>
          <p:cNvPr id="1048652" name="幻灯片图像占位符 1"/>
          <p:cNvSpPr>
            <a:spLocks noGrp="1" noRot="1" noChangeAspect="1"/>
          </p:cNvSpPr>
          <p:nvPr>
            <p:ph type="sldImg"/>
          </p:nvPr>
        </p:nvSpPr>
        <p:spPr/>
      </p:sp>
      <p:sp>
        <p:nvSpPr>
          <p:cNvPr id="1048653" name="备注占位符 2"/>
          <p:cNvSpPr>
            <a:spLocks noGrp="1"/>
          </p:cNvSpPr>
          <p:nvPr>
            <p:ph type="body" idx="1"/>
          </p:nvPr>
        </p:nvSpPr>
        <p:spPr/>
        <p:txBody>
          <a:bodyPr/>
          <a:p>
            <a:endParaRPr lang="zh-CN" altLang="en-US" dirty="0"/>
          </a:p>
        </p:txBody>
      </p:sp>
      <p:sp>
        <p:nvSpPr>
          <p:cNvPr id="1048654" name="灯片编号占位符 3"/>
          <p:cNvSpPr>
            <a:spLocks noGrp="1"/>
          </p:cNvSpPr>
          <p:nvPr>
            <p:ph type="sldNum" sz="quarter" idx="10"/>
          </p:nvPr>
        </p:nvSpPr>
        <p:spPr/>
        <p:txBody>
          <a:bodyPr/>
          <a:p>
            <a:fld id="{04611CF7-5005-43FE-83F8-F59B6FC0F0A6}"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71" name=""/>
        <p:cNvGrpSpPr/>
        <p:nvPr/>
      </p:nvGrpSpPr>
      <p:grpSpPr>
        <a:xfrm>
          <a:off x="0" y="0"/>
          <a:ext cx="0" cy="0"/>
          <a:chOff x="0" y="0"/>
          <a:chExt cx="0" cy="0"/>
        </a:xfrm>
      </p:grpSpPr>
      <p:sp>
        <p:nvSpPr>
          <p:cNvPr id="1048652" name="幻灯片图像占位符 1"/>
          <p:cNvSpPr>
            <a:spLocks noGrp="1" noRot="1" noChangeAspect="1"/>
          </p:cNvSpPr>
          <p:nvPr>
            <p:ph type="sldImg"/>
          </p:nvPr>
        </p:nvSpPr>
        <p:spPr/>
      </p:sp>
      <p:sp>
        <p:nvSpPr>
          <p:cNvPr id="1048653" name="备注占位符 2"/>
          <p:cNvSpPr>
            <a:spLocks noGrp="1"/>
          </p:cNvSpPr>
          <p:nvPr>
            <p:ph type="body" idx="1"/>
          </p:nvPr>
        </p:nvSpPr>
        <p:spPr/>
        <p:txBody>
          <a:bodyPr/>
          <a:p>
            <a:endParaRPr lang="zh-CN" altLang="en-US" dirty="0"/>
          </a:p>
        </p:txBody>
      </p:sp>
      <p:sp>
        <p:nvSpPr>
          <p:cNvPr id="1048654" name="灯片编号占位符 3"/>
          <p:cNvSpPr>
            <a:spLocks noGrp="1"/>
          </p:cNvSpPr>
          <p:nvPr>
            <p:ph type="sldNum" sz="quarter" idx="10"/>
          </p:nvPr>
        </p:nvSpPr>
        <p:spPr/>
        <p:txBody>
          <a:bodyPr/>
          <a:p>
            <a:fld id="{04611CF7-5005-43FE-83F8-F59B6FC0F0A6}"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71" name=""/>
        <p:cNvGrpSpPr/>
        <p:nvPr/>
      </p:nvGrpSpPr>
      <p:grpSpPr>
        <a:xfrm>
          <a:off x="0" y="0"/>
          <a:ext cx="0" cy="0"/>
          <a:chOff x="0" y="0"/>
          <a:chExt cx="0" cy="0"/>
        </a:xfrm>
      </p:grpSpPr>
      <p:sp>
        <p:nvSpPr>
          <p:cNvPr id="1048652" name="幻灯片图像占位符 1"/>
          <p:cNvSpPr>
            <a:spLocks noGrp="1" noRot="1" noChangeAspect="1"/>
          </p:cNvSpPr>
          <p:nvPr>
            <p:ph type="sldImg"/>
          </p:nvPr>
        </p:nvSpPr>
        <p:spPr/>
      </p:sp>
      <p:sp>
        <p:nvSpPr>
          <p:cNvPr id="1048653" name="备注占位符 2"/>
          <p:cNvSpPr>
            <a:spLocks noGrp="1"/>
          </p:cNvSpPr>
          <p:nvPr>
            <p:ph type="body" idx="1"/>
          </p:nvPr>
        </p:nvSpPr>
        <p:spPr/>
        <p:txBody>
          <a:bodyPr/>
          <a:p>
            <a:endParaRPr lang="zh-CN" altLang="en-US" dirty="0"/>
          </a:p>
        </p:txBody>
      </p:sp>
      <p:sp>
        <p:nvSpPr>
          <p:cNvPr id="1048654" name="灯片编号占位符 3"/>
          <p:cNvSpPr>
            <a:spLocks noGrp="1"/>
          </p:cNvSpPr>
          <p:nvPr>
            <p:ph type="sldNum" sz="quarter" idx="10"/>
          </p:nvPr>
        </p:nvSpPr>
        <p:spPr/>
        <p:txBody>
          <a:bodyPr/>
          <a:p>
            <a:fld id="{04611CF7-5005-43FE-83F8-F59B6FC0F0A6}"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71" name=""/>
        <p:cNvGrpSpPr/>
        <p:nvPr/>
      </p:nvGrpSpPr>
      <p:grpSpPr>
        <a:xfrm>
          <a:off x="0" y="0"/>
          <a:ext cx="0" cy="0"/>
          <a:chOff x="0" y="0"/>
          <a:chExt cx="0" cy="0"/>
        </a:xfrm>
      </p:grpSpPr>
      <p:sp>
        <p:nvSpPr>
          <p:cNvPr id="1048652" name="幻灯片图像占位符 1"/>
          <p:cNvSpPr>
            <a:spLocks noGrp="1" noRot="1" noChangeAspect="1"/>
          </p:cNvSpPr>
          <p:nvPr>
            <p:ph type="sldImg"/>
          </p:nvPr>
        </p:nvSpPr>
        <p:spPr/>
      </p:sp>
      <p:sp>
        <p:nvSpPr>
          <p:cNvPr id="1048653" name="备注占位符 2"/>
          <p:cNvSpPr>
            <a:spLocks noGrp="1"/>
          </p:cNvSpPr>
          <p:nvPr>
            <p:ph type="body" idx="1"/>
          </p:nvPr>
        </p:nvSpPr>
        <p:spPr/>
        <p:txBody>
          <a:bodyPr/>
          <a:p>
            <a:endParaRPr lang="zh-CN" altLang="en-US" dirty="0"/>
          </a:p>
        </p:txBody>
      </p:sp>
      <p:sp>
        <p:nvSpPr>
          <p:cNvPr id="1048654" name="灯片编号占位符 3"/>
          <p:cNvSpPr>
            <a:spLocks noGrp="1"/>
          </p:cNvSpPr>
          <p:nvPr>
            <p:ph type="sldNum" sz="quarter" idx="10"/>
          </p:nvPr>
        </p:nvSpPr>
        <p:spPr/>
        <p:txBody>
          <a:bodyPr/>
          <a:p>
            <a:fld id="{04611CF7-5005-43FE-83F8-F59B6FC0F0A6}"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77" name=""/>
        <p:cNvGrpSpPr/>
        <p:nvPr/>
      </p:nvGrpSpPr>
      <p:grpSpPr>
        <a:xfrm>
          <a:off x="0" y="0"/>
          <a:ext cx="0" cy="0"/>
          <a:chOff x="0" y="0"/>
          <a:chExt cx="0" cy="0"/>
        </a:xfrm>
      </p:grpSpPr>
      <p:sp>
        <p:nvSpPr>
          <p:cNvPr id="1048661" name="幻灯片图像占位符 1"/>
          <p:cNvSpPr>
            <a:spLocks noGrp="1" noRot="1" noChangeAspect="1"/>
          </p:cNvSpPr>
          <p:nvPr>
            <p:ph type="sldImg"/>
          </p:nvPr>
        </p:nvSpPr>
        <p:spPr/>
      </p:sp>
      <p:sp>
        <p:nvSpPr>
          <p:cNvPr id="1048662" name="备注占位符 2"/>
          <p:cNvSpPr>
            <a:spLocks noGrp="1"/>
          </p:cNvSpPr>
          <p:nvPr>
            <p:ph type="body" idx="1"/>
          </p:nvPr>
        </p:nvSpPr>
        <p:spPr/>
        <p:txBody>
          <a:bodyPr/>
          <a:p>
            <a:pPr marL="0" marR="0" lvl="0" indent="0" algn="l" defTabSz="914400" rtl="0" eaLnBrk="1" fontAlgn="auto" latinLnBrk="0" hangingPunct="1">
              <a:lnSpc>
                <a:spcPct val="100000"/>
              </a:lnSpc>
              <a:spcBef>
                <a:spcPts val="0"/>
              </a:spcBef>
              <a:spcAft>
                <a:spcPts val="0"/>
              </a:spcAft>
              <a:buClrTx/>
              <a:buSzTx/>
              <a:buFontTx/>
              <a:buNone/>
            </a:pPr>
            <a:endParaRPr lang="en-US" altLang="zh-CN" sz="1200" dirty="0">
              <a:solidFill>
                <a:schemeClr val="bg1"/>
              </a:solidFill>
              <a:latin typeface="Times New Roman" panose="02020603050405020304" pitchFamily="18" charset="0"/>
              <a:ea typeface="造字工房力黑（非商用）常规体" pitchFamily="50" charset="-122"/>
              <a:cs typeface="Times New Roman" panose="02020603050405020304" pitchFamily="18" charset="0"/>
              <a:sym typeface="+mn-lt"/>
            </a:endParaRPr>
          </a:p>
        </p:txBody>
      </p:sp>
      <p:sp>
        <p:nvSpPr>
          <p:cNvPr id="1048663" name="灯片编号占位符 3"/>
          <p:cNvSpPr>
            <a:spLocks noGrp="1"/>
          </p:cNvSpPr>
          <p:nvPr>
            <p:ph type="sldNum" sz="quarter" idx="10"/>
          </p:nvPr>
        </p:nvSpPr>
        <p:spPr/>
        <p:txBody>
          <a:bodyPr/>
          <a:p>
            <a:fld id="{04611CF7-5005-43FE-83F8-F59B6FC0F0A6}"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84" name=""/>
        <p:cNvGrpSpPr/>
        <p:nvPr/>
      </p:nvGrpSpPr>
      <p:grpSpPr>
        <a:xfrm>
          <a:off x="0" y="0"/>
          <a:ext cx="0" cy="0"/>
          <a:chOff x="0" y="0"/>
          <a:chExt cx="0" cy="0"/>
        </a:xfrm>
      </p:grpSpPr>
      <p:sp>
        <p:nvSpPr>
          <p:cNvPr id="1048675" name="幻灯片图像占位符 1"/>
          <p:cNvSpPr>
            <a:spLocks noGrp="1" noRot="1" noChangeAspect="1"/>
          </p:cNvSpPr>
          <p:nvPr>
            <p:ph type="sldImg"/>
          </p:nvPr>
        </p:nvSpPr>
        <p:spPr/>
      </p:sp>
      <p:sp>
        <p:nvSpPr>
          <p:cNvPr id="1048676" name="备注占位符 2"/>
          <p:cNvSpPr>
            <a:spLocks noGrp="1"/>
          </p:cNvSpPr>
          <p:nvPr>
            <p:ph type="body" idx="1"/>
          </p:nvPr>
        </p:nvSpPr>
        <p:spPr/>
        <p:txBody>
          <a:bodyPr/>
          <a:p>
            <a:endParaRPr lang="zh-CN" altLang="en-US" dirty="0"/>
          </a:p>
        </p:txBody>
      </p:sp>
      <p:sp>
        <p:nvSpPr>
          <p:cNvPr id="1048677" name="灯片编号占位符 3"/>
          <p:cNvSpPr>
            <a:spLocks noGrp="1"/>
          </p:cNvSpPr>
          <p:nvPr>
            <p:ph type="sldNum" sz="quarter" idx="10"/>
          </p:nvPr>
        </p:nvSpPr>
        <p:spPr/>
        <p:txBody>
          <a:bodyPr/>
          <a:p>
            <a:fld id="{04611CF7-5005-43FE-83F8-F59B6FC0F0A6}"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11" name=""/>
        <p:cNvGrpSpPr/>
        <p:nvPr/>
      </p:nvGrpSpPr>
      <p:grpSpPr>
        <a:xfrm>
          <a:off x="0" y="0"/>
          <a:ext cx="0" cy="0"/>
          <a:chOff x="0" y="0"/>
          <a:chExt cx="0" cy="0"/>
        </a:xfrm>
      </p:grpSpPr>
      <p:sp>
        <p:nvSpPr>
          <p:cNvPr id="1048728" name="幻灯片图像占位符 1"/>
          <p:cNvSpPr>
            <a:spLocks noGrp="1" noRot="1" noChangeAspect="1"/>
          </p:cNvSpPr>
          <p:nvPr>
            <p:ph type="sldImg"/>
          </p:nvPr>
        </p:nvSpPr>
        <p:spPr/>
      </p:sp>
      <p:sp>
        <p:nvSpPr>
          <p:cNvPr id="1048729" name="备注占位符 2"/>
          <p:cNvSpPr>
            <a:spLocks noGrp="1"/>
          </p:cNvSpPr>
          <p:nvPr>
            <p:ph type="body" idx="1"/>
          </p:nvPr>
        </p:nvSpPr>
        <p:spPr/>
        <p:txBody>
          <a:bodyPr/>
          <a:p>
            <a:pPr marL="0" marR="0" lvl="0" indent="0" algn="l" defTabSz="914400" rtl="0" eaLnBrk="1" fontAlgn="auto" latinLnBrk="0" hangingPunct="1">
              <a:lnSpc>
                <a:spcPct val="100000"/>
              </a:lnSpc>
              <a:spcBef>
                <a:spcPts val="0"/>
              </a:spcBef>
              <a:spcAft>
                <a:spcPts val="0"/>
              </a:spcAft>
              <a:buClrTx/>
              <a:buSzTx/>
              <a:buFontTx/>
              <a:buNone/>
            </a:pPr>
            <a:endParaRPr lang="en-US" altLang="zh-CN" sz="1200" spc="600" dirty="0">
              <a:solidFill>
                <a:schemeClr val="bg1"/>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sp>
        <p:nvSpPr>
          <p:cNvPr id="1048730" name="灯片编号占位符 3"/>
          <p:cNvSpPr>
            <a:spLocks noGrp="1"/>
          </p:cNvSpPr>
          <p:nvPr>
            <p:ph type="sldNum" sz="quarter" idx="10"/>
          </p:nvPr>
        </p:nvSpPr>
        <p:spPr/>
        <p:txBody>
          <a:bodyPr/>
          <a:p>
            <a:fld id="{04611CF7-5005-43FE-83F8-F59B6FC0F0A6}"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18" name=""/>
        <p:cNvGrpSpPr/>
        <p:nvPr/>
      </p:nvGrpSpPr>
      <p:grpSpPr>
        <a:xfrm>
          <a:off x="0" y="0"/>
          <a:ext cx="0" cy="0"/>
          <a:chOff x="0" y="0"/>
          <a:chExt cx="0" cy="0"/>
        </a:xfrm>
      </p:grpSpPr>
      <p:sp>
        <p:nvSpPr>
          <p:cNvPr id="1048742" name="幻灯片图像占位符 1"/>
          <p:cNvSpPr>
            <a:spLocks noGrp="1" noRot="1" noChangeAspect="1"/>
          </p:cNvSpPr>
          <p:nvPr>
            <p:ph type="sldImg"/>
          </p:nvPr>
        </p:nvSpPr>
        <p:spPr/>
      </p:sp>
      <p:sp>
        <p:nvSpPr>
          <p:cNvPr id="1048743" name="备注占位符 2"/>
          <p:cNvSpPr>
            <a:spLocks noGrp="1"/>
          </p:cNvSpPr>
          <p:nvPr>
            <p:ph type="body" idx="1"/>
          </p:nvPr>
        </p:nvSpPr>
        <p:spPr/>
        <p:txBody>
          <a:bodyPr/>
          <a:p>
            <a:endParaRPr lang="en-US" altLang="zh-CN" dirty="0"/>
          </a:p>
        </p:txBody>
      </p:sp>
      <p:sp>
        <p:nvSpPr>
          <p:cNvPr id="1048744" name="灯片编号占位符 3"/>
          <p:cNvSpPr>
            <a:spLocks noGrp="1"/>
          </p:cNvSpPr>
          <p:nvPr>
            <p:ph type="sldNum" sz="quarter" idx="10"/>
          </p:nvPr>
        </p:nvSpPr>
        <p:spPr/>
        <p:txBody>
          <a:bodyPr/>
          <a:p>
            <a:fld id="{04611CF7-5005-43FE-83F8-F59B6FC0F0A6}"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25" name=""/>
        <p:cNvGrpSpPr/>
        <p:nvPr/>
      </p:nvGrpSpPr>
      <p:grpSpPr>
        <a:xfrm>
          <a:off x="0" y="0"/>
          <a:ext cx="0" cy="0"/>
          <a:chOff x="0" y="0"/>
          <a:chExt cx="0" cy="0"/>
        </a:xfrm>
      </p:grpSpPr>
      <p:sp>
        <p:nvSpPr>
          <p:cNvPr id="1048756" name="幻灯片图像占位符 1"/>
          <p:cNvSpPr>
            <a:spLocks noGrp="1" noRot="1" noChangeAspect="1"/>
          </p:cNvSpPr>
          <p:nvPr>
            <p:ph type="sldImg"/>
          </p:nvPr>
        </p:nvSpPr>
        <p:spPr/>
      </p:sp>
      <p:sp>
        <p:nvSpPr>
          <p:cNvPr id="1048757" name="备注占位符 2"/>
          <p:cNvSpPr>
            <a:spLocks noGrp="1"/>
          </p:cNvSpPr>
          <p:nvPr>
            <p:ph type="body" idx="1"/>
          </p:nvPr>
        </p:nvSpPr>
        <p:spPr/>
        <p:txBody>
          <a:bodyPr/>
          <a:p>
            <a:endParaRPr lang="en-US" altLang="zh-CN" dirty="0"/>
          </a:p>
        </p:txBody>
      </p:sp>
      <p:sp>
        <p:nvSpPr>
          <p:cNvPr id="1048758" name="灯片编号占位符 3"/>
          <p:cNvSpPr>
            <a:spLocks noGrp="1"/>
          </p:cNvSpPr>
          <p:nvPr>
            <p:ph type="sldNum" sz="quarter" idx="10"/>
          </p:nvPr>
        </p:nvSpPr>
        <p:spPr/>
        <p:txBody>
          <a:bodyPr/>
          <a:p>
            <a:fld id="{04611CF7-5005-43FE-83F8-F59B6FC0F0A6}"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6" name="幻灯片图像占位符 1"/>
          <p:cNvSpPr>
            <a:spLocks noGrp="1" noRot="1" noChangeAspect="1"/>
          </p:cNvSpPr>
          <p:nvPr>
            <p:ph type="sldImg"/>
          </p:nvPr>
        </p:nvSpPr>
        <p:spPr/>
      </p:sp>
      <p:sp>
        <p:nvSpPr>
          <p:cNvPr id="1048757" name="备注占位符 2"/>
          <p:cNvSpPr>
            <a:spLocks noGrp="1"/>
          </p:cNvSpPr>
          <p:nvPr>
            <p:ph type="body" idx="1"/>
          </p:nvPr>
        </p:nvSpPr>
        <p:spPr/>
        <p:txBody>
          <a:bodyPr/>
          <a:lstStyle/>
          <a:p>
            <a:endParaRPr lang="en-US" altLang="zh-CN" dirty="0"/>
          </a:p>
        </p:txBody>
      </p:sp>
      <p:sp>
        <p:nvSpPr>
          <p:cNvPr id="1048758"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6" name="幻灯片图像占位符 1"/>
          <p:cNvSpPr>
            <a:spLocks noGrp="1" noRot="1" noChangeAspect="1"/>
          </p:cNvSpPr>
          <p:nvPr>
            <p:ph type="sldImg"/>
          </p:nvPr>
        </p:nvSpPr>
        <p:spPr/>
      </p:sp>
      <p:sp>
        <p:nvSpPr>
          <p:cNvPr id="1048757" name="备注占位符 2"/>
          <p:cNvSpPr>
            <a:spLocks noGrp="1"/>
          </p:cNvSpPr>
          <p:nvPr>
            <p:ph type="body" idx="1"/>
          </p:nvPr>
        </p:nvSpPr>
        <p:spPr/>
        <p:txBody>
          <a:bodyPr/>
          <a:lstStyle/>
          <a:p>
            <a:endParaRPr lang="en-US" altLang="zh-CN" dirty="0"/>
          </a:p>
        </p:txBody>
      </p:sp>
      <p:sp>
        <p:nvSpPr>
          <p:cNvPr id="1048758"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6" name="幻灯片图像占位符 1"/>
          <p:cNvSpPr>
            <a:spLocks noGrp="1" noRot="1" noChangeAspect="1"/>
          </p:cNvSpPr>
          <p:nvPr>
            <p:ph type="sldImg"/>
          </p:nvPr>
        </p:nvSpPr>
        <p:spPr/>
      </p:sp>
      <p:sp>
        <p:nvSpPr>
          <p:cNvPr id="1048757" name="备注占位符 2"/>
          <p:cNvSpPr>
            <a:spLocks noGrp="1"/>
          </p:cNvSpPr>
          <p:nvPr>
            <p:ph type="body" idx="1"/>
          </p:nvPr>
        </p:nvSpPr>
        <p:spPr/>
        <p:txBody>
          <a:bodyPr/>
          <a:lstStyle/>
          <a:p>
            <a:endParaRPr lang="en-US" altLang="zh-CN" dirty="0"/>
          </a:p>
        </p:txBody>
      </p:sp>
      <p:sp>
        <p:nvSpPr>
          <p:cNvPr id="1048758"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6" name="幻灯片图像占位符 1"/>
          <p:cNvSpPr>
            <a:spLocks noGrp="1" noRot="1" noChangeAspect="1"/>
          </p:cNvSpPr>
          <p:nvPr>
            <p:ph type="sldImg"/>
          </p:nvPr>
        </p:nvSpPr>
        <p:spPr/>
      </p:sp>
      <p:sp>
        <p:nvSpPr>
          <p:cNvPr id="1048757" name="备注占位符 2"/>
          <p:cNvSpPr>
            <a:spLocks noGrp="1"/>
          </p:cNvSpPr>
          <p:nvPr>
            <p:ph type="body" idx="1"/>
          </p:nvPr>
        </p:nvSpPr>
        <p:spPr/>
        <p:txBody>
          <a:bodyPr/>
          <a:lstStyle/>
          <a:p>
            <a:endParaRPr lang="en-US" altLang="zh-CN" dirty="0"/>
          </a:p>
        </p:txBody>
      </p:sp>
      <p:sp>
        <p:nvSpPr>
          <p:cNvPr id="1048758"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32" name=""/>
        <p:cNvGrpSpPr/>
        <p:nvPr/>
      </p:nvGrpSpPr>
      <p:grpSpPr>
        <a:xfrm>
          <a:off x="0" y="0"/>
          <a:ext cx="0" cy="0"/>
          <a:chOff x="0" y="0"/>
          <a:chExt cx="0" cy="0"/>
        </a:xfrm>
      </p:grpSpPr>
      <p:sp>
        <p:nvSpPr>
          <p:cNvPr id="1048770" name="幻灯片图像占位符 1"/>
          <p:cNvSpPr>
            <a:spLocks noGrp="1" noRot="1" noChangeAspect="1"/>
          </p:cNvSpPr>
          <p:nvPr>
            <p:ph type="sldImg"/>
          </p:nvPr>
        </p:nvSpPr>
        <p:spPr/>
      </p:sp>
      <p:sp>
        <p:nvSpPr>
          <p:cNvPr id="1048771" name="备注占位符 2"/>
          <p:cNvSpPr>
            <a:spLocks noGrp="1"/>
          </p:cNvSpPr>
          <p:nvPr>
            <p:ph type="body" idx="1"/>
          </p:nvPr>
        </p:nvSpPr>
        <p:spPr/>
        <p:txBody>
          <a:bodyPr/>
          <a:p>
            <a:endParaRPr lang="en-US" altLang="zh-CN" dirty="0"/>
          </a:p>
        </p:txBody>
      </p:sp>
      <p:sp>
        <p:nvSpPr>
          <p:cNvPr id="1048772" name="灯片编号占位符 3"/>
          <p:cNvSpPr>
            <a:spLocks noGrp="1"/>
          </p:cNvSpPr>
          <p:nvPr>
            <p:ph type="sldNum" sz="quarter" idx="10"/>
          </p:nvPr>
        </p:nvSpPr>
        <p:spPr/>
        <p:txBody>
          <a:bodyPr/>
          <a:p>
            <a:fld id="{04611CF7-5005-43FE-83F8-F59B6FC0F0A6}"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32" name=""/>
        <p:cNvGrpSpPr/>
        <p:nvPr/>
      </p:nvGrpSpPr>
      <p:grpSpPr>
        <a:xfrm>
          <a:off x="0" y="0"/>
          <a:ext cx="0" cy="0"/>
          <a:chOff x="0" y="0"/>
          <a:chExt cx="0" cy="0"/>
        </a:xfrm>
      </p:grpSpPr>
      <p:sp>
        <p:nvSpPr>
          <p:cNvPr id="1048770" name="幻灯片图像占位符 1"/>
          <p:cNvSpPr>
            <a:spLocks noGrp="1" noRot="1" noChangeAspect="1"/>
          </p:cNvSpPr>
          <p:nvPr>
            <p:ph type="sldImg"/>
          </p:nvPr>
        </p:nvSpPr>
        <p:spPr/>
      </p:sp>
      <p:sp>
        <p:nvSpPr>
          <p:cNvPr id="1048771" name="备注占位符 2"/>
          <p:cNvSpPr>
            <a:spLocks noGrp="1"/>
          </p:cNvSpPr>
          <p:nvPr>
            <p:ph type="body" idx="1"/>
          </p:nvPr>
        </p:nvSpPr>
        <p:spPr/>
        <p:txBody>
          <a:bodyPr/>
          <a:p>
            <a:endParaRPr lang="en-US" altLang="zh-CN" dirty="0"/>
          </a:p>
        </p:txBody>
      </p:sp>
      <p:sp>
        <p:nvSpPr>
          <p:cNvPr id="1048772" name="灯片编号占位符 3"/>
          <p:cNvSpPr>
            <a:spLocks noGrp="1"/>
          </p:cNvSpPr>
          <p:nvPr>
            <p:ph type="sldNum" sz="quarter" idx="10"/>
          </p:nvPr>
        </p:nvSpPr>
        <p:spPr/>
        <p:txBody>
          <a:bodyPr/>
          <a:p>
            <a:fld id="{04611CF7-5005-43FE-83F8-F59B6FC0F0A6}"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32" name=""/>
        <p:cNvGrpSpPr/>
        <p:nvPr/>
      </p:nvGrpSpPr>
      <p:grpSpPr>
        <a:xfrm>
          <a:off x="0" y="0"/>
          <a:ext cx="0" cy="0"/>
          <a:chOff x="0" y="0"/>
          <a:chExt cx="0" cy="0"/>
        </a:xfrm>
      </p:grpSpPr>
      <p:sp>
        <p:nvSpPr>
          <p:cNvPr id="1048770" name="幻灯片图像占位符 1"/>
          <p:cNvSpPr>
            <a:spLocks noGrp="1" noRot="1" noChangeAspect="1"/>
          </p:cNvSpPr>
          <p:nvPr>
            <p:ph type="sldImg"/>
          </p:nvPr>
        </p:nvSpPr>
        <p:spPr/>
      </p:sp>
      <p:sp>
        <p:nvSpPr>
          <p:cNvPr id="1048771" name="备注占位符 2"/>
          <p:cNvSpPr>
            <a:spLocks noGrp="1"/>
          </p:cNvSpPr>
          <p:nvPr>
            <p:ph type="body" idx="1"/>
          </p:nvPr>
        </p:nvSpPr>
        <p:spPr/>
        <p:txBody>
          <a:bodyPr/>
          <a:p>
            <a:endParaRPr lang="en-US" altLang="zh-CN" dirty="0"/>
          </a:p>
        </p:txBody>
      </p:sp>
      <p:sp>
        <p:nvSpPr>
          <p:cNvPr id="1048772" name="灯片编号占位符 3"/>
          <p:cNvSpPr>
            <a:spLocks noGrp="1"/>
          </p:cNvSpPr>
          <p:nvPr>
            <p:ph type="sldNum" sz="quarter" idx="10"/>
          </p:nvPr>
        </p:nvSpPr>
        <p:spPr/>
        <p:txBody>
          <a:bodyPr/>
          <a:p>
            <a:fld id="{04611CF7-5005-43FE-83F8-F59B6FC0F0A6}"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32" name=""/>
        <p:cNvGrpSpPr/>
        <p:nvPr/>
      </p:nvGrpSpPr>
      <p:grpSpPr>
        <a:xfrm>
          <a:off x="0" y="0"/>
          <a:ext cx="0" cy="0"/>
          <a:chOff x="0" y="0"/>
          <a:chExt cx="0" cy="0"/>
        </a:xfrm>
      </p:grpSpPr>
      <p:sp>
        <p:nvSpPr>
          <p:cNvPr id="1048770" name="幻灯片图像占位符 1"/>
          <p:cNvSpPr>
            <a:spLocks noGrp="1" noRot="1" noChangeAspect="1"/>
          </p:cNvSpPr>
          <p:nvPr>
            <p:ph type="sldImg"/>
          </p:nvPr>
        </p:nvSpPr>
        <p:spPr/>
      </p:sp>
      <p:sp>
        <p:nvSpPr>
          <p:cNvPr id="1048771" name="备注占位符 2"/>
          <p:cNvSpPr>
            <a:spLocks noGrp="1"/>
          </p:cNvSpPr>
          <p:nvPr>
            <p:ph type="body" idx="1"/>
          </p:nvPr>
        </p:nvSpPr>
        <p:spPr/>
        <p:txBody>
          <a:bodyPr/>
          <a:p>
            <a:endParaRPr lang="en-US" altLang="zh-CN" dirty="0"/>
          </a:p>
        </p:txBody>
      </p:sp>
      <p:sp>
        <p:nvSpPr>
          <p:cNvPr id="1048772" name="灯片编号占位符 3"/>
          <p:cNvSpPr>
            <a:spLocks noGrp="1"/>
          </p:cNvSpPr>
          <p:nvPr>
            <p:ph type="sldNum" sz="quarter" idx="10"/>
          </p:nvPr>
        </p:nvSpPr>
        <p:spPr/>
        <p:txBody>
          <a:bodyPr/>
          <a:p>
            <a:fld id="{04611CF7-5005-43FE-83F8-F59B6FC0F0A6}"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32" name=""/>
        <p:cNvGrpSpPr/>
        <p:nvPr/>
      </p:nvGrpSpPr>
      <p:grpSpPr>
        <a:xfrm>
          <a:off x="0" y="0"/>
          <a:ext cx="0" cy="0"/>
          <a:chOff x="0" y="0"/>
          <a:chExt cx="0" cy="0"/>
        </a:xfrm>
      </p:grpSpPr>
      <p:sp>
        <p:nvSpPr>
          <p:cNvPr id="1048770" name="幻灯片图像占位符 1"/>
          <p:cNvSpPr>
            <a:spLocks noGrp="1" noRot="1" noChangeAspect="1"/>
          </p:cNvSpPr>
          <p:nvPr>
            <p:ph type="sldImg"/>
          </p:nvPr>
        </p:nvSpPr>
        <p:spPr/>
      </p:sp>
      <p:sp>
        <p:nvSpPr>
          <p:cNvPr id="1048771" name="备注占位符 2"/>
          <p:cNvSpPr>
            <a:spLocks noGrp="1"/>
          </p:cNvSpPr>
          <p:nvPr>
            <p:ph type="body" idx="1"/>
          </p:nvPr>
        </p:nvSpPr>
        <p:spPr/>
        <p:txBody>
          <a:bodyPr/>
          <a:p>
            <a:endParaRPr lang="en-US" altLang="zh-CN" dirty="0"/>
          </a:p>
        </p:txBody>
      </p:sp>
      <p:sp>
        <p:nvSpPr>
          <p:cNvPr id="1048772" name="灯片编号占位符 3"/>
          <p:cNvSpPr>
            <a:spLocks noGrp="1"/>
          </p:cNvSpPr>
          <p:nvPr>
            <p:ph type="sldNum" sz="quarter" idx="10"/>
          </p:nvPr>
        </p:nvSpPr>
        <p:spPr/>
        <p:txBody>
          <a:bodyPr/>
          <a:p>
            <a:fld id="{04611CF7-5005-43FE-83F8-F59B6FC0F0A6}"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32" name=""/>
        <p:cNvGrpSpPr/>
        <p:nvPr/>
      </p:nvGrpSpPr>
      <p:grpSpPr>
        <a:xfrm>
          <a:off x="0" y="0"/>
          <a:ext cx="0" cy="0"/>
          <a:chOff x="0" y="0"/>
          <a:chExt cx="0" cy="0"/>
        </a:xfrm>
      </p:grpSpPr>
      <p:sp>
        <p:nvSpPr>
          <p:cNvPr id="1048770" name="幻灯片图像占位符 1"/>
          <p:cNvSpPr>
            <a:spLocks noGrp="1" noRot="1" noChangeAspect="1"/>
          </p:cNvSpPr>
          <p:nvPr>
            <p:ph type="sldImg"/>
          </p:nvPr>
        </p:nvSpPr>
        <p:spPr/>
      </p:sp>
      <p:sp>
        <p:nvSpPr>
          <p:cNvPr id="1048771" name="备注占位符 2"/>
          <p:cNvSpPr>
            <a:spLocks noGrp="1"/>
          </p:cNvSpPr>
          <p:nvPr>
            <p:ph type="body" idx="1"/>
          </p:nvPr>
        </p:nvSpPr>
        <p:spPr/>
        <p:txBody>
          <a:bodyPr/>
          <a:p>
            <a:endParaRPr lang="en-US" altLang="zh-CN" dirty="0"/>
          </a:p>
        </p:txBody>
      </p:sp>
      <p:sp>
        <p:nvSpPr>
          <p:cNvPr id="1048772" name="灯片编号占位符 3"/>
          <p:cNvSpPr>
            <a:spLocks noGrp="1"/>
          </p:cNvSpPr>
          <p:nvPr>
            <p:ph type="sldNum" sz="quarter" idx="10"/>
          </p:nvPr>
        </p:nvSpPr>
        <p:spPr/>
        <p:txBody>
          <a:bodyPr/>
          <a:p>
            <a:fld id="{04611CF7-5005-43FE-83F8-F59B6FC0F0A6}"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32" name=""/>
        <p:cNvGrpSpPr/>
        <p:nvPr/>
      </p:nvGrpSpPr>
      <p:grpSpPr>
        <a:xfrm>
          <a:off x="0" y="0"/>
          <a:ext cx="0" cy="0"/>
          <a:chOff x="0" y="0"/>
          <a:chExt cx="0" cy="0"/>
        </a:xfrm>
      </p:grpSpPr>
      <p:sp>
        <p:nvSpPr>
          <p:cNvPr id="1048770" name="幻灯片图像占位符 1"/>
          <p:cNvSpPr>
            <a:spLocks noGrp="1" noRot="1" noChangeAspect="1"/>
          </p:cNvSpPr>
          <p:nvPr>
            <p:ph type="sldImg"/>
          </p:nvPr>
        </p:nvSpPr>
        <p:spPr/>
      </p:sp>
      <p:sp>
        <p:nvSpPr>
          <p:cNvPr id="1048771" name="备注占位符 2"/>
          <p:cNvSpPr>
            <a:spLocks noGrp="1"/>
          </p:cNvSpPr>
          <p:nvPr>
            <p:ph type="body" idx="1"/>
          </p:nvPr>
        </p:nvSpPr>
        <p:spPr/>
        <p:txBody>
          <a:bodyPr/>
          <a:p>
            <a:endParaRPr lang="en-US" altLang="zh-CN" dirty="0"/>
          </a:p>
        </p:txBody>
      </p:sp>
      <p:sp>
        <p:nvSpPr>
          <p:cNvPr id="1048772" name="灯片编号占位符 3"/>
          <p:cNvSpPr>
            <a:spLocks noGrp="1"/>
          </p:cNvSpPr>
          <p:nvPr>
            <p:ph type="sldNum" sz="quarter" idx="10"/>
          </p:nvPr>
        </p:nvSpPr>
        <p:spPr/>
        <p:txBody>
          <a:bodyPr/>
          <a:p>
            <a:fld id="{04611CF7-5005-43FE-83F8-F59B6FC0F0A6}"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32" name=""/>
        <p:cNvGrpSpPr/>
        <p:nvPr/>
      </p:nvGrpSpPr>
      <p:grpSpPr>
        <a:xfrm>
          <a:off x="0" y="0"/>
          <a:ext cx="0" cy="0"/>
          <a:chOff x="0" y="0"/>
          <a:chExt cx="0" cy="0"/>
        </a:xfrm>
      </p:grpSpPr>
      <p:sp>
        <p:nvSpPr>
          <p:cNvPr id="1048770" name="幻灯片图像占位符 1"/>
          <p:cNvSpPr>
            <a:spLocks noGrp="1" noRot="1" noChangeAspect="1"/>
          </p:cNvSpPr>
          <p:nvPr>
            <p:ph type="sldImg"/>
          </p:nvPr>
        </p:nvSpPr>
        <p:spPr/>
      </p:sp>
      <p:sp>
        <p:nvSpPr>
          <p:cNvPr id="1048771" name="备注占位符 2"/>
          <p:cNvSpPr>
            <a:spLocks noGrp="1"/>
          </p:cNvSpPr>
          <p:nvPr>
            <p:ph type="body" idx="1"/>
          </p:nvPr>
        </p:nvSpPr>
        <p:spPr/>
        <p:txBody>
          <a:bodyPr/>
          <a:p>
            <a:endParaRPr lang="en-US" altLang="zh-CN" dirty="0"/>
          </a:p>
        </p:txBody>
      </p:sp>
      <p:sp>
        <p:nvSpPr>
          <p:cNvPr id="1048772" name="灯片编号占位符 3"/>
          <p:cNvSpPr>
            <a:spLocks noGrp="1"/>
          </p:cNvSpPr>
          <p:nvPr>
            <p:ph type="sldNum" sz="quarter" idx="10"/>
          </p:nvPr>
        </p:nvSpPr>
        <p:spPr/>
        <p:txBody>
          <a:bodyPr/>
          <a:p>
            <a:fld id="{04611CF7-5005-43FE-83F8-F59B6FC0F0A6}"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32" name=""/>
        <p:cNvGrpSpPr/>
        <p:nvPr/>
      </p:nvGrpSpPr>
      <p:grpSpPr>
        <a:xfrm>
          <a:off x="0" y="0"/>
          <a:ext cx="0" cy="0"/>
          <a:chOff x="0" y="0"/>
          <a:chExt cx="0" cy="0"/>
        </a:xfrm>
      </p:grpSpPr>
      <p:sp>
        <p:nvSpPr>
          <p:cNvPr id="1048770" name="幻灯片图像占位符 1"/>
          <p:cNvSpPr>
            <a:spLocks noGrp="1" noRot="1" noChangeAspect="1"/>
          </p:cNvSpPr>
          <p:nvPr>
            <p:ph type="sldImg"/>
          </p:nvPr>
        </p:nvSpPr>
        <p:spPr/>
      </p:sp>
      <p:sp>
        <p:nvSpPr>
          <p:cNvPr id="1048771" name="备注占位符 2"/>
          <p:cNvSpPr>
            <a:spLocks noGrp="1"/>
          </p:cNvSpPr>
          <p:nvPr>
            <p:ph type="body" idx="1"/>
          </p:nvPr>
        </p:nvSpPr>
        <p:spPr/>
        <p:txBody>
          <a:bodyPr/>
          <a:p>
            <a:endParaRPr lang="en-US" altLang="zh-CN" dirty="0"/>
          </a:p>
        </p:txBody>
      </p:sp>
      <p:sp>
        <p:nvSpPr>
          <p:cNvPr id="1048772" name="灯片编号占位符 3"/>
          <p:cNvSpPr>
            <a:spLocks noGrp="1"/>
          </p:cNvSpPr>
          <p:nvPr>
            <p:ph type="sldNum" sz="quarter" idx="10"/>
          </p:nvPr>
        </p:nvSpPr>
        <p:spPr/>
        <p:txBody>
          <a:bodyPr/>
          <a:p>
            <a:fld id="{04611CF7-5005-43FE-83F8-F59B6FC0F0A6}"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32" name=""/>
        <p:cNvGrpSpPr/>
        <p:nvPr/>
      </p:nvGrpSpPr>
      <p:grpSpPr>
        <a:xfrm>
          <a:off x="0" y="0"/>
          <a:ext cx="0" cy="0"/>
          <a:chOff x="0" y="0"/>
          <a:chExt cx="0" cy="0"/>
        </a:xfrm>
      </p:grpSpPr>
      <p:sp>
        <p:nvSpPr>
          <p:cNvPr id="1048770" name="幻灯片图像占位符 1"/>
          <p:cNvSpPr>
            <a:spLocks noGrp="1" noRot="1" noChangeAspect="1"/>
          </p:cNvSpPr>
          <p:nvPr>
            <p:ph type="sldImg"/>
          </p:nvPr>
        </p:nvSpPr>
        <p:spPr/>
      </p:sp>
      <p:sp>
        <p:nvSpPr>
          <p:cNvPr id="1048771" name="备注占位符 2"/>
          <p:cNvSpPr>
            <a:spLocks noGrp="1"/>
          </p:cNvSpPr>
          <p:nvPr>
            <p:ph type="body" idx="1"/>
          </p:nvPr>
        </p:nvSpPr>
        <p:spPr/>
        <p:txBody>
          <a:bodyPr/>
          <a:p>
            <a:endParaRPr lang="en-US" altLang="zh-CN" dirty="0"/>
          </a:p>
        </p:txBody>
      </p:sp>
      <p:sp>
        <p:nvSpPr>
          <p:cNvPr id="1048772" name="灯片编号占位符 3"/>
          <p:cNvSpPr>
            <a:spLocks noGrp="1"/>
          </p:cNvSpPr>
          <p:nvPr>
            <p:ph type="sldNum" sz="quarter" idx="10"/>
          </p:nvPr>
        </p:nvSpPr>
        <p:spPr/>
        <p:txBody>
          <a:bodyPr/>
          <a:p>
            <a:fld id="{04611CF7-5005-43FE-83F8-F59B6FC0F0A6}"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32" name=""/>
        <p:cNvGrpSpPr/>
        <p:nvPr/>
      </p:nvGrpSpPr>
      <p:grpSpPr>
        <a:xfrm>
          <a:off x="0" y="0"/>
          <a:ext cx="0" cy="0"/>
          <a:chOff x="0" y="0"/>
          <a:chExt cx="0" cy="0"/>
        </a:xfrm>
      </p:grpSpPr>
      <p:sp>
        <p:nvSpPr>
          <p:cNvPr id="1048770" name="幻灯片图像占位符 1"/>
          <p:cNvSpPr>
            <a:spLocks noGrp="1" noRot="1" noChangeAspect="1"/>
          </p:cNvSpPr>
          <p:nvPr>
            <p:ph type="sldImg"/>
          </p:nvPr>
        </p:nvSpPr>
        <p:spPr/>
      </p:sp>
      <p:sp>
        <p:nvSpPr>
          <p:cNvPr id="1048771" name="备注占位符 2"/>
          <p:cNvSpPr>
            <a:spLocks noGrp="1"/>
          </p:cNvSpPr>
          <p:nvPr>
            <p:ph type="body" idx="1"/>
          </p:nvPr>
        </p:nvSpPr>
        <p:spPr/>
        <p:txBody>
          <a:bodyPr/>
          <a:p>
            <a:endParaRPr lang="en-US" altLang="zh-CN" dirty="0"/>
          </a:p>
        </p:txBody>
      </p:sp>
      <p:sp>
        <p:nvSpPr>
          <p:cNvPr id="1048772" name="灯片编号占位符 3"/>
          <p:cNvSpPr>
            <a:spLocks noGrp="1"/>
          </p:cNvSpPr>
          <p:nvPr>
            <p:ph type="sldNum" sz="quarter" idx="10"/>
          </p:nvPr>
        </p:nvSpPr>
        <p:spPr/>
        <p:txBody>
          <a:bodyPr/>
          <a:p>
            <a:fld id="{04611CF7-5005-43FE-83F8-F59B6FC0F0A6}"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32" name=""/>
        <p:cNvGrpSpPr/>
        <p:nvPr/>
      </p:nvGrpSpPr>
      <p:grpSpPr>
        <a:xfrm>
          <a:off x="0" y="0"/>
          <a:ext cx="0" cy="0"/>
          <a:chOff x="0" y="0"/>
          <a:chExt cx="0" cy="0"/>
        </a:xfrm>
      </p:grpSpPr>
      <p:sp>
        <p:nvSpPr>
          <p:cNvPr id="1048770" name="幻灯片图像占位符 1"/>
          <p:cNvSpPr>
            <a:spLocks noGrp="1" noRot="1" noChangeAspect="1"/>
          </p:cNvSpPr>
          <p:nvPr>
            <p:ph type="sldImg"/>
          </p:nvPr>
        </p:nvSpPr>
        <p:spPr/>
      </p:sp>
      <p:sp>
        <p:nvSpPr>
          <p:cNvPr id="1048771" name="备注占位符 2"/>
          <p:cNvSpPr>
            <a:spLocks noGrp="1"/>
          </p:cNvSpPr>
          <p:nvPr>
            <p:ph type="body" idx="1"/>
          </p:nvPr>
        </p:nvSpPr>
        <p:spPr/>
        <p:txBody>
          <a:bodyPr/>
          <a:p>
            <a:endParaRPr lang="en-US" altLang="zh-CN" dirty="0"/>
          </a:p>
        </p:txBody>
      </p:sp>
      <p:sp>
        <p:nvSpPr>
          <p:cNvPr id="1048772" name="灯片编号占位符 3"/>
          <p:cNvSpPr>
            <a:spLocks noGrp="1"/>
          </p:cNvSpPr>
          <p:nvPr>
            <p:ph type="sldNum" sz="quarter" idx="10"/>
          </p:nvPr>
        </p:nvSpPr>
        <p:spPr/>
        <p:txBody>
          <a:bodyPr/>
          <a:p>
            <a:fld id="{04611CF7-5005-43FE-83F8-F59B6FC0F0A6}"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32" name=""/>
        <p:cNvGrpSpPr/>
        <p:nvPr/>
      </p:nvGrpSpPr>
      <p:grpSpPr>
        <a:xfrm>
          <a:off x="0" y="0"/>
          <a:ext cx="0" cy="0"/>
          <a:chOff x="0" y="0"/>
          <a:chExt cx="0" cy="0"/>
        </a:xfrm>
      </p:grpSpPr>
      <p:sp>
        <p:nvSpPr>
          <p:cNvPr id="1048770" name="幻灯片图像占位符 1"/>
          <p:cNvSpPr>
            <a:spLocks noGrp="1" noRot="1" noChangeAspect="1"/>
          </p:cNvSpPr>
          <p:nvPr>
            <p:ph type="sldImg"/>
          </p:nvPr>
        </p:nvSpPr>
        <p:spPr/>
      </p:sp>
      <p:sp>
        <p:nvSpPr>
          <p:cNvPr id="1048771" name="备注占位符 2"/>
          <p:cNvSpPr>
            <a:spLocks noGrp="1"/>
          </p:cNvSpPr>
          <p:nvPr>
            <p:ph type="body" idx="1"/>
          </p:nvPr>
        </p:nvSpPr>
        <p:spPr/>
        <p:txBody>
          <a:bodyPr/>
          <a:p>
            <a:endParaRPr lang="en-US" altLang="zh-CN" dirty="0"/>
          </a:p>
        </p:txBody>
      </p:sp>
      <p:sp>
        <p:nvSpPr>
          <p:cNvPr id="1048772" name="灯片编号占位符 3"/>
          <p:cNvSpPr>
            <a:spLocks noGrp="1"/>
          </p:cNvSpPr>
          <p:nvPr>
            <p:ph type="sldNum" sz="quarter" idx="10"/>
          </p:nvPr>
        </p:nvSpPr>
        <p:spPr/>
        <p:txBody>
          <a:bodyPr/>
          <a:p>
            <a:fld id="{04611CF7-5005-43FE-83F8-F59B6FC0F0A6}"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32" name=""/>
        <p:cNvGrpSpPr/>
        <p:nvPr/>
      </p:nvGrpSpPr>
      <p:grpSpPr>
        <a:xfrm>
          <a:off x="0" y="0"/>
          <a:ext cx="0" cy="0"/>
          <a:chOff x="0" y="0"/>
          <a:chExt cx="0" cy="0"/>
        </a:xfrm>
      </p:grpSpPr>
      <p:sp>
        <p:nvSpPr>
          <p:cNvPr id="1048770" name="幻灯片图像占位符 1"/>
          <p:cNvSpPr>
            <a:spLocks noGrp="1" noRot="1" noChangeAspect="1"/>
          </p:cNvSpPr>
          <p:nvPr>
            <p:ph type="sldImg"/>
          </p:nvPr>
        </p:nvSpPr>
        <p:spPr/>
      </p:sp>
      <p:sp>
        <p:nvSpPr>
          <p:cNvPr id="1048771" name="备注占位符 2"/>
          <p:cNvSpPr>
            <a:spLocks noGrp="1"/>
          </p:cNvSpPr>
          <p:nvPr>
            <p:ph type="body" idx="1"/>
          </p:nvPr>
        </p:nvSpPr>
        <p:spPr/>
        <p:txBody>
          <a:bodyPr/>
          <a:p>
            <a:endParaRPr lang="en-US" altLang="zh-CN" dirty="0"/>
          </a:p>
        </p:txBody>
      </p:sp>
      <p:sp>
        <p:nvSpPr>
          <p:cNvPr id="1048772" name="灯片编号占位符 3"/>
          <p:cNvSpPr>
            <a:spLocks noGrp="1"/>
          </p:cNvSpPr>
          <p:nvPr>
            <p:ph type="sldNum" sz="quarter" idx="10"/>
          </p:nvPr>
        </p:nvSpPr>
        <p:spPr/>
        <p:txBody>
          <a:bodyPr/>
          <a:p>
            <a:fld id="{04611CF7-5005-43FE-83F8-F59B6FC0F0A6}"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9" name="幻灯片图像占位符 1"/>
          <p:cNvSpPr>
            <a:spLocks noGrp="1" noRot="1" noChangeAspect="1"/>
          </p:cNvSpPr>
          <p:nvPr>
            <p:ph type="sldImg"/>
          </p:nvPr>
        </p:nvSpPr>
        <p:spPr/>
      </p:sp>
      <p:sp>
        <p:nvSpPr>
          <p:cNvPr id="1048780" name="备注占位符 2"/>
          <p:cNvSpPr>
            <a:spLocks noGrp="1"/>
          </p:cNvSpPr>
          <p:nvPr>
            <p:ph type="body" idx="1"/>
          </p:nvPr>
        </p:nvSpPr>
        <p:spPr/>
        <p:txBody>
          <a:bodyPr/>
          <a:lstStyle/>
          <a:p>
            <a:endParaRPr lang="zh-CN" altLang="en-US" dirty="0"/>
          </a:p>
        </p:txBody>
      </p:sp>
      <p:sp>
        <p:nvSpPr>
          <p:cNvPr id="1048781"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11" name="幻灯片图像占位符 1"/>
          <p:cNvSpPr>
            <a:spLocks noGrp="1" noRot="1" noChangeAspect="1"/>
          </p:cNvSpPr>
          <p:nvPr>
            <p:ph type="sldImg"/>
          </p:nvPr>
        </p:nvSpPr>
        <p:spPr/>
      </p:sp>
      <p:sp>
        <p:nvSpPr>
          <p:cNvPr id="1048812" name="备注占位符 2"/>
          <p:cNvSpPr>
            <a:spLocks noGrp="1"/>
          </p:cNvSpPr>
          <p:nvPr>
            <p:ph type="body" idx="1"/>
          </p:nvPr>
        </p:nvSpPr>
        <p:spPr/>
        <p:txBody>
          <a:bodyPr/>
          <a:lstStyle/>
          <a:p>
            <a:endParaRPr lang="en-US" altLang="zh-CN" dirty="0"/>
          </a:p>
        </p:txBody>
      </p:sp>
      <p:sp>
        <p:nvSpPr>
          <p:cNvPr id="1048813"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11" name="幻灯片图像占位符 1"/>
          <p:cNvSpPr>
            <a:spLocks noGrp="1" noRot="1" noChangeAspect="1"/>
          </p:cNvSpPr>
          <p:nvPr>
            <p:ph type="sldImg"/>
          </p:nvPr>
        </p:nvSpPr>
        <p:spPr/>
      </p:sp>
      <p:sp>
        <p:nvSpPr>
          <p:cNvPr id="1048812" name="备注占位符 2"/>
          <p:cNvSpPr>
            <a:spLocks noGrp="1"/>
          </p:cNvSpPr>
          <p:nvPr>
            <p:ph type="body" idx="1"/>
          </p:nvPr>
        </p:nvSpPr>
        <p:spPr/>
        <p:txBody>
          <a:bodyPr/>
          <a:lstStyle/>
          <a:p>
            <a:endParaRPr lang="en-US" altLang="zh-CN" dirty="0"/>
          </a:p>
        </p:txBody>
      </p:sp>
      <p:sp>
        <p:nvSpPr>
          <p:cNvPr id="1048813"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38" name=""/>
        <p:cNvGrpSpPr/>
        <p:nvPr/>
      </p:nvGrpSpPr>
      <p:grpSpPr>
        <a:xfrm>
          <a:off x="0" y="0"/>
          <a:ext cx="0" cy="0"/>
          <a:chOff x="0" y="0"/>
          <a:chExt cx="0" cy="0"/>
        </a:xfrm>
      </p:grpSpPr>
      <p:sp>
        <p:nvSpPr>
          <p:cNvPr id="1048779" name="幻灯片图像占位符 1"/>
          <p:cNvSpPr>
            <a:spLocks noGrp="1" noRot="1" noChangeAspect="1"/>
          </p:cNvSpPr>
          <p:nvPr>
            <p:ph type="sldImg"/>
          </p:nvPr>
        </p:nvSpPr>
        <p:spPr/>
      </p:sp>
      <p:sp>
        <p:nvSpPr>
          <p:cNvPr id="1048780" name="备注占位符 2"/>
          <p:cNvSpPr>
            <a:spLocks noGrp="1"/>
          </p:cNvSpPr>
          <p:nvPr>
            <p:ph type="body" idx="1"/>
          </p:nvPr>
        </p:nvSpPr>
        <p:spPr/>
        <p:txBody>
          <a:bodyPr/>
          <a:p>
            <a:endParaRPr lang="zh-CN" altLang="en-US" dirty="0"/>
          </a:p>
        </p:txBody>
      </p:sp>
      <p:sp>
        <p:nvSpPr>
          <p:cNvPr id="1048781" name="灯片编号占位符 3"/>
          <p:cNvSpPr>
            <a:spLocks noGrp="1"/>
          </p:cNvSpPr>
          <p:nvPr>
            <p:ph type="sldNum" sz="quarter" idx="10"/>
          </p:nvPr>
        </p:nvSpPr>
        <p:spPr/>
        <p:txBody>
          <a:bodyPr/>
          <a:p>
            <a:fld id="{04611CF7-5005-43FE-83F8-F59B6FC0F0A6}"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52" name=""/>
        <p:cNvGrpSpPr/>
        <p:nvPr/>
      </p:nvGrpSpPr>
      <p:grpSpPr>
        <a:xfrm>
          <a:off x="0" y="0"/>
          <a:ext cx="0" cy="0"/>
          <a:chOff x="0" y="0"/>
          <a:chExt cx="0" cy="0"/>
        </a:xfrm>
      </p:grpSpPr>
      <p:sp>
        <p:nvSpPr>
          <p:cNvPr id="1048811" name="幻灯片图像占位符 1"/>
          <p:cNvSpPr>
            <a:spLocks noGrp="1" noRot="1" noChangeAspect="1"/>
          </p:cNvSpPr>
          <p:nvPr>
            <p:ph type="sldImg"/>
          </p:nvPr>
        </p:nvSpPr>
        <p:spPr/>
      </p:sp>
      <p:sp>
        <p:nvSpPr>
          <p:cNvPr id="1048812" name="备注占位符 2"/>
          <p:cNvSpPr>
            <a:spLocks noGrp="1"/>
          </p:cNvSpPr>
          <p:nvPr>
            <p:ph type="body" idx="1"/>
          </p:nvPr>
        </p:nvSpPr>
        <p:spPr/>
        <p:txBody>
          <a:bodyPr/>
          <a:p>
            <a:endParaRPr lang="en-US" altLang="zh-CN" dirty="0"/>
          </a:p>
        </p:txBody>
      </p:sp>
      <p:sp>
        <p:nvSpPr>
          <p:cNvPr id="1048813" name="灯片编号占位符 3"/>
          <p:cNvSpPr>
            <a:spLocks noGrp="1"/>
          </p:cNvSpPr>
          <p:nvPr>
            <p:ph type="sldNum" sz="quarter" idx="10"/>
          </p:nvPr>
        </p:nvSpPr>
        <p:spPr/>
        <p:txBody>
          <a:bodyPr/>
          <a:p>
            <a:fld id="{04611CF7-5005-43FE-83F8-F59B6FC0F0A6}"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32" name=""/>
        <p:cNvGrpSpPr/>
        <p:nvPr/>
      </p:nvGrpSpPr>
      <p:grpSpPr>
        <a:xfrm>
          <a:off x="0" y="0"/>
          <a:ext cx="0" cy="0"/>
          <a:chOff x="0" y="0"/>
          <a:chExt cx="0" cy="0"/>
        </a:xfrm>
      </p:grpSpPr>
      <p:sp>
        <p:nvSpPr>
          <p:cNvPr id="1048770" name="幻灯片图像占位符 1"/>
          <p:cNvSpPr>
            <a:spLocks noGrp="1" noRot="1" noChangeAspect="1"/>
          </p:cNvSpPr>
          <p:nvPr>
            <p:ph type="sldImg"/>
          </p:nvPr>
        </p:nvSpPr>
        <p:spPr/>
      </p:sp>
      <p:sp>
        <p:nvSpPr>
          <p:cNvPr id="1048771" name="备注占位符 2"/>
          <p:cNvSpPr>
            <a:spLocks noGrp="1"/>
          </p:cNvSpPr>
          <p:nvPr>
            <p:ph type="body" idx="1"/>
          </p:nvPr>
        </p:nvSpPr>
        <p:spPr/>
        <p:txBody>
          <a:bodyPr/>
          <a:p>
            <a:endParaRPr lang="en-US" altLang="zh-CN" dirty="0"/>
          </a:p>
        </p:txBody>
      </p:sp>
      <p:sp>
        <p:nvSpPr>
          <p:cNvPr id="1048772" name="灯片编号占位符 3"/>
          <p:cNvSpPr>
            <a:spLocks noGrp="1"/>
          </p:cNvSpPr>
          <p:nvPr>
            <p:ph type="sldNum" sz="quarter" idx="10"/>
          </p:nvPr>
        </p:nvSpPr>
        <p:spPr/>
        <p:txBody>
          <a:bodyPr/>
          <a:p>
            <a:fld id="{04611CF7-5005-43FE-83F8-F59B6FC0F0A6}"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67" name=""/>
        <p:cNvGrpSpPr/>
        <p:nvPr/>
      </p:nvGrpSpPr>
      <p:grpSpPr>
        <a:xfrm>
          <a:off x="0" y="0"/>
          <a:ext cx="0" cy="0"/>
          <a:chOff x="0" y="0"/>
          <a:chExt cx="0" cy="0"/>
        </a:xfrm>
      </p:grpSpPr>
      <p:sp>
        <p:nvSpPr>
          <p:cNvPr id="1048839" name="幻灯片图像占位符 1"/>
          <p:cNvSpPr>
            <a:spLocks noGrp="1" noRot="1" noChangeAspect="1"/>
          </p:cNvSpPr>
          <p:nvPr>
            <p:ph type="sldImg"/>
          </p:nvPr>
        </p:nvSpPr>
        <p:spPr/>
      </p:sp>
      <p:sp>
        <p:nvSpPr>
          <p:cNvPr id="1048840" name="备注占位符 2"/>
          <p:cNvSpPr>
            <a:spLocks noGrp="1"/>
          </p:cNvSpPr>
          <p:nvPr>
            <p:ph type="body" idx="1"/>
          </p:nvPr>
        </p:nvSpPr>
        <p:spPr/>
        <p:txBody>
          <a:bodyPr/>
          <a:p>
            <a:endParaRPr lang="zh-CN" altLang="en-US" dirty="0"/>
          </a:p>
        </p:txBody>
      </p:sp>
      <p:sp>
        <p:nvSpPr>
          <p:cNvPr id="1048841" name="灯片编号占位符 3"/>
          <p:cNvSpPr>
            <a:spLocks noGrp="1"/>
          </p:cNvSpPr>
          <p:nvPr>
            <p:ph type="sldNum" sz="quarter" idx="10"/>
          </p:nvPr>
        </p:nvSpPr>
        <p:spPr/>
        <p:txBody>
          <a:bodyPr/>
          <a:p>
            <a:fld id="{04611CF7-5005-43FE-83F8-F59B6FC0F0A6}"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85" name=""/>
        <p:cNvGrpSpPr/>
        <p:nvPr/>
      </p:nvGrpSpPr>
      <p:grpSpPr>
        <a:xfrm>
          <a:off x="0" y="0"/>
          <a:ext cx="0" cy="0"/>
          <a:chOff x="0" y="0"/>
          <a:chExt cx="0" cy="0"/>
        </a:xfrm>
      </p:grpSpPr>
      <p:sp>
        <p:nvSpPr>
          <p:cNvPr id="1048884"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1048885" name="副标题 2"/>
          <p:cNvSpPr>
            <a:spLocks noGrp="1"/>
          </p:cNvSpPr>
          <p:nvPr>
            <p:ph type="subTitle" idx="1" hasCustomPrompt="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1048886" name="日期占位符 3"/>
          <p:cNvSpPr>
            <a:spLocks noGrp="1"/>
          </p:cNvSpPr>
          <p:nvPr>
            <p:ph type="dt" sz="half" idx="10"/>
          </p:nvPr>
        </p:nvSpPr>
        <p:spPr>
          <a:xfrm>
            <a:off x="838200" y="6356350"/>
            <a:ext cx="2743200" cy="365125"/>
          </a:xfrm>
          <a:prstGeom prst="rect">
            <a:avLst/>
          </a:prstGeom>
        </p:spPr>
        <p:txBody>
          <a:bodyPr/>
          <a:p>
            <a:fld id="{39351B01-D27C-44B9-86C4-6069CF4A3737}" type="datetimeFigureOut">
              <a:rPr lang="zh-CN" altLang="en-US" smtClean="0"/>
            </a:fld>
            <a:endParaRPr lang="zh-CN" altLang="en-US"/>
          </a:p>
        </p:txBody>
      </p:sp>
      <p:sp>
        <p:nvSpPr>
          <p:cNvPr id="1048887" name="页脚占位符 4"/>
          <p:cNvSpPr>
            <a:spLocks noGrp="1"/>
          </p:cNvSpPr>
          <p:nvPr>
            <p:ph type="ftr" sz="quarter" idx="11"/>
          </p:nvPr>
        </p:nvSpPr>
        <p:spPr>
          <a:xfrm>
            <a:off x="4038600" y="6356350"/>
            <a:ext cx="4114800" cy="365125"/>
          </a:xfrm>
          <a:prstGeom prst="rect">
            <a:avLst/>
          </a:prstGeom>
        </p:spPr>
        <p:txBody>
          <a:bodyPr/>
          <a:p>
            <a:endParaRPr lang="zh-CN" altLang="en-US"/>
          </a:p>
        </p:txBody>
      </p:sp>
      <p:sp>
        <p:nvSpPr>
          <p:cNvPr id="1048888" name="灯片编号占位符 5"/>
          <p:cNvSpPr>
            <a:spLocks noGrp="1"/>
          </p:cNvSpPr>
          <p:nvPr>
            <p:ph type="sldNum" sz="quarter" idx="12"/>
          </p:nvPr>
        </p:nvSpPr>
        <p:spPr>
          <a:xfrm>
            <a:off x="8610600" y="6356350"/>
            <a:ext cx="2743200" cy="365125"/>
          </a:xfrm>
          <a:prstGeom prst="rect">
            <a:avLst/>
          </a:prstGeom>
        </p:spPr>
        <p:txBody>
          <a:bodyPr/>
          <a:p>
            <a:fld id="{920C2D7C-0779-45E4-815E-D57472C69401}"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68" name=""/>
        <p:cNvGrpSpPr/>
        <p:nvPr/>
      </p:nvGrpSpPr>
      <p:grpSpPr>
        <a:xfrm>
          <a:off x="0" y="0"/>
          <a:ext cx="0" cy="0"/>
          <a:chOff x="0" y="0"/>
          <a:chExt cx="0" cy="0"/>
        </a:xfrm>
      </p:grpSpPr>
      <p:sp>
        <p:nvSpPr>
          <p:cNvPr id="1048842" name="标题 1"/>
          <p:cNvSpPr>
            <a:spLocks noGrp="1"/>
          </p:cNvSpPr>
          <p:nvPr>
            <p:ph type="title"/>
          </p:nvPr>
        </p:nvSpPr>
        <p:spPr>
          <a:xfrm>
            <a:off x="838200" y="365125"/>
            <a:ext cx="10515600" cy="1325563"/>
          </a:xfrm>
          <a:prstGeom prst="rect">
            <a:avLst/>
          </a:prstGeom>
        </p:spPr>
        <p:txBody>
          <a:bodyPr/>
          <a:p>
            <a:r>
              <a:rPr lang="zh-CN" altLang="en-US"/>
              <a:t>单击此处编辑母版标题样式</a:t>
            </a:r>
            <a:endParaRPr lang="zh-CN" altLang="en-US"/>
          </a:p>
        </p:txBody>
      </p:sp>
      <p:sp>
        <p:nvSpPr>
          <p:cNvPr id="1048843" name="内容占位符 2"/>
          <p:cNvSpPr>
            <a:spLocks noGrp="1"/>
          </p:cNvSpPr>
          <p:nvPr>
            <p:ph idx="1" hasCustomPrompt="1"/>
          </p:nvPr>
        </p:nvSpPr>
        <p:spPr>
          <a:xfrm>
            <a:off x="838200" y="1825625"/>
            <a:ext cx="10515600" cy="4351338"/>
          </a:xfrm>
          <a:prstGeom prst="rect">
            <a:avLst/>
          </a:prstGeom>
        </p:spPr>
        <p:txBody>
          <a:bodyPr/>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8844" name="日期占位符 3"/>
          <p:cNvSpPr>
            <a:spLocks noGrp="1"/>
          </p:cNvSpPr>
          <p:nvPr>
            <p:ph type="dt" sz="half" idx="10"/>
          </p:nvPr>
        </p:nvSpPr>
        <p:spPr>
          <a:xfrm>
            <a:off x="838200" y="6356350"/>
            <a:ext cx="2743200" cy="365125"/>
          </a:xfrm>
          <a:prstGeom prst="rect">
            <a:avLst/>
          </a:prstGeom>
        </p:spPr>
        <p:txBody>
          <a:bodyPr/>
          <a:p>
            <a:fld id="{39351B01-D27C-44B9-86C4-6069CF4A3737}" type="datetimeFigureOut">
              <a:rPr lang="zh-CN" altLang="en-US" smtClean="0"/>
            </a:fld>
            <a:endParaRPr lang="zh-CN" altLang="en-US"/>
          </a:p>
        </p:txBody>
      </p:sp>
      <p:sp>
        <p:nvSpPr>
          <p:cNvPr id="1048845" name="页脚占位符 4"/>
          <p:cNvSpPr>
            <a:spLocks noGrp="1"/>
          </p:cNvSpPr>
          <p:nvPr>
            <p:ph type="ftr" sz="quarter" idx="11"/>
          </p:nvPr>
        </p:nvSpPr>
        <p:spPr>
          <a:xfrm>
            <a:off x="4038600" y="6356350"/>
            <a:ext cx="4114800" cy="365125"/>
          </a:xfrm>
          <a:prstGeom prst="rect">
            <a:avLst/>
          </a:prstGeom>
        </p:spPr>
        <p:txBody>
          <a:bodyPr/>
          <a:p>
            <a:endParaRPr lang="zh-CN" altLang="en-US"/>
          </a:p>
        </p:txBody>
      </p:sp>
      <p:sp>
        <p:nvSpPr>
          <p:cNvPr id="1048846" name="灯片编号占位符 5"/>
          <p:cNvSpPr>
            <a:spLocks noGrp="1"/>
          </p:cNvSpPr>
          <p:nvPr>
            <p:ph type="sldNum" sz="quarter" idx="12"/>
          </p:nvPr>
        </p:nvSpPr>
        <p:spPr>
          <a:xfrm>
            <a:off x="8610600" y="6356350"/>
            <a:ext cx="2743200" cy="365125"/>
          </a:xfrm>
          <a:prstGeom prst="rect">
            <a:avLst/>
          </a:prstGeom>
        </p:spPr>
        <p:txBody>
          <a:bodyPr/>
          <a:p>
            <a:fld id="{920C2D7C-0779-45E4-815E-D57472C69401}"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90" name=""/>
        <p:cNvGrpSpPr/>
        <p:nvPr/>
      </p:nvGrpSpPr>
      <p:grpSpPr>
        <a:xfrm>
          <a:off x="0" y="0"/>
          <a:ext cx="0" cy="0"/>
          <a:chOff x="0" y="0"/>
          <a:chExt cx="0" cy="0"/>
        </a:xfrm>
      </p:grpSpPr>
      <p:sp>
        <p:nvSpPr>
          <p:cNvPr id="1048909"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endParaRPr lang="zh-CN" altLang="en-US"/>
          </a:p>
        </p:txBody>
      </p:sp>
      <p:sp>
        <p:nvSpPr>
          <p:cNvPr id="1048910" name="文本占位符 2"/>
          <p:cNvSpPr>
            <a:spLocks noGrp="1"/>
          </p:cNvSpPr>
          <p:nvPr>
            <p:ph type="body" idx="1" hasCustomPrompt="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1048911" name="日期占位符 3"/>
          <p:cNvSpPr>
            <a:spLocks noGrp="1"/>
          </p:cNvSpPr>
          <p:nvPr>
            <p:ph type="dt" sz="half" idx="10"/>
          </p:nvPr>
        </p:nvSpPr>
        <p:spPr>
          <a:xfrm>
            <a:off x="838200" y="6356350"/>
            <a:ext cx="2743200" cy="365125"/>
          </a:xfrm>
          <a:prstGeom prst="rect">
            <a:avLst/>
          </a:prstGeom>
        </p:spPr>
        <p:txBody>
          <a:bodyPr/>
          <a:p>
            <a:fld id="{39351B01-D27C-44B9-86C4-6069CF4A3737}" type="datetimeFigureOut">
              <a:rPr lang="zh-CN" altLang="en-US" smtClean="0"/>
            </a:fld>
            <a:endParaRPr lang="zh-CN" altLang="en-US"/>
          </a:p>
        </p:txBody>
      </p:sp>
      <p:sp>
        <p:nvSpPr>
          <p:cNvPr id="1048912" name="页脚占位符 4"/>
          <p:cNvSpPr>
            <a:spLocks noGrp="1"/>
          </p:cNvSpPr>
          <p:nvPr>
            <p:ph type="ftr" sz="quarter" idx="11"/>
          </p:nvPr>
        </p:nvSpPr>
        <p:spPr>
          <a:xfrm>
            <a:off x="4038600" y="6356350"/>
            <a:ext cx="4114800" cy="365125"/>
          </a:xfrm>
          <a:prstGeom prst="rect">
            <a:avLst/>
          </a:prstGeom>
        </p:spPr>
        <p:txBody>
          <a:bodyPr/>
          <a:p>
            <a:endParaRPr lang="zh-CN" altLang="en-US"/>
          </a:p>
        </p:txBody>
      </p:sp>
      <p:sp>
        <p:nvSpPr>
          <p:cNvPr id="1048913" name="灯片编号占位符 5"/>
          <p:cNvSpPr>
            <a:spLocks noGrp="1"/>
          </p:cNvSpPr>
          <p:nvPr>
            <p:ph type="sldNum" sz="quarter" idx="12"/>
          </p:nvPr>
        </p:nvSpPr>
        <p:spPr>
          <a:xfrm>
            <a:off x="8610600" y="6356350"/>
            <a:ext cx="2743200" cy="365125"/>
          </a:xfrm>
          <a:prstGeom prst="rect">
            <a:avLst/>
          </a:prstGeom>
        </p:spPr>
        <p:txBody>
          <a:bodyPr/>
          <a:p>
            <a:fld id="{920C2D7C-0779-45E4-815E-D57472C69401}"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91" name=""/>
        <p:cNvGrpSpPr/>
        <p:nvPr/>
      </p:nvGrpSpPr>
      <p:grpSpPr>
        <a:xfrm>
          <a:off x="0" y="0"/>
          <a:ext cx="0" cy="0"/>
          <a:chOff x="0" y="0"/>
          <a:chExt cx="0" cy="0"/>
        </a:xfrm>
      </p:grpSpPr>
      <p:sp>
        <p:nvSpPr>
          <p:cNvPr id="1048914" name="标题 1"/>
          <p:cNvSpPr>
            <a:spLocks noGrp="1"/>
          </p:cNvSpPr>
          <p:nvPr>
            <p:ph type="title"/>
          </p:nvPr>
        </p:nvSpPr>
        <p:spPr>
          <a:xfrm>
            <a:off x="838200" y="365125"/>
            <a:ext cx="10515600" cy="1325563"/>
          </a:xfrm>
          <a:prstGeom prst="rect">
            <a:avLst/>
          </a:prstGeom>
        </p:spPr>
        <p:txBody>
          <a:bodyPr/>
          <a:p>
            <a:r>
              <a:rPr lang="zh-CN" altLang="en-US"/>
              <a:t>单击此处编辑母版标题样式</a:t>
            </a:r>
            <a:endParaRPr lang="zh-CN" altLang="en-US"/>
          </a:p>
        </p:txBody>
      </p:sp>
      <p:sp>
        <p:nvSpPr>
          <p:cNvPr id="1048915" name="内容占位符 2"/>
          <p:cNvSpPr>
            <a:spLocks noGrp="1"/>
          </p:cNvSpPr>
          <p:nvPr>
            <p:ph sz="half" idx="1" hasCustomPrompt="1"/>
          </p:nvPr>
        </p:nvSpPr>
        <p:spPr>
          <a:xfrm>
            <a:off x="838200" y="1825625"/>
            <a:ext cx="5181600" cy="4351338"/>
          </a:xfrm>
          <a:prstGeom prst="rect">
            <a:avLst/>
          </a:prstGeom>
        </p:spPr>
        <p:txBody>
          <a:bodyPr/>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8916" name="内容占位符 3"/>
          <p:cNvSpPr>
            <a:spLocks noGrp="1"/>
          </p:cNvSpPr>
          <p:nvPr>
            <p:ph sz="half" idx="2" hasCustomPrompt="1"/>
          </p:nvPr>
        </p:nvSpPr>
        <p:spPr>
          <a:xfrm>
            <a:off x="6172200" y="1825625"/>
            <a:ext cx="5181600" cy="4351338"/>
          </a:xfrm>
          <a:prstGeom prst="rect">
            <a:avLst/>
          </a:prstGeom>
        </p:spPr>
        <p:txBody>
          <a:bodyPr/>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8917" name="日期占位符 4"/>
          <p:cNvSpPr>
            <a:spLocks noGrp="1"/>
          </p:cNvSpPr>
          <p:nvPr>
            <p:ph type="dt" sz="half" idx="10"/>
          </p:nvPr>
        </p:nvSpPr>
        <p:spPr>
          <a:xfrm>
            <a:off x="838200" y="6356350"/>
            <a:ext cx="2743200" cy="365125"/>
          </a:xfrm>
          <a:prstGeom prst="rect">
            <a:avLst/>
          </a:prstGeom>
        </p:spPr>
        <p:txBody>
          <a:bodyPr/>
          <a:p>
            <a:fld id="{39351B01-D27C-44B9-86C4-6069CF4A3737}" type="datetimeFigureOut">
              <a:rPr lang="zh-CN" altLang="en-US" smtClean="0"/>
            </a:fld>
            <a:endParaRPr lang="zh-CN" altLang="en-US"/>
          </a:p>
        </p:txBody>
      </p:sp>
      <p:sp>
        <p:nvSpPr>
          <p:cNvPr id="1048918" name="页脚占位符 5"/>
          <p:cNvSpPr>
            <a:spLocks noGrp="1"/>
          </p:cNvSpPr>
          <p:nvPr>
            <p:ph type="ftr" sz="quarter" idx="11"/>
          </p:nvPr>
        </p:nvSpPr>
        <p:spPr>
          <a:xfrm>
            <a:off x="4038600" y="6356350"/>
            <a:ext cx="4114800" cy="365125"/>
          </a:xfrm>
          <a:prstGeom prst="rect">
            <a:avLst/>
          </a:prstGeom>
        </p:spPr>
        <p:txBody>
          <a:bodyPr/>
          <a:p>
            <a:endParaRPr lang="zh-CN" altLang="en-US"/>
          </a:p>
        </p:txBody>
      </p:sp>
      <p:sp>
        <p:nvSpPr>
          <p:cNvPr id="1048919" name="灯片编号占位符 6"/>
          <p:cNvSpPr>
            <a:spLocks noGrp="1"/>
          </p:cNvSpPr>
          <p:nvPr>
            <p:ph type="sldNum" sz="quarter" idx="12"/>
          </p:nvPr>
        </p:nvSpPr>
        <p:spPr>
          <a:xfrm>
            <a:off x="8610600" y="6356350"/>
            <a:ext cx="2743200" cy="365125"/>
          </a:xfrm>
          <a:prstGeom prst="rect">
            <a:avLst/>
          </a:prstGeom>
        </p:spPr>
        <p:txBody>
          <a:bodyPr/>
          <a:p>
            <a:fld id="{920C2D7C-0779-45E4-815E-D57472C69401}"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92" name=""/>
        <p:cNvGrpSpPr/>
        <p:nvPr/>
      </p:nvGrpSpPr>
      <p:grpSpPr>
        <a:xfrm>
          <a:off x="0" y="0"/>
          <a:ext cx="0" cy="0"/>
          <a:chOff x="0" y="0"/>
          <a:chExt cx="0" cy="0"/>
        </a:xfrm>
      </p:grpSpPr>
      <p:sp>
        <p:nvSpPr>
          <p:cNvPr id="1048920" name="标题 1"/>
          <p:cNvSpPr>
            <a:spLocks noGrp="1"/>
          </p:cNvSpPr>
          <p:nvPr>
            <p:ph type="title"/>
          </p:nvPr>
        </p:nvSpPr>
        <p:spPr>
          <a:xfrm>
            <a:off x="839788" y="365125"/>
            <a:ext cx="10515600" cy="1325563"/>
          </a:xfrm>
          <a:prstGeom prst="rect">
            <a:avLst/>
          </a:prstGeom>
        </p:spPr>
        <p:txBody>
          <a:bodyPr/>
          <a:p>
            <a:r>
              <a:rPr lang="zh-CN" altLang="en-US"/>
              <a:t>单击此处编辑母版标题样式</a:t>
            </a:r>
            <a:endParaRPr lang="zh-CN" altLang="en-US"/>
          </a:p>
        </p:txBody>
      </p:sp>
      <p:sp>
        <p:nvSpPr>
          <p:cNvPr id="1048921" name="文本占位符 2"/>
          <p:cNvSpPr>
            <a:spLocks noGrp="1"/>
          </p:cNvSpPr>
          <p:nvPr>
            <p:ph type="body" idx="1" hasCustomPrompt="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1048922" name="内容占位符 3"/>
          <p:cNvSpPr>
            <a:spLocks noGrp="1"/>
          </p:cNvSpPr>
          <p:nvPr>
            <p:ph sz="half" idx="2" hasCustomPrompt="1"/>
          </p:nvPr>
        </p:nvSpPr>
        <p:spPr>
          <a:xfrm>
            <a:off x="839788" y="2505075"/>
            <a:ext cx="5157787" cy="3684588"/>
          </a:xfrm>
          <a:prstGeom prst="rect">
            <a:avLst/>
          </a:prstGeom>
        </p:spPr>
        <p:txBody>
          <a:bodyPr/>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8923" name="文本占位符 4"/>
          <p:cNvSpPr>
            <a:spLocks noGrp="1"/>
          </p:cNvSpPr>
          <p:nvPr>
            <p:ph type="body" sz="quarter" idx="3" hasCustomPrompt="1"/>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1048924" name="内容占位符 5"/>
          <p:cNvSpPr>
            <a:spLocks noGrp="1"/>
          </p:cNvSpPr>
          <p:nvPr>
            <p:ph sz="quarter" idx="4" hasCustomPrompt="1"/>
          </p:nvPr>
        </p:nvSpPr>
        <p:spPr>
          <a:xfrm>
            <a:off x="6172200" y="2505075"/>
            <a:ext cx="5183188" cy="3684588"/>
          </a:xfrm>
          <a:prstGeom prst="rect">
            <a:avLst/>
          </a:prstGeom>
        </p:spPr>
        <p:txBody>
          <a:bodyPr/>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8925" name="日期占位符 6"/>
          <p:cNvSpPr>
            <a:spLocks noGrp="1"/>
          </p:cNvSpPr>
          <p:nvPr>
            <p:ph type="dt" sz="half" idx="10"/>
          </p:nvPr>
        </p:nvSpPr>
        <p:spPr>
          <a:xfrm>
            <a:off x="838200" y="6356350"/>
            <a:ext cx="2743200" cy="365125"/>
          </a:xfrm>
          <a:prstGeom prst="rect">
            <a:avLst/>
          </a:prstGeom>
        </p:spPr>
        <p:txBody>
          <a:bodyPr/>
          <a:p>
            <a:fld id="{39351B01-D27C-44B9-86C4-6069CF4A3737}" type="datetimeFigureOut">
              <a:rPr lang="zh-CN" altLang="en-US" smtClean="0"/>
            </a:fld>
            <a:endParaRPr lang="zh-CN" altLang="en-US"/>
          </a:p>
        </p:txBody>
      </p:sp>
      <p:sp>
        <p:nvSpPr>
          <p:cNvPr id="1048926" name="页脚占位符 7"/>
          <p:cNvSpPr>
            <a:spLocks noGrp="1"/>
          </p:cNvSpPr>
          <p:nvPr>
            <p:ph type="ftr" sz="quarter" idx="11"/>
          </p:nvPr>
        </p:nvSpPr>
        <p:spPr>
          <a:xfrm>
            <a:off x="4038600" y="6356350"/>
            <a:ext cx="4114800" cy="365125"/>
          </a:xfrm>
          <a:prstGeom prst="rect">
            <a:avLst/>
          </a:prstGeom>
        </p:spPr>
        <p:txBody>
          <a:bodyPr/>
          <a:p>
            <a:endParaRPr lang="zh-CN" altLang="en-US"/>
          </a:p>
        </p:txBody>
      </p:sp>
      <p:sp>
        <p:nvSpPr>
          <p:cNvPr id="1048927" name="灯片编号占位符 8"/>
          <p:cNvSpPr>
            <a:spLocks noGrp="1"/>
          </p:cNvSpPr>
          <p:nvPr>
            <p:ph type="sldNum" sz="quarter" idx="12"/>
          </p:nvPr>
        </p:nvSpPr>
        <p:spPr>
          <a:xfrm>
            <a:off x="8610600" y="6356350"/>
            <a:ext cx="2743200" cy="365125"/>
          </a:xfrm>
          <a:prstGeom prst="rect">
            <a:avLst/>
          </a:prstGeom>
        </p:spPr>
        <p:txBody>
          <a:bodyPr/>
          <a:p>
            <a:fld id="{920C2D7C-0779-45E4-815E-D57472C69401}"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86" name=""/>
        <p:cNvGrpSpPr/>
        <p:nvPr/>
      </p:nvGrpSpPr>
      <p:grpSpPr>
        <a:xfrm>
          <a:off x="0" y="0"/>
          <a:ext cx="0" cy="0"/>
          <a:chOff x="0" y="0"/>
          <a:chExt cx="0" cy="0"/>
        </a:xfrm>
      </p:grpSpPr>
      <p:sp>
        <p:nvSpPr>
          <p:cNvPr id="1048889" name="标题 1"/>
          <p:cNvSpPr>
            <a:spLocks noGrp="1"/>
          </p:cNvSpPr>
          <p:nvPr>
            <p:ph type="title"/>
          </p:nvPr>
        </p:nvSpPr>
        <p:spPr>
          <a:xfrm>
            <a:off x="838200" y="365125"/>
            <a:ext cx="10515600" cy="1325563"/>
          </a:xfrm>
          <a:prstGeom prst="rect">
            <a:avLst/>
          </a:prstGeom>
        </p:spPr>
        <p:txBody>
          <a:bodyPr/>
          <a:p>
            <a:r>
              <a:rPr lang="zh-CN" altLang="en-US"/>
              <a:t>单击此处编辑母版标题样式</a:t>
            </a:r>
            <a:endParaRPr lang="zh-CN" altLang="en-US"/>
          </a:p>
        </p:txBody>
      </p:sp>
      <p:sp>
        <p:nvSpPr>
          <p:cNvPr id="1048890" name="日期占位符 2"/>
          <p:cNvSpPr>
            <a:spLocks noGrp="1"/>
          </p:cNvSpPr>
          <p:nvPr>
            <p:ph type="dt" sz="half" idx="10"/>
          </p:nvPr>
        </p:nvSpPr>
        <p:spPr>
          <a:xfrm>
            <a:off x="838200" y="6356350"/>
            <a:ext cx="2743200" cy="365125"/>
          </a:xfrm>
          <a:prstGeom prst="rect">
            <a:avLst/>
          </a:prstGeom>
        </p:spPr>
        <p:txBody>
          <a:bodyPr/>
          <a:p>
            <a:fld id="{39351B01-D27C-44B9-86C4-6069CF4A3737}" type="datetimeFigureOut">
              <a:rPr lang="zh-CN" altLang="en-US" smtClean="0"/>
            </a:fld>
            <a:endParaRPr lang="zh-CN" altLang="en-US"/>
          </a:p>
        </p:txBody>
      </p:sp>
      <p:sp>
        <p:nvSpPr>
          <p:cNvPr id="1048891" name="页脚占位符 3"/>
          <p:cNvSpPr>
            <a:spLocks noGrp="1"/>
          </p:cNvSpPr>
          <p:nvPr>
            <p:ph type="ftr" sz="quarter" idx="11"/>
          </p:nvPr>
        </p:nvSpPr>
        <p:spPr>
          <a:xfrm>
            <a:off x="4038600" y="6356350"/>
            <a:ext cx="4114800" cy="365125"/>
          </a:xfrm>
          <a:prstGeom prst="rect">
            <a:avLst/>
          </a:prstGeom>
        </p:spPr>
        <p:txBody>
          <a:bodyPr/>
          <a:p>
            <a:endParaRPr lang="zh-CN" altLang="en-US"/>
          </a:p>
        </p:txBody>
      </p:sp>
      <p:sp>
        <p:nvSpPr>
          <p:cNvPr id="1048892" name="灯片编号占位符 4"/>
          <p:cNvSpPr>
            <a:spLocks noGrp="1"/>
          </p:cNvSpPr>
          <p:nvPr>
            <p:ph type="sldNum" sz="quarter" idx="12"/>
          </p:nvPr>
        </p:nvSpPr>
        <p:spPr>
          <a:xfrm>
            <a:off x="8610600" y="6356350"/>
            <a:ext cx="2743200" cy="365125"/>
          </a:xfrm>
          <a:prstGeom prst="rect">
            <a:avLst/>
          </a:prstGeom>
        </p:spPr>
        <p:txBody>
          <a:bodyPr/>
          <a:p>
            <a:fld id="{920C2D7C-0779-45E4-815E-D57472C69401}"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24" name=""/>
        <p:cNvGrpSpPr/>
        <p:nvPr/>
      </p:nvGrpSpPr>
      <p:grpSpPr>
        <a:xfrm>
          <a:off x="0" y="0"/>
          <a:ext cx="0" cy="0"/>
          <a:chOff x="0" y="0"/>
          <a:chExt cx="0" cy="0"/>
        </a:xfrm>
      </p:grpSpPr>
      <p:sp>
        <p:nvSpPr>
          <p:cNvPr id="1048577" name="日期占位符 1"/>
          <p:cNvSpPr>
            <a:spLocks noGrp="1"/>
          </p:cNvSpPr>
          <p:nvPr>
            <p:ph type="dt" sz="half" idx="10"/>
          </p:nvPr>
        </p:nvSpPr>
        <p:spPr>
          <a:xfrm>
            <a:off x="838200" y="6356350"/>
            <a:ext cx="2743200" cy="365125"/>
          </a:xfrm>
          <a:prstGeom prst="rect">
            <a:avLst/>
          </a:prstGeom>
        </p:spPr>
        <p:txBody>
          <a:bodyPr/>
          <a:p>
            <a:fld id="{39351B01-D27C-44B9-86C4-6069CF4A3737}" type="datetimeFigureOut">
              <a:rPr lang="zh-CN" altLang="en-US" smtClean="0"/>
            </a:fld>
            <a:endParaRPr lang="zh-CN" altLang="en-US"/>
          </a:p>
        </p:txBody>
      </p:sp>
      <p:sp>
        <p:nvSpPr>
          <p:cNvPr id="1048578" name="页脚占位符 2"/>
          <p:cNvSpPr>
            <a:spLocks noGrp="1"/>
          </p:cNvSpPr>
          <p:nvPr>
            <p:ph type="ftr" sz="quarter" idx="11"/>
          </p:nvPr>
        </p:nvSpPr>
        <p:spPr>
          <a:xfrm>
            <a:off x="4038600" y="6356350"/>
            <a:ext cx="4114800" cy="365125"/>
          </a:xfrm>
          <a:prstGeom prst="rect">
            <a:avLst/>
          </a:prstGeom>
        </p:spPr>
        <p:txBody>
          <a:bodyPr/>
          <a:p>
            <a:endParaRPr lang="zh-CN" altLang="en-US"/>
          </a:p>
        </p:txBody>
      </p:sp>
      <p:sp>
        <p:nvSpPr>
          <p:cNvPr id="1048579" name="灯片编号占位符 3"/>
          <p:cNvSpPr>
            <a:spLocks noGrp="1"/>
          </p:cNvSpPr>
          <p:nvPr>
            <p:ph type="sldNum" sz="quarter" idx="12"/>
          </p:nvPr>
        </p:nvSpPr>
        <p:spPr>
          <a:xfrm>
            <a:off x="8610600" y="6356350"/>
            <a:ext cx="2743200" cy="365125"/>
          </a:xfrm>
          <a:prstGeom prst="rect">
            <a:avLst/>
          </a:prstGeom>
        </p:spPr>
        <p:txBody>
          <a:bodyPr/>
          <a:p>
            <a:fld id="{920C2D7C-0779-45E4-815E-D57472C69401}"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93" name=""/>
        <p:cNvGrpSpPr/>
        <p:nvPr/>
      </p:nvGrpSpPr>
      <p:grpSpPr>
        <a:xfrm>
          <a:off x="0" y="0"/>
          <a:ext cx="0" cy="0"/>
          <a:chOff x="0" y="0"/>
          <a:chExt cx="0" cy="0"/>
        </a:xfrm>
      </p:grpSpPr>
      <p:sp>
        <p:nvSpPr>
          <p:cNvPr id="1048928"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1048929" name="内容占位符 2"/>
          <p:cNvSpPr>
            <a:spLocks noGrp="1"/>
          </p:cNvSpPr>
          <p:nvPr>
            <p:ph idx="1" hasCustomPrompt="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8930"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48931" name="日期占位符 4"/>
          <p:cNvSpPr>
            <a:spLocks noGrp="1"/>
          </p:cNvSpPr>
          <p:nvPr>
            <p:ph type="dt" sz="half" idx="10"/>
          </p:nvPr>
        </p:nvSpPr>
        <p:spPr>
          <a:xfrm>
            <a:off x="838200" y="6356350"/>
            <a:ext cx="2743200" cy="365125"/>
          </a:xfrm>
          <a:prstGeom prst="rect">
            <a:avLst/>
          </a:prstGeom>
        </p:spPr>
        <p:txBody>
          <a:bodyPr/>
          <a:p>
            <a:fld id="{39351B01-D27C-44B9-86C4-6069CF4A3737}" type="datetimeFigureOut">
              <a:rPr lang="zh-CN" altLang="en-US" smtClean="0"/>
            </a:fld>
            <a:endParaRPr lang="zh-CN" altLang="en-US"/>
          </a:p>
        </p:txBody>
      </p:sp>
      <p:sp>
        <p:nvSpPr>
          <p:cNvPr id="1048932" name="页脚占位符 5"/>
          <p:cNvSpPr>
            <a:spLocks noGrp="1"/>
          </p:cNvSpPr>
          <p:nvPr>
            <p:ph type="ftr" sz="quarter" idx="11"/>
          </p:nvPr>
        </p:nvSpPr>
        <p:spPr>
          <a:xfrm>
            <a:off x="4038600" y="6356350"/>
            <a:ext cx="4114800" cy="365125"/>
          </a:xfrm>
          <a:prstGeom prst="rect">
            <a:avLst/>
          </a:prstGeom>
        </p:spPr>
        <p:txBody>
          <a:bodyPr/>
          <a:p>
            <a:endParaRPr lang="zh-CN" altLang="en-US"/>
          </a:p>
        </p:txBody>
      </p:sp>
      <p:sp>
        <p:nvSpPr>
          <p:cNvPr id="1048933" name="灯片编号占位符 6"/>
          <p:cNvSpPr>
            <a:spLocks noGrp="1"/>
          </p:cNvSpPr>
          <p:nvPr>
            <p:ph type="sldNum" sz="quarter" idx="12"/>
          </p:nvPr>
        </p:nvSpPr>
        <p:spPr>
          <a:xfrm>
            <a:off x="8610600" y="6356350"/>
            <a:ext cx="2743200" cy="365125"/>
          </a:xfrm>
          <a:prstGeom prst="rect">
            <a:avLst/>
          </a:prstGeom>
        </p:spPr>
        <p:txBody>
          <a:bodyPr/>
          <a:p>
            <a:fld id="{920C2D7C-0779-45E4-815E-D57472C69401}"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88" name=""/>
        <p:cNvGrpSpPr/>
        <p:nvPr/>
      </p:nvGrpSpPr>
      <p:grpSpPr>
        <a:xfrm>
          <a:off x="0" y="0"/>
          <a:ext cx="0" cy="0"/>
          <a:chOff x="0" y="0"/>
          <a:chExt cx="0" cy="0"/>
        </a:xfrm>
      </p:grpSpPr>
      <p:sp>
        <p:nvSpPr>
          <p:cNvPr id="1048898"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1048899"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1048900"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48901" name="日期占位符 4"/>
          <p:cNvSpPr>
            <a:spLocks noGrp="1"/>
          </p:cNvSpPr>
          <p:nvPr>
            <p:ph type="dt" sz="half" idx="10"/>
          </p:nvPr>
        </p:nvSpPr>
        <p:spPr>
          <a:xfrm>
            <a:off x="838200" y="6356350"/>
            <a:ext cx="2743200" cy="365125"/>
          </a:xfrm>
          <a:prstGeom prst="rect">
            <a:avLst/>
          </a:prstGeom>
        </p:spPr>
        <p:txBody>
          <a:bodyPr/>
          <a:p>
            <a:fld id="{39351B01-D27C-44B9-86C4-6069CF4A3737}" type="datetimeFigureOut">
              <a:rPr lang="zh-CN" altLang="en-US" smtClean="0"/>
            </a:fld>
            <a:endParaRPr lang="zh-CN" altLang="en-US"/>
          </a:p>
        </p:txBody>
      </p:sp>
      <p:sp>
        <p:nvSpPr>
          <p:cNvPr id="1048902" name="页脚占位符 5"/>
          <p:cNvSpPr>
            <a:spLocks noGrp="1"/>
          </p:cNvSpPr>
          <p:nvPr>
            <p:ph type="ftr" sz="quarter" idx="11"/>
          </p:nvPr>
        </p:nvSpPr>
        <p:spPr>
          <a:xfrm>
            <a:off x="4038600" y="6356350"/>
            <a:ext cx="4114800" cy="365125"/>
          </a:xfrm>
          <a:prstGeom prst="rect">
            <a:avLst/>
          </a:prstGeom>
        </p:spPr>
        <p:txBody>
          <a:bodyPr/>
          <a:p>
            <a:endParaRPr lang="zh-CN" altLang="en-US"/>
          </a:p>
        </p:txBody>
      </p:sp>
      <p:sp>
        <p:nvSpPr>
          <p:cNvPr id="1048903" name="灯片编号占位符 6"/>
          <p:cNvSpPr>
            <a:spLocks noGrp="1"/>
          </p:cNvSpPr>
          <p:nvPr>
            <p:ph type="sldNum" sz="quarter" idx="12"/>
          </p:nvPr>
        </p:nvSpPr>
        <p:spPr>
          <a:xfrm>
            <a:off x="8610600" y="6356350"/>
            <a:ext cx="2743200" cy="365125"/>
          </a:xfrm>
          <a:prstGeom prst="rect">
            <a:avLst/>
          </a:prstGeom>
        </p:spPr>
        <p:txBody>
          <a:bodyPr/>
          <a:p>
            <a:fld id="{920C2D7C-0779-45E4-815E-D57472C69401}"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89" name=""/>
        <p:cNvGrpSpPr/>
        <p:nvPr/>
      </p:nvGrpSpPr>
      <p:grpSpPr>
        <a:xfrm>
          <a:off x="0" y="0"/>
          <a:ext cx="0" cy="0"/>
          <a:chOff x="0" y="0"/>
          <a:chExt cx="0" cy="0"/>
        </a:xfrm>
      </p:grpSpPr>
      <p:sp>
        <p:nvSpPr>
          <p:cNvPr id="1048904" name="标题 1"/>
          <p:cNvSpPr>
            <a:spLocks noGrp="1"/>
          </p:cNvSpPr>
          <p:nvPr>
            <p:ph type="title"/>
          </p:nvPr>
        </p:nvSpPr>
        <p:spPr>
          <a:xfrm>
            <a:off x="838200" y="365125"/>
            <a:ext cx="10515600" cy="1325563"/>
          </a:xfrm>
          <a:prstGeom prst="rect">
            <a:avLst/>
          </a:prstGeom>
        </p:spPr>
        <p:txBody>
          <a:bodyPr/>
          <a:p>
            <a:r>
              <a:rPr lang="zh-CN" altLang="en-US"/>
              <a:t>单击此处编辑母版标题样式</a:t>
            </a:r>
            <a:endParaRPr lang="zh-CN" altLang="en-US"/>
          </a:p>
        </p:txBody>
      </p:sp>
      <p:sp>
        <p:nvSpPr>
          <p:cNvPr id="1048905" name="竖排文字占位符 2"/>
          <p:cNvSpPr>
            <a:spLocks noGrp="1"/>
          </p:cNvSpPr>
          <p:nvPr>
            <p:ph type="body" orient="vert" idx="1" hasCustomPrompt="1"/>
          </p:nvPr>
        </p:nvSpPr>
        <p:spPr>
          <a:xfrm>
            <a:off x="838200" y="1825625"/>
            <a:ext cx="10515600" cy="4351338"/>
          </a:xfrm>
          <a:prstGeom prst="rect">
            <a:avLst/>
          </a:prstGeom>
        </p:spPr>
        <p:txBody>
          <a:bodyPr vert="eaVert"/>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8906" name="日期占位符 3"/>
          <p:cNvSpPr>
            <a:spLocks noGrp="1"/>
          </p:cNvSpPr>
          <p:nvPr>
            <p:ph type="dt" sz="half" idx="10"/>
          </p:nvPr>
        </p:nvSpPr>
        <p:spPr>
          <a:xfrm>
            <a:off x="838200" y="6356350"/>
            <a:ext cx="2743200" cy="365125"/>
          </a:xfrm>
          <a:prstGeom prst="rect">
            <a:avLst/>
          </a:prstGeom>
        </p:spPr>
        <p:txBody>
          <a:bodyPr/>
          <a:p>
            <a:fld id="{39351B01-D27C-44B9-86C4-6069CF4A3737}" type="datetimeFigureOut">
              <a:rPr lang="zh-CN" altLang="en-US" smtClean="0"/>
            </a:fld>
            <a:endParaRPr lang="zh-CN" altLang="en-US"/>
          </a:p>
        </p:txBody>
      </p:sp>
      <p:sp>
        <p:nvSpPr>
          <p:cNvPr id="1048907" name="页脚占位符 4"/>
          <p:cNvSpPr>
            <a:spLocks noGrp="1"/>
          </p:cNvSpPr>
          <p:nvPr>
            <p:ph type="ftr" sz="quarter" idx="11"/>
          </p:nvPr>
        </p:nvSpPr>
        <p:spPr>
          <a:xfrm>
            <a:off x="4038600" y="6356350"/>
            <a:ext cx="4114800" cy="365125"/>
          </a:xfrm>
          <a:prstGeom prst="rect">
            <a:avLst/>
          </a:prstGeom>
        </p:spPr>
        <p:txBody>
          <a:bodyPr/>
          <a:p>
            <a:endParaRPr lang="zh-CN" altLang="en-US"/>
          </a:p>
        </p:txBody>
      </p:sp>
      <p:sp>
        <p:nvSpPr>
          <p:cNvPr id="1048908" name="灯片编号占位符 5"/>
          <p:cNvSpPr>
            <a:spLocks noGrp="1"/>
          </p:cNvSpPr>
          <p:nvPr>
            <p:ph type="sldNum" sz="quarter" idx="12"/>
          </p:nvPr>
        </p:nvSpPr>
        <p:spPr>
          <a:xfrm>
            <a:off x="8610600" y="6356350"/>
            <a:ext cx="2743200" cy="365125"/>
          </a:xfrm>
          <a:prstGeom prst="rect">
            <a:avLst/>
          </a:prstGeom>
        </p:spPr>
        <p:txBody>
          <a:bodyPr/>
          <a:p>
            <a:fld id="{920C2D7C-0779-45E4-815E-D57472C69401}"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87" name=""/>
        <p:cNvGrpSpPr/>
        <p:nvPr/>
      </p:nvGrpSpPr>
      <p:grpSpPr>
        <a:xfrm>
          <a:off x="0" y="0"/>
          <a:ext cx="0" cy="0"/>
          <a:chOff x="0" y="0"/>
          <a:chExt cx="0" cy="0"/>
        </a:xfrm>
      </p:grpSpPr>
      <p:sp>
        <p:nvSpPr>
          <p:cNvPr id="1048893" name="竖排标题 1"/>
          <p:cNvSpPr>
            <a:spLocks noGrp="1"/>
          </p:cNvSpPr>
          <p:nvPr>
            <p:ph type="title" orient="vert"/>
          </p:nvPr>
        </p:nvSpPr>
        <p:spPr>
          <a:xfrm>
            <a:off x="8724900" y="365125"/>
            <a:ext cx="2628900" cy="5811838"/>
          </a:xfrm>
          <a:prstGeom prst="rect">
            <a:avLst/>
          </a:prstGeom>
        </p:spPr>
        <p:txBody>
          <a:bodyPr vert="eaVert"/>
          <a:p>
            <a:r>
              <a:rPr lang="zh-CN" altLang="en-US"/>
              <a:t>单击此处编辑母版标题样式</a:t>
            </a:r>
            <a:endParaRPr lang="zh-CN" altLang="en-US"/>
          </a:p>
        </p:txBody>
      </p:sp>
      <p:sp>
        <p:nvSpPr>
          <p:cNvPr id="1048894" name="竖排文字占位符 2"/>
          <p:cNvSpPr>
            <a:spLocks noGrp="1"/>
          </p:cNvSpPr>
          <p:nvPr>
            <p:ph type="body" orient="vert" idx="1" hasCustomPrompt="1"/>
          </p:nvPr>
        </p:nvSpPr>
        <p:spPr>
          <a:xfrm>
            <a:off x="838200" y="365125"/>
            <a:ext cx="7734300" cy="5811838"/>
          </a:xfrm>
          <a:prstGeom prst="rect">
            <a:avLst/>
          </a:prstGeom>
        </p:spPr>
        <p:txBody>
          <a:bodyPr vert="eaVert"/>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8895" name="日期占位符 3"/>
          <p:cNvSpPr>
            <a:spLocks noGrp="1"/>
          </p:cNvSpPr>
          <p:nvPr>
            <p:ph type="dt" sz="half" idx="10"/>
          </p:nvPr>
        </p:nvSpPr>
        <p:spPr>
          <a:xfrm>
            <a:off x="838200" y="6356350"/>
            <a:ext cx="2743200" cy="365125"/>
          </a:xfrm>
          <a:prstGeom prst="rect">
            <a:avLst/>
          </a:prstGeom>
        </p:spPr>
        <p:txBody>
          <a:bodyPr/>
          <a:p>
            <a:fld id="{39351B01-D27C-44B9-86C4-6069CF4A3737}" type="datetimeFigureOut">
              <a:rPr lang="zh-CN" altLang="en-US" smtClean="0"/>
            </a:fld>
            <a:endParaRPr lang="zh-CN" altLang="en-US"/>
          </a:p>
        </p:txBody>
      </p:sp>
      <p:sp>
        <p:nvSpPr>
          <p:cNvPr id="1048896" name="页脚占位符 4"/>
          <p:cNvSpPr>
            <a:spLocks noGrp="1"/>
          </p:cNvSpPr>
          <p:nvPr>
            <p:ph type="ftr" sz="quarter" idx="11"/>
          </p:nvPr>
        </p:nvSpPr>
        <p:spPr>
          <a:xfrm>
            <a:off x="4038600" y="6356350"/>
            <a:ext cx="4114800" cy="365125"/>
          </a:xfrm>
          <a:prstGeom prst="rect">
            <a:avLst/>
          </a:prstGeom>
        </p:spPr>
        <p:txBody>
          <a:bodyPr/>
          <a:p>
            <a:endParaRPr lang="zh-CN" altLang="en-US"/>
          </a:p>
        </p:txBody>
      </p:sp>
      <p:sp>
        <p:nvSpPr>
          <p:cNvPr id="1048897" name="灯片编号占位符 5"/>
          <p:cNvSpPr>
            <a:spLocks noGrp="1"/>
          </p:cNvSpPr>
          <p:nvPr>
            <p:ph type="sldNum" sz="quarter" idx="12"/>
          </p:nvPr>
        </p:nvSpPr>
        <p:spPr>
          <a:xfrm>
            <a:off x="8610600" y="6356350"/>
            <a:ext cx="2743200" cy="365125"/>
          </a:xfrm>
          <a:prstGeom prst="rect">
            <a:avLst/>
          </a:prstGeom>
        </p:spPr>
        <p:txBody>
          <a:bodyPr/>
          <a:p>
            <a:fld id="{920C2D7C-0779-45E4-815E-D57472C69401}"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2" name=""/>
        <p:cNvGrpSpPr/>
        <p:nvPr/>
      </p:nvGrpSpPr>
      <p:grpSpPr>
        <a:xfrm>
          <a:off x="0" y="0"/>
          <a:ext cx="0" cy="0"/>
          <a:chOff x="0" y="0"/>
          <a:chExt cx="0" cy="0"/>
        </a:xfrm>
      </p:grpSpPr>
      <p:sp>
        <p:nvSpPr>
          <p:cNvPr id="1048576" name="文本框 2"/>
          <p:cNvSpPr txBox="1"/>
          <p:nvPr userDrawn="1"/>
        </p:nvSpPr>
        <p:spPr>
          <a:xfrm>
            <a:off x="1909192" y="2652141"/>
            <a:ext cx="7406640" cy="230832"/>
          </a:xfrm>
          <a:prstGeom prst="rect">
            <a:avLst/>
          </a:prstGeom>
          <a:noFill/>
        </p:spPr>
        <p:txBody>
          <a:bodyPr wrap="square" rtlCol="0">
            <a:spAutoFit/>
          </a:bodyPr>
          <a:p>
            <a:r>
              <a:rPr lang="zh-CN" altLang="en-US" sz="900" dirty="0">
                <a:noFill/>
                <a:effectLst>
                  <a:outerShdw sx="1000" sy="1000" algn="ctr" rotWithShape="0">
                    <a:srgbClr val="000000"/>
                  </a:outerShdw>
                </a:effectLst>
                <a:latin typeface="微软雅黑" panose="020B0503020204020204" pitchFamily="34" charset="-122"/>
                <a:ea typeface="微软雅黑" panose="020B0503020204020204" pitchFamily="34" charset="-122"/>
                <a:sym typeface="+mn-ea"/>
              </a:rPr>
              <a:t>雷锋</a:t>
            </a:r>
            <a:r>
              <a:rPr lang="en-US" altLang="zh-CN" sz="900" dirty="0">
                <a:noFill/>
                <a:effectLst>
                  <a:outerShdw sx="1000" sy="1000" algn="ctr" rotWithShape="0">
                    <a:srgbClr val="000000"/>
                  </a:outerShdw>
                </a:effectLst>
                <a:latin typeface="微软雅黑" panose="020B0503020204020204" pitchFamily="34" charset="-122"/>
                <a:ea typeface="微软雅黑" panose="020B0503020204020204" pitchFamily="34" charset="-122"/>
                <a:sym typeface="+mn-ea"/>
              </a:rPr>
              <a:t>PPT</a:t>
            </a:r>
            <a:r>
              <a:rPr lang="zh-CN" altLang="en-US" sz="900" dirty="0">
                <a:noFill/>
                <a:effectLst>
                  <a:outerShdw sx="1000" sy="1000" algn="ctr" rotWithShape="0">
                    <a:srgbClr val="000000"/>
                  </a:outerShdw>
                </a:effectLst>
                <a:latin typeface="微软雅黑" panose="020B0503020204020204" pitchFamily="34" charset="-122"/>
                <a:ea typeface="微软雅黑" panose="020B0503020204020204" pitchFamily="34" charset="-122"/>
                <a:sym typeface="+mn-ea"/>
              </a:rPr>
              <a:t>网</a:t>
            </a:r>
            <a:r>
              <a:rPr lang="en-US" altLang="zh-CN" sz="900" dirty="0">
                <a:noFill/>
                <a:effectLst>
                  <a:outerShdw sx="1000" sy="1000" algn="ctr" rotWithShape="0">
                    <a:srgbClr val="000000"/>
                  </a:outerShdw>
                </a:effectLst>
                <a:latin typeface="微软雅黑" panose="020B0503020204020204" pitchFamily="34" charset="-122"/>
                <a:ea typeface="微软雅黑" panose="020B0503020204020204" pitchFamily="34" charset="-122"/>
                <a:sym typeface="+mn-ea"/>
              </a:rPr>
              <a:t>-WWW.LFPPT.COM</a:t>
            </a:r>
            <a:r>
              <a:rPr lang="zh-CN" altLang="en-US" sz="900" dirty="0">
                <a:noFill/>
                <a:effectLst>
                  <a:outerShdw sx="1000" sy="1000" algn="ctr" rotWithShape="0">
                    <a:srgbClr val="000000"/>
                  </a:outerShdw>
                </a:effectLst>
                <a:latin typeface="微软雅黑" panose="020B0503020204020204" pitchFamily="34" charset="-122"/>
                <a:ea typeface="微软雅黑" panose="020B0503020204020204" pitchFamily="34" charset="-122"/>
                <a:sym typeface="+mn-ea"/>
              </a:rPr>
              <a:t>平台上提供的</a:t>
            </a:r>
            <a:r>
              <a:rPr lang="en-US" altLang="zh-CN" sz="900" dirty="0">
                <a:noFill/>
                <a:effectLst>
                  <a:outerShdw sx="1000" sy="1000" algn="ctr" rotWithShape="0">
                    <a:srgbClr val="000000"/>
                  </a:outerShdw>
                </a:effectLst>
                <a:latin typeface="微软雅黑" panose="020B0503020204020204" pitchFamily="34" charset="-122"/>
                <a:ea typeface="微软雅黑" panose="020B0503020204020204" pitchFamily="34" charset="-122"/>
                <a:sym typeface="+mn-ea"/>
              </a:rPr>
              <a:t>PPT</a:t>
            </a:r>
            <a:r>
              <a:rPr lang="zh-CN" altLang="en-US" sz="900" dirty="0">
                <a:noFill/>
                <a:effectLst>
                  <a:outerShdw sx="1000" sy="1000" algn="ctr" rotWithShape="0">
                    <a:srgbClr val="000000"/>
                  </a:outerShdw>
                </a:effectLst>
                <a:latin typeface="微软雅黑" panose="020B0503020204020204" pitchFamily="34" charset="-122"/>
                <a:ea typeface="微软雅黑" panose="020B0503020204020204" pitchFamily="34" charset="-122"/>
                <a:sym typeface="+mn-ea"/>
              </a:rPr>
              <a:t>作品，雷锋</a:t>
            </a:r>
            <a:r>
              <a:rPr lang="en-US" altLang="zh-CN" sz="900" dirty="0">
                <a:noFill/>
                <a:effectLst>
                  <a:outerShdw sx="1000" sy="1000" algn="ctr" rotWithShape="0">
                    <a:srgbClr val="000000"/>
                  </a:outerShdw>
                </a:effectLst>
                <a:latin typeface="微软雅黑" panose="020B0503020204020204" pitchFamily="34" charset="-122"/>
                <a:ea typeface="微软雅黑" panose="020B0503020204020204" pitchFamily="34" charset="-122"/>
                <a:sym typeface="+mn-ea"/>
              </a:rPr>
              <a:t>PPT</a:t>
            </a:r>
            <a:r>
              <a:rPr lang="zh-CN" altLang="en-US" sz="900" dirty="0">
                <a:noFill/>
                <a:effectLst>
                  <a:outerShdw sx="1000" sy="1000" algn="ctr" rotWithShape="0">
                    <a:srgbClr val="000000"/>
                  </a:outerShdw>
                </a:effectLst>
                <a:latin typeface="微软雅黑" panose="020B0503020204020204" pitchFamily="34" charset="-122"/>
                <a:ea typeface="微软雅黑" panose="020B0503020204020204" pitchFamily="34" charset="-122"/>
                <a:sym typeface="+mn-ea"/>
              </a:rPr>
              <a:t>网</a:t>
            </a:r>
            <a:r>
              <a:rPr lang="en-US" altLang="zh-CN" sz="900" dirty="0">
                <a:noFill/>
                <a:effectLst>
                  <a:outerShdw sx="1000" sy="1000" algn="ctr" rotWithShape="0">
                    <a:srgbClr val="000000"/>
                  </a:outerShdw>
                </a:effectLst>
                <a:latin typeface="微软雅黑" panose="020B0503020204020204" pitchFamily="34" charset="-122"/>
                <a:ea typeface="微软雅黑" panose="020B0503020204020204" pitchFamily="34" charset="-122"/>
                <a:sym typeface="+mn-ea"/>
              </a:rPr>
              <a:t>-WWW.LFPPT.COM</a:t>
            </a:r>
            <a:r>
              <a:rPr lang="zh-CN" altLang="en-US" sz="900" dirty="0">
                <a:noFill/>
                <a:effectLst>
                  <a:outerShdw sx="1000" sy="1000" algn="ctr" rotWithShape="0">
                    <a:srgbClr val="000000"/>
                  </a:outerShdw>
                </a:effectLst>
                <a:latin typeface="微软雅黑" panose="020B0503020204020204" pitchFamily="34" charset="-122"/>
                <a:ea typeface="微软雅黑" panose="020B0503020204020204" pitchFamily="34" charset="-122"/>
                <a:sym typeface="+mn-ea"/>
              </a:rPr>
              <a:t>每天更新</a:t>
            </a:r>
            <a:r>
              <a:rPr lang="en-US" altLang="zh-CN" sz="900" dirty="0">
                <a:noFill/>
                <a:effectLst>
                  <a:outerShdw sx="1000" sy="1000" algn="ctr" rotWithShape="0">
                    <a:srgbClr val="000000"/>
                  </a:outerShdw>
                </a:effectLst>
                <a:latin typeface="微软雅黑" panose="020B0503020204020204" pitchFamily="34" charset="-122"/>
                <a:ea typeface="微软雅黑" panose="020B0503020204020204" pitchFamily="34" charset="-122"/>
                <a:sym typeface="+mn-ea"/>
              </a:rPr>
              <a:t>PPT</a:t>
            </a:r>
            <a:r>
              <a:rPr lang="zh-CN" altLang="en-US" sz="900" dirty="0">
                <a:noFill/>
                <a:effectLst>
                  <a:outerShdw sx="1000" sy="1000" algn="ctr" rotWithShape="0">
                    <a:srgbClr val="000000"/>
                  </a:outerShdw>
                </a:effectLst>
                <a:latin typeface="微软雅黑" panose="020B0503020204020204" pitchFamily="34" charset="-122"/>
                <a:ea typeface="微软雅黑" panose="020B0503020204020204" pitchFamily="34" charset="-122"/>
                <a:sym typeface="+mn-ea"/>
              </a:rPr>
              <a:t>模板</a:t>
            </a:r>
            <a:endParaRPr lang="zh-CN" altLang="en-US" sz="900" dirty="0">
              <a:noFill/>
              <a:latin typeface="微软雅黑" panose="020B0503020204020204" pitchFamily="34" charset="-122"/>
              <a:ea typeface="微软雅黑" panose="020B0503020204020204" pitchFamily="34" charset="-122"/>
              <a:sym typeface="+mn-ea"/>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7.xml"/><Relationship Id="rId3" Type="http://schemas.openxmlformats.org/officeDocument/2006/relationships/themeOverride" Target="../theme/themeOverride1.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5" Type="http://schemas.openxmlformats.org/officeDocument/2006/relationships/notesSlide" Target="../notesSlides/notesSlide2.xml"/><Relationship Id="rId14" Type="http://schemas.openxmlformats.org/officeDocument/2006/relationships/slideLayout" Target="../slideLayouts/slideLayout7.xml"/><Relationship Id="rId13" Type="http://schemas.openxmlformats.org/officeDocument/2006/relationships/themeOverride" Target="../theme/themeOverride2.xml"/><Relationship Id="rId12" Type="http://schemas.openxmlformats.org/officeDocument/2006/relationships/tags" Target="../tags/tag10.xml"/><Relationship Id="rId11" Type="http://schemas.openxmlformats.org/officeDocument/2006/relationships/tags" Target="../tags/tag9.xml"/><Relationship Id="rId10" Type="http://schemas.openxmlformats.org/officeDocument/2006/relationships/image" Target="../media/image2.png"/><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7.xml"/><Relationship Id="rId4" Type="http://schemas.openxmlformats.org/officeDocument/2006/relationships/themeOverride" Target="../theme/themeOverride3.xml"/><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7.xml"/><Relationship Id="rId6" Type="http://schemas.openxmlformats.org/officeDocument/2006/relationships/tags" Target="../tags/tag13.xml"/><Relationship Id="rId5" Type="http://schemas.openxmlformats.org/officeDocument/2006/relationships/image" Target="../media/image6.jpeg"/><Relationship Id="rId4" Type="http://schemas.openxmlformats.org/officeDocument/2006/relationships/image" Target="../media/image5.jpeg"/><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7.xml"/><Relationship Id="rId3" Type="http://schemas.openxmlformats.org/officeDocument/2006/relationships/image" Target="../media/image7.jpeg"/><Relationship Id="rId2" Type="http://schemas.openxmlformats.org/officeDocument/2006/relationships/tags" Target="../tags/tag14.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7.xml"/><Relationship Id="rId5" Type="http://schemas.openxmlformats.org/officeDocument/2006/relationships/image" Target="../media/image8.jpeg"/><Relationship Id="rId4" Type="http://schemas.openxmlformats.org/officeDocument/2006/relationships/tags" Target="../tags/tag17.xml"/><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tags" Target="../tags/tag20.xml"/><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7.xml"/><Relationship Id="rId5" Type="http://schemas.openxmlformats.org/officeDocument/2006/relationships/image" Target="../media/image11.jpeg"/><Relationship Id="rId4" Type="http://schemas.openxmlformats.org/officeDocument/2006/relationships/image" Target="../media/image10.jpeg"/><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7.xml"/><Relationship Id="rId4" Type="http://schemas.openxmlformats.org/officeDocument/2006/relationships/themeOverride" Target="../theme/themeOverride4.xml"/><Relationship Id="rId3" Type="http://schemas.openxmlformats.org/officeDocument/2006/relationships/image" Target="../media/image2.png"/><Relationship Id="rId2" Type="http://schemas.openxmlformats.org/officeDocument/2006/relationships/image" Target="../media/image12.jpeg"/><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7.xml"/><Relationship Id="rId4" Type="http://schemas.openxmlformats.org/officeDocument/2006/relationships/image" Target="../media/image13.png"/><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7.xml"/><Relationship Id="rId4" Type="http://schemas.openxmlformats.org/officeDocument/2006/relationships/themeOverride" Target="../theme/themeOverride5.xml"/><Relationship Id="rId3" Type="http://schemas.openxmlformats.org/officeDocument/2006/relationships/image" Target="../media/image2.png"/><Relationship Id="rId2" Type="http://schemas.openxmlformats.org/officeDocument/2006/relationships/image" Target="../media/image12.jpeg"/><Relationship Id="rId1" Type="http://schemas.openxmlformats.org/officeDocument/2006/relationships/image" Target="../media/image1.jpeg"/></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7.xml"/><Relationship Id="rId4" Type="http://schemas.openxmlformats.org/officeDocument/2006/relationships/image" Target="../media/image14.png"/><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7.xml"/><Relationship Id="rId4" Type="http://schemas.openxmlformats.org/officeDocument/2006/relationships/image" Target="../media/image15.png"/><Relationship Id="rId3" Type="http://schemas.openxmlformats.org/officeDocument/2006/relationships/tags" Target="../tags/tag28.xml"/><Relationship Id="rId2" Type="http://schemas.openxmlformats.org/officeDocument/2006/relationships/tags" Target="../tags/tag27.xml"/><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7.xml"/><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tags" Target="../tags/tag29.xml"/><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7.xml"/><Relationship Id="rId2" Type="http://schemas.openxmlformats.org/officeDocument/2006/relationships/image" Target="../media/image18.png"/><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7" Type="http://schemas.openxmlformats.org/officeDocument/2006/relationships/notesSlide" Target="../notesSlides/notesSlide16.xml"/><Relationship Id="rId6"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png"/><Relationship Id="rId3" Type="http://schemas.openxmlformats.org/officeDocument/2006/relationships/image" Target="../media/image19.png"/><Relationship Id="rId2" Type="http://schemas.openxmlformats.org/officeDocument/2006/relationships/tags" Target="../tags/tag30.xml"/><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7.xml"/><Relationship Id="rId3" Type="http://schemas.openxmlformats.org/officeDocument/2006/relationships/slide" Target="slide32.xml"/><Relationship Id="rId2" Type="http://schemas.openxmlformats.org/officeDocument/2006/relationships/image" Target="../media/image22.png"/><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7.xml"/><Relationship Id="rId2" Type="http://schemas.openxmlformats.org/officeDocument/2006/relationships/image" Target="../media/image23.png"/><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7.xml"/><Relationship Id="rId2" Type="http://schemas.openxmlformats.org/officeDocument/2006/relationships/image" Target="../media/image24.png"/><Relationship Id="rId1" Type="http://schemas.openxmlformats.org/officeDocument/2006/relationships/image" Target="../media/image2.png"/></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21.xml"/><Relationship Id="rId5" Type="http://schemas.openxmlformats.org/officeDocument/2006/relationships/slideLayout" Target="../slideLayouts/slideLayout7.xml"/><Relationship Id="rId4" Type="http://schemas.openxmlformats.org/officeDocument/2006/relationships/image" Target="../media/image27.png"/><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png"/></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22.xml"/><Relationship Id="rId5" Type="http://schemas.openxmlformats.org/officeDocument/2006/relationships/slideLayout" Target="../slideLayouts/slideLayout7.xml"/><Relationship Id="rId4" Type="http://schemas.openxmlformats.org/officeDocument/2006/relationships/image" Target="../media/image29.png"/><Relationship Id="rId3" Type="http://schemas.openxmlformats.org/officeDocument/2006/relationships/image" Target="../media/image27.png"/><Relationship Id="rId2" Type="http://schemas.openxmlformats.org/officeDocument/2006/relationships/image" Target="../media/image2.png"/><Relationship Id="rId1" Type="http://schemas.openxmlformats.org/officeDocument/2006/relationships/image" Target="../media/image28.png"/></Relationships>
</file>

<file path=ppt/slides/_rels/slide23.xml.rels><?xml version="1.0" encoding="UTF-8" standalone="yes"?>
<Relationships xmlns="http://schemas.openxmlformats.org/package/2006/relationships"><Relationship Id="rId5" Type="http://schemas.openxmlformats.org/officeDocument/2006/relationships/notesSlide" Target="../notesSlides/notesSlide23.xml"/><Relationship Id="rId4" Type="http://schemas.openxmlformats.org/officeDocument/2006/relationships/slideLayout" Target="../slideLayouts/slideLayout7.xml"/><Relationship Id="rId3" Type="http://schemas.openxmlformats.org/officeDocument/2006/relationships/image" Target="../media/image30.png"/><Relationship Id="rId2" Type="http://schemas.openxmlformats.org/officeDocument/2006/relationships/image" Target="../media/image27.png"/><Relationship Id="rId1" Type="http://schemas.openxmlformats.org/officeDocument/2006/relationships/image" Target="../media/image2.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7.xml"/><Relationship Id="rId2" Type="http://schemas.openxmlformats.org/officeDocument/2006/relationships/image" Target="../media/image31.png"/><Relationship Id="rId1"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28.xml.rels><?xml version="1.0" encoding="UTF-8" standalone="yes"?>
<Relationships xmlns="http://schemas.openxmlformats.org/package/2006/relationships"><Relationship Id="rId6" Type="http://schemas.openxmlformats.org/officeDocument/2006/relationships/notesSlide" Target="../notesSlides/notesSlide28.xml"/><Relationship Id="rId5" Type="http://schemas.openxmlformats.org/officeDocument/2006/relationships/slideLayout" Target="../slideLayouts/slideLayout7.xml"/><Relationship Id="rId4" Type="http://schemas.openxmlformats.org/officeDocument/2006/relationships/image" Target="../media/image34.png"/><Relationship Id="rId3" Type="http://schemas.openxmlformats.org/officeDocument/2006/relationships/image" Target="../media/image2.png"/><Relationship Id="rId2" Type="http://schemas.openxmlformats.org/officeDocument/2006/relationships/image" Target="../media/image33.png"/><Relationship Id="rId1" Type="http://schemas.openxmlformats.org/officeDocument/2006/relationships/image" Target="../media/image32.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30.xml.rels><?xml version="1.0" encoding="UTF-8" standalone="yes"?>
<Relationships xmlns="http://schemas.openxmlformats.org/package/2006/relationships"><Relationship Id="rId5" Type="http://schemas.openxmlformats.org/officeDocument/2006/relationships/notesSlide" Target="../notesSlides/notesSlide30.xml"/><Relationship Id="rId4" Type="http://schemas.openxmlformats.org/officeDocument/2006/relationships/slideLayout" Target="../slideLayouts/slideLayout7.xml"/><Relationship Id="rId3" Type="http://schemas.openxmlformats.org/officeDocument/2006/relationships/image" Target="../media/image36.png"/><Relationship Id="rId2" Type="http://schemas.openxmlformats.org/officeDocument/2006/relationships/image" Target="../media/image2.png"/><Relationship Id="rId1" Type="http://schemas.openxmlformats.org/officeDocument/2006/relationships/image" Target="../media/image35.png"/></Relationships>
</file>

<file path=ppt/slides/_rels/slide31.xml.rels><?xml version="1.0" encoding="UTF-8" standalone="yes"?>
<Relationships xmlns="http://schemas.openxmlformats.org/package/2006/relationships"><Relationship Id="rId5" Type="http://schemas.openxmlformats.org/officeDocument/2006/relationships/notesSlide" Target="../notesSlides/notesSlide31.xml"/><Relationship Id="rId4" Type="http://schemas.openxmlformats.org/officeDocument/2006/relationships/slideLayout" Target="../slideLayouts/slideLayout7.xml"/><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image" Target="../media/image2.png"/></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12.jpe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34.xml"/><Relationship Id="rId3" Type="http://schemas.openxmlformats.org/officeDocument/2006/relationships/slideLayout" Target="../slideLayouts/slideLayout7.xml"/><Relationship Id="rId2" Type="http://schemas.openxmlformats.org/officeDocument/2006/relationships/slide" Target="slide18.xml"/><Relationship Id="rId1" Type="http://schemas.openxmlformats.org/officeDocument/2006/relationships/image" Target="../media/image2.png"/></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12.jpeg"/></Relationships>
</file>

<file path=ppt/slides/_rels/slide36.xml.rels><?xml version="1.0" encoding="UTF-8" standalone="yes"?>
<Relationships xmlns="http://schemas.openxmlformats.org/package/2006/relationships"><Relationship Id="rId9" Type="http://schemas.openxmlformats.org/officeDocument/2006/relationships/tags" Target="../tags/tag39.xml"/><Relationship Id="rId8" Type="http://schemas.openxmlformats.org/officeDocument/2006/relationships/tags" Target="../tags/tag38.xml"/><Relationship Id="rId7" Type="http://schemas.openxmlformats.org/officeDocument/2006/relationships/tags" Target="../tags/tag37.xml"/><Relationship Id="rId6" Type="http://schemas.openxmlformats.org/officeDocument/2006/relationships/tags" Target="../tags/tag36.xml"/><Relationship Id="rId5" Type="http://schemas.openxmlformats.org/officeDocument/2006/relationships/tags" Target="../tags/tag35.xml"/><Relationship Id="rId4" Type="http://schemas.openxmlformats.org/officeDocument/2006/relationships/tags" Target="../tags/tag34.xml"/><Relationship Id="rId3" Type="http://schemas.openxmlformats.org/officeDocument/2006/relationships/tags" Target="../tags/tag33.xml"/><Relationship Id="rId27" Type="http://schemas.openxmlformats.org/officeDocument/2006/relationships/notesSlide" Target="../notesSlides/notesSlide36.xml"/><Relationship Id="rId26" Type="http://schemas.openxmlformats.org/officeDocument/2006/relationships/slideLayout" Target="../slideLayouts/slideLayout7.xml"/><Relationship Id="rId25" Type="http://schemas.openxmlformats.org/officeDocument/2006/relationships/tags" Target="../tags/tag54.xml"/><Relationship Id="rId24" Type="http://schemas.openxmlformats.org/officeDocument/2006/relationships/image" Target="../media/image2.png"/><Relationship Id="rId23" Type="http://schemas.openxmlformats.org/officeDocument/2006/relationships/tags" Target="../tags/tag53.xml"/><Relationship Id="rId22" Type="http://schemas.openxmlformats.org/officeDocument/2006/relationships/tags" Target="../tags/tag52.xml"/><Relationship Id="rId21" Type="http://schemas.openxmlformats.org/officeDocument/2006/relationships/tags" Target="../tags/tag51.xml"/><Relationship Id="rId20" Type="http://schemas.openxmlformats.org/officeDocument/2006/relationships/tags" Target="../tags/tag50.xml"/><Relationship Id="rId2" Type="http://schemas.openxmlformats.org/officeDocument/2006/relationships/tags" Target="../tags/tag32.xml"/><Relationship Id="rId19" Type="http://schemas.openxmlformats.org/officeDocument/2006/relationships/tags" Target="../tags/tag49.xml"/><Relationship Id="rId18" Type="http://schemas.openxmlformats.org/officeDocument/2006/relationships/tags" Target="../tags/tag48.xml"/><Relationship Id="rId17" Type="http://schemas.openxmlformats.org/officeDocument/2006/relationships/tags" Target="../tags/tag47.xml"/><Relationship Id="rId16" Type="http://schemas.openxmlformats.org/officeDocument/2006/relationships/tags" Target="../tags/tag46.xml"/><Relationship Id="rId15" Type="http://schemas.openxmlformats.org/officeDocument/2006/relationships/tags" Target="../tags/tag45.xml"/><Relationship Id="rId14" Type="http://schemas.openxmlformats.org/officeDocument/2006/relationships/tags" Target="../tags/tag44.xml"/><Relationship Id="rId13" Type="http://schemas.openxmlformats.org/officeDocument/2006/relationships/tags" Target="../tags/tag43.xml"/><Relationship Id="rId12" Type="http://schemas.openxmlformats.org/officeDocument/2006/relationships/tags" Target="../tags/tag42.xml"/><Relationship Id="rId11" Type="http://schemas.openxmlformats.org/officeDocument/2006/relationships/tags" Target="../tags/tag41.xml"/><Relationship Id="rId10" Type="http://schemas.openxmlformats.org/officeDocument/2006/relationships/tags" Target="../tags/tag40.xml"/><Relationship Id="rId1" Type="http://schemas.openxmlformats.org/officeDocument/2006/relationships/tags" Target="../tags/tag31.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38.xml.rels><?xml version="1.0" encoding="UTF-8" standalone="yes"?>
<Relationships xmlns="http://schemas.openxmlformats.org/package/2006/relationships"><Relationship Id="rId6" Type="http://schemas.openxmlformats.org/officeDocument/2006/relationships/notesSlide" Target="../notesSlides/notesSlide38.xml"/><Relationship Id="rId5" Type="http://schemas.openxmlformats.org/officeDocument/2006/relationships/slideLayout" Target="../slideLayouts/slideLayout7.xml"/><Relationship Id="rId4" Type="http://schemas.openxmlformats.org/officeDocument/2006/relationships/themeOverride" Target="../theme/themeOverride6.xml"/><Relationship Id="rId3" Type="http://schemas.openxmlformats.org/officeDocument/2006/relationships/image" Target="../media/image2.png"/><Relationship Id="rId2" Type="http://schemas.openxmlformats.org/officeDocument/2006/relationships/image" Target="../media/image12.jpeg"/><Relationship Id="rId1" Type="http://schemas.openxmlformats.org/officeDocument/2006/relationships/image" Target="../media/image1.jpe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39.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cstate="screen">
            <a:lum/>
          </a:blip>
          <a:srcRect/>
          <a:stretch>
            <a:fillRect/>
          </a:stretch>
        </a:blipFill>
        <a:effectLst/>
      </p:bgPr>
    </p:bg>
    <p:spTree>
      <p:nvGrpSpPr>
        <p:cNvPr id="25" name=""/>
        <p:cNvGrpSpPr/>
        <p:nvPr/>
      </p:nvGrpSpPr>
      <p:grpSpPr>
        <a:xfrm>
          <a:off x="0" y="0"/>
          <a:ext cx="0" cy="0"/>
          <a:chOff x="0" y="0"/>
          <a:chExt cx="0" cy="0"/>
        </a:xfrm>
      </p:grpSpPr>
      <p:sp>
        <p:nvSpPr>
          <p:cNvPr id="1048580" name="矩形 20"/>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cs typeface="+mn-ea"/>
                <a:sym typeface="+mn-lt"/>
              </a:rPr>
              <a:t>小组成员</a:t>
            </a:r>
            <a:r>
              <a:rPr lang="en-US" altLang="zh-CN">
                <a:cs typeface="+mn-ea"/>
                <a:sym typeface="+mn-lt"/>
              </a:rPr>
              <a:t>(</a:t>
            </a:r>
            <a:r>
              <a:rPr lang="zh-CN" altLang="en-US">
                <a:cs typeface="+mn-ea"/>
                <a:sym typeface="+mn-lt"/>
              </a:rPr>
              <a:t>汇报顺序</a:t>
            </a:r>
            <a:r>
              <a:rPr lang="en-US" altLang="zh-CN">
                <a:cs typeface="+mn-ea"/>
                <a:sym typeface="+mn-lt"/>
              </a:rPr>
              <a:t>)</a:t>
            </a:r>
            <a:r>
              <a:rPr lang="zh-CN" altLang="en-US">
                <a:cs typeface="+mn-ea"/>
                <a:sym typeface="+mn-lt"/>
              </a:rPr>
              <a:t>：钟子俊、沈仕伟、王宝乐、林宜升、赵雄</a:t>
            </a:r>
            <a:endParaRPr lang="zh-CN" altLang="en-US">
              <a:cs typeface="+mn-ea"/>
              <a:sym typeface="+mn-lt"/>
            </a:endParaRPr>
          </a:p>
          <a:p>
            <a:pPr algn="ctr"/>
            <a:endParaRPr lang="zh-CN" altLang="en-US">
              <a:cs typeface="+mn-ea"/>
              <a:sym typeface="+mn-lt"/>
            </a:endParaRPr>
          </a:p>
        </p:txBody>
      </p:sp>
      <p:grpSp>
        <p:nvGrpSpPr>
          <p:cNvPr id="26" name="组合 25"/>
          <p:cNvGrpSpPr/>
          <p:nvPr/>
        </p:nvGrpSpPr>
        <p:grpSpPr>
          <a:xfrm>
            <a:off x="0" y="1205865"/>
            <a:ext cx="12192000" cy="3091815"/>
            <a:chOff x="0" y="1407160"/>
            <a:chExt cx="4064000" cy="4043680"/>
          </a:xfrm>
          <a:solidFill>
            <a:schemeClr val="accent1"/>
          </a:solidFill>
          <a:effectLst>
            <a:outerShdw blurRad="50800" dist="38100" dir="13500000" algn="br" rotWithShape="0">
              <a:prstClr val="black">
                <a:alpha val="40000"/>
              </a:prstClr>
            </a:outerShdw>
          </a:effectLst>
        </p:grpSpPr>
        <p:sp>
          <p:nvSpPr>
            <p:cNvPr id="1048581" name="矩形 31"/>
            <p:cNvSpPr/>
            <p:nvPr/>
          </p:nvSpPr>
          <p:spPr>
            <a:xfrm>
              <a:off x="0" y="1407160"/>
              <a:ext cx="4064000" cy="4043680"/>
            </a:xfrm>
            <a:prstGeom prst="rect">
              <a:avLst/>
            </a:prstGeom>
          </p:spPr>
          <p:style>
            <a:lnRef idx="0">
              <a:srgbClr val="FFFFFF"/>
            </a:lnRef>
            <a:fillRef idx="1">
              <a:schemeClr val="accent1"/>
            </a:fillRef>
            <a:effectRef idx="0">
              <a:srgbClr val="FFFFFF"/>
            </a:effectRef>
            <a:fontRef idx="minor">
              <a:schemeClr val="lt1"/>
            </a:fontRef>
          </p:style>
          <p:txBody>
            <a:bodyPr rtlCol="0" anchor="ctr"/>
            <a:p>
              <a:pPr algn="ctr"/>
              <a:endParaRPr lang="zh-CN" altLang="en-US">
                <a:latin typeface="造字工房力黑（非商用）常规体" pitchFamily="50" charset="-122"/>
                <a:ea typeface="造字工房力黑（非商用）常规体" pitchFamily="50" charset="-122"/>
                <a:cs typeface="+mn-ea"/>
                <a:sym typeface="+mn-lt"/>
              </a:endParaRPr>
            </a:p>
          </p:txBody>
        </p:sp>
        <p:sp>
          <p:nvSpPr>
            <p:cNvPr id="1048582" name="文本框 33"/>
            <p:cNvSpPr txBox="1"/>
            <p:nvPr/>
          </p:nvSpPr>
          <p:spPr>
            <a:xfrm>
              <a:off x="106468" y="2826079"/>
              <a:ext cx="3812752" cy="1205879"/>
            </a:xfrm>
            <a:prstGeom prst="rect">
              <a:avLst/>
            </a:prstGeom>
          </p:spPr>
          <p:style>
            <a:lnRef idx="0">
              <a:srgbClr val="FFFFFF"/>
            </a:lnRef>
            <a:fillRef idx="1">
              <a:schemeClr val="accent1"/>
            </a:fillRef>
            <a:effectRef idx="0">
              <a:srgbClr val="FFFFFF"/>
            </a:effectRef>
            <a:fontRef idx="minor">
              <a:schemeClr val="lt1"/>
            </a:fontRef>
          </p:style>
          <p:txBody>
            <a:bodyPr wrap="square" rtlCol="0">
              <a:spAutoFit/>
            </a:bodyPr>
            <a:p>
              <a:pPr algn="ctr"/>
              <a:r>
                <a:rPr lang="zh-CN" altLang="en-US" sz="5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rPr>
                <a:t>开题汇报</a:t>
              </a:r>
              <a:r>
                <a:rPr lang="en-US" altLang="zh-CN" sz="5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zh-CN" altLang="en-US" sz="5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rPr>
                <a:t>灵巧手物抓取</a:t>
              </a:r>
              <a:r>
                <a:rPr lang="zh-CN" altLang="en-US" sz="5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rPr>
                <a:t>生成</a:t>
              </a:r>
              <a:endParaRPr lang="zh-CN" altLang="en-US" sz="5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pic>
        <p:nvPicPr>
          <p:cNvPr id="2097152" name="图片 14"/>
          <p:cNvPicPr>
            <a:picLocks noChangeAspect="1"/>
          </p:cNvPicPr>
          <p:nvPr/>
        </p:nvPicPr>
        <p:blipFill>
          <a:blip r:embed="rId2" cstate="print"/>
          <a:srcRect/>
          <a:stretch>
            <a:fillRect/>
          </a:stretch>
        </p:blipFill>
        <p:spPr>
          <a:xfrm>
            <a:off x="5003162" y="374347"/>
            <a:ext cx="2174882" cy="456069"/>
          </a:xfrm>
          <a:prstGeom prst="rect">
            <a:avLst/>
          </a:prstGeom>
        </p:spPr>
      </p:pic>
      <p:sp>
        <p:nvSpPr>
          <p:cNvPr id="1048583" name="文本框 1"/>
          <p:cNvSpPr txBox="1"/>
          <p:nvPr/>
        </p:nvSpPr>
        <p:spPr>
          <a:xfrm>
            <a:off x="556203" y="4858385"/>
            <a:ext cx="7197090" cy="645160"/>
          </a:xfrm>
          <a:prstGeom prst="rect">
            <a:avLst/>
          </a:prstGeom>
          <a:noFill/>
        </p:spPr>
        <p:txBody>
          <a:bodyPr wrap="square" rtlCol="0">
            <a:spAutoFit/>
          </a:bodyPr>
          <a:p>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小组成员</a:t>
            </a:r>
            <a:r>
              <a:rPr lang="en-US" altLang="zh-CN"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汇报顺序</a:t>
            </a:r>
            <a:r>
              <a:rPr lang="en-US" altLang="zh-CN"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：沈仕伟、王玉峰、韩育</a:t>
            </a:r>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霖</a:t>
            </a:r>
            <a:endPar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48584" name="文本框 3"/>
          <p:cNvSpPr txBox="1"/>
          <p:nvPr/>
        </p:nvSpPr>
        <p:spPr>
          <a:xfrm>
            <a:off x="5409565" y="6225540"/>
            <a:ext cx="1372235" cy="368300"/>
          </a:xfrm>
          <a:prstGeom prst="rect">
            <a:avLst/>
          </a:prstGeom>
          <a:noFill/>
        </p:spPr>
        <p:txBody>
          <a:bodyPr wrap="square" rtlCol="0">
            <a:spAutoFit/>
          </a:bodyPr>
          <a:p>
            <a:r>
              <a:rPr lang="en-US"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2026.4.8</a:t>
            </a:r>
            <a:endParaRPr lang="en-US"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48585" name="文本框 4"/>
          <p:cNvSpPr txBox="1"/>
          <p:nvPr/>
        </p:nvSpPr>
        <p:spPr>
          <a:xfrm>
            <a:off x="9238672" y="4858443"/>
            <a:ext cx="2397125" cy="368300"/>
          </a:xfrm>
          <a:prstGeom prst="rect">
            <a:avLst/>
          </a:prstGeom>
          <a:noFill/>
        </p:spPr>
        <p:txBody>
          <a:bodyPr wrap="square" rtlCol="0">
            <a:spAutoFit/>
          </a:bodyPr>
          <a:p>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汇报小组：第</a:t>
            </a:r>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三组</a:t>
            </a:r>
            <a:endPar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t="-9000" b="-9000"/>
          </a:stretch>
        </a:blipFill>
        <a:effectLst/>
      </p:bgPr>
    </p:bg>
    <p:spTree>
      <p:nvGrpSpPr>
        <p:cNvPr id="41" name=""/>
        <p:cNvGrpSpPr/>
        <p:nvPr/>
      </p:nvGrpSpPr>
      <p:grpSpPr>
        <a:xfrm>
          <a:off x="0" y="0"/>
          <a:ext cx="0" cy="0"/>
          <a:chOff x="0" y="0"/>
          <a:chExt cx="0" cy="0"/>
        </a:xfrm>
      </p:grpSpPr>
      <p:sp>
        <p:nvSpPr>
          <p:cNvPr id="1048589" name="矩形 13"/>
          <p:cNvSpPr/>
          <p:nvPr/>
        </p:nvSpPr>
        <p:spPr>
          <a:xfrm>
            <a:off x="0" y="0"/>
            <a:ext cx="8178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Agency FB" panose="020B0503020202020204" pitchFamily="34" charset="0"/>
              <a:ea typeface="微软雅黑 Light" panose="020B0502040204020203" pitchFamily="34" charset="-122"/>
              <a:sym typeface="Agency FB" panose="020B0503020202020204" pitchFamily="34" charset="0"/>
            </a:endParaRPr>
          </a:p>
        </p:txBody>
      </p:sp>
      <p:grpSp>
        <p:nvGrpSpPr>
          <p:cNvPr id="42" name="组合 14"/>
          <p:cNvGrpSpPr/>
          <p:nvPr/>
        </p:nvGrpSpPr>
        <p:grpSpPr>
          <a:xfrm>
            <a:off x="7498080" y="2702560"/>
            <a:ext cx="4043680" cy="1737360"/>
            <a:chOff x="7498080" y="2702560"/>
            <a:chExt cx="4043680" cy="1737360"/>
          </a:xfrm>
        </p:grpSpPr>
        <p:sp>
          <p:nvSpPr>
            <p:cNvPr id="1048590" name="矩形 15"/>
            <p:cNvSpPr/>
            <p:nvPr/>
          </p:nvSpPr>
          <p:spPr>
            <a:xfrm>
              <a:off x="7498080" y="2702560"/>
              <a:ext cx="3759200" cy="1452880"/>
            </a:xfrm>
            <a:prstGeom prst="rect">
              <a:avLst/>
            </a:prstGeom>
            <a:solidFill>
              <a:schemeClr val="accent1">
                <a:alpha val="75000"/>
              </a:schemeClr>
            </a:solidFill>
            <a:ln>
              <a:noFill/>
            </a:ln>
            <a:effectLst>
              <a:outerShdw blurRad="508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600">
                <a:latin typeface="造字工房力黑（非商用）常规体" pitchFamily="50" charset="-122"/>
                <a:ea typeface="造字工房力黑（非商用）常规体" pitchFamily="50" charset="-122"/>
                <a:sym typeface="Agency FB" panose="020B0503020202020204" pitchFamily="34" charset="0"/>
              </a:endParaRPr>
            </a:p>
          </p:txBody>
        </p:sp>
        <p:sp>
          <p:nvSpPr>
            <p:cNvPr id="1048591" name="矩形 16"/>
            <p:cNvSpPr/>
            <p:nvPr/>
          </p:nvSpPr>
          <p:spPr>
            <a:xfrm>
              <a:off x="10754360" y="3652520"/>
              <a:ext cx="787400" cy="787400"/>
            </a:xfrm>
            <a:prstGeom prst="rect">
              <a:avLst/>
            </a:prstGeom>
            <a:noFill/>
            <a:ln w="38100">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600">
                <a:latin typeface="造字工房力黑（非商用）常规体" pitchFamily="50" charset="-122"/>
                <a:ea typeface="造字工房力黑（非商用）常规体" pitchFamily="50" charset="-122"/>
                <a:sym typeface="Agency FB" panose="020B0503020202020204" pitchFamily="34" charset="0"/>
              </a:endParaRPr>
            </a:p>
          </p:txBody>
        </p:sp>
        <p:sp>
          <p:nvSpPr>
            <p:cNvPr id="1048592" name="文本框 17"/>
            <p:cNvSpPr txBox="1"/>
            <p:nvPr/>
          </p:nvSpPr>
          <p:spPr>
            <a:xfrm>
              <a:off x="7675418" y="3059668"/>
              <a:ext cx="3353262" cy="583565"/>
            </a:xfrm>
            <a:prstGeom prst="rect">
              <a:avLst/>
            </a:prstGeom>
            <a:noFill/>
          </p:spPr>
          <p:txBody>
            <a:bodyPr wrap="square" rtlCol="0">
              <a:spAutoFit/>
            </a:bodyPr>
            <a:p>
              <a:r>
                <a:rPr lang="zh-CN" altLang="en-US" sz="3200" spc="300" dirty="0">
                  <a:solidFill>
                    <a:schemeClr val="bg1"/>
                  </a:solidFill>
                  <a:latin typeface="黑体" panose="02010609060101010101" charset="-122"/>
                  <a:ea typeface="黑体" panose="02010609060101010101" charset="-122"/>
                  <a:sym typeface="Agency FB" panose="020B0503020202020204" pitchFamily="34" charset="0"/>
                </a:rPr>
                <a:t>目录</a:t>
              </a:r>
              <a:endParaRPr lang="zh-CN" altLang="en-US" sz="3200" spc="300" dirty="0">
                <a:solidFill>
                  <a:schemeClr val="bg1"/>
                </a:solidFill>
                <a:latin typeface="黑体" panose="02010609060101010101" charset="-122"/>
                <a:ea typeface="黑体" panose="02010609060101010101" charset="-122"/>
                <a:sym typeface="Agency FB" panose="020B0503020202020204" pitchFamily="34" charset="0"/>
              </a:endParaRPr>
            </a:p>
          </p:txBody>
        </p:sp>
      </p:grpSp>
      <p:sp>
        <p:nvSpPr>
          <p:cNvPr id="1048593" name="Diamond 286"/>
          <p:cNvSpPr/>
          <p:nvPr>
            <p:custDataLst>
              <p:tags r:id="rId2"/>
            </p:custDataLst>
          </p:nvPr>
        </p:nvSpPr>
        <p:spPr>
          <a:xfrm>
            <a:off x="1926590" y="4408170"/>
            <a:ext cx="759460" cy="759460"/>
          </a:xfrm>
          <a:prstGeom prst="diamond">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ormAutofit/>
          </a:bodyPr>
          <a:p>
            <a:pPr algn="ctr"/>
            <a:r>
              <a:rPr lang="en-US" altLang="zh-CN" sz="1600">
                <a:solidFill>
                  <a:schemeClr val="bg1"/>
                </a:solidFill>
                <a:latin typeface="造字工房力黑（非商用）常规体" pitchFamily="50" charset="-122"/>
                <a:ea typeface="造字工房力黑（非商用）常规体" pitchFamily="50" charset="-122"/>
                <a:cs typeface="+mn-ea"/>
                <a:sym typeface="Agency FB" panose="020B0503020202020204" pitchFamily="34" charset="0"/>
              </a:rPr>
              <a:t>04</a:t>
            </a:r>
            <a:endParaRPr lang="en-US" altLang="zh-CN" sz="1600">
              <a:solidFill>
                <a:schemeClr val="bg1"/>
              </a:solidFill>
              <a:latin typeface="造字工房力黑（非商用）常规体" pitchFamily="50" charset="-122"/>
              <a:ea typeface="造字工房力黑（非商用）常规体" pitchFamily="50" charset="-122"/>
              <a:cs typeface="+mn-ea"/>
              <a:sym typeface="Agency FB" panose="020B0503020202020204" pitchFamily="34" charset="0"/>
            </a:endParaRPr>
          </a:p>
        </p:txBody>
      </p:sp>
      <p:sp>
        <p:nvSpPr>
          <p:cNvPr id="1048594" name="TextBox 300"/>
          <p:cNvSpPr txBox="1"/>
          <p:nvPr>
            <p:custDataLst>
              <p:tags r:id="rId3"/>
            </p:custDataLst>
          </p:nvPr>
        </p:nvSpPr>
        <p:spPr>
          <a:xfrm>
            <a:off x="2495550" y="4601845"/>
            <a:ext cx="4821555" cy="369570"/>
          </a:xfrm>
          <a:prstGeom prst="rect">
            <a:avLst/>
          </a:prstGeom>
          <a:noFill/>
        </p:spPr>
        <p:txBody>
          <a:bodyPr wrap="none" lIns="360000" tIns="0" rIns="0" bIns="0" anchor="b" anchorCtr="0">
            <a:noAutofit/>
          </a:bodyPr>
          <a:p>
            <a:pPr algn="l"/>
            <a:r>
              <a:rPr lang="zh-CN" altLang="en-US" sz="2400" spc="600" dirty="0">
                <a:solidFill>
                  <a:schemeClr val="accent4">
                    <a:lumMod val="100000"/>
                  </a:schemeClr>
                </a:solidFill>
                <a:latin typeface="黑体" panose="02010609060101010101" charset="-122"/>
                <a:ea typeface="黑体" panose="02010609060101010101" charset="-122"/>
                <a:cs typeface="Times New Roman" panose="02020603050405020304" pitchFamily="18" charset="0"/>
                <a:sym typeface="Agency FB" panose="020B0503020202020204" pitchFamily="34" charset="0"/>
              </a:rPr>
              <a:t>拟采用的方法</a:t>
            </a:r>
            <a:endParaRPr lang="zh-CN" altLang="en-US" sz="2400" spc="600" dirty="0">
              <a:solidFill>
                <a:schemeClr val="accent4">
                  <a:lumMod val="100000"/>
                </a:schemeClr>
              </a:solidFill>
              <a:latin typeface="黑体" panose="02010609060101010101" charset="-122"/>
              <a:ea typeface="黑体" panose="02010609060101010101" charset="-122"/>
              <a:cs typeface="Times New Roman" panose="02020603050405020304" pitchFamily="18" charset="0"/>
              <a:sym typeface="Agency FB" panose="020B0503020202020204" pitchFamily="34" charset="0"/>
            </a:endParaRPr>
          </a:p>
        </p:txBody>
      </p:sp>
      <p:sp>
        <p:nvSpPr>
          <p:cNvPr id="1048595" name="Diamond 288"/>
          <p:cNvSpPr/>
          <p:nvPr>
            <p:custDataLst>
              <p:tags r:id="rId4"/>
            </p:custDataLst>
          </p:nvPr>
        </p:nvSpPr>
        <p:spPr>
          <a:xfrm>
            <a:off x="1926590" y="3338830"/>
            <a:ext cx="759460" cy="759460"/>
          </a:xfrm>
          <a:prstGeom prst="diamond">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ormAutofit/>
          </a:bodyPr>
          <a:p>
            <a:pPr algn="ctr"/>
            <a:r>
              <a:rPr lang="en-US" altLang="zh-CN" sz="1600">
                <a:solidFill>
                  <a:schemeClr val="bg1"/>
                </a:solidFill>
                <a:latin typeface="造字工房力黑（非商用）常规体" pitchFamily="50" charset="-122"/>
                <a:ea typeface="造字工房力黑（非商用）常规体" pitchFamily="50" charset="-122"/>
                <a:cs typeface="+mn-ea"/>
                <a:sym typeface="Agency FB" panose="020B0503020202020204" pitchFamily="34" charset="0"/>
              </a:rPr>
              <a:t>03</a:t>
            </a:r>
            <a:endParaRPr lang="en-US" altLang="zh-CN" sz="1600">
              <a:solidFill>
                <a:schemeClr val="bg1"/>
              </a:solidFill>
              <a:latin typeface="造字工房力黑（非商用）常规体" pitchFamily="50" charset="-122"/>
              <a:ea typeface="造字工房力黑（非商用）常规体" pitchFamily="50" charset="-122"/>
              <a:cs typeface="+mn-ea"/>
              <a:sym typeface="Agency FB" panose="020B0503020202020204" pitchFamily="34" charset="0"/>
            </a:endParaRPr>
          </a:p>
        </p:txBody>
      </p:sp>
      <p:sp>
        <p:nvSpPr>
          <p:cNvPr id="1048596" name="TextBox 298"/>
          <p:cNvSpPr txBox="1"/>
          <p:nvPr>
            <p:custDataLst>
              <p:tags r:id="rId5"/>
            </p:custDataLst>
          </p:nvPr>
        </p:nvSpPr>
        <p:spPr>
          <a:xfrm>
            <a:off x="2495550" y="3533140"/>
            <a:ext cx="4821555" cy="369570"/>
          </a:xfrm>
          <a:prstGeom prst="rect">
            <a:avLst/>
          </a:prstGeom>
          <a:noFill/>
        </p:spPr>
        <p:txBody>
          <a:bodyPr wrap="none" lIns="360000" tIns="0" rIns="0" bIns="0" anchor="b" anchorCtr="0">
            <a:noAutofit/>
          </a:bodyPr>
          <a:p>
            <a:pPr algn="l"/>
            <a:r>
              <a:rPr lang="zh-CN" altLang="en-US" sz="2400" spc="600" dirty="0">
                <a:solidFill>
                  <a:schemeClr val="accent3">
                    <a:lumMod val="100000"/>
                  </a:schemeClr>
                </a:solidFill>
                <a:latin typeface="黑体" panose="02010609060101010101" charset="-122"/>
                <a:ea typeface="黑体" panose="02010609060101010101" charset="-122"/>
                <a:cs typeface="Times New Roman" panose="02020603050405020304" pitchFamily="18" charset="0"/>
                <a:sym typeface="Agency FB" panose="020B0503020202020204" pitchFamily="34" charset="0"/>
              </a:rPr>
              <a:t>选题文献阅读报告</a:t>
            </a:r>
            <a:endParaRPr lang="zh-CN" altLang="en-US" sz="2400" spc="600" dirty="0">
              <a:solidFill>
                <a:schemeClr val="accent3">
                  <a:lumMod val="100000"/>
                </a:schemeClr>
              </a:solidFill>
              <a:latin typeface="黑体" panose="02010609060101010101" charset="-122"/>
              <a:ea typeface="黑体" panose="02010609060101010101" charset="-122"/>
              <a:cs typeface="Times New Roman" panose="02020603050405020304" pitchFamily="18" charset="0"/>
              <a:sym typeface="Agency FB" panose="020B0503020202020204" pitchFamily="34" charset="0"/>
            </a:endParaRPr>
          </a:p>
        </p:txBody>
      </p:sp>
      <p:sp>
        <p:nvSpPr>
          <p:cNvPr id="1048597" name="Diamond 290"/>
          <p:cNvSpPr/>
          <p:nvPr>
            <p:custDataLst>
              <p:tags r:id="rId6"/>
            </p:custDataLst>
          </p:nvPr>
        </p:nvSpPr>
        <p:spPr>
          <a:xfrm>
            <a:off x="1926590" y="2270125"/>
            <a:ext cx="759460" cy="75946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ormAutofit/>
          </a:bodyPr>
          <a:p>
            <a:pPr algn="ctr"/>
            <a:r>
              <a:rPr lang="en-US" altLang="zh-CN" sz="1600">
                <a:solidFill>
                  <a:schemeClr val="bg1"/>
                </a:solidFill>
                <a:latin typeface="造字工房力黑（非商用）常规体" pitchFamily="50" charset="-122"/>
                <a:ea typeface="造字工房力黑（非商用）常规体" pitchFamily="50" charset="-122"/>
                <a:cs typeface="+mn-ea"/>
                <a:sym typeface="Agency FB" panose="020B0503020202020204" pitchFamily="34" charset="0"/>
              </a:rPr>
              <a:t>02</a:t>
            </a:r>
            <a:endParaRPr lang="en-US" altLang="zh-CN" sz="1600">
              <a:solidFill>
                <a:schemeClr val="bg1"/>
              </a:solidFill>
              <a:latin typeface="造字工房力黑（非商用）常规体" pitchFamily="50" charset="-122"/>
              <a:ea typeface="造字工房力黑（非商用）常规体" pitchFamily="50" charset="-122"/>
              <a:cs typeface="+mn-ea"/>
              <a:sym typeface="Agency FB" panose="020B0503020202020204" pitchFamily="34" charset="0"/>
            </a:endParaRPr>
          </a:p>
        </p:txBody>
      </p:sp>
      <p:sp>
        <p:nvSpPr>
          <p:cNvPr id="1048598" name="TextBox 296"/>
          <p:cNvSpPr txBox="1"/>
          <p:nvPr>
            <p:custDataLst>
              <p:tags r:id="rId7"/>
            </p:custDataLst>
          </p:nvPr>
        </p:nvSpPr>
        <p:spPr>
          <a:xfrm>
            <a:off x="2495550" y="2464435"/>
            <a:ext cx="4821555" cy="369570"/>
          </a:xfrm>
          <a:prstGeom prst="rect">
            <a:avLst/>
          </a:prstGeom>
          <a:noFill/>
        </p:spPr>
        <p:txBody>
          <a:bodyPr wrap="none" lIns="360000" tIns="0" rIns="0" bIns="0" anchor="b" anchorCtr="0">
            <a:noAutofit/>
          </a:bodyPr>
          <a:p>
            <a:pPr algn="l"/>
            <a:r>
              <a:rPr lang="zh-CN" altLang="en-US" sz="2400" spc="600" dirty="0">
                <a:solidFill>
                  <a:schemeClr val="accent2">
                    <a:lumMod val="100000"/>
                  </a:schemeClr>
                </a:solidFill>
                <a:latin typeface="黑体" panose="02010609060101010101" charset="-122"/>
                <a:ea typeface="黑体" panose="02010609060101010101" charset="-122"/>
                <a:cs typeface="Times New Roman" panose="02020603050405020304" pitchFamily="18" charset="0"/>
                <a:sym typeface="Agency FB" panose="020B0503020202020204" pitchFamily="34" charset="0"/>
              </a:rPr>
              <a:t>预期目标</a:t>
            </a:r>
            <a:endParaRPr lang="zh-CN" altLang="en-US" sz="2400" spc="600" dirty="0">
              <a:solidFill>
                <a:schemeClr val="accent2">
                  <a:lumMod val="100000"/>
                </a:schemeClr>
              </a:solidFill>
              <a:latin typeface="黑体" panose="02010609060101010101" charset="-122"/>
              <a:ea typeface="黑体" panose="02010609060101010101" charset="-122"/>
              <a:cs typeface="Times New Roman" panose="02020603050405020304" pitchFamily="18" charset="0"/>
              <a:sym typeface="Agency FB" panose="020B0503020202020204" pitchFamily="34" charset="0"/>
            </a:endParaRPr>
          </a:p>
        </p:txBody>
      </p:sp>
      <p:sp>
        <p:nvSpPr>
          <p:cNvPr id="1048599" name="Diamond 292"/>
          <p:cNvSpPr/>
          <p:nvPr>
            <p:custDataLst>
              <p:tags r:id="rId8"/>
            </p:custDataLst>
          </p:nvPr>
        </p:nvSpPr>
        <p:spPr>
          <a:xfrm>
            <a:off x="1926590" y="1200785"/>
            <a:ext cx="759460" cy="759460"/>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ormAutofit/>
          </a:bodyPr>
          <a:p>
            <a:pPr algn="ctr"/>
            <a:r>
              <a:rPr lang="en-US" altLang="zh-CN" sz="1600">
                <a:solidFill>
                  <a:schemeClr val="bg1"/>
                </a:solidFill>
                <a:latin typeface="造字工房力黑（非商用）常规体" pitchFamily="50" charset="-122"/>
                <a:ea typeface="造字工房力黑（非商用）常规体" pitchFamily="50" charset="-122"/>
                <a:cs typeface="+mn-ea"/>
                <a:sym typeface="Agency FB" panose="020B0503020202020204" pitchFamily="34" charset="0"/>
              </a:rPr>
              <a:t>01</a:t>
            </a:r>
            <a:endParaRPr lang="en-US" altLang="zh-CN" sz="1600">
              <a:solidFill>
                <a:schemeClr val="bg1"/>
              </a:solidFill>
              <a:latin typeface="造字工房力黑（非商用）常规体" pitchFamily="50" charset="-122"/>
              <a:ea typeface="造字工房力黑（非商用）常规体" pitchFamily="50" charset="-122"/>
              <a:cs typeface="+mn-ea"/>
              <a:sym typeface="Agency FB" panose="020B0503020202020204" pitchFamily="34" charset="0"/>
            </a:endParaRPr>
          </a:p>
        </p:txBody>
      </p:sp>
      <p:sp>
        <p:nvSpPr>
          <p:cNvPr id="1048600" name="TextBox 294"/>
          <p:cNvSpPr txBox="1"/>
          <p:nvPr>
            <p:custDataLst>
              <p:tags r:id="rId9"/>
            </p:custDataLst>
          </p:nvPr>
        </p:nvSpPr>
        <p:spPr>
          <a:xfrm>
            <a:off x="2495550" y="1395730"/>
            <a:ext cx="4821555" cy="369570"/>
          </a:xfrm>
          <a:prstGeom prst="rect">
            <a:avLst/>
          </a:prstGeom>
          <a:noFill/>
        </p:spPr>
        <p:txBody>
          <a:bodyPr wrap="none" lIns="360000" tIns="0" rIns="0" bIns="0" anchor="b" anchorCtr="0">
            <a:noAutofit/>
          </a:bodyPr>
          <a:p>
            <a:pPr algn="l"/>
            <a:r>
              <a:rPr lang="zh-CN" altLang="en-US" sz="2400" spc="600" dirty="0">
                <a:solidFill>
                  <a:schemeClr val="accent1">
                    <a:lumMod val="100000"/>
                  </a:schemeClr>
                </a:solidFill>
                <a:latin typeface="黑体" panose="02010609060101010101" charset="-122"/>
                <a:ea typeface="黑体" panose="02010609060101010101" charset="-122"/>
                <a:cs typeface="Times New Roman" panose="02020603050405020304" pitchFamily="18" charset="0"/>
                <a:sym typeface="Agency FB" panose="020B0503020202020204" pitchFamily="34" charset="0"/>
              </a:rPr>
              <a:t>选题背景和意义</a:t>
            </a:r>
            <a:endParaRPr lang="zh-CN" altLang="en-US" sz="2400" spc="600" dirty="0">
              <a:solidFill>
                <a:schemeClr val="accent1">
                  <a:lumMod val="100000"/>
                </a:schemeClr>
              </a:solidFill>
              <a:latin typeface="黑体" panose="02010609060101010101" charset="-122"/>
              <a:ea typeface="黑体" panose="02010609060101010101" charset="-122"/>
              <a:cs typeface="Times New Roman" panose="02020603050405020304" pitchFamily="18" charset="0"/>
              <a:sym typeface="Agency FB" panose="020B0503020202020204" pitchFamily="34" charset="0"/>
            </a:endParaRPr>
          </a:p>
        </p:txBody>
      </p:sp>
      <p:pic>
        <p:nvPicPr>
          <p:cNvPr id="2097153" name="图片 24"/>
          <p:cNvPicPr>
            <a:picLocks noChangeAspect="1"/>
          </p:cNvPicPr>
          <p:nvPr/>
        </p:nvPicPr>
        <p:blipFill>
          <a:blip r:embed="rId10" cstate="print"/>
          <a:srcRect/>
          <a:stretch>
            <a:fillRect/>
          </a:stretch>
        </p:blipFill>
        <p:spPr>
          <a:xfrm>
            <a:off x="511168" y="372358"/>
            <a:ext cx="2174882" cy="456069"/>
          </a:xfrm>
          <a:prstGeom prst="rect">
            <a:avLst/>
          </a:prstGeom>
        </p:spPr>
      </p:pic>
      <p:sp>
        <p:nvSpPr>
          <p:cNvPr id="1048601" name="Diamond 286"/>
          <p:cNvSpPr/>
          <p:nvPr>
            <p:custDataLst>
              <p:tags r:id="rId11"/>
            </p:custDataLst>
          </p:nvPr>
        </p:nvSpPr>
        <p:spPr>
          <a:xfrm>
            <a:off x="1926590" y="5551805"/>
            <a:ext cx="759460" cy="759460"/>
          </a:xfrm>
          <a:prstGeom prst="diamond">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ormAutofit/>
          </a:bodyPr>
          <a:p>
            <a:pPr algn="ctr"/>
            <a:r>
              <a:rPr lang="en-US" altLang="zh-CN" sz="1600">
                <a:solidFill>
                  <a:schemeClr val="bg1"/>
                </a:solidFill>
                <a:latin typeface="造字工房力黑（非商用）常规体" pitchFamily="50" charset="-122"/>
                <a:ea typeface="造字工房力黑（非商用）常规体" pitchFamily="50" charset="-122"/>
                <a:cs typeface="+mn-ea"/>
                <a:sym typeface="Agency FB" panose="020B0503020202020204" pitchFamily="34" charset="0"/>
              </a:rPr>
              <a:t>05</a:t>
            </a:r>
            <a:endParaRPr lang="en-US" altLang="zh-CN" sz="1600">
              <a:solidFill>
                <a:schemeClr val="bg1"/>
              </a:solidFill>
              <a:latin typeface="造字工房力黑（非商用）常规体" pitchFamily="50" charset="-122"/>
              <a:ea typeface="造字工房力黑（非商用）常规体" pitchFamily="50" charset="-122"/>
              <a:cs typeface="+mn-ea"/>
              <a:sym typeface="Agency FB" panose="020B0503020202020204" pitchFamily="34" charset="0"/>
            </a:endParaRPr>
          </a:p>
        </p:txBody>
      </p:sp>
      <p:sp>
        <p:nvSpPr>
          <p:cNvPr id="1048602" name="TextBox 300"/>
          <p:cNvSpPr txBox="1"/>
          <p:nvPr>
            <p:custDataLst>
              <p:tags r:id="rId12"/>
            </p:custDataLst>
          </p:nvPr>
        </p:nvSpPr>
        <p:spPr>
          <a:xfrm>
            <a:off x="2495550" y="5746750"/>
            <a:ext cx="4821555" cy="369570"/>
          </a:xfrm>
          <a:prstGeom prst="rect">
            <a:avLst/>
          </a:prstGeom>
          <a:noFill/>
        </p:spPr>
        <p:txBody>
          <a:bodyPr wrap="none" lIns="360000" tIns="0" rIns="0" bIns="0" anchor="b" anchorCtr="0">
            <a:noAutofit/>
          </a:bodyPr>
          <a:p>
            <a:pPr algn="l"/>
            <a:r>
              <a:rPr lang="zh-CN" altLang="en-US" sz="2400" spc="600" dirty="0">
                <a:solidFill>
                  <a:schemeClr val="accent4">
                    <a:lumMod val="100000"/>
                  </a:schemeClr>
                </a:solidFill>
                <a:latin typeface="黑体" panose="02010609060101010101" charset="-122"/>
                <a:ea typeface="黑体" panose="02010609060101010101" charset="-122"/>
                <a:cs typeface="Times New Roman" panose="02020603050405020304" pitchFamily="18" charset="0"/>
                <a:sym typeface="Agency FB" panose="020B0503020202020204" pitchFamily="34" charset="0"/>
              </a:rPr>
              <a:t>人员分工和计划安排</a:t>
            </a:r>
            <a:endParaRPr lang="zh-CN" altLang="en-US" sz="2400" spc="600" dirty="0">
              <a:solidFill>
                <a:schemeClr val="accent4">
                  <a:lumMod val="100000"/>
                </a:schemeClr>
              </a:solidFill>
              <a:latin typeface="黑体" panose="02010609060101010101" charset="-122"/>
              <a:ea typeface="黑体" panose="02010609060101010101" charset="-122"/>
              <a:cs typeface="Times New Roman" panose="02020603050405020304" pitchFamily="18" charset="0"/>
              <a:sym typeface="Agency FB" panose="020B0503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cstate="screen">
            <a:lum/>
          </a:blip>
          <a:srcRect/>
          <a:stretch>
            <a:fillRect/>
          </a:stretch>
        </a:blipFill>
        <a:effectLst/>
      </p:bgPr>
    </p:bg>
    <p:spTree>
      <p:nvGrpSpPr>
        <p:cNvPr id="45" name=""/>
        <p:cNvGrpSpPr/>
        <p:nvPr/>
      </p:nvGrpSpPr>
      <p:grpSpPr>
        <a:xfrm>
          <a:off x="0" y="0"/>
          <a:ext cx="0" cy="0"/>
          <a:chOff x="0" y="0"/>
          <a:chExt cx="0" cy="0"/>
        </a:xfrm>
      </p:grpSpPr>
      <p:sp>
        <p:nvSpPr>
          <p:cNvPr id="1048606" name="矩形 20"/>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pic>
        <p:nvPicPr>
          <p:cNvPr id="2097154" name="图片 1"/>
          <p:cNvPicPr/>
          <p:nvPr/>
        </p:nvPicPr>
        <p:blipFill>
          <a:blip r:embed="rId2"/>
          <a:srcRect r="17832"/>
          <a:stretch>
            <a:fillRect/>
          </a:stretch>
        </p:blipFill>
        <p:spPr>
          <a:xfrm>
            <a:off x="4064000" y="1407160"/>
            <a:ext cx="8128000" cy="4043680"/>
          </a:xfrm>
          <a:prstGeom prst="rect">
            <a:avLst/>
          </a:prstGeom>
        </p:spPr>
      </p:pic>
      <p:grpSp>
        <p:nvGrpSpPr>
          <p:cNvPr id="46" name="组合 22"/>
          <p:cNvGrpSpPr/>
          <p:nvPr/>
        </p:nvGrpSpPr>
        <p:grpSpPr>
          <a:xfrm>
            <a:off x="0" y="478155"/>
            <a:ext cx="12192001" cy="4972685"/>
            <a:chOff x="0" y="478155"/>
            <a:chExt cx="12192001" cy="4972685"/>
          </a:xfrm>
        </p:grpSpPr>
        <p:grpSp>
          <p:nvGrpSpPr>
            <p:cNvPr id="47" name="组合 25"/>
            <p:cNvGrpSpPr/>
            <p:nvPr/>
          </p:nvGrpSpPr>
          <p:grpSpPr>
            <a:xfrm>
              <a:off x="0" y="1407160"/>
              <a:ext cx="4064000" cy="4043680"/>
              <a:chOff x="0" y="1407160"/>
              <a:chExt cx="4064000" cy="4043680"/>
            </a:xfrm>
          </p:grpSpPr>
          <p:sp>
            <p:nvSpPr>
              <p:cNvPr id="1048607" name="矩形 31"/>
              <p:cNvSpPr/>
              <p:nvPr/>
            </p:nvSpPr>
            <p:spPr>
              <a:xfrm>
                <a:off x="0" y="1407160"/>
                <a:ext cx="4064000" cy="40436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造字工房力黑（非商用）常规体" pitchFamily="50" charset="-122"/>
                  <a:ea typeface="造字工房力黑（非商用）常规体" pitchFamily="50" charset="-122"/>
                  <a:cs typeface="+mn-ea"/>
                  <a:sym typeface="+mn-lt"/>
                </a:endParaRPr>
              </a:p>
            </p:txBody>
          </p:sp>
          <p:sp>
            <p:nvSpPr>
              <p:cNvPr id="1048608" name="文本框 33"/>
              <p:cNvSpPr txBox="1"/>
              <p:nvPr/>
            </p:nvSpPr>
            <p:spPr>
              <a:xfrm>
                <a:off x="127000" y="3210560"/>
                <a:ext cx="3810000" cy="1260475"/>
              </a:xfrm>
              <a:prstGeom prst="rect">
                <a:avLst/>
              </a:prstGeom>
              <a:noFill/>
            </p:spPr>
            <p:txBody>
              <a:bodyPr wrap="square" rtlCol="0">
                <a:noAutofit/>
              </a:bodyPr>
              <a:p>
                <a:pPr algn="ctr"/>
                <a:r>
                  <a:rPr lang="zh-CN" altLang="en-US" sz="4000" dirty="0">
                    <a:solidFill>
                      <a:schemeClr val="bg1"/>
                    </a:solidFill>
                    <a:latin typeface="黑体" panose="02010609060101010101" charset="-122"/>
                    <a:ea typeface="黑体" panose="02010609060101010101" charset="-122"/>
                    <a:cs typeface="Times New Roman" panose="02020603050405020304" pitchFamily="18" charset="0"/>
                    <a:sym typeface="+mn-lt"/>
                  </a:rPr>
                  <a:t>选题背景及意义</a:t>
                </a:r>
                <a:endParaRPr lang="en-US" altLang="zh-CN" sz="4000" dirty="0">
                  <a:solidFill>
                    <a:schemeClr val="bg1"/>
                  </a:solidFill>
                  <a:latin typeface="黑体" panose="02010609060101010101" charset="-122"/>
                  <a:ea typeface="黑体" panose="02010609060101010101" charset="-122"/>
                  <a:cs typeface="Times New Roman" panose="02020603050405020304" pitchFamily="18" charset="0"/>
                  <a:sym typeface="+mn-lt"/>
                </a:endParaRPr>
              </a:p>
            </p:txBody>
          </p:sp>
        </p:grpSp>
        <p:grpSp>
          <p:nvGrpSpPr>
            <p:cNvPr id="48" name="组合 26"/>
            <p:cNvGrpSpPr/>
            <p:nvPr/>
          </p:nvGrpSpPr>
          <p:grpSpPr>
            <a:xfrm>
              <a:off x="7564229" y="478155"/>
              <a:ext cx="4627772" cy="1386840"/>
              <a:chOff x="7564229" y="478155"/>
              <a:chExt cx="4627772" cy="1386840"/>
            </a:xfrm>
          </p:grpSpPr>
          <p:sp>
            <p:nvSpPr>
              <p:cNvPr id="1048609" name="任意多边形 28"/>
              <p:cNvSpPr/>
              <p:nvPr/>
            </p:nvSpPr>
            <p:spPr>
              <a:xfrm flipH="1" flipV="1">
                <a:off x="7564229" y="478155"/>
                <a:ext cx="4627771" cy="1386840"/>
              </a:xfrm>
              <a:custGeom>
                <a:avLst/>
                <a:gdLst>
                  <a:gd name="connsiteX0" fmla="*/ 0 w 7147560"/>
                  <a:gd name="connsiteY0" fmla="*/ 0 h 2814320"/>
                  <a:gd name="connsiteX1" fmla="*/ 6443980 w 7147560"/>
                  <a:gd name="connsiteY1" fmla="*/ 0 h 2814320"/>
                  <a:gd name="connsiteX2" fmla="*/ 7147560 w 7147560"/>
                  <a:gd name="connsiteY2" fmla="*/ 2814320 h 2814320"/>
                  <a:gd name="connsiteX3" fmla="*/ 0 w 7147560"/>
                  <a:gd name="connsiteY3" fmla="*/ 2814320 h 2814320"/>
                  <a:gd name="connsiteX0-1" fmla="*/ 0 w 8689506"/>
                  <a:gd name="connsiteY0-2" fmla="*/ 0 h 2814320"/>
                  <a:gd name="connsiteX1-3" fmla="*/ 6443980 w 8689506"/>
                  <a:gd name="connsiteY1-4" fmla="*/ 0 h 2814320"/>
                  <a:gd name="connsiteX2-5" fmla="*/ 8689506 w 8689506"/>
                  <a:gd name="connsiteY2-6" fmla="*/ 2814320 h 2814320"/>
                  <a:gd name="connsiteX3-7" fmla="*/ 0 w 8689506"/>
                  <a:gd name="connsiteY3-8" fmla="*/ 2814320 h 2814320"/>
                  <a:gd name="connsiteX4" fmla="*/ 0 w 8689506"/>
                  <a:gd name="connsiteY4" fmla="*/ 0 h 2814320"/>
                  <a:gd name="connsiteX0-9" fmla="*/ 0 w 9235080"/>
                  <a:gd name="connsiteY0-10" fmla="*/ 0 h 2834640"/>
                  <a:gd name="connsiteX1-11" fmla="*/ 6443980 w 9235080"/>
                  <a:gd name="connsiteY1-12" fmla="*/ 0 h 2834640"/>
                  <a:gd name="connsiteX2-13" fmla="*/ 9235080 w 9235080"/>
                  <a:gd name="connsiteY2-14" fmla="*/ 2834640 h 2834640"/>
                  <a:gd name="connsiteX3-15" fmla="*/ 0 w 9235080"/>
                  <a:gd name="connsiteY3-16" fmla="*/ 2814320 h 2834640"/>
                  <a:gd name="connsiteX4-17" fmla="*/ 0 w 9235080"/>
                  <a:gd name="connsiteY4-18" fmla="*/ 0 h 2834640"/>
                </a:gdLst>
                <a:ahLst/>
                <a:cxnLst>
                  <a:cxn ang="0">
                    <a:pos x="connsiteX0-1" y="connsiteY0-2"/>
                  </a:cxn>
                  <a:cxn ang="0">
                    <a:pos x="connsiteX1-3" y="connsiteY1-4"/>
                  </a:cxn>
                  <a:cxn ang="0">
                    <a:pos x="connsiteX2-5" y="connsiteY2-6"/>
                  </a:cxn>
                  <a:cxn ang="0">
                    <a:pos x="connsiteX3-7" y="connsiteY3-8"/>
                  </a:cxn>
                  <a:cxn ang="0">
                    <a:pos x="connsiteX4-17" y="connsiteY4-18"/>
                  </a:cxn>
                </a:cxnLst>
                <a:rect l="l" t="t" r="r" b="b"/>
                <a:pathLst>
                  <a:path w="9235080" h="2834640">
                    <a:moveTo>
                      <a:pt x="0" y="0"/>
                    </a:moveTo>
                    <a:lnTo>
                      <a:pt x="6443980" y="0"/>
                    </a:lnTo>
                    <a:lnTo>
                      <a:pt x="9235080" y="2834640"/>
                    </a:lnTo>
                    <a:lnTo>
                      <a:pt x="0" y="2814320"/>
                    </a:lnTo>
                    <a:lnTo>
                      <a:pt x="0" y="0"/>
                    </a:lnTo>
                    <a:close/>
                  </a:path>
                </a:pathLst>
              </a:cu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造字工房力黑（非商用）常规体" pitchFamily="50" charset="-122"/>
                  <a:ea typeface="造字工房力黑（非商用）常规体" pitchFamily="50" charset="-122"/>
                  <a:cs typeface="+mn-ea"/>
                  <a:sym typeface="+mn-lt"/>
                </a:endParaRPr>
              </a:p>
            </p:txBody>
          </p:sp>
          <p:sp>
            <p:nvSpPr>
              <p:cNvPr id="1048610" name="文本框 30"/>
              <p:cNvSpPr txBox="1"/>
              <p:nvPr/>
            </p:nvSpPr>
            <p:spPr>
              <a:xfrm>
                <a:off x="7712365" y="756076"/>
                <a:ext cx="4479636" cy="764540"/>
              </a:xfrm>
              <a:prstGeom prst="rect">
                <a:avLst/>
              </a:prstGeom>
              <a:noFill/>
            </p:spPr>
            <p:txBody>
              <a:bodyPr wrap="square" rtlCol="0">
                <a:spAutoFit/>
              </a:bodyPr>
              <a:p>
                <a:pPr algn="r"/>
                <a:r>
                  <a:rPr lang="en-US" altLang="zh-CN" sz="4000" spc="300" dirty="0">
                    <a:solidFill>
                      <a:schemeClr val="bg1"/>
                    </a:solidFill>
                    <a:latin typeface="造字工房力黑（非商用）常规体" pitchFamily="50" charset="-122"/>
                    <a:ea typeface="造字工房力黑（非商用）常规体" pitchFamily="50" charset="-122"/>
                    <a:cs typeface="+mn-ea"/>
                    <a:sym typeface="+mn-lt"/>
                  </a:rPr>
                  <a:t>PART ONE</a:t>
                </a:r>
                <a:endParaRPr lang="zh-CN" altLang="en-US" sz="4000" spc="300" dirty="0">
                  <a:solidFill>
                    <a:schemeClr val="bg1"/>
                  </a:solidFill>
                  <a:latin typeface="造字工房力黑（非商用）常规体" pitchFamily="50" charset="-122"/>
                  <a:ea typeface="造字工房力黑（非商用）常规体" pitchFamily="50" charset="-122"/>
                  <a:cs typeface="+mn-ea"/>
                  <a:sym typeface="+mn-lt"/>
                </a:endParaRPr>
              </a:p>
            </p:txBody>
          </p:sp>
        </p:grpSp>
        <p:sp>
          <p:nvSpPr>
            <p:cNvPr id="1048611" name="文本框 27"/>
            <p:cNvSpPr txBox="1"/>
            <p:nvPr/>
          </p:nvSpPr>
          <p:spPr>
            <a:xfrm>
              <a:off x="9550399" y="3052435"/>
              <a:ext cx="2349194" cy="1577339"/>
            </a:xfrm>
            <a:prstGeom prst="rect">
              <a:avLst/>
            </a:prstGeom>
            <a:noFill/>
            <a:ln>
              <a:solidFill>
                <a:schemeClr val="bg1"/>
              </a:solidFill>
            </a:ln>
          </p:spPr>
          <p:txBody>
            <a:bodyPr wrap="square" rtlCol="0">
              <a:spAutoFit/>
            </a:bodyPr>
            <a:p>
              <a:pPr algn="ctr"/>
              <a:r>
                <a:rPr lang="en-US" altLang="zh-CN" sz="8800" spc="600" dirty="0">
                  <a:solidFill>
                    <a:schemeClr val="bg1"/>
                  </a:solidFill>
                  <a:latin typeface="造字工房力黑（非商用）常规体" pitchFamily="50" charset="-122"/>
                  <a:ea typeface="造字工房力黑（非商用）常规体" pitchFamily="50" charset="-122"/>
                  <a:cs typeface="+mn-ea"/>
                  <a:sym typeface="+mn-lt"/>
                </a:rPr>
                <a:t>01</a:t>
              </a:r>
              <a:endParaRPr lang="zh-CN" altLang="en-US" sz="8800" spc="600" dirty="0">
                <a:solidFill>
                  <a:schemeClr val="bg1"/>
                </a:solidFill>
                <a:latin typeface="造字工房力黑（非商用）常规体" pitchFamily="50" charset="-122"/>
                <a:ea typeface="造字工房力黑（非商用）常规体" pitchFamily="50" charset="-122"/>
                <a:cs typeface="+mn-ea"/>
                <a:sym typeface="+mn-lt"/>
              </a:endParaRPr>
            </a:p>
          </p:txBody>
        </p:sp>
      </p:grpSp>
      <p:pic>
        <p:nvPicPr>
          <p:cNvPr id="2097155" name="图片 13"/>
          <p:cNvPicPr>
            <a:picLocks noChangeAspect="1"/>
          </p:cNvPicPr>
          <p:nvPr/>
        </p:nvPicPr>
        <p:blipFill>
          <a:blip r:embed="rId3" cstate="print"/>
          <a:srcRect/>
          <a:stretch>
            <a:fillRect/>
          </a:stretch>
        </p:blipFill>
        <p:spPr>
          <a:xfrm>
            <a:off x="874769" y="477840"/>
            <a:ext cx="2174882" cy="45606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51" name=""/>
        <p:cNvGrpSpPr/>
        <p:nvPr/>
      </p:nvGrpSpPr>
      <p:grpSpPr>
        <a:xfrm>
          <a:off x="0" y="0"/>
          <a:ext cx="0" cy="0"/>
          <a:chOff x="0" y="0"/>
          <a:chExt cx="0" cy="0"/>
        </a:xfrm>
      </p:grpSpPr>
      <p:grpSp>
        <p:nvGrpSpPr>
          <p:cNvPr id="59" name="组合 43"/>
          <p:cNvGrpSpPr/>
          <p:nvPr/>
        </p:nvGrpSpPr>
        <p:grpSpPr>
          <a:xfrm>
            <a:off x="0" y="156335"/>
            <a:ext cx="11940390" cy="497839"/>
            <a:chOff x="0" y="156335"/>
            <a:chExt cx="11940390" cy="497839"/>
          </a:xfrm>
        </p:grpSpPr>
        <p:grpSp>
          <p:nvGrpSpPr>
            <p:cNvPr id="60" name="组合 44"/>
            <p:cNvGrpSpPr/>
            <p:nvPr/>
          </p:nvGrpSpPr>
          <p:grpSpPr>
            <a:xfrm>
              <a:off x="0" y="156335"/>
              <a:ext cx="9666514" cy="497839"/>
              <a:chOff x="0" y="248698"/>
              <a:chExt cx="9666514" cy="497839"/>
            </a:xfrm>
          </p:grpSpPr>
          <p:grpSp>
            <p:nvGrpSpPr>
              <p:cNvPr id="61" name="组合 46"/>
              <p:cNvGrpSpPr/>
              <p:nvPr/>
            </p:nvGrpSpPr>
            <p:grpSpPr>
              <a:xfrm>
                <a:off x="0" y="294640"/>
                <a:ext cx="880552" cy="375920"/>
                <a:chOff x="0" y="294640"/>
                <a:chExt cx="1094740" cy="467360"/>
              </a:xfrm>
              <a:solidFill>
                <a:srgbClr val="EE8A10"/>
              </a:solidFill>
            </p:grpSpPr>
            <p:sp>
              <p:nvSpPr>
                <p:cNvPr id="1048626"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48627"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48628"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1048629" name="文本框 47"/>
              <p:cNvSpPr txBox="1"/>
              <p:nvPr/>
            </p:nvSpPr>
            <p:spPr>
              <a:xfrm>
                <a:off x="972489" y="248698"/>
                <a:ext cx="2702560" cy="497839"/>
              </a:xfrm>
              <a:prstGeom prst="rect">
                <a:avLst/>
              </a:prstGeom>
              <a:noFill/>
            </p:spPr>
            <p:txBody>
              <a:bodyPr wrap="square" rtlCol="0">
                <a:spAutoFit/>
              </a:bodyPr>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one</a:t>
                </a:r>
                <a:endParaRPr lang="zh-CN" altLang="en-US" sz="2400" b="1" spc="600" dirty="0">
                  <a:latin typeface="锐字工房云字库细圆GBK" panose="02010604000000000000" pitchFamily="2" charset="-122"/>
                  <a:ea typeface="锐字工房云字库细圆GBK" panose="02010604000000000000" pitchFamily="2" charset="-122"/>
                </a:endParaRPr>
              </a:p>
            </p:txBody>
          </p:sp>
          <p:grpSp>
            <p:nvGrpSpPr>
              <p:cNvPr id="62" name="组合 48"/>
              <p:cNvGrpSpPr/>
              <p:nvPr/>
            </p:nvGrpSpPr>
            <p:grpSpPr>
              <a:xfrm>
                <a:off x="3356076" y="408709"/>
                <a:ext cx="1749361" cy="147782"/>
                <a:chOff x="635462" y="775854"/>
                <a:chExt cx="1749361" cy="147782"/>
              </a:xfrm>
              <a:solidFill>
                <a:srgbClr val="EE8A10"/>
              </a:solidFill>
            </p:grpSpPr>
            <p:sp>
              <p:nvSpPr>
                <p:cNvPr id="1048630" name="椭圆 50"/>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631" name="椭圆 51"/>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632" name="椭圆 52"/>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633" name="椭圆 53"/>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634" name="椭圆 54"/>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cxnSp>
            <p:nvCxnSpPr>
              <p:cNvPr id="3145728" name="直接连接符 49"/>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56" name="图片 45"/>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9" name="标题 8"/>
          <p:cNvSpPr>
            <a:spLocks noGrp="1"/>
          </p:cNvSpPr>
          <p:nvPr>
            <p:custDataLst>
              <p:tags r:id="rId2"/>
            </p:custDataLst>
          </p:nvPr>
        </p:nvSpPr>
        <p:spPr>
          <a:xfrm>
            <a:off x="335280" y="709295"/>
            <a:ext cx="8285480" cy="609600"/>
          </a:xfrm>
          <a:prstGeom prst="rect">
            <a:avLst/>
          </a:prstGeom>
          <a:noFill/>
        </p:spPr>
        <p:txBody>
          <a:bodyPr vert="horz" lIns="0" tIns="0" rIns="0" bIns="0" rtlCol="0" anchor="t" anchorCtr="0">
            <a:noAutofit/>
          </a:bodyPr>
          <a:lstStyle>
            <a:lvl1pPr marL="0" indent="0" algn="l" defTabSz="914400" rtl="0" eaLnBrk="1" fontAlgn="auto" latinLnBrk="0" hangingPunct="1">
              <a:lnSpc>
                <a:spcPct val="111000"/>
              </a:lnSpc>
              <a:spcBef>
                <a:spcPct val="0"/>
              </a:spcBef>
              <a:spcAft>
                <a:spcPct val="0"/>
              </a:spcAft>
              <a:buNone/>
              <a:defRPr sz="3600" b="0" u="none" strike="noStrike" kern="1200" cap="none" spc="0" normalizeH="0" baseline="0">
                <a:solidFill>
                  <a:schemeClr val="tx1"/>
                </a:solidFill>
                <a:uFillTx/>
                <a:latin typeface="MiSans Demibold" panose="00000700000000000000" charset="-122"/>
                <a:ea typeface="MiSans Medium" panose="00000600000000000000" charset="-122"/>
                <a:cs typeface="+mj-cs"/>
                <a:sym typeface="MiSans Demibold" panose="00000700000000000000" charset="-122"/>
              </a:defRPr>
            </a:lvl1pPr>
          </a:lstStyle>
          <a:p>
            <a:r>
              <a:rPr lang="zh-CN" altLang="en-US" sz="2800">
                <a:latin typeface="黑体" panose="02010609060101010101" charset="-122"/>
                <a:ea typeface="黑体" panose="02010609060101010101" charset="-122"/>
              </a:rPr>
              <a:t>通用机器人的灵巧抓取在现实中的运用</a:t>
            </a:r>
            <a:endParaRPr lang="zh-CN" altLang="en-US" sz="2800">
              <a:latin typeface="黑体" panose="02010609060101010101" charset="-122"/>
              <a:ea typeface="黑体" panose="02010609060101010101" charset="-122"/>
            </a:endParaRPr>
          </a:p>
        </p:txBody>
      </p:sp>
      <p:sp>
        <p:nvSpPr>
          <p:cNvPr id="11" name="文本占位符 10"/>
          <p:cNvSpPr>
            <a:spLocks noGrp="1"/>
          </p:cNvSpPr>
          <p:nvPr>
            <p:custDataLst>
              <p:tags r:id="rId3"/>
            </p:custDataLst>
          </p:nvPr>
        </p:nvSpPr>
        <p:spPr>
          <a:xfrm>
            <a:off x="641350" y="4792345"/>
            <a:ext cx="5080000" cy="1266825"/>
          </a:xfrm>
          <a:prstGeom prst="rect">
            <a:avLst/>
          </a:prstGeom>
          <a:noFill/>
        </p:spPr>
        <p:txBody>
          <a:bodyPr vert="horz" lIns="0" tIns="0" rIns="0" bIns="0" rtlCol="0" anchor="t">
            <a:noAutofit/>
          </a:bodyPr>
          <a:lstStyle>
            <a:lvl1pPr marL="0" indent="0" algn="l" defTabSz="914400" rtl="0" eaLnBrk="1" fontAlgn="auto" latinLnBrk="0" hangingPunct="1">
              <a:lnSpc>
                <a:spcPct val="125000"/>
              </a:lnSpc>
              <a:spcBef>
                <a:spcPct val="0"/>
              </a:spcBef>
              <a:spcAft>
                <a:spcPct val="0"/>
              </a:spcAft>
              <a:buFont typeface="Arial" panose="020B0604020202020204" pitchFamily="34" charset="0"/>
              <a:buNone/>
              <a:defRPr sz="1600" b="0" u="none" strike="noStrike" kern="1200" cap="none" spc="0" normalizeH="0" baseline="0">
                <a:solidFill>
                  <a:schemeClr val="tx1"/>
                </a:solidFill>
                <a:uFillTx/>
                <a:latin typeface="MiSans Medium" panose="00000600000000000000" charset="-122"/>
                <a:ea typeface="MiSans Normal" panose="00000500000000000000" charset="-122"/>
                <a:cs typeface="+mn-cs"/>
                <a:sym typeface="MiSans Medium" panose="00000600000000000000"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随着具身智能与机器人技术的快速发展，研发一个能够抓取现实世界中任何物体的灵巧手，已成为通用具身智能机器人发展的核心关键。相较于传统的平行夹持器或真空吸盘等简单末端执行器，五指灵巧手在结构上高度还原了人类的手部构造，这赋予了它们在操作灵活性、运动精确度以及任务多功能性上无可比拟的显著优势。</a:t>
            </a:r>
            <a:endParaRPr lang="zh-CN" altLang="en-US"/>
          </a:p>
        </p:txBody>
      </p:sp>
      <p:pic>
        <p:nvPicPr>
          <p:cNvPr id="2" name="图片 1" descr="AA1ZtP0x"/>
          <p:cNvPicPr>
            <a:picLocks noChangeAspect="1"/>
          </p:cNvPicPr>
          <p:nvPr/>
        </p:nvPicPr>
        <p:blipFill>
          <a:blip r:embed="rId4"/>
          <a:stretch>
            <a:fillRect/>
          </a:stretch>
        </p:blipFill>
        <p:spPr>
          <a:xfrm>
            <a:off x="6849110" y="1573530"/>
            <a:ext cx="4387215" cy="2863850"/>
          </a:xfrm>
          <a:prstGeom prst="rect">
            <a:avLst/>
          </a:prstGeom>
        </p:spPr>
      </p:pic>
      <p:pic>
        <p:nvPicPr>
          <p:cNvPr id="3" name="图片 2" descr="images"/>
          <p:cNvPicPr>
            <a:picLocks noChangeAspect="1"/>
          </p:cNvPicPr>
          <p:nvPr/>
        </p:nvPicPr>
        <p:blipFill>
          <a:blip r:embed="rId5"/>
          <a:stretch>
            <a:fillRect/>
          </a:stretch>
        </p:blipFill>
        <p:spPr>
          <a:xfrm>
            <a:off x="560070" y="1567180"/>
            <a:ext cx="5077460" cy="2870200"/>
          </a:xfrm>
          <a:prstGeom prst="rect">
            <a:avLst/>
          </a:prstGeom>
        </p:spPr>
      </p:pic>
      <p:sp>
        <p:nvSpPr>
          <p:cNvPr id="13" name="文本占位符 12"/>
          <p:cNvSpPr>
            <a:spLocks noGrp="1"/>
          </p:cNvSpPr>
          <p:nvPr>
            <p:custDataLst>
              <p:tags r:id="rId6"/>
            </p:custDataLst>
          </p:nvPr>
        </p:nvSpPr>
        <p:spPr>
          <a:xfrm>
            <a:off x="6753225" y="4792345"/>
            <a:ext cx="4829175" cy="2019935"/>
          </a:xfrm>
          <a:prstGeom prst="rect">
            <a:avLst/>
          </a:prstGeom>
          <a:noFill/>
        </p:spPr>
        <p:txBody>
          <a:bodyPr vert="horz" lIns="0" tIns="0" rIns="0" bIns="0" rtlCol="0" anchor="t">
            <a:noAutofit/>
          </a:bodyPr>
          <a:lstStyle>
            <a:lvl1pPr marL="0" indent="0" algn="l" defTabSz="914400" rtl="0" eaLnBrk="1" fontAlgn="auto" latinLnBrk="0" hangingPunct="1">
              <a:lnSpc>
                <a:spcPct val="125000"/>
              </a:lnSpc>
              <a:spcBef>
                <a:spcPct val="0"/>
              </a:spcBef>
              <a:spcAft>
                <a:spcPct val="0"/>
              </a:spcAft>
              <a:buFont typeface="Arial" panose="020B0604020202020204" pitchFamily="34" charset="0"/>
              <a:buNone/>
              <a:defRPr sz="1600" b="0" u="none" strike="noStrike" kern="1200" cap="none" spc="0" normalizeH="0" baseline="0">
                <a:solidFill>
                  <a:schemeClr val="tx1"/>
                </a:solidFill>
                <a:uFillTx/>
                <a:latin typeface="MiSans Medium" panose="00000600000000000000" charset="-122"/>
                <a:ea typeface="MiSans Normal" panose="00000500000000000000" charset="-122"/>
                <a:cs typeface="+mn-cs"/>
                <a:sym typeface="MiSans Medium" panose="00000600000000000000"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如今，智能机器人正越来越密集地被部署在充满人类活动的生活与工作环境中。这意味着，机器人需要像人类一样去交互、接触广泛多样的常见物体，甚至需要熟练使用那些专门为人类手部设计的工具。因此，开发一种高精度且具备通用适配能力的灵巧抓取生成算法，构成了具身智能物理交互的最底层基石。</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65" name=""/>
        <p:cNvGrpSpPr/>
        <p:nvPr/>
      </p:nvGrpSpPr>
      <p:grpSpPr>
        <a:xfrm>
          <a:off x="0" y="0"/>
          <a:ext cx="0" cy="0"/>
          <a:chOff x="0" y="0"/>
          <a:chExt cx="0" cy="0"/>
        </a:xfrm>
      </p:grpSpPr>
      <p:grpSp>
        <p:nvGrpSpPr>
          <p:cNvPr id="66" name="组合 43"/>
          <p:cNvGrpSpPr/>
          <p:nvPr/>
        </p:nvGrpSpPr>
        <p:grpSpPr>
          <a:xfrm>
            <a:off x="0" y="156335"/>
            <a:ext cx="11940390" cy="497839"/>
            <a:chOff x="0" y="156335"/>
            <a:chExt cx="11940390" cy="497839"/>
          </a:xfrm>
        </p:grpSpPr>
        <p:grpSp>
          <p:nvGrpSpPr>
            <p:cNvPr id="67" name="组合 44"/>
            <p:cNvGrpSpPr/>
            <p:nvPr/>
          </p:nvGrpSpPr>
          <p:grpSpPr>
            <a:xfrm>
              <a:off x="0" y="156335"/>
              <a:ext cx="9666514" cy="497839"/>
              <a:chOff x="0" y="248698"/>
              <a:chExt cx="9666514" cy="497839"/>
            </a:xfrm>
          </p:grpSpPr>
          <p:grpSp>
            <p:nvGrpSpPr>
              <p:cNvPr id="68" name="组合 46"/>
              <p:cNvGrpSpPr/>
              <p:nvPr/>
            </p:nvGrpSpPr>
            <p:grpSpPr>
              <a:xfrm>
                <a:off x="0" y="294640"/>
                <a:ext cx="880552" cy="375920"/>
                <a:chOff x="0" y="294640"/>
                <a:chExt cx="1094740" cy="467360"/>
              </a:xfrm>
              <a:solidFill>
                <a:srgbClr val="EE8A10"/>
              </a:solidFill>
            </p:grpSpPr>
            <p:sp>
              <p:nvSpPr>
                <p:cNvPr id="1048641"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48642"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48643"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1048644" name="文本框 47"/>
              <p:cNvSpPr txBox="1"/>
              <p:nvPr/>
            </p:nvSpPr>
            <p:spPr>
              <a:xfrm>
                <a:off x="972489" y="248698"/>
                <a:ext cx="2702560" cy="497839"/>
              </a:xfrm>
              <a:prstGeom prst="rect">
                <a:avLst/>
              </a:prstGeom>
              <a:noFill/>
            </p:spPr>
            <p:txBody>
              <a:bodyPr wrap="square" rtlCol="0">
                <a:spAutoFit/>
              </a:bodyPr>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one</a:t>
                </a:r>
                <a:endParaRPr lang="zh-CN" altLang="en-US" sz="2400" b="1" spc="600" dirty="0">
                  <a:latin typeface="锐字工房云字库细圆GBK" panose="02010604000000000000" pitchFamily="2" charset="-122"/>
                  <a:ea typeface="锐字工房云字库细圆GBK" panose="02010604000000000000" pitchFamily="2" charset="-122"/>
                </a:endParaRPr>
              </a:p>
            </p:txBody>
          </p:sp>
          <p:grpSp>
            <p:nvGrpSpPr>
              <p:cNvPr id="69" name="组合 48"/>
              <p:cNvGrpSpPr/>
              <p:nvPr/>
            </p:nvGrpSpPr>
            <p:grpSpPr>
              <a:xfrm>
                <a:off x="3356076" y="408709"/>
                <a:ext cx="1749361" cy="147782"/>
                <a:chOff x="635462" y="775854"/>
                <a:chExt cx="1749361" cy="147782"/>
              </a:xfrm>
              <a:solidFill>
                <a:srgbClr val="EE8A10"/>
              </a:solidFill>
            </p:grpSpPr>
            <p:sp>
              <p:nvSpPr>
                <p:cNvPr id="1048645" name="椭圆 50"/>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646" name="椭圆 51"/>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647" name="椭圆 52"/>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648" name="椭圆 53"/>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649" name="椭圆 54"/>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cxnSp>
            <p:nvCxnSpPr>
              <p:cNvPr id="3145729" name="直接连接符 49"/>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57" name="图片 45"/>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2" name="标题 1"/>
          <p:cNvSpPr>
            <a:spLocks noGrp="1"/>
          </p:cNvSpPr>
          <p:nvPr>
            <p:custDataLst>
              <p:tags r:id="rId2"/>
            </p:custDataLst>
          </p:nvPr>
        </p:nvSpPr>
        <p:spPr>
          <a:xfrm>
            <a:off x="578485" y="702945"/>
            <a:ext cx="10972800" cy="609600"/>
          </a:xfrm>
          <a:prstGeom prst="rect">
            <a:avLst/>
          </a:prstGeom>
          <a:noFill/>
        </p:spPr>
        <p:txBody>
          <a:bodyPr vert="horz" lIns="0" tIns="0" rIns="0" bIns="0" rtlCol="0" anchor="t" anchorCtr="0">
            <a:normAutofit/>
          </a:bodyPr>
          <a:lstStyle>
            <a:lvl1pPr marL="0" indent="0" algn="l" defTabSz="914400" rtl="0" eaLnBrk="1" fontAlgn="auto" latinLnBrk="0" hangingPunct="1">
              <a:lnSpc>
                <a:spcPct val="111000"/>
              </a:lnSpc>
              <a:spcBef>
                <a:spcPct val="0"/>
              </a:spcBef>
              <a:spcAft>
                <a:spcPct val="0"/>
              </a:spcAft>
              <a:buNone/>
              <a:defRPr sz="3600" b="0" u="none" strike="noStrike" kern="1200" cap="none" spc="0" normalizeH="0" baseline="0">
                <a:solidFill>
                  <a:schemeClr val="tx1"/>
                </a:solidFill>
                <a:uFillTx/>
                <a:latin typeface="MiSans Demibold" panose="00000700000000000000" charset="-122"/>
                <a:ea typeface="MiSans Medium" panose="00000600000000000000" charset="-122"/>
                <a:cs typeface="+mj-cs"/>
                <a:sym typeface="MiSans Demibold" panose="00000700000000000000" charset="-122"/>
              </a:defRPr>
            </a:lvl1pPr>
          </a:lstStyle>
          <a:p>
            <a:r>
              <a:rPr lang="zh-CN" altLang="en-US" sz="2800">
                <a:latin typeface="黑体" panose="02010609060101010101" charset="-122"/>
                <a:ea typeface="黑体" panose="02010609060101010101" charset="-122"/>
                <a:cs typeface="黑体" panose="02010609060101010101" charset="-122"/>
              </a:rPr>
              <a:t>机器手是如何</a:t>
            </a:r>
            <a:r>
              <a:rPr lang="en-US" altLang="zh-CN" sz="2800">
                <a:latin typeface="黑体" panose="02010609060101010101" charset="-122"/>
                <a:ea typeface="黑体" panose="02010609060101010101" charset="-122"/>
                <a:cs typeface="黑体" panose="02010609060101010101" charset="-122"/>
              </a:rPr>
              <a:t>“</a:t>
            </a:r>
            <a:r>
              <a:rPr lang="zh-CN" altLang="en-US" sz="2800">
                <a:latin typeface="黑体" panose="02010609060101010101" charset="-122"/>
                <a:ea typeface="黑体" panose="02010609060101010101" charset="-122"/>
                <a:cs typeface="黑体" panose="02010609060101010101" charset="-122"/>
              </a:rPr>
              <a:t>拿</a:t>
            </a:r>
            <a:r>
              <a:rPr lang="en-US" altLang="zh-CN" sz="2800">
                <a:latin typeface="黑体" panose="02010609060101010101" charset="-122"/>
                <a:ea typeface="黑体" panose="02010609060101010101" charset="-122"/>
                <a:cs typeface="黑体" panose="02010609060101010101" charset="-122"/>
              </a:rPr>
              <a:t>”</a:t>
            </a:r>
            <a:r>
              <a:rPr lang="zh-CN" altLang="en-US" sz="2800">
                <a:latin typeface="黑体" panose="02010609060101010101" charset="-122"/>
                <a:ea typeface="黑体" panose="02010609060101010101" charset="-122"/>
                <a:cs typeface="黑体" panose="02010609060101010101" charset="-122"/>
              </a:rPr>
              <a:t>起物体的？</a:t>
            </a:r>
            <a:endParaRPr lang="zh-CN" altLang="en-US" sz="2800">
              <a:latin typeface="黑体" panose="02010609060101010101" charset="-122"/>
              <a:ea typeface="黑体" panose="02010609060101010101" charset="-122"/>
              <a:cs typeface="黑体" panose="02010609060101010101" charset="-122"/>
            </a:endParaRPr>
          </a:p>
        </p:txBody>
      </p:sp>
      <p:sp>
        <p:nvSpPr>
          <p:cNvPr id="16" name="文本框 15"/>
          <p:cNvSpPr txBox="1"/>
          <p:nvPr/>
        </p:nvSpPr>
        <p:spPr>
          <a:xfrm>
            <a:off x="7324725" y="1233805"/>
            <a:ext cx="4751705" cy="1814830"/>
          </a:xfrm>
          <a:prstGeom prst="rect">
            <a:avLst/>
          </a:prstGeom>
          <a:noFill/>
        </p:spPr>
        <p:txBody>
          <a:bodyPr wrap="square" rtlCol="0">
            <a:spAutoFit/>
          </a:bodyPr>
          <a:p>
            <a:r>
              <a:rPr lang="zh-CN" altLang="en-US" sz="1600"/>
              <a:t>机器人抓取</a:t>
            </a:r>
            <a:r>
              <a:rPr lang="zh-CN" altLang="en-US" sz="1600"/>
              <a:t>在原理上可以拆解为几个简单易懂的步骤。首先，机器人需要</a:t>
            </a:r>
            <a:r>
              <a:rPr lang="en-US" altLang="zh-CN" sz="1600"/>
              <a:t>“</a:t>
            </a:r>
            <a:r>
              <a:rPr lang="zh-CN" altLang="en-US" sz="1600"/>
              <a:t>看到</a:t>
            </a:r>
            <a:r>
              <a:rPr lang="en-US" altLang="zh-CN" sz="1600"/>
              <a:t>”</a:t>
            </a:r>
            <a:r>
              <a:rPr lang="zh-CN" altLang="en-US" sz="1600"/>
              <a:t>并理解物体，通常通过提取</a:t>
            </a:r>
            <a:r>
              <a:rPr lang="en-US" altLang="zh-CN" sz="1600"/>
              <a:t>3D</a:t>
            </a:r>
            <a:r>
              <a:rPr lang="zh-CN" altLang="en-US" sz="1600"/>
              <a:t>点云等形式来获取物体的形状特征</a:t>
            </a:r>
            <a:r>
              <a:rPr lang="en-US" altLang="zh-CN" sz="1600"/>
              <a:t> </a:t>
            </a:r>
            <a:r>
              <a:rPr lang="zh-CN" altLang="en-US" sz="1600"/>
              <a:t>。接着，算法大脑要计算出一个精准的</a:t>
            </a:r>
            <a:r>
              <a:rPr lang="en-US" altLang="zh-CN" sz="1600"/>
              <a:t>“</a:t>
            </a:r>
            <a:r>
              <a:rPr lang="zh-CN" altLang="en-US" sz="1600"/>
              <a:t>抓取姿态</a:t>
            </a:r>
            <a:r>
              <a:rPr lang="en-US" altLang="zh-CN" sz="1600"/>
              <a:t>”——</a:t>
            </a:r>
            <a:r>
              <a:rPr lang="zh-CN" altLang="en-US" sz="1600"/>
              <a:t>这就好比决定手要放在空间中的哪个位置（平移）、手腕怎么转动（旋转）、以及每根手指的关节需要弯曲多少度（关节角度）</a:t>
            </a:r>
            <a:r>
              <a:rPr lang="en-US" altLang="zh-CN" sz="1600"/>
              <a:t> </a:t>
            </a:r>
            <a:r>
              <a:rPr lang="zh-CN" altLang="en-US" sz="1600"/>
              <a:t>。</a:t>
            </a:r>
            <a:endParaRPr lang="zh-CN" altLang="en-US" sz="1600"/>
          </a:p>
        </p:txBody>
      </p:sp>
      <p:sp>
        <p:nvSpPr>
          <p:cNvPr id="17" name="文本框 16"/>
          <p:cNvSpPr txBox="1"/>
          <p:nvPr/>
        </p:nvSpPr>
        <p:spPr>
          <a:xfrm>
            <a:off x="7325360" y="3261995"/>
            <a:ext cx="4445000" cy="3046095"/>
          </a:xfrm>
          <a:prstGeom prst="rect">
            <a:avLst/>
          </a:prstGeom>
          <a:noFill/>
        </p:spPr>
        <p:txBody>
          <a:bodyPr wrap="square" rtlCol="0">
            <a:spAutoFit/>
          </a:bodyPr>
          <a:p>
            <a:r>
              <a:rPr lang="zh-CN" altLang="en-US" sz="1600"/>
              <a:t>在过去，科学家主要靠</a:t>
            </a:r>
            <a:r>
              <a:rPr lang="en-US" altLang="zh-CN" sz="1600"/>
              <a:t>“</a:t>
            </a:r>
            <a:r>
              <a:rPr lang="zh-CN" altLang="en-US" sz="1600"/>
              <a:t>硬算</a:t>
            </a:r>
            <a:r>
              <a:rPr lang="en-US" altLang="zh-CN" sz="1600"/>
              <a:t>”</a:t>
            </a:r>
            <a:r>
              <a:rPr lang="zh-CN" altLang="en-US" sz="1600"/>
              <a:t>（分析法），利用复杂的力学公式来计算手指施加的力是否能稳稳锁住物体并满足特定物理约束</a:t>
            </a:r>
            <a:r>
              <a:rPr lang="en-US" altLang="zh-CN" sz="1600"/>
              <a:t> </a:t>
            </a:r>
            <a:r>
              <a:rPr lang="zh-CN" altLang="en-US" sz="1600"/>
              <a:t>。但这种方法计算量极大且成功率低</a:t>
            </a:r>
            <a:r>
              <a:rPr lang="en-US" altLang="zh-CN" sz="1600"/>
              <a:t> </a:t>
            </a:r>
            <a:r>
              <a:rPr lang="zh-CN" altLang="en-US" sz="1600"/>
              <a:t>。如今，主流方法转为了</a:t>
            </a:r>
            <a:r>
              <a:rPr lang="en-US" altLang="zh-CN" sz="1600"/>
              <a:t>“</a:t>
            </a:r>
            <a:r>
              <a:rPr lang="zh-CN" altLang="en-US" sz="1600"/>
              <a:t>数据学习</a:t>
            </a:r>
            <a:r>
              <a:rPr lang="en-US" altLang="zh-CN" sz="1600"/>
              <a:t>”</a:t>
            </a:r>
            <a:r>
              <a:rPr lang="zh-CN" altLang="en-US" sz="1600"/>
              <a:t>（数据驱动法），即让</a:t>
            </a:r>
            <a:r>
              <a:rPr lang="en-US" altLang="zh-CN" sz="1600"/>
              <a:t>AI</a:t>
            </a:r>
            <a:r>
              <a:rPr lang="zh-CN" altLang="en-US" sz="1600"/>
              <a:t>学习海量成功抓取的例子，直接预测抓取动作</a:t>
            </a:r>
            <a:r>
              <a:rPr lang="en-US" altLang="zh-CN" sz="1600"/>
              <a:t> </a:t>
            </a:r>
            <a:r>
              <a:rPr lang="zh-CN" altLang="en-US" sz="1600"/>
              <a:t>。无论用哪种方法，一个成功的抓取都必须满足三大常识：第一，手指内侧要紧紧贴合甚至拉近物体表面</a:t>
            </a:r>
            <a:r>
              <a:rPr lang="en-US" altLang="zh-CN" sz="1600"/>
              <a:t> </a:t>
            </a:r>
            <a:r>
              <a:rPr lang="zh-CN" altLang="en-US" sz="1600"/>
              <a:t>；第二，机器人的手不能不合常理地</a:t>
            </a:r>
            <a:r>
              <a:rPr lang="en-US" altLang="zh-CN" sz="1600"/>
              <a:t>“</a:t>
            </a:r>
            <a:r>
              <a:rPr lang="zh-CN" altLang="en-US" sz="1600"/>
              <a:t>穿透</a:t>
            </a:r>
            <a:r>
              <a:rPr lang="en-US" altLang="zh-CN" sz="1600"/>
              <a:t>”</a:t>
            </a:r>
            <a:r>
              <a:rPr lang="zh-CN" altLang="en-US" sz="1600"/>
              <a:t>到物体内部</a:t>
            </a:r>
            <a:r>
              <a:rPr lang="en-US" altLang="zh-CN" sz="1600"/>
              <a:t> </a:t>
            </a:r>
            <a:r>
              <a:rPr lang="zh-CN" altLang="en-US" sz="1600"/>
              <a:t>；第三，手指和手指之间不能互相碰撞</a:t>
            </a:r>
            <a:r>
              <a:rPr lang="en-US" altLang="zh-CN" sz="1600"/>
              <a:t>“</a:t>
            </a:r>
            <a:r>
              <a:rPr lang="zh-CN" altLang="en-US" sz="1600"/>
              <a:t>打架</a:t>
            </a:r>
            <a:r>
              <a:rPr lang="en-US" altLang="zh-CN" sz="1600"/>
              <a:t>” </a:t>
            </a:r>
            <a:r>
              <a:rPr lang="zh-CN" altLang="en-US" sz="1600"/>
              <a:t>。满足了这些，机器人就能像人一样稳稳拿起物体。</a:t>
            </a:r>
            <a:endParaRPr lang="zh-CN" altLang="en-US" sz="1600"/>
          </a:p>
        </p:txBody>
      </p:sp>
      <p:pic>
        <p:nvPicPr>
          <p:cNvPr id="3" name="图片 2" descr="v2-24074fb0dc8a56e248cc708d33958eb9_r"/>
          <p:cNvPicPr>
            <a:picLocks noChangeAspect="1"/>
          </p:cNvPicPr>
          <p:nvPr/>
        </p:nvPicPr>
        <p:blipFill>
          <a:blip r:embed="rId3"/>
          <a:stretch>
            <a:fillRect/>
          </a:stretch>
        </p:blipFill>
        <p:spPr>
          <a:xfrm>
            <a:off x="304800" y="1509395"/>
            <a:ext cx="6786880" cy="468439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65" name=""/>
        <p:cNvGrpSpPr/>
        <p:nvPr/>
      </p:nvGrpSpPr>
      <p:grpSpPr>
        <a:xfrm>
          <a:off x="0" y="0"/>
          <a:ext cx="0" cy="0"/>
          <a:chOff x="0" y="0"/>
          <a:chExt cx="0" cy="0"/>
        </a:xfrm>
      </p:grpSpPr>
      <p:grpSp>
        <p:nvGrpSpPr>
          <p:cNvPr id="66" name="组合 43"/>
          <p:cNvGrpSpPr/>
          <p:nvPr/>
        </p:nvGrpSpPr>
        <p:grpSpPr>
          <a:xfrm>
            <a:off x="0" y="156335"/>
            <a:ext cx="11940390" cy="497839"/>
            <a:chOff x="0" y="156335"/>
            <a:chExt cx="11940390" cy="497839"/>
          </a:xfrm>
        </p:grpSpPr>
        <p:grpSp>
          <p:nvGrpSpPr>
            <p:cNvPr id="67" name="组合 44"/>
            <p:cNvGrpSpPr/>
            <p:nvPr/>
          </p:nvGrpSpPr>
          <p:grpSpPr>
            <a:xfrm>
              <a:off x="0" y="156335"/>
              <a:ext cx="9666514" cy="497839"/>
              <a:chOff x="0" y="248698"/>
              <a:chExt cx="9666514" cy="497839"/>
            </a:xfrm>
          </p:grpSpPr>
          <p:grpSp>
            <p:nvGrpSpPr>
              <p:cNvPr id="68" name="组合 46"/>
              <p:cNvGrpSpPr/>
              <p:nvPr/>
            </p:nvGrpSpPr>
            <p:grpSpPr>
              <a:xfrm>
                <a:off x="0" y="294640"/>
                <a:ext cx="880552" cy="375920"/>
                <a:chOff x="0" y="294640"/>
                <a:chExt cx="1094740" cy="467360"/>
              </a:xfrm>
              <a:solidFill>
                <a:srgbClr val="EE8A10"/>
              </a:solidFill>
            </p:grpSpPr>
            <p:sp>
              <p:nvSpPr>
                <p:cNvPr id="1048641"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48642"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48643"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1048644" name="文本框 47"/>
              <p:cNvSpPr txBox="1"/>
              <p:nvPr/>
            </p:nvSpPr>
            <p:spPr>
              <a:xfrm>
                <a:off x="972489" y="248698"/>
                <a:ext cx="2702560" cy="497839"/>
              </a:xfrm>
              <a:prstGeom prst="rect">
                <a:avLst/>
              </a:prstGeom>
              <a:noFill/>
            </p:spPr>
            <p:txBody>
              <a:bodyPr wrap="square" rtlCol="0">
                <a:spAutoFit/>
              </a:bodyPr>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one</a:t>
                </a:r>
                <a:endParaRPr lang="zh-CN" altLang="en-US" sz="2400" b="1" spc="600" dirty="0">
                  <a:latin typeface="锐字工房云字库细圆GBK" panose="02010604000000000000" pitchFamily="2" charset="-122"/>
                  <a:ea typeface="锐字工房云字库细圆GBK" panose="02010604000000000000" pitchFamily="2" charset="-122"/>
                </a:endParaRPr>
              </a:p>
            </p:txBody>
          </p:sp>
          <p:grpSp>
            <p:nvGrpSpPr>
              <p:cNvPr id="69" name="组合 48"/>
              <p:cNvGrpSpPr/>
              <p:nvPr/>
            </p:nvGrpSpPr>
            <p:grpSpPr>
              <a:xfrm>
                <a:off x="3356076" y="408709"/>
                <a:ext cx="1749361" cy="147782"/>
                <a:chOff x="635462" y="775854"/>
                <a:chExt cx="1749361" cy="147782"/>
              </a:xfrm>
              <a:solidFill>
                <a:srgbClr val="EE8A10"/>
              </a:solidFill>
            </p:grpSpPr>
            <p:sp>
              <p:nvSpPr>
                <p:cNvPr id="1048645" name="椭圆 50"/>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646" name="椭圆 51"/>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647" name="椭圆 52"/>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648" name="椭圆 53"/>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649" name="椭圆 54"/>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cxnSp>
            <p:nvCxnSpPr>
              <p:cNvPr id="3145729" name="直接连接符 49"/>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57" name="图片 45"/>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2" name="标题 1"/>
          <p:cNvSpPr>
            <a:spLocks noGrp="1"/>
          </p:cNvSpPr>
          <p:nvPr>
            <p:custDataLst>
              <p:tags r:id="rId2"/>
            </p:custDataLst>
          </p:nvPr>
        </p:nvSpPr>
        <p:spPr>
          <a:xfrm>
            <a:off x="483235" y="685800"/>
            <a:ext cx="10972800" cy="609600"/>
          </a:xfrm>
          <a:prstGeom prst="rect">
            <a:avLst/>
          </a:prstGeom>
          <a:noFill/>
        </p:spPr>
        <p:txBody>
          <a:bodyPr vert="horz" lIns="0" tIns="0" rIns="0" bIns="0" rtlCol="0" anchor="t" anchorCtr="0">
            <a:normAutofit/>
          </a:bodyPr>
          <a:lstStyle>
            <a:lvl1pPr marL="0" indent="0" algn="l" defTabSz="914400" rtl="0" eaLnBrk="1" fontAlgn="auto" latinLnBrk="0" hangingPunct="1">
              <a:lnSpc>
                <a:spcPct val="111000"/>
              </a:lnSpc>
              <a:spcBef>
                <a:spcPct val="0"/>
              </a:spcBef>
              <a:spcAft>
                <a:spcPct val="0"/>
              </a:spcAft>
              <a:buNone/>
              <a:defRPr sz="3600" b="0" u="none" strike="noStrike" kern="1200" cap="none" spc="0" normalizeH="0" baseline="0">
                <a:solidFill>
                  <a:schemeClr val="tx1"/>
                </a:solidFill>
                <a:uFillTx/>
                <a:latin typeface="MiSans Demibold" panose="00000700000000000000" charset="-122"/>
                <a:ea typeface="MiSans Medium" panose="00000600000000000000" charset="-122"/>
                <a:cs typeface="+mj-cs"/>
                <a:sym typeface="MiSans Demibold" panose="00000700000000000000" charset="-122"/>
              </a:defRPr>
            </a:lvl1pPr>
          </a:lstStyle>
          <a:p>
            <a:r>
              <a:rPr lang="zh-CN" altLang="en-US" sz="2800">
                <a:latin typeface="黑体" panose="02010609060101010101" charset="-122"/>
                <a:ea typeface="黑体" panose="02010609060101010101" charset="-122"/>
              </a:rPr>
              <a:t>现有方法的缺点和局限性</a:t>
            </a:r>
            <a:endParaRPr lang="zh-CN" altLang="en-US" sz="2800">
              <a:latin typeface="黑体" panose="02010609060101010101" charset="-122"/>
              <a:ea typeface="黑体" panose="02010609060101010101" charset="-122"/>
            </a:endParaRPr>
          </a:p>
        </p:txBody>
      </p:sp>
      <p:sp>
        <p:nvSpPr>
          <p:cNvPr id="5" name="文本占位符 4"/>
          <p:cNvSpPr>
            <a:spLocks noGrp="1"/>
          </p:cNvSpPr>
          <p:nvPr>
            <p:custDataLst>
              <p:tags r:id="rId3"/>
            </p:custDataLst>
          </p:nvPr>
        </p:nvSpPr>
        <p:spPr>
          <a:xfrm>
            <a:off x="6632575" y="1362710"/>
            <a:ext cx="4906645" cy="1524000"/>
          </a:xfrm>
          <a:prstGeom prst="rect">
            <a:avLst/>
          </a:prstGeom>
          <a:noFill/>
        </p:spPr>
        <p:txBody>
          <a:bodyPr vert="horz" lIns="0" tIns="0" rIns="0" bIns="0" rtlCol="0" anchor="t">
            <a:noAutofit/>
          </a:bodyPr>
          <a:lstStyle>
            <a:lvl1pPr marL="0" indent="0" algn="l" defTabSz="914400" rtl="0" eaLnBrk="1" fontAlgn="auto" latinLnBrk="0" hangingPunct="1">
              <a:lnSpc>
                <a:spcPct val="125000"/>
              </a:lnSpc>
              <a:spcBef>
                <a:spcPct val="0"/>
              </a:spcBef>
              <a:spcAft>
                <a:spcPct val="0"/>
              </a:spcAft>
              <a:buFont typeface="Arial" panose="020B0604020202020204" pitchFamily="34" charset="0"/>
              <a:buNone/>
              <a:defRPr sz="1600" b="0" u="none" strike="noStrike" kern="1200" cap="none" spc="0" normalizeH="0" baseline="0">
                <a:solidFill>
                  <a:schemeClr val="tx1"/>
                </a:solidFill>
                <a:uFillTx/>
                <a:latin typeface="MiSans Medium" panose="00000600000000000000" charset="-122"/>
                <a:ea typeface="MiSans Normal" panose="00000500000000000000" charset="-122"/>
                <a:cs typeface="+mn-cs"/>
                <a:sym typeface="MiSans Medium" panose="00000600000000000000"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回顾当前的灵巧抓取技术，虽然已有许多尝试，但面临着严峻的挑战。早期的分析学方法主要依赖物理引擎约束来优化抓取姿态，但由于灵巧手自身具有极高的运动自由度，加之需要搜索的构型空间极其庞大，导致这类优化算法的过程极为复杂且抓取成功率偏低。近年来，数据驱动的方法逐渐兴起，特别是基于回归的方法，试图直接从物体的</a:t>
            </a:r>
            <a:r>
              <a:rPr lang="en-US" altLang="zh-CN"/>
              <a:t>3D</a:t>
            </a:r>
            <a:r>
              <a:rPr lang="zh-CN" altLang="en-US"/>
              <a:t>输入中预测抓取参数。</a:t>
            </a:r>
            <a:endParaRPr lang="zh-CN" altLang="en-US"/>
          </a:p>
        </p:txBody>
      </p:sp>
      <p:sp>
        <p:nvSpPr>
          <p:cNvPr id="7" name="文本占位符 6"/>
          <p:cNvSpPr>
            <a:spLocks noGrp="1"/>
          </p:cNvSpPr>
          <p:nvPr>
            <p:custDataLst>
              <p:tags r:id="rId4"/>
            </p:custDataLst>
          </p:nvPr>
        </p:nvSpPr>
        <p:spPr>
          <a:xfrm>
            <a:off x="6631940" y="4044315"/>
            <a:ext cx="4907280" cy="1524000"/>
          </a:xfrm>
          <a:prstGeom prst="rect">
            <a:avLst/>
          </a:prstGeom>
          <a:noFill/>
        </p:spPr>
        <p:txBody>
          <a:bodyPr vert="horz" lIns="0" tIns="0" rIns="0" bIns="0" rtlCol="0" anchor="t">
            <a:noAutofit/>
          </a:bodyPr>
          <a:lstStyle>
            <a:lvl1pPr marL="0" indent="0" algn="l" defTabSz="914400" rtl="0" eaLnBrk="1" fontAlgn="auto" latinLnBrk="0" hangingPunct="1">
              <a:lnSpc>
                <a:spcPct val="125000"/>
              </a:lnSpc>
              <a:spcBef>
                <a:spcPct val="0"/>
              </a:spcBef>
              <a:spcAft>
                <a:spcPct val="0"/>
              </a:spcAft>
              <a:buFont typeface="Arial" panose="020B0604020202020204" pitchFamily="34" charset="0"/>
              <a:buNone/>
              <a:defRPr sz="1600" b="0" u="none" strike="noStrike" kern="1200" cap="none" spc="0" normalizeH="0" baseline="0">
                <a:solidFill>
                  <a:schemeClr val="tx1"/>
                </a:solidFill>
                <a:uFillTx/>
                <a:latin typeface="MiSans Medium" panose="00000600000000000000" charset="-122"/>
                <a:ea typeface="MiSans Normal" panose="00000500000000000000" charset="-122"/>
                <a:cs typeface="+mn-cs"/>
                <a:sym typeface="MiSans Medium" panose="00000600000000000000"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然而，这类回归模型经常遭遇</a:t>
            </a:r>
            <a:r>
              <a:rPr lang="en-US" altLang="zh-CN"/>
              <a:t>“</a:t>
            </a:r>
            <a:r>
              <a:rPr lang="zh-CN" altLang="en-US"/>
              <a:t>模式崩溃（</a:t>
            </a:r>
            <a:r>
              <a:rPr lang="en-US" altLang="zh-CN"/>
              <a:t>mode collapse</a:t>
            </a:r>
            <a:r>
              <a:rPr lang="zh-CN" altLang="en-US"/>
              <a:t>）</a:t>
            </a:r>
            <a:r>
              <a:rPr lang="en-US" altLang="zh-CN"/>
              <a:t>”</a:t>
            </a:r>
            <a:r>
              <a:rPr lang="zh-CN" altLang="en-US"/>
              <a:t>和预测平均化的问题，导致它们生成的抓取姿态严重缺乏多样性，只能生成几种固定套路。此外，由于现实世界中物体的几何形状具备浩如烟海的多样性，如何稳健、高效地为各种异形物体生成高质量、且具有高度可用性的抓取姿态，仍然是目前整个机器人视觉与控制领域的一大技术鸿沟。</a:t>
            </a:r>
            <a:endParaRPr lang="zh-CN" altLang="en-US"/>
          </a:p>
        </p:txBody>
      </p:sp>
      <p:pic>
        <p:nvPicPr>
          <p:cNvPr id="9" name="图片 8" descr="v2-fca0fd59431d292f22246cfa015f6880_1440w"/>
          <p:cNvPicPr>
            <a:picLocks noChangeAspect="1"/>
          </p:cNvPicPr>
          <p:nvPr/>
        </p:nvPicPr>
        <p:blipFill>
          <a:blip r:embed="rId5"/>
          <a:stretch>
            <a:fillRect/>
          </a:stretch>
        </p:blipFill>
        <p:spPr>
          <a:xfrm>
            <a:off x="284480" y="1484630"/>
            <a:ext cx="6083300" cy="46291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65" name=""/>
        <p:cNvGrpSpPr/>
        <p:nvPr/>
      </p:nvGrpSpPr>
      <p:grpSpPr>
        <a:xfrm>
          <a:off x="0" y="0"/>
          <a:ext cx="0" cy="0"/>
          <a:chOff x="0" y="0"/>
          <a:chExt cx="0" cy="0"/>
        </a:xfrm>
      </p:grpSpPr>
      <p:grpSp>
        <p:nvGrpSpPr>
          <p:cNvPr id="66" name="组合 43"/>
          <p:cNvGrpSpPr/>
          <p:nvPr/>
        </p:nvGrpSpPr>
        <p:grpSpPr>
          <a:xfrm>
            <a:off x="0" y="156335"/>
            <a:ext cx="11940390" cy="497839"/>
            <a:chOff x="0" y="156335"/>
            <a:chExt cx="11940390" cy="497839"/>
          </a:xfrm>
        </p:grpSpPr>
        <p:grpSp>
          <p:nvGrpSpPr>
            <p:cNvPr id="67" name="组合 44"/>
            <p:cNvGrpSpPr/>
            <p:nvPr/>
          </p:nvGrpSpPr>
          <p:grpSpPr>
            <a:xfrm>
              <a:off x="0" y="156335"/>
              <a:ext cx="9666514" cy="497839"/>
              <a:chOff x="0" y="248698"/>
              <a:chExt cx="9666514" cy="497839"/>
            </a:xfrm>
          </p:grpSpPr>
          <p:grpSp>
            <p:nvGrpSpPr>
              <p:cNvPr id="68" name="组合 46"/>
              <p:cNvGrpSpPr/>
              <p:nvPr/>
            </p:nvGrpSpPr>
            <p:grpSpPr>
              <a:xfrm>
                <a:off x="0" y="294640"/>
                <a:ext cx="880552" cy="375920"/>
                <a:chOff x="0" y="294640"/>
                <a:chExt cx="1094740" cy="467360"/>
              </a:xfrm>
              <a:solidFill>
                <a:srgbClr val="EE8A10"/>
              </a:solidFill>
            </p:grpSpPr>
            <p:sp>
              <p:nvSpPr>
                <p:cNvPr id="1048641"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48642"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48643"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1048644" name="文本框 47"/>
              <p:cNvSpPr txBox="1"/>
              <p:nvPr/>
            </p:nvSpPr>
            <p:spPr>
              <a:xfrm>
                <a:off x="972489" y="248698"/>
                <a:ext cx="2702560" cy="497839"/>
              </a:xfrm>
              <a:prstGeom prst="rect">
                <a:avLst/>
              </a:prstGeom>
              <a:noFill/>
            </p:spPr>
            <p:txBody>
              <a:bodyPr wrap="square" rtlCol="0">
                <a:spAutoFit/>
              </a:bodyPr>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one</a:t>
                </a:r>
                <a:endParaRPr lang="zh-CN" altLang="en-US" sz="2400" b="1" spc="600" dirty="0">
                  <a:latin typeface="锐字工房云字库细圆GBK" panose="02010604000000000000" pitchFamily="2" charset="-122"/>
                  <a:ea typeface="锐字工房云字库细圆GBK" panose="02010604000000000000" pitchFamily="2" charset="-122"/>
                </a:endParaRPr>
              </a:p>
            </p:txBody>
          </p:sp>
          <p:grpSp>
            <p:nvGrpSpPr>
              <p:cNvPr id="69" name="组合 48"/>
              <p:cNvGrpSpPr/>
              <p:nvPr/>
            </p:nvGrpSpPr>
            <p:grpSpPr>
              <a:xfrm>
                <a:off x="3356076" y="408709"/>
                <a:ext cx="1749361" cy="147782"/>
                <a:chOff x="635462" y="775854"/>
                <a:chExt cx="1749361" cy="147782"/>
              </a:xfrm>
              <a:solidFill>
                <a:srgbClr val="EE8A10"/>
              </a:solidFill>
            </p:grpSpPr>
            <p:sp>
              <p:nvSpPr>
                <p:cNvPr id="1048645" name="椭圆 50"/>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646" name="椭圆 51"/>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647" name="椭圆 52"/>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648" name="椭圆 53"/>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649" name="椭圆 54"/>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cxnSp>
            <p:nvCxnSpPr>
              <p:cNvPr id="3145729" name="直接连接符 49"/>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57" name="图片 45"/>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2" name="标题 1"/>
          <p:cNvSpPr>
            <a:spLocks noGrp="1"/>
          </p:cNvSpPr>
          <p:nvPr>
            <p:custDataLst>
              <p:tags r:id="rId2"/>
            </p:custDataLst>
          </p:nvPr>
        </p:nvSpPr>
        <p:spPr>
          <a:xfrm>
            <a:off x="564515" y="707390"/>
            <a:ext cx="10972800" cy="609600"/>
          </a:xfrm>
          <a:prstGeom prst="rect">
            <a:avLst/>
          </a:prstGeom>
          <a:noFill/>
        </p:spPr>
        <p:txBody>
          <a:bodyPr vert="horz" lIns="0" tIns="0" rIns="0" bIns="0" rtlCol="0" anchor="t" anchorCtr="0">
            <a:normAutofit/>
          </a:bodyPr>
          <a:lstStyle>
            <a:lvl1pPr marL="0" indent="0" algn="l" defTabSz="914400" rtl="0" eaLnBrk="1" fontAlgn="auto" latinLnBrk="0" hangingPunct="1">
              <a:lnSpc>
                <a:spcPct val="111000"/>
              </a:lnSpc>
              <a:spcBef>
                <a:spcPct val="0"/>
              </a:spcBef>
              <a:spcAft>
                <a:spcPct val="0"/>
              </a:spcAft>
              <a:buNone/>
              <a:defRPr sz="3600" b="0" u="none" strike="noStrike" kern="1200" cap="none" spc="0" normalizeH="0" baseline="0">
                <a:solidFill>
                  <a:schemeClr val="tx1"/>
                </a:solidFill>
                <a:uFillTx/>
                <a:latin typeface="MiSans Demibold" panose="00000700000000000000" charset="-122"/>
                <a:ea typeface="MiSans Medium" panose="00000600000000000000" charset="-122"/>
                <a:cs typeface="+mj-cs"/>
                <a:sym typeface="MiSans Demibold" panose="00000700000000000000" charset="-122"/>
              </a:defRPr>
            </a:lvl1pPr>
          </a:lstStyle>
          <a:p>
            <a:r>
              <a:rPr lang="zh-CN" altLang="en-US" sz="2800">
                <a:latin typeface="黑体" panose="02010609060101010101" charset="-122"/>
                <a:ea typeface="黑体" panose="02010609060101010101" charset="-122"/>
              </a:rPr>
              <a:t>现有工作的的部分解决方案</a:t>
            </a:r>
            <a:endParaRPr lang="zh-CN" altLang="en-US" sz="2800">
              <a:latin typeface="黑体" panose="02010609060101010101" charset="-122"/>
              <a:ea typeface="黑体" panose="02010609060101010101" charset="-122"/>
            </a:endParaRPr>
          </a:p>
        </p:txBody>
      </p:sp>
      <p:sp>
        <p:nvSpPr>
          <p:cNvPr id="4" name="文本占位符 4"/>
          <p:cNvSpPr>
            <a:spLocks noGrp="1"/>
          </p:cNvSpPr>
          <p:nvPr>
            <p:custDataLst>
              <p:tags r:id="rId3"/>
            </p:custDataLst>
          </p:nvPr>
        </p:nvSpPr>
        <p:spPr>
          <a:xfrm>
            <a:off x="6632575" y="1621790"/>
            <a:ext cx="4906645" cy="2115820"/>
          </a:xfrm>
          <a:prstGeom prst="rect">
            <a:avLst/>
          </a:prstGeom>
          <a:noFill/>
        </p:spPr>
        <p:txBody>
          <a:bodyPr vert="horz" lIns="0" tIns="0" rIns="0" bIns="0" rtlCol="0" anchor="t">
            <a:noAutofit/>
          </a:bodyPr>
          <a:lstStyle>
            <a:lvl1pPr marL="0" indent="0" algn="l" defTabSz="914400" rtl="0" eaLnBrk="1" fontAlgn="auto" latinLnBrk="0" hangingPunct="1">
              <a:lnSpc>
                <a:spcPct val="125000"/>
              </a:lnSpc>
              <a:spcBef>
                <a:spcPct val="0"/>
              </a:spcBef>
              <a:spcAft>
                <a:spcPct val="0"/>
              </a:spcAft>
              <a:buFont typeface="Arial" panose="020B0604020202020204" pitchFamily="34" charset="0"/>
              <a:buNone/>
              <a:defRPr sz="1600" b="0" u="none" strike="noStrike" kern="1200" cap="none" spc="0" normalizeH="0" baseline="0">
                <a:solidFill>
                  <a:schemeClr val="tx1"/>
                </a:solidFill>
                <a:uFillTx/>
                <a:latin typeface="MiSans Medium" panose="00000600000000000000" charset="-122"/>
                <a:ea typeface="MiSans Normal" panose="00000500000000000000" charset="-122"/>
                <a:cs typeface="+mn-cs"/>
                <a:sym typeface="MiSans Medium" panose="00000600000000000000"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为了解决抓取多样性的问题，学术界近期将目光投向了生成式模型。其中，扩散模型因其能够通过迭代去噪机制，将简单的各向同性高斯分布完美映射为复杂的高维数据分布，展现出了在捕获灵巧抓取复杂性上的巨大潜力。然而，现有的文献表明，直接将扩散模型应用于抓取参数生成时，往往会产生次优的抓取结果。</a:t>
            </a:r>
            <a:endParaRPr lang="zh-CN" altLang="en-US"/>
          </a:p>
        </p:txBody>
      </p:sp>
      <p:sp>
        <p:nvSpPr>
          <p:cNvPr id="6" name="文本占位符 6"/>
          <p:cNvSpPr>
            <a:spLocks noGrp="1"/>
          </p:cNvSpPr>
          <p:nvPr>
            <p:custDataLst>
              <p:tags r:id="rId4"/>
            </p:custDataLst>
          </p:nvPr>
        </p:nvSpPr>
        <p:spPr>
          <a:xfrm>
            <a:off x="6632575" y="4081145"/>
            <a:ext cx="4907280" cy="2291715"/>
          </a:xfrm>
          <a:prstGeom prst="rect">
            <a:avLst/>
          </a:prstGeom>
          <a:noFill/>
        </p:spPr>
        <p:txBody>
          <a:bodyPr vert="horz" lIns="0" tIns="0" rIns="0" bIns="0" rtlCol="0" anchor="t">
            <a:noAutofit/>
          </a:bodyPr>
          <a:lstStyle>
            <a:lvl1pPr marL="0" indent="0" algn="l" defTabSz="914400" rtl="0" eaLnBrk="1" fontAlgn="auto" latinLnBrk="0" hangingPunct="1">
              <a:lnSpc>
                <a:spcPct val="125000"/>
              </a:lnSpc>
              <a:spcBef>
                <a:spcPct val="0"/>
              </a:spcBef>
              <a:spcAft>
                <a:spcPct val="0"/>
              </a:spcAft>
              <a:buFont typeface="Arial" panose="020B0604020202020204" pitchFamily="34" charset="0"/>
              <a:buNone/>
              <a:defRPr sz="1600" b="0" u="none" strike="noStrike" kern="1200" cap="none" spc="0" normalizeH="0" baseline="0">
                <a:solidFill>
                  <a:schemeClr val="tx1"/>
                </a:solidFill>
                <a:uFillTx/>
                <a:latin typeface="MiSans Medium" panose="00000600000000000000" charset="-122"/>
                <a:ea typeface="MiSans Normal" panose="00000500000000000000" charset="-122"/>
                <a:cs typeface="+mn-cs"/>
                <a:sym typeface="MiSans Medium" panose="00000600000000000000"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最严重的问题在于，由于纯粹的数据驱动网络在训练和采样过程中缺乏强制执行物理规则的约束机制，模型频繁生成具有严重</a:t>
            </a:r>
            <a:r>
              <a:rPr lang="en-US" altLang="zh-CN"/>
              <a:t>“</a:t>
            </a:r>
            <a:r>
              <a:rPr lang="zh-CN" altLang="en-US"/>
              <a:t>穿透（</a:t>
            </a:r>
            <a:r>
              <a:rPr lang="en-US" altLang="zh-CN"/>
              <a:t>Penetration</a:t>
            </a:r>
            <a:r>
              <a:rPr lang="zh-CN" altLang="en-US"/>
              <a:t>）</a:t>
            </a:r>
            <a:r>
              <a:rPr lang="en-US" altLang="zh-CN"/>
              <a:t>”</a:t>
            </a:r>
            <a:r>
              <a:rPr lang="zh-CN" altLang="en-US"/>
              <a:t>现象的姿态（即机器人的手模进入了物体内部），或者导致手指与物体接触不充分。换言之，不讲物理定律的生成模型无法直接用于真实的物理机器人。如何将显式的物理定律融合进扩散模型，是现有文献亟待攻克的难关。</a:t>
            </a:r>
            <a:endParaRPr lang="zh-CN" altLang="en-US"/>
          </a:p>
        </p:txBody>
      </p:sp>
      <p:pic>
        <p:nvPicPr>
          <p:cNvPr id="8" name="图片 7"/>
          <p:cNvPicPr>
            <a:picLocks noChangeAspect="1"/>
          </p:cNvPicPr>
          <p:nvPr/>
        </p:nvPicPr>
        <p:blipFill>
          <a:blip r:embed="rId5"/>
          <a:stretch>
            <a:fillRect/>
          </a:stretch>
        </p:blipFill>
        <p:spPr>
          <a:xfrm>
            <a:off x="335280" y="2318385"/>
            <a:ext cx="5969635" cy="286639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65" name=""/>
        <p:cNvGrpSpPr/>
        <p:nvPr/>
      </p:nvGrpSpPr>
      <p:grpSpPr>
        <a:xfrm>
          <a:off x="0" y="0"/>
          <a:ext cx="0" cy="0"/>
          <a:chOff x="0" y="0"/>
          <a:chExt cx="0" cy="0"/>
        </a:xfrm>
      </p:grpSpPr>
      <p:grpSp>
        <p:nvGrpSpPr>
          <p:cNvPr id="66" name="组合 43"/>
          <p:cNvGrpSpPr/>
          <p:nvPr/>
        </p:nvGrpSpPr>
        <p:grpSpPr>
          <a:xfrm>
            <a:off x="0" y="156335"/>
            <a:ext cx="11940390" cy="497839"/>
            <a:chOff x="0" y="156335"/>
            <a:chExt cx="11940390" cy="497839"/>
          </a:xfrm>
        </p:grpSpPr>
        <p:grpSp>
          <p:nvGrpSpPr>
            <p:cNvPr id="67" name="组合 44"/>
            <p:cNvGrpSpPr/>
            <p:nvPr/>
          </p:nvGrpSpPr>
          <p:grpSpPr>
            <a:xfrm>
              <a:off x="0" y="156335"/>
              <a:ext cx="9666514" cy="497839"/>
              <a:chOff x="0" y="248698"/>
              <a:chExt cx="9666514" cy="497839"/>
            </a:xfrm>
          </p:grpSpPr>
          <p:grpSp>
            <p:nvGrpSpPr>
              <p:cNvPr id="68" name="组合 46"/>
              <p:cNvGrpSpPr/>
              <p:nvPr/>
            </p:nvGrpSpPr>
            <p:grpSpPr>
              <a:xfrm>
                <a:off x="0" y="294640"/>
                <a:ext cx="880552" cy="375920"/>
                <a:chOff x="0" y="294640"/>
                <a:chExt cx="1094740" cy="467360"/>
              </a:xfrm>
              <a:solidFill>
                <a:srgbClr val="EE8A10"/>
              </a:solidFill>
            </p:grpSpPr>
            <p:sp>
              <p:nvSpPr>
                <p:cNvPr id="1048641"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48642"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48643"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1048644" name="文本框 47"/>
              <p:cNvSpPr txBox="1"/>
              <p:nvPr/>
            </p:nvSpPr>
            <p:spPr>
              <a:xfrm>
                <a:off x="972489" y="248698"/>
                <a:ext cx="2702560" cy="497839"/>
              </a:xfrm>
              <a:prstGeom prst="rect">
                <a:avLst/>
              </a:prstGeom>
              <a:noFill/>
            </p:spPr>
            <p:txBody>
              <a:bodyPr wrap="square" rtlCol="0">
                <a:spAutoFit/>
              </a:bodyPr>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one</a:t>
                </a:r>
                <a:endParaRPr lang="zh-CN" altLang="en-US" sz="2400" b="1" spc="600" dirty="0">
                  <a:latin typeface="锐字工房云字库细圆GBK" panose="02010604000000000000" pitchFamily="2" charset="-122"/>
                  <a:ea typeface="锐字工房云字库细圆GBK" panose="02010604000000000000" pitchFamily="2" charset="-122"/>
                </a:endParaRPr>
              </a:p>
            </p:txBody>
          </p:sp>
          <p:grpSp>
            <p:nvGrpSpPr>
              <p:cNvPr id="69" name="组合 48"/>
              <p:cNvGrpSpPr/>
              <p:nvPr/>
            </p:nvGrpSpPr>
            <p:grpSpPr>
              <a:xfrm>
                <a:off x="3356076" y="408709"/>
                <a:ext cx="1749361" cy="147782"/>
                <a:chOff x="635462" y="775854"/>
                <a:chExt cx="1749361" cy="147782"/>
              </a:xfrm>
              <a:solidFill>
                <a:srgbClr val="EE8A10"/>
              </a:solidFill>
            </p:grpSpPr>
            <p:sp>
              <p:nvSpPr>
                <p:cNvPr id="1048645" name="椭圆 50"/>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646" name="椭圆 51"/>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647" name="椭圆 52"/>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648" name="椭圆 53"/>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649" name="椭圆 54"/>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cxnSp>
            <p:nvCxnSpPr>
              <p:cNvPr id="3145729" name="直接连接符 49"/>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57" name="图片 45"/>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2" name="标题 1"/>
          <p:cNvSpPr>
            <a:spLocks noGrp="1"/>
          </p:cNvSpPr>
          <p:nvPr>
            <p:custDataLst>
              <p:tags r:id="rId2"/>
            </p:custDataLst>
          </p:nvPr>
        </p:nvSpPr>
        <p:spPr>
          <a:xfrm>
            <a:off x="652780" y="737870"/>
            <a:ext cx="10972800" cy="609600"/>
          </a:xfrm>
          <a:prstGeom prst="rect">
            <a:avLst/>
          </a:prstGeom>
          <a:noFill/>
        </p:spPr>
        <p:txBody>
          <a:bodyPr vert="horz" lIns="0" tIns="0" rIns="0" bIns="0" rtlCol="0" anchor="t" anchorCtr="0">
            <a:normAutofit/>
          </a:bodyPr>
          <a:lstStyle>
            <a:lvl1pPr marL="0" indent="0" algn="l" defTabSz="914400" rtl="0" eaLnBrk="1" fontAlgn="auto" latinLnBrk="0" hangingPunct="1">
              <a:lnSpc>
                <a:spcPct val="111000"/>
              </a:lnSpc>
              <a:spcBef>
                <a:spcPct val="0"/>
              </a:spcBef>
              <a:spcAft>
                <a:spcPct val="0"/>
              </a:spcAft>
              <a:buNone/>
              <a:defRPr sz="3600" b="0" u="none" strike="noStrike" kern="1200" cap="none" spc="0" normalizeH="0" baseline="0">
                <a:solidFill>
                  <a:schemeClr val="tx1"/>
                </a:solidFill>
                <a:uFillTx/>
                <a:latin typeface="MiSans Demibold" panose="00000700000000000000" charset="-122"/>
                <a:ea typeface="MiSans Medium" panose="00000600000000000000" charset="-122"/>
                <a:cs typeface="+mj-cs"/>
                <a:sym typeface="MiSans Demibold" panose="00000700000000000000" charset="-122"/>
              </a:defRPr>
            </a:lvl1pPr>
          </a:lstStyle>
          <a:p>
            <a:r>
              <a:rPr lang="zh-CN" altLang="en-US" sz="2800">
                <a:latin typeface="黑体" panose="02010609060101010101" charset="-122"/>
                <a:ea typeface="黑体" panose="02010609060101010101" charset="-122"/>
              </a:rPr>
              <a:t>选题意义与核心研究价值</a:t>
            </a:r>
            <a:endParaRPr lang="zh-CN" altLang="en-US" sz="2800">
              <a:latin typeface="黑体" panose="02010609060101010101" charset="-122"/>
              <a:ea typeface="黑体" panose="02010609060101010101" charset="-122"/>
            </a:endParaRPr>
          </a:p>
        </p:txBody>
      </p:sp>
      <p:sp>
        <p:nvSpPr>
          <p:cNvPr id="7" name="文本占位符 6"/>
          <p:cNvSpPr>
            <a:spLocks noGrp="1"/>
          </p:cNvSpPr>
          <p:nvPr>
            <p:custDataLst>
              <p:tags r:id="rId3"/>
            </p:custDataLst>
          </p:nvPr>
        </p:nvSpPr>
        <p:spPr>
          <a:xfrm>
            <a:off x="652780" y="5022215"/>
            <a:ext cx="10714355" cy="1226185"/>
          </a:xfrm>
          <a:prstGeom prst="rect">
            <a:avLst/>
          </a:prstGeom>
          <a:noFill/>
        </p:spPr>
        <p:txBody>
          <a:bodyPr vert="horz" lIns="0" tIns="0" rIns="0" bIns="0" rtlCol="0" anchor="t">
            <a:noAutofit/>
          </a:bodyPr>
          <a:lstStyle>
            <a:lvl1pPr marL="0" indent="0" algn="l" defTabSz="914400" rtl="0" eaLnBrk="1" fontAlgn="auto" latinLnBrk="0" hangingPunct="1">
              <a:lnSpc>
                <a:spcPct val="125000"/>
              </a:lnSpc>
              <a:spcBef>
                <a:spcPct val="0"/>
              </a:spcBef>
              <a:spcAft>
                <a:spcPct val="0"/>
              </a:spcAft>
              <a:buFont typeface="Arial" panose="020B0604020202020204" pitchFamily="34" charset="0"/>
              <a:buNone/>
              <a:defRPr sz="1600" b="0" u="none" strike="noStrike" kern="1200" cap="none" spc="0" normalizeH="0" baseline="0">
                <a:solidFill>
                  <a:schemeClr val="tx1"/>
                </a:solidFill>
                <a:uFillTx/>
                <a:latin typeface="MiSans Medium" panose="00000600000000000000" charset="-122"/>
                <a:ea typeface="MiSans Normal" panose="00000500000000000000" charset="-122"/>
                <a:cs typeface="+mn-cs"/>
                <a:sym typeface="MiSans Medium" panose="00000600000000000000"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本研究具有较高的应用工程意义。目前开源的抓取数据集普遍存在数据分布狭窄、物体类别局限以及难以大规模扩展等致命缺陷。本研究计划构建一个规模较大、多样性强的灵巧抓取数据集，这不仅能显著提升基于扩散生成算法的上限，也将极大促进整个机器人控制与机器视觉交叉领域的长远发展，向着通用化灵巧抓取迈出关键一步。同时设计一个相应的算法，来使得对应抓取的灵活度上升，使得能够灵活抓取到相应的</a:t>
            </a:r>
            <a:r>
              <a:rPr lang="zh-CN" altLang="en-US"/>
              <a:t>目标。</a:t>
            </a:r>
            <a:endParaRPr lang="zh-CN" altLang="en-US"/>
          </a:p>
        </p:txBody>
      </p:sp>
      <p:pic>
        <p:nvPicPr>
          <p:cNvPr id="3" name="图片 2" descr="images (1)"/>
          <p:cNvPicPr>
            <a:picLocks noChangeAspect="1"/>
          </p:cNvPicPr>
          <p:nvPr/>
        </p:nvPicPr>
        <p:blipFill>
          <a:blip r:embed="rId4"/>
          <a:stretch>
            <a:fillRect/>
          </a:stretch>
        </p:blipFill>
        <p:spPr>
          <a:xfrm>
            <a:off x="593090" y="1620520"/>
            <a:ext cx="5175885" cy="2835910"/>
          </a:xfrm>
          <a:prstGeom prst="rect">
            <a:avLst/>
          </a:prstGeom>
        </p:spPr>
      </p:pic>
      <p:pic>
        <p:nvPicPr>
          <p:cNvPr id="5" name="图片 4" descr="v2_4dad3dea97f84f7abae9fa7c5e99fa21@5888275_oswg509055oswg1080oswg609_img_000"/>
          <p:cNvPicPr>
            <a:picLocks noChangeAspect="1"/>
          </p:cNvPicPr>
          <p:nvPr/>
        </p:nvPicPr>
        <p:blipFill>
          <a:blip r:embed="rId5"/>
          <a:stretch>
            <a:fillRect/>
          </a:stretch>
        </p:blipFill>
        <p:spPr>
          <a:xfrm>
            <a:off x="6261735" y="1620520"/>
            <a:ext cx="4937125" cy="27844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cstate="screen">
            <a:lum/>
          </a:blip>
          <a:srcRect/>
          <a:stretch>
            <a:fillRect/>
          </a:stretch>
        </a:blipFill>
        <a:effectLst/>
      </p:bgPr>
    </p:bg>
    <p:spTree>
      <p:nvGrpSpPr>
        <p:cNvPr id="72" name=""/>
        <p:cNvGrpSpPr/>
        <p:nvPr/>
      </p:nvGrpSpPr>
      <p:grpSpPr>
        <a:xfrm>
          <a:off x="0" y="0"/>
          <a:ext cx="0" cy="0"/>
          <a:chOff x="0" y="0"/>
          <a:chExt cx="0" cy="0"/>
        </a:xfrm>
      </p:grpSpPr>
      <p:sp>
        <p:nvSpPr>
          <p:cNvPr id="1048655" name="矩形 20"/>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pic>
        <p:nvPicPr>
          <p:cNvPr id="2097158" name="Picture 2"/>
          <p:cNvPicPr>
            <a:picLocks noChangeAspect="1" noChangeArrowheads="1"/>
          </p:cNvPicPr>
          <p:nvPr/>
        </p:nvPicPr>
        <p:blipFill rotWithShape="1">
          <a:blip r:embed="rId2" cstate="print"/>
          <a:srcRect/>
          <a:stretch>
            <a:fillRect/>
          </a:stretch>
        </p:blipFill>
        <p:spPr bwMode="auto">
          <a:xfrm>
            <a:off x="4191000" y="1407160"/>
            <a:ext cx="8001000" cy="4043680"/>
          </a:xfrm>
          <a:prstGeom prst="rect">
            <a:avLst/>
          </a:prstGeom>
          <a:noFill/>
        </p:spPr>
      </p:pic>
      <p:grpSp>
        <p:nvGrpSpPr>
          <p:cNvPr id="73" name="雷锋PPT网www.lfppt.com"/>
          <p:cNvGrpSpPr/>
          <p:nvPr/>
        </p:nvGrpSpPr>
        <p:grpSpPr>
          <a:xfrm>
            <a:off x="0" y="713740"/>
            <a:ext cx="12192001" cy="4737100"/>
            <a:chOff x="0" y="713740"/>
            <a:chExt cx="12192001" cy="4737100"/>
          </a:xfrm>
        </p:grpSpPr>
        <p:grpSp>
          <p:nvGrpSpPr>
            <p:cNvPr id="74" name="组合 25"/>
            <p:cNvGrpSpPr/>
            <p:nvPr/>
          </p:nvGrpSpPr>
          <p:grpSpPr>
            <a:xfrm>
              <a:off x="0" y="1407160"/>
              <a:ext cx="4064000" cy="4043680"/>
              <a:chOff x="0" y="1407160"/>
              <a:chExt cx="4064000" cy="4043680"/>
            </a:xfrm>
          </p:grpSpPr>
          <p:sp>
            <p:nvSpPr>
              <p:cNvPr id="1048656" name="矩形 31"/>
              <p:cNvSpPr/>
              <p:nvPr/>
            </p:nvSpPr>
            <p:spPr>
              <a:xfrm>
                <a:off x="0" y="1407160"/>
                <a:ext cx="4064000" cy="40436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造字工房力黑（非商用）常规体" pitchFamily="50" charset="-122"/>
                  <a:ea typeface="造字工房力黑（非商用）常规体" pitchFamily="50" charset="-122"/>
                  <a:cs typeface="+mn-ea"/>
                  <a:sym typeface="+mn-lt"/>
                </a:endParaRPr>
              </a:p>
            </p:txBody>
          </p:sp>
          <p:sp>
            <p:nvSpPr>
              <p:cNvPr id="1048657" name="文本框 33"/>
              <p:cNvSpPr txBox="1"/>
              <p:nvPr/>
            </p:nvSpPr>
            <p:spPr>
              <a:xfrm>
                <a:off x="104775" y="3052624"/>
                <a:ext cx="3810000" cy="706755"/>
              </a:xfrm>
              <a:prstGeom prst="rect">
                <a:avLst/>
              </a:prstGeom>
              <a:noFill/>
            </p:spPr>
            <p:txBody>
              <a:bodyPr wrap="square" rtlCol="0">
                <a:spAutoFit/>
              </a:bodyPr>
              <a:p>
                <a:pPr algn="ctr"/>
                <a:r>
                  <a:rPr lang="zh-CN" altLang="en-US" sz="4000" spc="600" dirty="0">
                    <a:solidFill>
                      <a:schemeClr val="bg1"/>
                    </a:solidFill>
                    <a:latin typeface="黑体" panose="02010609060101010101" charset="-122"/>
                    <a:ea typeface="黑体" panose="02010609060101010101" charset="-122"/>
                    <a:cs typeface="Times New Roman" panose="02020603050405020304" pitchFamily="18" charset="0"/>
                    <a:sym typeface="Agency FB" panose="020B0503020202020204" pitchFamily="34" charset="0"/>
                  </a:rPr>
                  <a:t>预期目标</a:t>
                </a:r>
                <a:endParaRPr lang="zh-CN" altLang="en-US" sz="4000" spc="600" dirty="0">
                  <a:solidFill>
                    <a:schemeClr val="bg1"/>
                  </a:solidFill>
                  <a:latin typeface="黑体" panose="02010609060101010101" charset="-122"/>
                  <a:ea typeface="黑体" panose="02010609060101010101" charset="-122"/>
                  <a:cs typeface="Times New Roman" panose="02020603050405020304" pitchFamily="18" charset="0"/>
                  <a:sym typeface="Agency FB" panose="020B0503020202020204" pitchFamily="34" charset="0"/>
                </a:endParaRPr>
              </a:p>
            </p:txBody>
          </p:sp>
        </p:grpSp>
        <p:grpSp>
          <p:nvGrpSpPr>
            <p:cNvPr id="75" name="组合 26"/>
            <p:cNvGrpSpPr/>
            <p:nvPr/>
          </p:nvGrpSpPr>
          <p:grpSpPr>
            <a:xfrm>
              <a:off x="7564229" y="713740"/>
              <a:ext cx="4627772" cy="1386840"/>
              <a:chOff x="7564229" y="713740"/>
              <a:chExt cx="4627772" cy="1386840"/>
            </a:xfrm>
          </p:grpSpPr>
          <p:sp>
            <p:nvSpPr>
              <p:cNvPr id="1048658" name="任意多边形 28"/>
              <p:cNvSpPr/>
              <p:nvPr/>
            </p:nvSpPr>
            <p:spPr>
              <a:xfrm flipH="1" flipV="1">
                <a:off x="7564229" y="713740"/>
                <a:ext cx="4627771" cy="1386840"/>
              </a:xfrm>
              <a:custGeom>
                <a:avLst/>
                <a:gdLst>
                  <a:gd name="connsiteX0" fmla="*/ 0 w 7147560"/>
                  <a:gd name="connsiteY0" fmla="*/ 0 h 2814320"/>
                  <a:gd name="connsiteX1" fmla="*/ 6443980 w 7147560"/>
                  <a:gd name="connsiteY1" fmla="*/ 0 h 2814320"/>
                  <a:gd name="connsiteX2" fmla="*/ 7147560 w 7147560"/>
                  <a:gd name="connsiteY2" fmla="*/ 2814320 h 2814320"/>
                  <a:gd name="connsiteX3" fmla="*/ 0 w 7147560"/>
                  <a:gd name="connsiteY3" fmla="*/ 2814320 h 2814320"/>
                  <a:gd name="connsiteX0-1" fmla="*/ 0 w 8689506"/>
                  <a:gd name="connsiteY0-2" fmla="*/ 0 h 2814320"/>
                  <a:gd name="connsiteX1-3" fmla="*/ 6443980 w 8689506"/>
                  <a:gd name="connsiteY1-4" fmla="*/ 0 h 2814320"/>
                  <a:gd name="connsiteX2-5" fmla="*/ 8689506 w 8689506"/>
                  <a:gd name="connsiteY2-6" fmla="*/ 2814320 h 2814320"/>
                  <a:gd name="connsiteX3-7" fmla="*/ 0 w 8689506"/>
                  <a:gd name="connsiteY3-8" fmla="*/ 2814320 h 2814320"/>
                  <a:gd name="connsiteX4" fmla="*/ 0 w 8689506"/>
                  <a:gd name="connsiteY4" fmla="*/ 0 h 2814320"/>
                  <a:gd name="connsiteX0-9" fmla="*/ 0 w 9235080"/>
                  <a:gd name="connsiteY0-10" fmla="*/ 0 h 2834640"/>
                  <a:gd name="connsiteX1-11" fmla="*/ 6443980 w 9235080"/>
                  <a:gd name="connsiteY1-12" fmla="*/ 0 h 2834640"/>
                  <a:gd name="connsiteX2-13" fmla="*/ 9235080 w 9235080"/>
                  <a:gd name="connsiteY2-14" fmla="*/ 2834640 h 2834640"/>
                  <a:gd name="connsiteX3-15" fmla="*/ 0 w 9235080"/>
                  <a:gd name="connsiteY3-16" fmla="*/ 2814320 h 2834640"/>
                  <a:gd name="connsiteX4-17" fmla="*/ 0 w 9235080"/>
                  <a:gd name="connsiteY4-18" fmla="*/ 0 h 2834640"/>
                </a:gdLst>
                <a:ahLst/>
                <a:cxnLst>
                  <a:cxn ang="0">
                    <a:pos x="connsiteX0-1" y="connsiteY0-2"/>
                  </a:cxn>
                  <a:cxn ang="0">
                    <a:pos x="connsiteX1-3" y="connsiteY1-4"/>
                  </a:cxn>
                  <a:cxn ang="0">
                    <a:pos x="connsiteX2-5" y="connsiteY2-6"/>
                  </a:cxn>
                  <a:cxn ang="0">
                    <a:pos x="connsiteX3-7" y="connsiteY3-8"/>
                  </a:cxn>
                  <a:cxn ang="0">
                    <a:pos x="connsiteX4-17" y="connsiteY4-18"/>
                  </a:cxn>
                </a:cxnLst>
                <a:rect l="l" t="t" r="r" b="b"/>
                <a:pathLst>
                  <a:path w="9235080" h="2834640">
                    <a:moveTo>
                      <a:pt x="0" y="0"/>
                    </a:moveTo>
                    <a:lnTo>
                      <a:pt x="6443980" y="0"/>
                    </a:lnTo>
                    <a:lnTo>
                      <a:pt x="9235080" y="2834640"/>
                    </a:lnTo>
                    <a:lnTo>
                      <a:pt x="0" y="2814320"/>
                    </a:lnTo>
                    <a:lnTo>
                      <a:pt x="0" y="0"/>
                    </a:lnTo>
                    <a:close/>
                  </a:path>
                </a:pathLst>
              </a:cu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造字工房力黑（非商用）常规体" pitchFamily="50" charset="-122"/>
                  <a:ea typeface="造字工房力黑（非商用）常规体" pitchFamily="50" charset="-122"/>
                  <a:cs typeface="+mn-ea"/>
                  <a:sym typeface="+mn-lt"/>
                </a:endParaRPr>
              </a:p>
            </p:txBody>
          </p:sp>
          <p:sp>
            <p:nvSpPr>
              <p:cNvPr id="1048659" name="文本框 30"/>
              <p:cNvSpPr txBox="1"/>
              <p:nvPr/>
            </p:nvSpPr>
            <p:spPr>
              <a:xfrm>
                <a:off x="7712365" y="991661"/>
                <a:ext cx="4479636" cy="764540"/>
              </a:xfrm>
              <a:prstGeom prst="rect">
                <a:avLst/>
              </a:prstGeom>
              <a:noFill/>
            </p:spPr>
            <p:txBody>
              <a:bodyPr wrap="square" rtlCol="0">
                <a:spAutoFit/>
              </a:bodyPr>
              <a:p>
                <a:pPr algn="r"/>
                <a:r>
                  <a:rPr lang="en-US" altLang="zh-CN" sz="4000" spc="300" dirty="0">
                    <a:solidFill>
                      <a:schemeClr val="bg1"/>
                    </a:solidFill>
                    <a:latin typeface="造字工房力黑（非商用）常规体" pitchFamily="50" charset="-122"/>
                    <a:ea typeface="造字工房力黑（非商用）常规体" pitchFamily="50" charset="-122"/>
                    <a:cs typeface="+mn-ea"/>
                    <a:sym typeface="+mn-lt"/>
                  </a:rPr>
                  <a:t>PART TWO</a:t>
                </a:r>
                <a:endParaRPr lang="zh-CN" altLang="en-US" sz="4000" spc="300" dirty="0">
                  <a:solidFill>
                    <a:schemeClr val="bg1"/>
                  </a:solidFill>
                  <a:latin typeface="造字工房力黑（非商用）常规体" pitchFamily="50" charset="-122"/>
                  <a:ea typeface="造字工房力黑（非商用）常规体" pitchFamily="50" charset="-122"/>
                  <a:cs typeface="+mn-ea"/>
                  <a:sym typeface="+mn-lt"/>
                </a:endParaRPr>
              </a:p>
            </p:txBody>
          </p:sp>
        </p:grpSp>
        <p:sp>
          <p:nvSpPr>
            <p:cNvPr id="1048660" name="文本框 27"/>
            <p:cNvSpPr txBox="1"/>
            <p:nvPr/>
          </p:nvSpPr>
          <p:spPr>
            <a:xfrm>
              <a:off x="9550399" y="3052435"/>
              <a:ext cx="2349194" cy="1577340"/>
            </a:xfrm>
            <a:prstGeom prst="rect">
              <a:avLst/>
            </a:prstGeom>
            <a:noFill/>
            <a:ln>
              <a:solidFill>
                <a:schemeClr val="bg1"/>
              </a:solidFill>
            </a:ln>
          </p:spPr>
          <p:txBody>
            <a:bodyPr wrap="square" rtlCol="0">
              <a:spAutoFit/>
            </a:bodyPr>
            <a:p>
              <a:pPr algn="ctr"/>
              <a:r>
                <a:rPr lang="en-US" altLang="zh-CN" sz="8800" spc="600" dirty="0">
                  <a:solidFill>
                    <a:schemeClr val="bg1"/>
                  </a:solidFill>
                  <a:latin typeface="造字工房力黑（非商用）常规体" pitchFamily="50" charset="-122"/>
                  <a:ea typeface="造字工房力黑（非商用）常规体" pitchFamily="50" charset="-122"/>
                  <a:cs typeface="+mn-ea"/>
                  <a:sym typeface="+mn-lt"/>
                </a:rPr>
                <a:t>02</a:t>
              </a:r>
              <a:endParaRPr lang="zh-CN" altLang="en-US" sz="8800" spc="600" dirty="0">
                <a:solidFill>
                  <a:schemeClr val="bg1"/>
                </a:solidFill>
                <a:latin typeface="造字工房力黑（非商用）常规体" pitchFamily="50" charset="-122"/>
                <a:ea typeface="造字工房力黑（非商用）常规体" pitchFamily="50" charset="-122"/>
                <a:cs typeface="+mn-ea"/>
                <a:sym typeface="+mn-lt"/>
              </a:endParaRPr>
            </a:p>
          </p:txBody>
        </p:sp>
      </p:grpSp>
      <p:pic>
        <p:nvPicPr>
          <p:cNvPr id="2097159" name="图片 14"/>
          <p:cNvPicPr>
            <a:picLocks noChangeAspect="1"/>
          </p:cNvPicPr>
          <p:nvPr/>
        </p:nvPicPr>
        <p:blipFill>
          <a:blip r:embed="rId3" cstate="print"/>
          <a:srcRect/>
          <a:stretch>
            <a:fillRect/>
          </a:stretch>
        </p:blipFill>
        <p:spPr>
          <a:xfrm>
            <a:off x="874769" y="477840"/>
            <a:ext cx="2174882" cy="45606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78" name=""/>
        <p:cNvGrpSpPr/>
        <p:nvPr/>
      </p:nvGrpSpPr>
      <p:grpSpPr>
        <a:xfrm>
          <a:off x="0" y="0"/>
          <a:ext cx="0" cy="0"/>
          <a:chOff x="0" y="0"/>
          <a:chExt cx="0" cy="0"/>
        </a:xfrm>
      </p:grpSpPr>
      <p:grpSp>
        <p:nvGrpSpPr>
          <p:cNvPr id="79" name="组合 2"/>
          <p:cNvGrpSpPr/>
          <p:nvPr/>
        </p:nvGrpSpPr>
        <p:grpSpPr>
          <a:xfrm>
            <a:off x="0" y="156335"/>
            <a:ext cx="11940390" cy="497839"/>
            <a:chOff x="0" y="156335"/>
            <a:chExt cx="11940390" cy="497839"/>
          </a:xfrm>
        </p:grpSpPr>
        <p:grpSp>
          <p:nvGrpSpPr>
            <p:cNvPr id="80" name="组合 3"/>
            <p:cNvGrpSpPr/>
            <p:nvPr/>
          </p:nvGrpSpPr>
          <p:grpSpPr>
            <a:xfrm>
              <a:off x="0" y="156335"/>
              <a:ext cx="9666514" cy="497839"/>
              <a:chOff x="0" y="248698"/>
              <a:chExt cx="9666514" cy="497839"/>
            </a:xfrm>
          </p:grpSpPr>
          <p:grpSp>
            <p:nvGrpSpPr>
              <p:cNvPr id="81" name="组合 4"/>
              <p:cNvGrpSpPr/>
              <p:nvPr/>
            </p:nvGrpSpPr>
            <p:grpSpPr>
              <a:xfrm>
                <a:off x="0" y="294640"/>
                <a:ext cx="880552" cy="375920"/>
                <a:chOff x="0" y="294640"/>
                <a:chExt cx="1094740" cy="467360"/>
              </a:xfrm>
              <a:solidFill>
                <a:srgbClr val="EE8A10"/>
              </a:solidFill>
            </p:grpSpPr>
            <p:sp>
              <p:nvSpPr>
                <p:cNvPr id="1048665"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48666"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48667"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1048668" name="文本框 5"/>
              <p:cNvSpPr txBox="1"/>
              <p:nvPr/>
            </p:nvSpPr>
            <p:spPr>
              <a:xfrm>
                <a:off x="972489" y="248698"/>
                <a:ext cx="2702560" cy="497839"/>
              </a:xfrm>
              <a:prstGeom prst="rect">
                <a:avLst/>
              </a:prstGeom>
              <a:noFill/>
            </p:spPr>
            <p:txBody>
              <a:bodyPr wrap="square" rtlCol="0">
                <a:spAutoFit/>
              </a:bodyPr>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two</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82" name="组合 6"/>
              <p:cNvGrpSpPr/>
              <p:nvPr/>
            </p:nvGrpSpPr>
            <p:grpSpPr>
              <a:xfrm>
                <a:off x="3356076" y="408709"/>
                <a:ext cx="1749361" cy="147782"/>
                <a:chOff x="635462" y="775854"/>
                <a:chExt cx="1749361" cy="147782"/>
              </a:xfrm>
              <a:solidFill>
                <a:srgbClr val="EE8A10"/>
              </a:solidFill>
            </p:grpSpPr>
            <p:sp>
              <p:nvSpPr>
                <p:cNvPr id="1048669"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670"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671"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672"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673"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cxnSp>
            <p:nvCxnSpPr>
              <p:cNvPr id="3145730"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60"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2" name="标题 1"/>
          <p:cNvSpPr>
            <a:spLocks noGrp="1"/>
          </p:cNvSpPr>
          <p:nvPr>
            <p:custDataLst>
              <p:tags r:id="rId2"/>
            </p:custDataLst>
          </p:nvPr>
        </p:nvSpPr>
        <p:spPr>
          <a:xfrm>
            <a:off x="652780" y="650875"/>
            <a:ext cx="10972800" cy="609600"/>
          </a:xfrm>
          <a:prstGeom prst="rect">
            <a:avLst/>
          </a:prstGeom>
          <a:noFill/>
        </p:spPr>
        <p:txBody>
          <a:bodyPr vert="horz" lIns="0" tIns="0" rIns="0" bIns="0" rtlCol="0" anchor="t" anchorCtr="0">
            <a:normAutofit/>
          </a:bodyPr>
          <a:lstStyle>
            <a:lvl1pPr marL="0" indent="0" algn="l" defTabSz="914400" rtl="0" eaLnBrk="1" fontAlgn="auto" latinLnBrk="0" hangingPunct="1">
              <a:lnSpc>
                <a:spcPct val="111000"/>
              </a:lnSpc>
              <a:spcBef>
                <a:spcPct val="0"/>
              </a:spcBef>
              <a:spcAft>
                <a:spcPct val="0"/>
              </a:spcAft>
              <a:buNone/>
              <a:defRPr sz="3600" b="0" u="none" strike="noStrike" kern="1200" cap="none" spc="0" normalizeH="0" baseline="0">
                <a:solidFill>
                  <a:schemeClr val="tx1"/>
                </a:solidFill>
                <a:uFillTx/>
                <a:latin typeface="MiSans Demibold" panose="00000700000000000000" charset="-122"/>
                <a:ea typeface="MiSans Medium" panose="00000600000000000000" charset="-122"/>
                <a:cs typeface="+mj-cs"/>
                <a:sym typeface="MiSans Demibold" panose="00000700000000000000" charset="-122"/>
              </a:defRPr>
            </a:lvl1pPr>
          </a:lstStyle>
          <a:p>
            <a:r>
              <a:rPr lang="zh-CN" altLang="en-US" sz="2800">
                <a:latin typeface="黑体" panose="02010609060101010101" charset="-122"/>
                <a:ea typeface="黑体" panose="02010609060101010101" charset="-122"/>
              </a:rPr>
              <a:t>预期研究目标</a:t>
            </a:r>
            <a:endParaRPr lang="zh-CN" altLang="en-US" sz="2800">
              <a:latin typeface="黑体" panose="02010609060101010101" charset="-122"/>
              <a:ea typeface="黑体" panose="02010609060101010101" charset="-122"/>
            </a:endParaRPr>
          </a:p>
        </p:txBody>
      </p:sp>
      <p:sp>
        <p:nvSpPr>
          <p:cNvPr id="7" name="文本占位符 6"/>
          <p:cNvSpPr>
            <a:spLocks noGrp="1"/>
          </p:cNvSpPr>
          <p:nvPr>
            <p:custDataLst>
              <p:tags r:id="rId3"/>
            </p:custDataLst>
          </p:nvPr>
        </p:nvSpPr>
        <p:spPr>
          <a:xfrm>
            <a:off x="652780" y="5058410"/>
            <a:ext cx="10714355" cy="1604010"/>
          </a:xfrm>
          <a:prstGeom prst="rect">
            <a:avLst/>
          </a:prstGeom>
          <a:noFill/>
        </p:spPr>
        <p:txBody>
          <a:bodyPr vert="horz" lIns="0" tIns="0" rIns="0" bIns="0" rtlCol="0" anchor="t">
            <a:noAutofit/>
          </a:bodyPr>
          <a:lstStyle>
            <a:lvl1pPr marL="0" indent="0" algn="l" defTabSz="914400" rtl="0" eaLnBrk="1" fontAlgn="auto" latinLnBrk="0" hangingPunct="1">
              <a:lnSpc>
                <a:spcPct val="125000"/>
              </a:lnSpc>
              <a:spcBef>
                <a:spcPct val="0"/>
              </a:spcBef>
              <a:spcAft>
                <a:spcPct val="0"/>
              </a:spcAft>
              <a:buFont typeface="Arial" panose="020B0604020202020204" pitchFamily="34" charset="0"/>
              <a:buNone/>
              <a:defRPr sz="1600" b="0" u="none" strike="noStrike" kern="1200" cap="none" spc="0" normalizeH="0" baseline="0">
                <a:solidFill>
                  <a:schemeClr val="tx1"/>
                </a:solidFill>
                <a:uFillTx/>
                <a:latin typeface="MiSans Medium" panose="00000600000000000000" charset="-122"/>
                <a:ea typeface="MiSans Normal" panose="00000500000000000000" charset="-122"/>
                <a:cs typeface="+mn-cs"/>
                <a:sym typeface="MiSans Medium" panose="00000600000000000000"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本课题的首要预期目标是设计一个改进的算法框架，以保障对任意给定物体实现安全可靠的抓取。本课题旨在从对应论文的算法中找到一个可以实现的算法并进行改进分析。为了实现这个算法的改进策略，需要通过研究多种机器人手抓取取得的数据进行分析，并设计出预期模型，预期模型将利用去噪扩散概率过程。我们的核心目标是在扩散模型的每一步估计中，纠正传统均方误差损失（</a:t>
            </a:r>
            <a:r>
              <a:rPr lang="en-US" altLang="zh-CN"/>
              <a:t>MSE</a:t>
            </a:r>
            <a:r>
              <a:rPr lang="zh-CN" altLang="en-US"/>
              <a:t>）未考虑物理法则的缺陷。预期成果是能够实现一个具有一定程度改进效果的，在原有算法基础上</a:t>
            </a:r>
            <a:r>
              <a:rPr lang="zh-CN" altLang="en-US"/>
              <a:t>改进的算法框架。</a:t>
            </a:r>
            <a:endParaRPr lang="zh-CN" altLang="en-US"/>
          </a:p>
        </p:txBody>
      </p:sp>
      <p:pic>
        <p:nvPicPr>
          <p:cNvPr id="3" name="图片 2"/>
          <p:cNvPicPr>
            <a:picLocks noChangeAspect="1"/>
          </p:cNvPicPr>
          <p:nvPr/>
        </p:nvPicPr>
        <p:blipFill>
          <a:blip r:embed="rId4"/>
          <a:stretch>
            <a:fillRect/>
          </a:stretch>
        </p:blipFill>
        <p:spPr>
          <a:xfrm>
            <a:off x="770890" y="1231265"/>
            <a:ext cx="9904730" cy="359092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cstate="screen">
            <a:lum/>
          </a:blip>
          <a:srcRect/>
          <a:stretch>
            <a:fillRect/>
          </a:stretch>
        </a:blipFill>
        <a:effectLst/>
      </p:bgPr>
    </p:bg>
    <p:spTree>
      <p:nvGrpSpPr>
        <p:cNvPr id="106" name=""/>
        <p:cNvGrpSpPr/>
        <p:nvPr/>
      </p:nvGrpSpPr>
      <p:grpSpPr>
        <a:xfrm>
          <a:off x="0" y="0"/>
          <a:ext cx="0" cy="0"/>
          <a:chOff x="0" y="0"/>
          <a:chExt cx="0" cy="0"/>
        </a:xfrm>
      </p:grpSpPr>
      <p:sp>
        <p:nvSpPr>
          <p:cNvPr id="1048722" name="矩形 20"/>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pic>
        <p:nvPicPr>
          <p:cNvPr id="2097169" name="Picture 2"/>
          <p:cNvPicPr>
            <a:picLocks noChangeAspect="1" noChangeArrowheads="1"/>
          </p:cNvPicPr>
          <p:nvPr/>
        </p:nvPicPr>
        <p:blipFill rotWithShape="1">
          <a:blip r:embed="rId2" cstate="print"/>
          <a:srcRect/>
          <a:stretch>
            <a:fillRect/>
          </a:stretch>
        </p:blipFill>
        <p:spPr bwMode="auto">
          <a:xfrm>
            <a:off x="4191000" y="1407160"/>
            <a:ext cx="8001000" cy="4043680"/>
          </a:xfrm>
          <a:prstGeom prst="rect">
            <a:avLst/>
          </a:prstGeom>
          <a:noFill/>
        </p:spPr>
      </p:pic>
      <p:grpSp>
        <p:nvGrpSpPr>
          <p:cNvPr id="107" name="组合 22"/>
          <p:cNvGrpSpPr/>
          <p:nvPr/>
        </p:nvGrpSpPr>
        <p:grpSpPr>
          <a:xfrm>
            <a:off x="0" y="713740"/>
            <a:ext cx="12192001" cy="4737100"/>
            <a:chOff x="0" y="713740"/>
            <a:chExt cx="12192001" cy="4737100"/>
          </a:xfrm>
        </p:grpSpPr>
        <p:grpSp>
          <p:nvGrpSpPr>
            <p:cNvPr id="108" name="组合 25"/>
            <p:cNvGrpSpPr/>
            <p:nvPr/>
          </p:nvGrpSpPr>
          <p:grpSpPr>
            <a:xfrm>
              <a:off x="0" y="1407160"/>
              <a:ext cx="4064000" cy="4043680"/>
              <a:chOff x="0" y="1407160"/>
              <a:chExt cx="4064000" cy="4043680"/>
            </a:xfrm>
          </p:grpSpPr>
          <p:sp>
            <p:nvSpPr>
              <p:cNvPr id="1048723" name="矩形 31"/>
              <p:cNvSpPr/>
              <p:nvPr/>
            </p:nvSpPr>
            <p:spPr>
              <a:xfrm>
                <a:off x="0" y="1407160"/>
                <a:ext cx="4064000" cy="40436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造字工房力黑（非商用）常规体" pitchFamily="50" charset="-122"/>
                  <a:ea typeface="造字工房力黑（非商用）常规体" pitchFamily="50" charset="-122"/>
                  <a:cs typeface="+mn-ea"/>
                  <a:sym typeface="+mn-lt"/>
                </a:endParaRPr>
              </a:p>
            </p:txBody>
          </p:sp>
          <p:sp>
            <p:nvSpPr>
              <p:cNvPr id="1048724" name="文本框 33"/>
              <p:cNvSpPr txBox="1"/>
              <p:nvPr/>
            </p:nvSpPr>
            <p:spPr>
              <a:xfrm>
                <a:off x="127000" y="2670294"/>
                <a:ext cx="3810000" cy="1938020"/>
              </a:xfrm>
              <a:prstGeom prst="rect">
                <a:avLst/>
              </a:prstGeom>
              <a:noFill/>
            </p:spPr>
            <p:txBody>
              <a:bodyPr wrap="square" rtlCol="0">
                <a:spAutoFit/>
              </a:bodyPr>
              <a:p>
                <a:pPr algn="ctr"/>
                <a:r>
                  <a:rPr lang="zh-CN" altLang="en-US" sz="4000" spc="600" dirty="0">
                    <a:solidFill>
                      <a:schemeClr val="bg1"/>
                    </a:solidFill>
                    <a:latin typeface="黑体" panose="02010609060101010101" charset="-122"/>
                    <a:ea typeface="黑体" panose="02010609060101010101" charset="-122"/>
                    <a:cs typeface="Times New Roman" panose="02020603050405020304" pitchFamily="18" charset="0"/>
                    <a:sym typeface="Agency FB" panose="020B0503020202020204" pitchFamily="34" charset="0"/>
                  </a:rPr>
                  <a:t>选题文献阅读报告</a:t>
                </a:r>
                <a:endParaRPr lang="en-US" altLang="zh-CN" sz="4000" spc="600" dirty="0">
                  <a:solidFill>
                    <a:schemeClr val="bg1"/>
                  </a:solidFill>
                  <a:latin typeface="黑体" panose="02010609060101010101" charset="-122"/>
                  <a:ea typeface="黑体" panose="02010609060101010101" charset="-122"/>
                  <a:cs typeface="Times New Roman" panose="02020603050405020304" pitchFamily="18" charset="0"/>
                  <a:sym typeface="Agency FB" panose="020B0503020202020204" pitchFamily="34" charset="0"/>
                </a:endParaRPr>
              </a:p>
              <a:p>
                <a:pPr algn="ctr"/>
                <a:endParaRPr lang="zh-CN" altLang="en-US" sz="4000" dirty="0">
                  <a:solidFill>
                    <a:schemeClr val="bg1"/>
                  </a:solidFill>
                  <a:latin typeface="黑体" panose="02010609060101010101" charset="-122"/>
                  <a:ea typeface="黑体" panose="02010609060101010101" charset="-122"/>
                  <a:cs typeface="+mn-ea"/>
                  <a:sym typeface="+mn-lt"/>
                </a:endParaRPr>
              </a:p>
            </p:txBody>
          </p:sp>
        </p:grpSp>
        <p:grpSp>
          <p:nvGrpSpPr>
            <p:cNvPr id="109" name="组合 26"/>
            <p:cNvGrpSpPr/>
            <p:nvPr/>
          </p:nvGrpSpPr>
          <p:grpSpPr>
            <a:xfrm>
              <a:off x="7130472" y="713740"/>
              <a:ext cx="5061529" cy="1386840"/>
              <a:chOff x="7130472" y="713740"/>
              <a:chExt cx="5061529" cy="1386840"/>
            </a:xfrm>
          </p:grpSpPr>
          <p:sp>
            <p:nvSpPr>
              <p:cNvPr id="1048725" name="任意多边形 28"/>
              <p:cNvSpPr/>
              <p:nvPr/>
            </p:nvSpPr>
            <p:spPr>
              <a:xfrm flipH="1" flipV="1">
                <a:off x="7130472" y="713740"/>
                <a:ext cx="5061527" cy="1386840"/>
              </a:xfrm>
              <a:custGeom>
                <a:avLst/>
                <a:gdLst>
                  <a:gd name="connsiteX0" fmla="*/ 0 w 7147560"/>
                  <a:gd name="connsiteY0" fmla="*/ 0 h 2814320"/>
                  <a:gd name="connsiteX1" fmla="*/ 6443980 w 7147560"/>
                  <a:gd name="connsiteY1" fmla="*/ 0 h 2814320"/>
                  <a:gd name="connsiteX2" fmla="*/ 7147560 w 7147560"/>
                  <a:gd name="connsiteY2" fmla="*/ 2814320 h 2814320"/>
                  <a:gd name="connsiteX3" fmla="*/ 0 w 7147560"/>
                  <a:gd name="connsiteY3" fmla="*/ 2814320 h 2814320"/>
                  <a:gd name="connsiteX0-1" fmla="*/ 0 w 8689506"/>
                  <a:gd name="connsiteY0-2" fmla="*/ 0 h 2814320"/>
                  <a:gd name="connsiteX1-3" fmla="*/ 6443980 w 8689506"/>
                  <a:gd name="connsiteY1-4" fmla="*/ 0 h 2814320"/>
                  <a:gd name="connsiteX2-5" fmla="*/ 8689506 w 8689506"/>
                  <a:gd name="connsiteY2-6" fmla="*/ 2814320 h 2814320"/>
                  <a:gd name="connsiteX3-7" fmla="*/ 0 w 8689506"/>
                  <a:gd name="connsiteY3-8" fmla="*/ 2814320 h 2814320"/>
                  <a:gd name="connsiteX4" fmla="*/ 0 w 8689506"/>
                  <a:gd name="connsiteY4" fmla="*/ 0 h 2814320"/>
                  <a:gd name="connsiteX0-9" fmla="*/ 0 w 9235080"/>
                  <a:gd name="connsiteY0-10" fmla="*/ 0 h 2834640"/>
                  <a:gd name="connsiteX1-11" fmla="*/ 6443980 w 9235080"/>
                  <a:gd name="connsiteY1-12" fmla="*/ 0 h 2834640"/>
                  <a:gd name="connsiteX2-13" fmla="*/ 9235080 w 9235080"/>
                  <a:gd name="connsiteY2-14" fmla="*/ 2834640 h 2834640"/>
                  <a:gd name="connsiteX3-15" fmla="*/ 0 w 9235080"/>
                  <a:gd name="connsiteY3-16" fmla="*/ 2814320 h 2834640"/>
                  <a:gd name="connsiteX4-17" fmla="*/ 0 w 9235080"/>
                  <a:gd name="connsiteY4-18" fmla="*/ 0 h 2834640"/>
                </a:gdLst>
                <a:ahLst/>
                <a:cxnLst>
                  <a:cxn ang="0">
                    <a:pos x="connsiteX0-1" y="connsiteY0-2"/>
                  </a:cxn>
                  <a:cxn ang="0">
                    <a:pos x="connsiteX1-3" y="connsiteY1-4"/>
                  </a:cxn>
                  <a:cxn ang="0">
                    <a:pos x="connsiteX2-5" y="connsiteY2-6"/>
                  </a:cxn>
                  <a:cxn ang="0">
                    <a:pos x="connsiteX3-7" y="connsiteY3-8"/>
                  </a:cxn>
                  <a:cxn ang="0">
                    <a:pos x="connsiteX4-17" y="connsiteY4-18"/>
                  </a:cxn>
                </a:cxnLst>
                <a:rect l="l" t="t" r="r" b="b"/>
                <a:pathLst>
                  <a:path w="9235080" h="2834640">
                    <a:moveTo>
                      <a:pt x="0" y="0"/>
                    </a:moveTo>
                    <a:lnTo>
                      <a:pt x="6443980" y="0"/>
                    </a:lnTo>
                    <a:lnTo>
                      <a:pt x="9235080" y="2834640"/>
                    </a:lnTo>
                    <a:lnTo>
                      <a:pt x="0" y="2814320"/>
                    </a:lnTo>
                    <a:lnTo>
                      <a:pt x="0" y="0"/>
                    </a:lnTo>
                    <a:close/>
                  </a:path>
                </a:pathLst>
              </a:cu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造字工房力黑（非商用）常规体" pitchFamily="50" charset="-122"/>
                  <a:ea typeface="造字工房力黑（非商用）常规体" pitchFamily="50" charset="-122"/>
                  <a:cs typeface="+mn-ea"/>
                  <a:sym typeface="+mn-lt"/>
                </a:endParaRPr>
              </a:p>
            </p:txBody>
          </p:sp>
          <p:sp>
            <p:nvSpPr>
              <p:cNvPr id="1048726" name="文本框 30"/>
              <p:cNvSpPr txBox="1"/>
              <p:nvPr/>
            </p:nvSpPr>
            <p:spPr>
              <a:xfrm>
                <a:off x="7564229" y="991661"/>
                <a:ext cx="4627772" cy="701040"/>
              </a:xfrm>
              <a:prstGeom prst="rect">
                <a:avLst/>
              </a:prstGeom>
              <a:noFill/>
            </p:spPr>
            <p:txBody>
              <a:bodyPr wrap="square" rtlCol="0">
                <a:spAutoFit/>
              </a:bodyPr>
              <a:p>
                <a:pPr algn="r"/>
                <a:r>
                  <a:rPr lang="en-US" altLang="zh-CN" sz="3600" spc="300" dirty="0">
                    <a:solidFill>
                      <a:schemeClr val="bg1"/>
                    </a:solidFill>
                    <a:latin typeface="造字工房力黑（非商用）常规体" pitchFamily="50" charset="-122"/>
                    <a:ea typeface="造字工房力黑（非商用）常规体" pitchFamily="50" charset="-122"/>
                    <a:cs typeface="+mn-ea"/>
                    <a:sym typeface="+mn-lt"/>
                  </a:rPr>
                  <a:t>PART THREE</a:t>
                </a:r>
                <a:endParaRPr lang="zh-CN" altLang="en-US" sz="3600" spc="300" dirty="0">
                  <a:solidFill>
                    <a:schemeClr val="bg1"/>
                  </a:solidFill>
                  <a:latin typeface="造字工房力黑（非商用）常规体" pitchFamily="50" charset="-122"/>
                  <a:ea typeface="造字工房力黑（非商用）常规体" pitchFamily="50" charset="-122"/>
                  <a:cs typeface="+mn-ea"/>
                  <a:sym typeface="+mn-lt"/>
                </a:endParaRPr>
              </a:p>
            </p:txBody>
          </p:sp>
        </p:grpSp>
        <p:sp>
          <p:nvSpPr>
            <p:cNvPr id="1048727" name="文本框 27"/>
            <p:cNvSpPr txBox="1"/>
            <p:nvPr/>
          </p:nvSpPr>
          <p:spPr>
            <a:xfrm>
              <a:off x="9550399" y="3052435"/>
              <a:ext cx="2349194" cy="1577340"/>
            </a:xfrm>
            <a:prstGeom prst="rect">
              <a:avLst/>
            </a:prstGeom>
            <a:noFill/>
            <a:ln>
              <a:solidFill>
                <a:schemeClr val="bg1"/>
              </a:solidFill>
            </a:ln>
          </p:spPr>
          <p:txBody>
            <a:bodyPr wrap="square" rtlCol="0">
              <a:spAutoFit/>
            </a:bodyPr>
            <a:p>
              <a:pPr algn="ctr"/>
              <a:r>
                <a:rPr lang="en-US" altLang="zh-CN" sz="8800" spc="600" dirty="0">
                  <a:solidFill>
                    <a:schemeClr val="bg1"/>
                  </a:solidFill>
                  <a:latin typeface="造字工房力黑（非商用）常规体" pitchFamily="50" charset="-122"/>
                  <a:ea typeface="造字工房力黑（非商用）常规体" pitchFamily="50" charset="-122"/>
                  <a:cs typeface="+mn-ea"/>
                  <a:sym typeface="+mn-lt"/>
                </a:rPr>
                <a:t>03</a:t>
              </a:r>
              <a:endParaRPr lang="zh-CN" altLang="en-US" sz="8800" spc="600" dirty="0">
                <a:solidFill>
                  <a:schemeClr val="bg1"/>
                </a:solidFill>
                <a:latin typeface="造字工房力黑（非商用）常规体" pitchFamily="50" charset="-122"/>
                <a:ea typeface="造字工房力黑（非商用）常规体" pitchFamily="50" charset="-122"/>
                <a:cs typeface="+mn-ea"/>
                <a:sym typeface="+mn-lt"/>
              </a:endParaRPr>
            </a:p>
          </p:txBody>
        </p:sp>
      </p:grpSp>
      <p:pic>
        <p:nvPicPr>
          <p:cNvPr id="2097170" name="图片 14"/>
          <p:cNvPicPr>
            <a:picLocks noChangeAspect="1"/>
          </p:cNvPicPr>
          <p:nvPr/>
        </p:nvPicPr>
        <p:blipFill>
          <a:blip r:embed="rId3" cstate="print"/>
          <a:srcRect/>
          <a:stretch>
            <a:fillRect/>
          </a:stretch>
        </p:blipFill>
        <p:spPr>
          <a:xfrm>
            <a:off x="874769" y="477840"/>
            <a:ext cx="2174882" cy="45606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12" name=""/>
        <p:cNvGrpSpPr/>
        <p:nvPr/>
      </p:nvGrpSpPr>
      <p:grpSpPr>
        <a:xfrm>
          <a:off x="0" y="0"/>
          <a:ext cx="0" cy="0"/>
          <a:chOff x="0" y="0"/>
          <a:chExt cx="0" cy="0"/>
        </a:xfrm>
      </p:grpSpPr>
      <p:grpSp>
        <p:nvGrpSpPr>
          <p:cNvPr id="113" name="组合 2"/>
          <p:cNvGrpSpPr/>
          <p:nvPr/>
        </p:nvGrpSpPr>
        <p:grpSpPr>
          <a:xfrm>
            <a:off x="0" y="156335"/>
            <a:ext cx="11940390" cy="497839"/>
            <a:chOff x="0" y="156335"/>
            <a:chExt cx="11940390" cy="497839"/>
          </a:xfrm>
        </p:grpSpPr>
        <p:grpSp>
          <p:nvGrpSpPr>
            <p:cNvPr id="114" name="组合 3"/>
            <p:cNvGrpSpPr/>
            <p:nvPr/>
          </p:nvGrpSpPr>
          <p:grpSpPr>
            <a:xfrm>
              <a:off x="0" y="156335"/>
              <a:ext cx="9666514" cy="497839"/>
              <a:chOff x="0" y="248698"/>
              <a:chExt cx="9666514" cy="497839"/>
            </a:xfrm>
          </p:grpSpPr>
          <p:grpSp>
            <p:nvGrpSpPr>
              <p:cNvPr id="115" name="组合 4"/>
              <p:cNvGrpSpPr/>
              <p:nvPr/>
            </p:nvGrpSpPr>
            <p:grpSpPr>
              <a:xfrm>
                <a:off x="0" y="294640"/>
                <a:ext cx="880552" cy="375920"/>
                <a:chOff x="0" y="294640"/>
                <a:chExt cx="1094740" cy="467360"/>
              </a:xfrm>
              <a:solidFill>
                <a:srgbClr val="EE8A10"/>
              </a:solidFill>
            </p:grpSpPr>
            <p:sp>
              <p:nvSpPr>
                <p:cNvPr id="1048732"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48733"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48734"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1048735" name="文本框 5"/>
              <p:cNvSpPr txBox="1"/>
              <p:nvPr/>
            </p:nvSpPr>
            <p:spPr>
              <a:xfrm>
                <a:off x="972489" y="248698"/>
                <a:ext cx="2702560" cy="497839"/>
              </a:xfrm>
              <a:prstGeom prst="rect">
                <a:avLst/>
              </a:prstGeom>
              <a:noFill/>
            </p:spPr>
            <p:txBody>
              <a:bodyPr wrap="square" rtlCol="0">
                <a:spAutoFit/>
              </a:bodyPr>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16" name="组合 6"/>
              <p:cNvGrpSpPr/>
              <p:nvPr/>
            </p:nvGrpSpPr>
            <p:grpSpPr>
              <a:xfrm>
                <a:off x="3356076" y="408709"/>
                <a:ext cx="1749361" cy="147782"/>
                <a:chOff x="635462" y="775854"/>
                <a:chExt cx="1749361" cy="147782"/>
              </a:xfrm>
              <a:solidFill>
                <a:srgbClr val="EE8A10"/>
              </a:solidFill>
            </p:grpSpPr>
            <p:sp>
              <p:nvSpPr>
                <p:cNvPr id="1048736"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37"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38"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39"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40"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cxnSp>
            <p:nvCxnSpPr>
              <p:cNvPr id="3145734"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1"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2" name="标题 1"/>
          <p:cNvSpPr>
            <a:spLocks noGrp="1"/>
          </p:cNvSpPr>
          <p:nvPr>
            <p:custDataLst>
              <p:tags r:id="rId2"/>
            </p:custDataLst>
          </p:nvPr>
        </p:nvSpPr>
        <p:spPr>
          <a:xfrm>
            <a:off x="416560" y="723265"/>
            <a:ext cx="10972800" cy="609600"/>
          </a:xfrm>
          <a:prstGeom prst="rect">
            <a:avLst/>
          </a:prstGeom>
          <a:noFill/>
        </p:spPr>
        <p:txBody>
          <a:bodyPr vert="horz" lIns="0" tIns="0" rIns="0" bIns="0" rtlCol="0" anchor="t" anchorCtr="0">
            <a:normAutofit/>
          </a:bodyPr>
          <a:lstStyle>
            <a:lvl1pPr marL="0" indent="0" algn="l" defTabSz="914400" rtl="0" eaLnBrk="1" fontAlgn="auto" latinLnBrk="0" hangingPunct="1">
              <a:lnSpc>
                <a:spcPct val="111000"/>
              </a:lnSpc>
              <a:spcBef>
                <a:spcPct val="0"/>
              </a:spcBef>
              <a:spcAft>
                <a:spcPct val="0"/>
              </a:spcAft>
              <a:buNone/>
              <a:defRPr sz="3600" b="0" u="none" strike="noStrike" kern="1200" cap="none" spc="0" normalizeH="0" baseline="0">
                <a:solidFill>
                  <a:schemeClr val="tx1"/>
                </a:solidFill>
                <a:uFillTx/>
                <a:latin typeface="MiSans Demibold" panose="00000700000000000000" charset="-122"/>
                <a:ea typeface="MiSans Medium" panose="00000600000000000000" charset="-122"/>
                <a:cs typeface="+mj-cs"/>
                <a:sym typeface="MiSans Demibold" panose="00000700000000000000" charset="-122"/>
              </a:defRPr>
            </a:lvl1pPr>
          </a:lstStyle>
          <a:p>
            <a:r>
              <a:rPr lang="zh-CN" altLang="en-US" sz="2800">
                <a:latin typeface="黑体" panose="02010609060101010101" charset="-122"/>
                <a:ea typeface="黑体" panose="02010609060101010101" charset="-122"/>
                <a:cs typeface="黑体" panose="02010609060101010101" charset="-122"/>
              </a:rPr>
              <a:t>阅读文献分析</a:t>
            </a:r>
            <a:r>
              <a:rPr lang="en-US" altLang="zh-CN" sz="2800">
                <a:latin typeface="黑体" panose="02010609060101010101" charset="-122"/>
                <a:ea typeface="黑体" panose="02010609060101010101" charset="-122"/>
                <a:cs typeface="黑体" panose="02010609060101010101" charset="-122"/>
              </a:rPr>
              <a:t>——DexGrasp Anything</a:t>
            </a:r>
            <a:endParaRPr lang="en-US" altLang="zh-CN" sz="2800">
              <a:latin typeface="黑体" panose="02010609060101010101" charset="-122"/>
              <a:ea typeface="黑体" panose="02010609060101010101" charset="-122"/>
              <a:cs typeface="黑体" panose="02010609060101010101" charset="-122"/>
            </a:endParaRPr>
          </a:p>
        </p:txBody>
      </p:sp>
      <p:sp>
        <p:nvSpPr>
          <p:cNvPr id="7" name="文本占位符 6"/>
          <p:cNvSpPr>
            <a:spLocks noGrp="1"/>
          </p:cNvSpPr>
          <p:nvPr>
            <p:custDataLst>
              <p:tags r:id="rId3"/>
            </p:custDataLst>
          </p:nvPr>
        </p:nvSpPr>
        <p:spPr>
          <a:xfrm>
            <a:off x="6904355" y="1421765"/>
            <a:ext cx="5158105" cy="1604010"/>
          </a:xfrm>
          <a:prstGeom prst="rect">
            <a:avLst/>
          </a:prstGeom>
          <a:noFill/>
        </p:spPr>
        <p:txBody>
          <a:bodyPr vert="horz" lIns="0" tIns="0" rIns="0" bIns="0" rtlCol="0" anchor="t">
            <a:noAutofit/>
          </a:bodyPr>
          <a:lstStyle>
            <a:lvl1pPr marL="0" indent="0" algn="l" defTabSz="914400" rtl="0" eaLnBrk="1" fontAlgn="auto" latinLnBrk="0" hangingPunct="1">
              <a:lnSpc>
                <a:spcPct val="125000"/>
              </a:lnSpc>
              <a:spcBef>
                <a:spcPct val="0"/>
              </a:spcBef>
              <a:spcAft>
                <a:spcPct val="0"/>
              </a:spcAft>
              <a:buFont typeface="Arial" panose="020B0604020202020204" pitchFamily="34" charset="0"/>
              <a:buNone/>
              <a:defRPr sz="1600" b="0" u="none" strike="noStrike" kern="1200" cap="none" spc="0" normalizeH="0" baseline="0">
                <a:solidFill>
                  <a:schemeClr val="tx1"/>
                </a:solidFill>
                <a:uFillTx/>
                <a:latin typeface="MiSans Medium" panose="00000600000000000000" charset="-122"/>
                <a:ea typeface="MiSans Normal" panose="00000500000000000000" charset="-122"/>
                <a:cs typeface="+mn-cs"/>
                <a:sym typeface="MiSans Medium" panose="00000600000000000000"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论文提出了一种创新的</a:t>
            </a:r>
            <a:r>
              <a:rPr lang="en-US" altLang="zh-CN"/>
              <a:t>“</a:t>
            </a:r>
            <a:r>
              <a:rPr lang="zh-CN" altLang="en-US"/>
              <a:t>物理感知扩散模型</a:t>
            </a:r>
            <a:r>
              <a:rPr lang="en-US" altLang="zh-CN"/>
              <a:t>”</a:t>
            </a:r>
            <a:r>
              <a:rPr lang="zh-CN" altLang="en-US"/>
              <a:t>。其技术路径分为两个关键维度：</a:t>
            </a:r>
            <a:endParaRPr lang="zh-CN" altLang="en-US"/>
          </a:p>
          <a:p>
            <a:r>
              <a:rPr lang="zh-CN" altLang="en-US"/>
              <a:t>首先是物理感知训练（</a:t>
            </a:r>
            <a:r>
              <a:rPr lang="en-US" altLang="zh-CN"/>
              <a:t>Physics-Aware Training</a:t>
            </a:r>
            <a:r>
              <a:rPr lang="zh-CN" altLang="en-US"/>
              <a:t>）：研究团队在扩散模型的训练过程中，除了使用常规的去噪损失，还额外引入了一套精密的物理约束损失函数，包括表面拉力（引导手指紧贴物体）、外部穿透斥力（防止手模侵入物体）以及自穿透斥力（防止手指间碰撞）。这意味着模型在学习过程中，不仅是在学习图像或形状，而是在学习如何遵守现实世界的力学法则。</a:t>
            </a:r>
            <a:endParaRPr lang="zh-CN" altLang="en-US"/>
          </a:p>
          <a:p>
            <a:endParaRPr lang="zh-CN" altLang="en-US"/>
          </a:p>
          <a:p>
            <a:r>
              <a:rPr lang="zh-CN" altLang="en-US"/>
              <a:t>其次是物理引导采样（</a:t>
            </a:r>
            <a:r>
              <a:rPr lang="en-US" altLang="zh-CN"/>
              <a:t>Physics-Guided Sampling</a:t>
            </a:r>
            <a:r>
              <a:rPr lang="zh-CN" altLang="en-US"/>
              <a:t>）：在推理生成阶段，模型利用梯度引导技术，在每一步去噪迭代中不断微调抓取姿态，使其向物理上更合理的区域收敛。此外，为了增强对物体</a:t>
            </a:r>
            <a:r>
              <a:rPr lang="en-US" altLang="zh-CN"/>
              <a:t>“</a:t>
            </a:r>
            <a:r>
              <a:rPr lang="zh-CN" altLang="en-US"/>
              <a:t>功能性</a:t>
            </a:r>
            <a:r>
              <a:rPr lang="en-US" altLang="zh-CN"/>
              <a:t>”</a:t>
            </a:r>
            <a:r>
              <a:rPr lang="zh-CN" altLang="en-US"/>
              <a:t>的理解，框架还引入了大语言模型（</a:t>
            </a:r>
            <a:r>
              <a:rPr lang="en-US" altLang="zh-CN"/>
              <a:t>LLM</a:t>
            </a:r>
            <a:r>
              <a:rPr lang="zh-CN" altLang="en-US"/>
              <a:t>）的语义先验，将物体的几何特征与语义描述融合，使机器人不仅能</a:t>
            </a:r>
            <a:r>
              <a:rPr lang="en-US" altLang="zh-CN"/>
              <a:t>“</a:t>
            </a:r>
            <a:r>
              <a:rPr lang="zh-CN" altLang="en-US"/>
              <a:t>抓得住</a:t>
            </a:r>
            <a:r>
              <a:rPr lang="en-US" altLang="zh-CN"/>
              <a:t>”</a:t>
            </a:r>
            <a:r>
              <a:rPr lang="zh-CN" altLang="en-US"/>
              <a:t>，还能</a:t>
            </a:r>
            <a:r>
              <a:rPr lang="en-US" altLang="zh-CN"/>
              <a:t>“</a:t>
            </a:r>
            <a:r>
              <a:rPr lang="zh-CN" altLang="en-US"/>
              <a:t>抓得对</a:t>
            </a:r>
            <a:r>
              <a:rPr lang="en-US" altLang="zh-CN"/>
              <a:t>”</a:t>
            </a:r>
            <a:r>
              <a:rPr lang="zh-CN" altLang="en-US"/>
              <a:t>，实现了从纯几何匹配到语义物理感知协同的跨越。</a:t>
            </a:r>
            <a:endParaRPr lang="zh-CN" altLang="en-US"/>
          </a:p>
        </p:txBody>
      </p:sp>
      <p:pic>
        <p:nvPicPr>
          <p:cNvPr id="4" name="图片 3"/>
          <p:cNvPicPr>
            <a:picLocks noChangeAspect="1"/>
          </p:cNvPicPr>
          <p:nvPr/>
        </p:nvPicPr>
        <p:blipFill>
          <a:blip r:embed="rId4"/>
          <a:stretch>
            <a:fillRect/>
          </a:stretch>
        </p:blipFill>
        <p:spPr>
          <a:xfrm>
            <a:off x="209550" y="1910080"/>
            <a:ext cx="6536055" cy="402209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19" name=""/>
        <p:cNvGrpSpPr/>
        <p:nvPr/>
      </p:nvGrpSpPr>
      <p:grpSpPr>
        <a:xfrm>
          <a:off x="0" y="0"/>
          <a:ext cx="0" cy="0"/>
          <a:chOff x="0" y="0"/>
          <a:chExt cx="0" cy="0"/>
        </a:xfrm>
      </p:grpSpPr>
      <p:grpSp>
        <p:nvGrpSpPr>
          <p:cNvPr id="120" name="组合 2"/>
          <p:cNvGrpSpPr/>
          <p:nvPr/>
        </p:nvGrpSpPr>
        <p:grpSpPr>
          <a:xfrm>
            <a:off x="0" y="156335"/>
            <a:ext cx="11940390" cy="497839"/>
            <a:chOff x="0" y="156335"/>
            <a:chExt cx="11940390" cy="497839"/>
          </a:xfrm>
        </p:grpSpPr>
        <p:grpSp>
          <p:nvGrpSpPr>
            <p:cNvPr id="121" name="组合 3"/>
            <p:cNvGrpSpPr/>
            <p:nvPr/>
          </p:nvGrpSpPr>
          <p:grpSpPr>
            <a:xfrm>
              <a:off x="0" y="156335"/>
              <a:ext cx="9666514" cy="497839"/>
              <a:chOff x="0" y="248698"/>
              <a:chExt cx="9666514" cy="497839"/>
            </a:xfrm>
          </p:grpSpPr>
          <p:grpSp>
            <p:nvGrpSpPr>
              <p:cNvPr id="122" name="组合 4"/>
              <p:cNvGrpSpPr/>
              <p:nvPr/>
            </p:nvGrpSpPr>
            <p:grpSpPr>
              <a:xfrm>
                <a:off x="0" y="294640"/>
                <a:ext cx="880552" cy="375920"/>
                <a:chOff x="0" y="294640"/>
                <a:chExt cx="1094740" cy="467360"/>
              </a:xfrm>
              <a:solidFill>
                <a:srgbClr val="EE8A10"/>
              </a:solidFill>
            </p:grpSpPr>
            <p:sp>
              <p:nvSpPr>
                <p:cNvPr id="1048746"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48747"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48748"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1048749" name="文本框 5"/>
              <p:cNvSpPr txBox="1"/>
              <p:nvPr/>
            </p:nvSpPr>
            <p:spPr>
              <a:xfrm>
                <a:off x="972489" y="248698"/>
                <a:ext cx="2702560" cy="497839"/>
              </a:xfrm>
              <a:prstGeom prst="rect">
                <a:avLst/>
              </a:prstGeom>
              <a:noFill/>
            </p:spPr>
            <p:txBody>
              <a:bodyPr wrap="square" rtlCol="0">
                <a:spAutoFit/>
              </a:bodyPr>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23" name="组合 6"/>
              <p:cNvGrpSpPr/>
              <p:nvPr/>
            </p:nvGrpSpPr>
            <p:grpSpPr>
              <a:xfrm>
                <a:off x="3356076" y="408709"/>
                <a:ext cx="1749361" cy="147782"/>
                <a:chOff x="635462" y="775854"/>
                <a:chExt cx="1749361" cy="147782"/>
              </a:xfrm>
              <a:solidFill>
                <a:srgbClr val="EE8A10"/>
              </a:solidFill>
            </p:grpSpPr>
            <p:sp>
              <p:nvSpPr>
                <p:cNvPr id="1048750"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51"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52"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53"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54"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cxnSp>
            <p:nvCxnSpPr>
              <p:cNvPr id="3145735"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3"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2" name="标题 1"/>
          <p:cNvSpPr>
            <a:spLocks noGrp="1"/>
          </p:cNvSpPr>
          <p:nvPr>
            <p:custDataLst>
              <p:tags r:id="rId2"/>
            </p:custDataLst>
          </p:nvPr>
        </p:nvSpPr>
        <p:spPr>
          <a:xfrm>
            <a:off x="438785" y="746760"/>
            <a:ext cx="10972800" cy="609600"/>
          </a:xfrm>
          <a:prstGeom prst="rect">
            <a:avLst/>
          </a:prstGeom>
          <a:noFill/>
        </p:spPr>
        <p:txBody>
          <a:bodyPr vert="horz" lIns="0" tIns="0" rIns="0" bIns="0" rtlCol="0" anchor="t" anchorCtr="0">
            <a:normAutofit/>
          </a:bodyPr>
          <a:lstStyle>
            <a:lvl1pPr marL="0" indent="0" algn="l" defTabSz="914400" rtl="0" eaLnBrk="1" fontAlgn="auto" latinLnBrk="0" hangingPunct="1">
              <a:lnSpc>
                <a:spcPct val="111000"/>
              </a:lnSpc>
              <a:spcBef>
                <a:spcPct val="0"/>
              </a:spcBef>
              <a:spcAft>
                <a:spcPct val="0"/>
              </a:spcAft>
              <a:buNone/>
              <a:defRPr sz="3600" b="0" u="none" strike="noStrike" kern="1200" cap="none" spc="0" normalizeH="0" baseline="0">
                <a:solidFill>
                  <a:schemeClr val="tx1"/>
                </a:solidFill>
                <a:uFillTx/>
                <a:latin typeface="MiSans Demibold" panose="00000700000000000000" charset="-122"/>
                <a:ea typeface="MiSans Medium" panose="00000600000000000000" charset="-122"/>
                <a:cs typeface="+mj-cs"/>
                <a:sym typeface="MiSans Demibold" panose="00000700000000000000" charset="-122"/>
              </a:defRPr>
            </a:lvl1pPr>
          </a:lstStyle>
          <a:p>
            <a:r>
              <a:rPr lang="zh-CN" altLang="en-US" sz="2800">
                <a:latin typeface="黑体" panose="02010609060101010101" charset="-122"/>
                <a:ea typeface="黑体" panose="02010609060101010101" charset="-122"/>
                <a:cs typeface="黑体" panose="02010609060101010101" charset="-122"/>
              </a:rPr>
              <a:t>阅读文献分析</a:t>
            </a:r>
            <a:r>
              <a:rPr lang="en-US" altLang="zh-CN" sz="2800">
                <a:latin typeface="黑体" panose="02010609060101010101" charset="-122"/>
                <a:ea typeface="黑体" panose="02010609060101010101" charset="-122"/>
                <a:cs typeface="黑体" panose="02010609060101010101" charset="-122"/>
              </a:rPr>
              <a:t>——DexGrasp Anything</a:t>
            </a:r>
            <a:endParaRPr lang="en-US" altLang="zh-CN" sz="2800">
              <a:latin typeface="黑体" panose="02010609060101010101" charset="-122"/>
              <a:ea typeface="黑体" panose="02010609060101010101" charset="-122"/>
              <a:cs typeface="黑体" panose="02010609060101010101" charset="-122"/>
            </a:endParaRPr>
          </a:p>
        </p:txBody>
      </p:sp>
      <p:sp>
        <p:nvSpPr>
          <p:cNvPr id="7" name="文本占位符 6"/>
          <p:cNvSpPr>
            <a:spLocks noGrp="1"/>
          </p:cNvSpPr>
          <p:nvPr>
            <p:custDataLst>
              <p:tags r:id="rId3"/>
            </p:custDataLst>
          </p:nvPr>
        </p:nvSpPr>
        <p:spPr>
          <a:xfrm>
            <a:off x="488315" y="4222115"/>
            <a:ext cx="11216005" cy="2475230"/>
          </a:xfrm>
          <a:prstGeom prst="rect">
            <a:avLst/>
          </a:prstGeom>
          <a:noFill/>
        </p:spPr>
        <p:txBody>
          <a:bodyPr vert="horz" lIns="0" tIns="0" rIns="0" bIns="0" rtlCol="0" anchor="t">
            <a:noAutofit/>
          </a:bodyPr>
          <a:lstStyle>
            <a:lvl1pPr marL="0" indent="0" algn="l" defTabSz="914400" rtl="0" eaLnBrk="1" fontAlgn="auto" latinLnBrk="0" hangingPunct="1">
              <a:lnSpc>
                <a:spcPct val="125000"/>
              </a:lnSpc>
              <a:spcBef>
                <a:spcPct val="0"/>
              </a:spcBef>
              <a:spcAft>
                <a:spcPct val="0"/>
              </a:spcAft>
              <a:buFont typeface="Arial" panose="020B0604020202020204" pitchFamily="34" charset="0"/>
              <a:buNone/>
              <a:defRPr sz="1600" b="0" u="none" strike="noStrike" kern="1200" cap="none" spc="0" normalizeH="0" baseline="0">
                <a:solidFill>
                  <a:schemeClr val="tx1"/>
                </a:solidFill>
                <a:uFillTx/>
                <a:latin typeface="MiSans Medium" panose="00000600000000000000" charset="-122"/>
                <a:ea typeface="MiSans Normal" panose="00000500000000000000" charset="-122"/>
                <a:cs typeface="+mn-cs"/>
                <a:sym typeface="MiSans Medium" panose="00000600000000000000"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本论文的贡献是构建了</a:t>
            </a:r>
            <a:r>
              <a:rPr lang="en-US" altLang="zh-CN"/>
              <a:t> DexGrasp Anything (DGA) </a:t>
            </a:r>
            <a:r>
              <a:rPr lang="zh-CN" altLang="en-US"/>
              <a:t>数据集。研究人员开发了一套高度自动化的</a:t>
            </a:r>
            <a:r>
              <a:rPr lang="en-US" altLang="zh-CN"/>
              <a:t>“</a:t>
            </a:r>
            <a:r>
              <a:rPr lang="zh-CN" altLang="en-US"/>
              <a:t>模型在环</a:t>
            </a:r>
            <a:r>
              <a:rPr lang="en-US" altLang="zh-CN"/>
              <a:t>”</a:t>
            </a:r>
            <a:r>
              <a:rPr lang="zh-CN" altLang="en-US"/>
              <a:t>生成流水线：利用初版物理感知模型在包含上万种物体的</a:t>
            </a:r>
            <a:r>
              <a:rPr lang="en-US" altLang="zh-CN"/>
              <a:t> Objaverse </a:t>
            </a:r>
            <a:r>
              <a:rPr lang="zh-CN" altLang="en-US"/>
              <a:t>库上进行自主尝试，再通过严苛的物理仿真（如施加多向外力测试稳固性）进行自动筛选。最终形成的</a:t>
            </a:r>
            <a:r>
              <a:rPr lang="en-US" altLang="zh-CN"/>
              <a:t> DGA </a:t>
            </a:r>
            <a:r>
              <a:rPr lang="zh-CN" altLang="en-US"/>
              <a:t>数据集包含了超过</a:t>
            </a:r>
            <a:r>
              <a:rPr lang="en-US" altLang="zh-CN"/>
              <a:t> 340 </a:t>
            </a:r>
            <a:r>
              <a:rPr lang="zh-CN" altLang="en-US"/>
              <a:t>万个</a:t>
            </a:r>
            <a:r>
              <a:rPr lang="en-US" altLang="zh-CN"/>
              <a:t> </a:t>
            </a:r>
            <a:r>
              <a:rPr lang="zh-CN" altLang="en-US"/>
              <a:t>经过物理验证的高质量抓取姿态，规模远超同类数据集。</a:t>
            </a:r>
            <a:endParaRPr lang="zh-CN" altLang="en-US"/>
          </a:p>
          <a:p>
            <a:r>
              <a:rPr lang="zh-CN" altLang="en-US">
                <a:sym typeface="+mn-ea"/>
              </a:rPr>
              <a:t>实验结果令人振奋：在跨数据集测试中，该算法在抓取成功率、物理穿透率和姿态多样性等核心指标上均显著优于现有的</a:t>
            </a:r>
            <a:r>
              <a:rPr lang="en-US" altLang="zh-CN">
                <a:sym typeface="+mn-ea"/>
              </a:rPr>
              <a:t> UniDexGrasp </a:t>
            </a:r>
            <a:r>
              <a:rPr lang="zh-CN" altLang="en-US">
                <a:sym typeface="+mn-ea"/>
              </a:rPr>
              <a:t>和</a:t>
            </a:r>
            <a:r>
              <a:rPr lang="en-US" altLang="zh-CN">
                <a:sym typeface="+mn-ea"/>
              </a:rPr>
              <a:t> MultiDex </a:t>
            </a:r>
            <a:r>
              <a:rPr lang="zh-CN" altLang="en-US">
                <a:sym typeface="+mn-ea"/>
              </a:rPr>
              <a:t>等顶尖模型。特别是在面对现实世界中全新的、复杂的异形物体时，该框架展现出了极强的零样本（</a:t>
            </a:r>
            <a:r>
              <a:rPr lang="en-US" altLang="zh-CN">
                <a:sym typeface="+mn-ea"/>
              </a:rPr>
              <a:t>Zero-shot</a:t>
            </a:r>
            <a:r>
              <a:rPr lang="zh-CN" altLang="en-US">
                <a:sym typeface="+mn-ea"/>
              </a:rPr>
              <a:t>）迁移能力。论文最后指出，尽管在极薄物体（如口罩）的抓取上仍有提升空间，但这种</a:t>
            </a:r>
            <a:r>
              <a:rPr lang="en-US" altLang="zh-CN">
                <a:sym typeface="+mn-ea"/>
              </a:rPr>
              <a:t>“</a:t>
            </a:r>
            <a:r>
              <a:rPr lang="zh-CN" altLang="en-US">
                <a:sym typeface="+mn-ea"/>
              </a:rPr>
              <a:t>物理感知</a:t>
            </a:r>
            <a:r>
              <a:rPr lang="en-US" altLang="zh-CN">
                <a:sym typeface="+mn-ea"/>
              </a:rPr>
              <a:t>+</a:t>
            </a:r>
            <a:r>
              <a:rPr lang="zh-CN" altLang="en-US">
                <a:sym typeface="+mn-ea"/>
              </a:rPr>
              <a:t>大规模合成数据</a:t>
            </a:r>
            <a:r>
              <a:rPr lang="en-US" altLang="zh-CN">
                <a:sym typeface="+mn-ea"/>
              </a:rPr>
              <a:t>”</a:t>
            </a:r>
            <a:r>
              <a:rPr lang="zh-CN" altLang="en-US">
                <a:sym typeface="+mn-ea"/>
              </a:rPr>
              <a:t>的路径，为通向通用具身智能机器人迈出了坚实一步。</a:t>
            </a:r>
            <a:endParaRPr lang="zh-CN" altLang="en-US"/>
          </a:p>
          <a:p>
            <a:endParaRPr lang="zh-CN" altLang="en-US"/>
          </a:p>
        </p:txBody>
      </p:sp>
      <p:pic>
        <p:nvPicPr>
          <p:cNvPr id="5" name="图片 4"/>
          <p:cNvPicPr>
            <a:picLocks noChangeAspect="1"/>
          </p:cNvPicPr>
          <p:nvPr/>
        </p:nvPicPr>
        <p:blipFill>
          <a:blip r:embed="rId4"/>
          <a:stretch>
            <a:fillRect/>
          </a:stretch>
        </p:blipFill>
        <p:spPr>
          <a:xfrm>
            <a:off x="627380" y="1717675"/>
            <a:ext cx="10692765" cy="192214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0" name="组合 2"/>
          <p:cNvGrpSpPr/>
          <p:nvPr/>
        </p:nvGrpSpPr>
        <p:grpSpPr>
          <a:xfrm>
            <a:off x="0" y="156335"/>
            <a:ext cx="11940390" cy="497839"/>
            <a:chOff x="0" y="156335"/>
            <a:chExt cx="11940390" cy="497839"/>
          </a:xfrm>
        </p:grpSpPr>
        <p:grpSp>
          <p:nvGrpSpPr>
            <p:cNvPr id="121" name="组合 3"/>
            <p:cNvGrpSpPr/>
            <p:nvPr/>
          </p:nvGrpSpPr>
          <p:grpSpPr>
            <a:xfrm>
              <a:off x="0" y="156335"/>
              <a:ext cx="9666514" cy="497839"/>
              <a:chOff x="0" y="248698"/>
              <a:chExt cx="9666514" cy="497839"/>
            </a:xfrm>
          </p:grpSpPr>
          <p:grpSp>
            <p:nvGrpSpPr>
              <p:cNvPr id="122" name="组合 4"/>
              <p:cNvGrpSpPr/>
              <p:nvPr/>
            </p:nvGrpSpPr>
            <p:grpSpPr>
              <a:xfrm>
                <a:off x="0" y="294640"/>
                <a:ext cx="880552" cy="375920"/>
                <a:chOff x="0" y="294640"/>
                <a:chExt cx="1094740" cy="467360"/>
              </a:xfrm>
              <a:solidFill>
                <a:srgbClr val="EE8A10"/>
              </a:solidFill>
            </p:grpSpPr>
            <p:sp>
              <p:nvSpPr>
                <p:cNvPr id="1048746"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47"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48"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749" name="文本框 5"/>
              <p:cNvSpPr txBox="1"/>
              <p:nvPr/>
            </p:nvSpPr>
            <p:spPr>
              <a:xfrm>
                <a:off x="972489" y="248698"/>
                <a:ext cx="2702560" cy="497839"/>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23" name="组合 6"/>
              <p:cNvGrpSpPr/>
              <p:nvPr/>
            </p:nvGrpSpPr>
            <p:grpSpPr>
              <a:xfrm>
                <a:off x="3356076" y="408709"/>
                <a:ext cx="1749361" cy="147782"/>
                <a:chOff x="635462" y="775854"/>
                <a:chExt cx="1749361" cy="147782"/>
              </a:xfrm>
              <a:solidFill>
                <a:srgbClr val="EE8A10"/>
              </a:solidFill>
            </p:grpSpPr>
            <p:sp>
              <p:nvSpPr>
                <p:cNvPr id="1048750"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51"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52"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53"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54"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5"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3"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2" name="标题 1"/>
          <p:cNvSpPr>
            <a:spLocks noGrp="1"/>
          </p:cNvSpPr>
          <p:nvPr>
            <p:custDataLst>
              <p:tags r:id="rId2"/>
            </p:custDataLst>
          </p:nvPr>
        </p:nvSpPr>
        <p:spPr>
          <a:xfrm>
            <a:off x="438785" y="746760"/>
            <a:ext cx="10972800" cy="609600"/>
          </a:xfrm>
          <a:prstGeom prst="rect">
            <a:avLst/>
          </a:prstGeom>
          <a:noFill/>
        </p:spPr>
        <p:txBody>
          <a:bodyPr vert="horz" lIns="0" tIns="0" rIns="0" bIns="0" rtlCol="0" anchor="t" anchorCtr="0">
            <a:normAutofit/>
          </a:bodyPr>
          <a:lstStyle>
            <a:lvl1pPr marL="0" indent="0" algn="l" defTabSz="914400" rtl="0" eaLnBrk="1" fontAlgn="auto" latinLnBrk="0" hangingPunct="1">
              <a:lnSpc>
                <a:spcPct val="111000"/>
              </a:lnSpc>
              <a:spcBef>
                <a:spcPct val="0"/>
              </a:spcBef>
              <a:spcAft>
                <a:spcPct val="0"/>
              </a:spcAft>
              <a:buNone/>
              <a:defRPr sz="3600" b="0" u="none" strike="noStrike" kern="1200" cap="none" spc="0" normalizeH="0" baseline="0">
                <a:solidFill>
                  <a:schemeClr val="tx1"/>
                </a:solidFill>
                <a:uFillTx/>
                <a:latin typeface="MiSans Demibold" panose="00000700000000000000" charset="-122"/>
                <a:ea typeface="MiSans Medium" panose="00000600000000000000" charset="-122"/>
                <a:cs typeface="+mj-cs"/>
                <a:sym typeface="MiSans Demibold" panose="00000700000000000000" charset="-122"/>
              </a:defRPr>
            </a:lvl1pPr>
          </a:lstStyle>
          <a:p>
            <a:r>
              <a:rPr lang="zh-CN" altLang="en-US" sz="2800" dirty="0">
                <a:latin typeface="黑体" panose="02010609060101010101" charset="-122"/>
                <a:ea typeface="黑体" panose="02010609060101010101" charset="-122"/>
                <a:cs typeface="黑体" panose="02010609060101010101" charset="-122"/>
              </a:rPr>
              <a:t>阅读文献分析</a:t>
            </a:r>
            <a:endParaRPr lang="en-US" altLang="zh-CN" sz="2800" dirty="0">
              <a:latin typeface="黑体" panose="02010609060101010101" charset="-122"/>
              <a:ea typeface="黑体" panose="02010609060101010101" charset="-122"/>
              <a:cs typeface="黑体" panose="02010609060101010101" charset="-122"/>
            </a:endParaRPr>
          </a:p>
        </p:txBody>
      </p:sp>
      <p:pic>
        <p:nvPicPr>
          <p:cNvPr id="3" name="图片 2"/>
          <p:cNvPicPr>
            <a:picLocks noChangeAspect="1"/>
          </p:cNvPicPr>
          <p:nvPr/>
        </p:nvPicPr>
        <p:blipFill>
          <a:blip r:embed="rId3"/>
          <a:srcRect t="23337" b="16294"/>
          <a:stretch>
            <a:fillRect/>
          </a:stretch>
        </p:blipFill>
        <p:spPr>
          <a:xfrm>
            <a:off x="2842421" y="654174"/>
            <a:ext cx="7293468" cy="628998"/>
          </a:xfrm>
          <a:prstGeom prst="rect">
            <a:avLst/>
          </a:prstGeom>
        </p:spPr>
      </p:pic>
      <p:sp>
        <p:nvSpPr>
          <p:cNvPr id="5" name="文本框 4"/>
          <p:cNvSpPr txBox="1"/>
          <p:nvPr/>
        </p:nvSpPr>
        <p:spPr>
          <a:xfrm>
            <a:off x="416781" y="1319346"/>
            <a:ext cx="11496040" cy="2065309"/>
          </a:xfrm>
          <a:prstGeom prst="rect">
            <a:avLst/>
          </a:prstGeom>
          <a:noFill/>
        </p:spPr>
        <p:txBody>
          <a:bodyPr wrap="square">
            <a:spAutoFit/>
          </a:bodyPr>
          <a:lstStyle/>
          <a:p>
            <a:pPr>
              <a:lnSpc>
                <a:spcPct val="120000"/>
              </a:lnSpc>
              <a:buNone/>
            </a:pPr>
            <a:r>
              <a:rPr lang="zh-CN" altLang="en-US" dirty="0">
                <a:latin typeface="微软雅黑" panose="020B0503020204020204" pitchFamily="34" charset="-122"/>
                <a:ea typeface="微软雅黑" panose="020B0503020204020204" pitchFamily="34" charset="-122"/>
              </a:rPr>
              <a:t>研究内容：</a:t>
            </a:r>
            <a:r>
              <a:rPr lang="zh-CN" altLang="en-US" b="1" dirty="0">
                <a:latin typeface="微软雅黑" panose="020B0503020204020204" pitchFamily="34" charset="-122"/>
                <a:ea typeface="微软雅黑" panose="020B0503020204020204" pitchFamily="34" charset="-122"/>
              </a:rPr>
              <a:t>如何让机器人灵巧手仅依赖点云观测和本体感觉信息，在桌面场景中对数千个不同物体实现通用抓取。</a:t>
            </a:r>
            <a:br>
              <a:rPr lang="zh-CN" altLang="en-US" dirty="0">
                <a:latin typeface="微软雅黑" panose="020B0503020204020204" pitchFamily="34" charset="-122"/>
                <a:ea typeface="微软雅黑" panose="020B0503020204020204" pitchFamily="34" charset="-122"/>
              </a:rPr>
            </a:br>
            <a:r>
              <a:rPr lang="zh-CN" altLang="en-US" dirty="0">
                <a:latin typeface="微软雅黑" panose="020B0503020204020204" pitchFamily="34" charset="-122"/>
                <a:ea typeface="微软雅黑" panose="020B0503020204020204" pitchFamily="34" charset="-122"/>
              </a:rPr>
              <a:t>作者提出了一个新方法 </a:t>
            </a:r>
            <a:r>
              <a:rPr lang="en-US" altLang="zh-CN" b="1" dirty="0" err="1">
                <a:latin typeface="微软雅黑" panose="020B0503020204020204" pitchFamily="34" charset="-122"/>
                <a:ea typeface="微软雅黑" panose="020B0503020204020204" pitchFamily="34" charset="-122"/>
              </a:rPr>
              <a:t>UniDexGrasp</a:t>
            </a:r>
            <a:r>
              <a:rPr lang="en-US" altLang="zh-CN" b="1"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，相比前作 </a:t>
            </a:r>
            <a:r>
              <a:rPr lang="en-US" altLang="zh-CN" dirty="0" err="1">
                <a:latin typeface="微软雅黑" panose="020B0503020204020204" pitchFamily="34" charset="-122"/>
                <a:ea typeface="微软雅黑" panose="020B0503020204020204" pitchFamily="34" charset="-122"/>
              </a:rPr>
              <a:t>UniDexGrasp</a:t>
            </a:r>
            <a:r>
              <a:rPr lang="zh-CN" altLang="en-US" dirty="0">
                <a:latin typeface="微软雅黑" panose="020B0503020204020204" pitchFamily="34" charset="-122"/>
                <a:ea typeface="微软雅黑" panose="020B0503020204020204" pitchFamily="34" charset="-122"/>
              </a:rPr>
              <a:t>，主要改进了两点：</a:t>
            </a:r>
            <a:endParaRPr lang="zh-CN" altLang="en-US" dirty="0">
              <a:latin typeface="微软雅黑" panose="020B0503020204020204" pitchFamily="34" charset="-122"/>
              <a:ea typeface="微软雅黑" panose="020B0503020204020204" pitchFamily="34" charset="-122"/>
            </a:endParaRPr>
          </a:p>
          <a:p>
            <a:pPr>
              <a:lnSpc>
                <a:spcPct val="120000"/>
              </a:lnSpc>
              <a:buFont typeface="+mj-lt"/>
              <a:buAutoNum type="arabicPeriod"/>
            </a:pPr>
            <a:r>
              <a:rPr lang="en-US" altLang="zh-CN" b="1" dirty="0">
                <a:latin typeface="微软雅黑" panose="020B0503020204020204" pitchFamily="34" charset="-122"/>
                <a:ea typeface="微软雅黑" panose="020B0503020204020204" pitchFamily="34" charset="-122"/>
              </a:rPr>
              <a:t>Geometry-aware Curriculum Learning</a:t>
            </a:r>
            <a:r>
              <a:rPr lang="zh-CN" altLang="en-US" b="1" dirty="0">
                <a:latin typeface="微软雅黑" panose="020B0503020204020204" pitchFamily="34" charset="-122"/>
                <a:ea typeface="微软雅黑" panose="020B0503020204020204" pitchFamily="34" charset="-122"/>
              </a:rPr>
              <a:t>（</a:t>
            </a:r>
            <a:r>
              <a:rPr lang="en-US" altLang="zh-CN" b="1" dirty="0" err="1">
                <a:latin typeface="微软雅黑" panose="020B0503020204020204" pitchFamily="34" charset="-122"/>
                <a:ea typeface="微软雅黑" panose="020B0503020204020204" pitchFamily="34" charset="-122"/>
              </a:rPr>
              <a:t>GeoCurriculum</a:t>
            </a:r>
            <a:r>
              <a:rPr lang="zh-CN" altLang="en-US" b="1" dirty="0">
                <a:latin typeface="微软雅黑" panose="020B0503020204020204" pitchFamily="34" charset="-122"/>
                <a:ea typeface="微软雅黑" panose="020B0503020204020204" pitchFamily="34" charset="-122"/>
              </a:rPr>
              <a:t>）</a:t>
            </a:r>
            <a:br>
              <a:rPr lang="en-US" altLang="zh-CN" dirty="0">
                <a:latin typeface="微软雅黑" panose="020B0503020204020204" pitchFamily="34" charset="-122"/>
                <a:ea typeface="微软雅黑" panose="020B0503020204020204" pitchFamily="34" charset="-122"/>
              </a:rPr>
            </a:br>
            <a:r>
              <a:rPr lang="zh-CN" altLang="en-US" dirty="0">
                <a:latin typeface="微软雅黑" panose="020B0503020204020204" pitchFamily="34" charset="-122"/>
                <a:ea typeface="微软雅黑" panose="020B0503020204020204" pitchFamily="34" charset="-122"/>
              </a:rPr>
              <a:t>用“几何特征”而不是“物体类别标签”来设计课程学习顺序。 </a:t>
            </a:r>
            <a:endParaRPr lang="zh-CN" altLang="en-US" dirty="0">
              <a:latin typeface="微软雅黑" panose="020B0503020204020204" pitchFamily="34" charset="-122"/>
              <a:ea typeface="微软雅黑" panose="020B0503020204020204" pitchFamily="34" charset="-122"/>
            </a:endParaRPr>
          </a:p>
          <a:p>
            <a:pPr>
              <a:lnSpc>
                <a:spcPct val="120000"/>
              </a:lnSpc>
              <a:buFont typeface="+mj-lt"/>
              <a:buAutoNum type="arabicPeriod"/>
            </a:pPr>
            <a:r>
              <a:rPr lang="en-US" altLang="zh-CN" b="1" dirty="0">
                <a:latin typeface="微软雅黑" panose="020B0503020204020204" pitchFamily="34" charset="-122"/>
                <a:ea typeface="微软雅黑" panose="020B0503020204020204" pitchFamily="34" charset="-122"/>
              </a:rPr>
              <a:t>Geometry-aware iterative Generalist-Specialist Learning</a:t>
            </a:r>
            <a:r>
              <a:rPr lang="zh-CN" altLang="en-US" b="1" dirty="0">
                <a:latin typeface="微软雅黑" panose="020B0503020204020204" pitchFamily="34" charset="-122"/>
                <a:ea typeface="微软雅黑" panose="020B0503020204020204" pitchFamily="34" charset="-122"/>
              </a:rPr>
              <a:t>（</a:t>
            </a:r>
            <a:r>
              <a:rPr lang="en-US" altLang="zh-CN" b="1" dirty="0" err="1">
                <a:latin typeface="微软雅黑" panose="020B0503020204020204" pitchFamily="34" charset="-122"/>
                <a:ea typeface="微软雅黑" panose="020B0503020204020204" pitchFamily="34" charset="-122"/>
              </a:rPr>
              <a:t>GiGSL</a:t>
            </a:r>
            <a:r>
              <a:rPr lang="zh-CN" altLang="en-US" b="1" dirty="0">
                <a:latin typeface="微软雅黑" panose="020B0503020204020204" pitchFamily="34" charset="-122"/>
                <a:ea typeface="微软雅黑" panose="020B0503020204020204" pitchFamily="34" charset="-122"/>
              </a:rPr>
              <a:t>）</a:t>
            </a:r>
            <a:br>
              <a:rPr lang="en-US" altLang="zh-CN" dirty="0">
                <a:latin typeface="微软雅黑" panose="020B0503020204020204" pitchFamily="34" charset="-122"/>
                <a:ea typeface="微软雅黑" panose="020B0503020204020204" pitchFamily="34" charset="-122"/>
              </a:rPr>
            </a:br>
            <a:r>
              <a:rPr lang="zh-CN" altLang="en-US" dirty="0">
                <a:latin typeface="微软雅黑" panose="020B0503020204020204" pitchFamily="34" charset="-122"/>
                <a:ea typeface="微软雅黑" panose="020B0503020204020204" pitchFamily="34" charset="-122"/>
              </a:rPr>
              <a:t>通过“通才</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专才”迭代训练，并基于几何特征给不同 </a:t>
            </a:r>
            <a:r>
              <a:rPr lang="en-US" altLang="zh-CN" dirty="0">
                <a:latin typeface="微软雅黑" panose="020B0503020204020204" pitchFamily="34" charset="-122"/>
                <a:ea typeface="微软雅黑" panose="020B0503020204020204" pitchFamily="34" charset="-122"/>
              </a:rPr>
              <a:t>specialist </a:t>
            </a:r>
            <a:r>
              <a:rPr lang="zh-CN" altLang="en-US" dirty="0">
                <a:latin typeface="微软雅黑" panose="020B0503020204020204" pitchFamily="34" charset="-122"/>
                <a:ea typeface="微软雅黑" panose="020B0503020204020204" pitchFamily="34" charset="-122"/>
              </a:rPr>
              <a:t>分配任务，从而提升策略泛化。</a:t>
            </a:r>
            <a:endParaRPr lang="zh-CN" altLang="en-US" dirty="0">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4"/>
          <a:stretch>
            <a:fillRect/>
          </a:stretch>
        </p:blipFill>
        <p:spPr>
          <a:xfrm>
            <a:off x="438785" y="3536441"/>
            <a:ext cx="5571028" cy="2240280"/>
          </a:xfrm>
          <a:prstGeom prst="rect">
            <a:avLst/>
          </a:prstGeom>
        </p:spPr>
      </p:pic>
      <p:sp>
        <p:nvSpPr>
          <p:cNvPr id="8" name="文本框 7"/>
          <p:cNvSpPr txBox="1"/>
          <p:nvPr/>
        </p:nvSpPr>
        <p:spPr>
          <a:xfrm>
            <a:off x="6096000" y="4194916"/>
            <a:ext cx="6096001" cy="923330"/>
          </a:xfrm>
          <a:prstGeom prst="rect">
            <a:avLst/>
          </a:prstGeom>
          <a:noFill/>
        </p:spPr>
        <p:txBody>
          <a:bodyPr wrap="square">
            <a:spAutoFit/>
          </a:bodyPr>
          <a:lstStyle/>
          <a:p>
            <a:pPr algn="just"/>
            <a:r>
              <a:rPr lang="zh-CN" altLang="en-US" dirty="0">
                <a:latin typeface="微软雅黑" panose="020B0503020204020204" pitchFamily="34" charset="-122"/>
                <a:ea typeface="微软雅黑" panose="020B0503020204020204" pitchFamily="34" charset="-122"/>
              </a:rPr>
              <a:t>论文结果显示，最终视觉策略在训练集和测试集上分别达到 </a:t>
            </a:r>
            <a:r>
              <a:rPr lang="en-US" altLang="zh-CN" b="1" dirty="0">
                <a:latin typeface="微软雅黑" panose="020B0503020204020204" pitchFamily="34" charset="-122"/>
                <a:ea typeface="微软雅黑" panose="020B0503020204020204" pitchFamily="34" charset="-122"/>
              </a:rPr>
              <a:t>85.4%</a:t>
            </a:r>
            <a:r>
              <a:rPr lang="zh-CN" altLang="en-US" dirty="0">
                <a:latin typeface="微软雅黑" panose="020B0503020204020204" pitchFamily="34" charset="-122"/>
                <a:ea typeface="微软雅黑" panose="020B0503020204020204" pitchFamily="34" charset="-122"/>
              </a:rPr>
              <a:t> 和 </a:t>
            </a:r>
            <a:r>
              <a:rPr lang="en-US" altLang="zh-CN" b="1" dirty="0">
                <a:latin typeface="微软雅黑" panose="020B0503020204020204" pitchFamily="34" charset="-122"/>
                <a:ea typeface="微软雅黑" panose="020B0503020204020204" pitchFamily="34" charset="-122"/>
              </a:rPr>
              <a:t>78.2%</a:t>
            </a:r>
            <a:r>
              <a:rPr lang="zh-CN" altLang="en-US" dirty="0">
                <a:latin typeface="微软雅黑" panose="020B0503020204020204" pitchFamily="34" charset="-122"/>
                <a:ea typeface="微软雅黑" panose="020B0503020204020204" pitchFamily="34" charset="-122"/>
              </a:rPr>
              <a:t> 的成功率，明显超过之前的 </a:t>
            </a:r>
            <a:r>
              <a:rPr lang="en-US" altLang="zh-CN" dirty="0">
                <a:latin typeface="微软雅黑" panose="020B0503020204020204" pitchFamily="34" charset="-122"/>
                <a:ea typeface="微软雅黑" panose="020B0503020204020204" pitchFamily="34" charset="-122"/>
              </a:rPr>
              <a:t>SOTA </a:t>
            </a:r>
            <a:r>
              <a:rPr lang="zh-CN" altLang="en-US" dirty="0">
                <a:latin typeface="微软雅黑" panose="020B0503020204020204" pitchFamily="34" charset="-122"/>
                <a:ea typeface="微软雅黑" panose="020B0503020204020204" pitchFamily="34" charset="-122"/>
              </a:rPr>
              <a:t>方法 </a:t>
            </a:r>
            <a:r>
              <a:rPr lang="en-US" altLang="zh-CN" dirty="0" err="1">
                <a:latin typeface="微软雅黑" panose="020B0503020204020204" pitchFamily="34" charset="-122"/>
                <a:ea typeface="微软雅黑" panose="020B0503020204020204" pitchFamily="34" charset="-122"/>
              </a:rPr>
              <a:t>UniDexGrasp</a:t>
            </a:r>
            <a:r>
              <a:rPr lang="zh-CN" altLang="en-US"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0" name="组合 2"/>
          <p:cNvGrpSpPr/>
          <p:nvPr/>
        </p:nvGrpSpPr>
        <p:grpSpPr>
          <a:xfrm>
            <a:off x="0" y="156335"/>
            <a:ext cx="11940390" cy="497839"/>
            <a:chOff x="0" y="156335"/>
            <a:chExt cx="11940390" cy="497839"/>
          </a:xfrm>
        </p:grpSpPr>
        <p:grpSp>
          <p:nvGrpSpPr>
            <p:cNvPr id="121" name="组合 3"/>
            <p:cNvGrpSpPr/>
            <p:nvPr/>
          </p:nvGrpSpPr>
          <p:grpSpPr>
            <a:xfrm>
              <a:off x="0" y="156335"/>
              <a:ext cx="9666514" cy="497839"/>
              <a:chOff x="0" y="248698"/>
              <a:chExt cx="9666514" cy="497839"/>
            </a:xfrm>
          </p:grpSpPr>
          <p:grpSp>
            <p:nvGrpSpPr>
              <p:cNvPr id="122" name="组合 4"/>
              <p:cNvGrpSpPr/>
              <p:nvPr/>
            </p:nvGrpSpPr>
            <p:grpSpPr>
              <a:xfrm>
                <a:off x="0" y="294640"/>
                <a:ext cx="880552" cy="375920"/>
                <a:chOff x="0" y="294640"/>
                <a:chExt cx="1094740" cy="467360"/>
              </a:xfrm>
              <a:solidFill>
                <a:srgbClr val="EE8A10"/>
              </a:solidFill>
            </p:grpSpPr>
            <p:sp>
              <p:nvSpPr>
                <p:cNvPr id="1048746"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47"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48"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749" name="文本框 5"/>
              <p:cNvSpPr txBox="1"/>
              <p:nvPr/>
            </p:nvSpPr>
            <p:spPr>
              <a:xfrm>
                <a:off x="972489" y="248698"/>
                <a:ext cx="2702560" cy="497839"/>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23" name="组合 6"/>
              <p:cNvGrpSpPr/>
              <p:nvPr/>
            </p:nvGrpSpPr>
            <p:grpSpPr>
              <a:xfrm>
                <a:off x="3356076" y="408709"/>
                <a:ext cx="1749361" cy="147782"/>
                <a:chOff x="635462" y="775854"/>
                <a:chExt cx="1749361" cy="147782"/>
              </a:xfrm>
              <a:solidFill>
                <a:srgbClr val="EE8A10"/>
              </a:solidFill>
            </p:grpSpPr>
            <p:sp>
              <p:nvSpPr>
                <p:cNvPr id="1048750"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51"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52"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53"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54"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5"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3"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4" name="文本框 3"/>
          <p:cNvSpPr txBox="1"/>
          <p:nvPr/>
        </p:nvSpPr>
        <p:spPr>
          <a:xfrm>
            <a:off x="729366" y="814186"/>
            <a:ext cx="10985114" cy="1296637"/>
          </a:xfrm>
          <a:prstGeom prst="rect">
            <a:avLst/>
          </a:prstGeom>
          <a:noFill/>
        </p:spPr>
        <p:txBody>
          <a:bodyPr wrap="square">
            <a:spAutoFit/>
          </a:bodyPr>
          <a:lstStyle/>
          <a:p>
            <a:pPr>
              <a:lnSpc>
                <a:spcPct val="110000"/>
              </a:lnSpc>
              <a:buNone/>
            </a:pPr>
            <a:r>
              <a:rPr lang="zh-CN" altLang="en-US" dirty="0">
                <a:latin typeface="微软雅黑" panose="020B0503020204020204" pitchFamily="34" charset="-122"/>
                <a:ea typeface="微软雅黑" panose="020B0503020204020204" pitchFamily="34" charset="-122"/>
              </a:rPr>
              <a:t>研究背景：传统并联夹爪虽然在抓取上应用广泛，但灵活性有限，很难完成复杂操作。相比之下，</a:t>
            </a:r>
            <a:r>
              <a:rPr lang="zh-CN" altLang="en-US" b="1" dirty="0">
                <a:latin typeface="微软雅黑" panose="020B0503020204020204" pitchFamily="34" charset="-122"/>
                <a:ea typeface="微软雅黑" panose="020B0503020204020204" pitchFamily="34" charset="-122"/>
              </a:rPr>
              <a:t>灵巧手自由度高、操作更接近人手</a:t>
            </a:r>
            <a:r>
              <a:rPr lang="zh-CN" altLang="en-US" dirty="0">
                <a:latin typeface="微软雅黑" panose="020B0503020204020204" pitchFamily="34" charset="-122"/>
                <a:ea typeface="微软雅黑" panose="020B0503020204020204" pitchFamily="34" charset="-122"/>
              </a:rPr>
              <a:t>，但也带来两个难点：</a:t>
            </a:r>
            <a:endParaRPr lang="zh-CN" altLang="en-US" dirty="0">
              <a:latin typeface="微软雅黑" panose="020B0503020204020204" pitchFamily="34" charset="-122"/>
              <a:ea typeface="微软雅黑" panose="020B0503020204020204" pitchFamily="34" charset="-122"/>
            </a:endParaRPr>
          </a:p>
          <a:p>
            <a:pPr marL="285750" indent="-285750">
              <a:lnSpc>
                <a:spcPct val="110000"/>
              </a:lnSpc>
              <a:buFont typeface="Wingdings" panose="05000000000000000000" pitchFamily="2" charset="2"/>
              <a:buChar char="p"/>
            </a:pPr>
            <a:r>
              <a:rPr lang="zh-CN" altLang="en-US" b="1" dirty="0">
                <a:latin typeface="微软雅黑" panose="020B0503020204020204" pitchFamily="34" charset="-122"/>
                <a:ea typeface="微软雅黑" panose="020B0503020204020204" pitchFamily="34" charset="-122"/>
              </a:rPr>
              <a:t>动作空间维度高</a:t>
            </a:r>
            <a:r>
              <a:rPr lang="zh-CN" altLang="en-US" dirty="0">
                <a:latin typeface="微软雅黑" panose="020B0503020204020204" pitchFamily="34" charset="-122"/>
                <a:ea typeface="微软雅黑" panose="020B0503020204020204" pitchFamily="34" charset="-122"/>
              </a:rPr>
              <a:t>，控制复杂； </a:t>
            </a:r>
            <a:endParaRPr lang="zh-CN" altLang="en-US" dirty="0">
              <a:latin typeface="微软雅黑" panose="020B0503020204020204" pitchFamily="34" charset="-122"/>
              <a:ea typeface="微软雅黑" panose="020B0503020204020204" pitchFamily="34" charset="-122"/>
            </a:endParaRPr>
          </a:p>
          <a:p>
            <a:pPr marL="285750" indent="-285750">
              <a:lnSpc>
                <a:spcPct val="110000"/>
              </a:lnSpc>
              <a:buFont typeface="Wingdings" panose="05000000000000000000" pitchFamily="2" charset="2"/>
              <a:buChar char="p"/>
            </a:pPr>
            <a:r>
              <a:rPr lang="zh-CN" altLang="en-US" b="1" dirty="0">
                <a:latin typeface="微软雅黑" panose="020B0503020204020204" pitchFamily="34" charset="-122"/>
                <a:ea typeface="微软雅黑" panose="020B0503020204020204" pitchFamily="34" charset="-122"/>
              </a:rPr>
              <a:t>泛化能力差</a:t>
            </a:r>
            <a:r>
              <a:rPr lang="zh-CN" altLang="en-US" dirty="0">
                <a:latin typeface="微软雅黑" panose="020B0503020204020204" pitchFamily="34" charset="-122"/>
                <a:ea typeface="微软雅黑" panose="020B0503020204020204" pitchFamily="34" charset="-122"/>
              </a:rPr>
              <a:t>，很难在大量不同形状和姿态的物体上都抓得好。</a:t>
            </a:r>
            <a:endParaRPr lang="zh-CN" altLang="en-US" dirty="0">
              <a:latin typeface="微软雅黑" panose="020B0503020204020204" pitchFamily="34" charset="-122"/>
              <a:ea typeface="微软雅黑" panose="020B0503020204020204" pitchFamily="34" charset="-122"/>
            </a:endParaRPr>
          </a:p>
        </p:txBody>
      </p:sp>
      <p:sp>
        <p:nvSpPr>
          <p:cNvPr id="8" name="文本框 7"/>
          <p:cNvSpPr txBox="1"/>
          <p:nvPr/>
        </p:nvSpPr>
        <p:spPr>
          <a:xfrm>
            <a:off x="1517725" y="2276215"/>
            <a:ext cx="8892390" cy="369332"/>
          </a:xfrm>
          <a:prstGeom prst="rect">
            <a:avLst/>
          </a:prstGeom>
          <a:solidFill>
            <a:schemeClr val="bg2">
              <a:lumMod val="90000"/>
            </a:schemeClr>
          </a:solidFill>
        </p:spPr>
        <p:txBody>
          <a:bodyPr wrap="square">
            <a:spAutoFit/>
          </a:bodyPr>
          <a:lstStyle/>
          <a:p>
            <a:r>
              <a:rPr lang="zh-CN" altLang="en-US" b="1" dirty="0">
                <a:latin typeface="微软雅黑" panose="020B0503020204020204" pitchFamily="34" charset="-122"/>
                <a:ea typeface="微软雅黑" panose="020B0503020204020204" pitchFamily="34" charset="-122"/>
              </a:rPr>
              <a:t>怎样在大规模、多样化物体和姿态条件下，学到更强、更泛化的视觉灵巧抓取策略？</a:t>
            </a:r>
            <a:r>
              <a:rPr lang="zh-CN" altLang="en-US" dirty="0">
                <a:latin typeface="微软雅黑" panose="020B0503020204020204" pitchFamily="34" charset="-122"/>
                <a:ea typeface="微软雅黑" panose="020B0503020204020204" pitchFamily="34" charset="-122"/>
              </a:rPr>
              <a:t> </a:t>
            </a:r>
            <a:endParaRPr lang="zh-CN" altLang="en-US" dirty="0">
              <a:latin typeface="微软雅黑" panose="020B0503020204020204" pitchFamily="34" charset="-122"/>
              <a:ea typeface="微软雅黑" panose="020B0503020204020204" pitchFamily="34" charset="-122"/>
            </a:endParaRPr>
          </a:p>
        </p:txBody>
      </p:sp>
      <p:pic>
        <p:nvPicPr>
          <p:cNvPr id="10" name="图片 9"/>
          <p:cNvPicPr>
            <a:picLocks noChangeAspect="1"/>
          </p:cNvPicPr>
          <p:nvPr/>
        </p:nvPicPr>
        <p:blipFill>
          <a:blip r:embed="rId2"/>
          <a:stretch>
            <a:fillRect/>
          </a:stretch>
        </p:blipFill>
        <p:spPr>
          <a:xfrm>
            <a:off x="1094409" y="3317393"/>
            <a:ext cx="9501754" cy="3448148"/>
          </a:xfrm>
          <a:prstGeom prst="rect">
            <a:avLst/>
          </a:prstGeom>
        </p:spPr>
      </p:pic>
      <p:sp>
        <p:nvSpPr>
          <p:cNvPr id="12" name="文本框 11"/>
          <p:cNvSpPr txBox="1"/>
          <p:nvPr/>
        </p:nvSpPr>
        <p:spPr>
          <a:xfrm>
            <a:off x="729366" y="2782669"/>
            <a:ext cx="11020272" cy="680507"/>
          </a:xfrm>
          <a:prstGeom prst="rect">
            <a:avLst/>
          </a:prstGeom>
          <a:noFill/>
        </p:spPr>
        <p:txBody>
          <a:bodyPr wrap="square">
            <a:spAutoFit/>
          </a:bodyPr>
          <a:lstStyle/>
          <a:p>
            <a:pPr>
              <a:lnSpc>
                <a:spcPct val="110000"/>
              </a:lnSpc>
            </a:pPr>
            <a:r>
              <a:rPr lang="zh-CN" altLang="en-US" dirty="0">
                <a:latin typeface="微软雅黑" panose="020B0503020204020204" pitchFamily="34" charset="-122"/>
                <a:ea typeface="微软雅黑" panose="020B0503020204020204" pitchFamily="34" charset="-122"/>
              </a:rPr>
              <a:t>主要思路：先学一个强的 </a:t>
            </a:r>
            <a:r>
              <a:rPr lang="en-US" altLang="zh-CN" dirty="0">
                <a:latin typeface="微软雅黑" panose="020B0503020204020204" pitchFamily="34" charset="-122"/>
                <a:ea typeface="微软雅黑" panose="020B0503020204020204" pitchFamily="34" charset="-122"/>
              </a:rPr>
              <a:t>state-based policy</a:t>
            </a:r>
            <a:r>
              <a:rPr lang="zh-CN" altLang="en-US" dirty="0">
                <a:latin typeface="微软雅黑" panose="020B0503020204020204" pitchFamily="34" charset="-122"/>
                <a:ea typeface="微软雅黑" panose="020B0503020204020204" pitchFamily="34" charset="-122"/>
              </a:rPr>
              <a:t>，再逐步蒸馏成 </a:t>
            </a:r>
            <a:r>
              <a:rPr lang="en-US" altLang="zh-CN" dirty="0">
                <a:latin typeface="微软雅黑" panose="020B0503020204020204" pitchFamily="34" charset="-122"/>
                <a:ea typeface="微软雅黑" panose="020B0503020204020204" pitchFamily="34" charset="-122"/>
              </a:rPr>
              <a:t>vision-based policy</a:t>
            </a:r>
            <a:r>
              <a:rPr lang="zh-CN" altLang="en-US" dirty="0">
                <a:latin typeface="微软雅黑" panose="020B0503020204020204" pitchFamily="34" charset="-122"/>
                <a:ea typeface="微软雅黑" panose="020B0503020204020204" pitchFamily="34" charset="-122"/>
              </a:rPr>
              <a:t>；训练过程中结合几何感知课程学习和几何感知的通才</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专才迭代优化。</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0" name="组合 2"/>
          <p:cNvGrpSpPr/>
          <p:nvPr/>
        </p:nvGrpSpPr>
        <p:grpSpPr>
          <a:xfrm>
            <a:off x="0" y="156335"/>
            <a:ext cx="11940390" cy="497839"/>
            <a:chOff x="0" y="156335"/>
            <a:chExt cx="11940390" cy="497839"/>
          </a:xfrm>
        </p:grpSpPr>
        <p:grpSp>
          <p:nvGrpSpPr>
            <p:cNvPr id="121" name="组合 3"/>
            <p:cNvGrpSpPr/>
            <p:nvPr/>
          </p:nvGrpSpPr>
          <p:grpSpPr>
            <a:xfrm>
              <a:off x="0" y="156335"/>
              <a:ext cx="9666514" cy="497839"/>
              <a:chOff x="0" y="248698"/>
              <a:chExt cx="9666514" cy="497839"/>
            </a:xfrm>
          </p:grpSpPr>
          <p:grpSp>
            <p:nvGrpSpPr>
              <p:cNvPr id="122" name="组合 4"/>
              <p:cNvGrpSpPr/>
              <p:nvPr/>
            </p:nvGrpSpPr>
            <p:grpSpPr>
              <a:xfrm>
                <a:off x="0" y="294640"/>
                <a:ext cx="880552" cy="375920"/>
                <a:chOff x="0" y="294640"/>
                <a:chExt cx="1094740" cy="467360"/>
              </a:xfrm>
              <a:solidFill>
                <a:srgbClr val="EE8A10"/>
              </a:solidFill>
            </p:grpSpPr>
            <p:sp>
              <p:nvSpPr>
                <p:cNvPr id="1048746"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47"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48"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749" name="文本框 5"/>
              <p:cNvSpPr txBox="1"/>
              <p:nvPr/>
            </p:nvSpPr>
            <p:spPr>
              <a:xfrm>
                <a:off x="972489" y="248698"/>
                <a:ext cx="2702560" cy="497839"/>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23" name="组合 6"/>
              <p:cNvGrpSpPr/>
              <p:nvPr/>
            </p:nvGrpSpPr>
            <p:grpSpPr>
              <a:xfrm>
                <a:off x="3356076" y="408709"/>
                <a:ext cx="1749361" cy="147782"/>
                <a:chOff x="635462" y="775854"/>
                <a:chExt cx="1749361" cy="147782"/>
              </a:xfrm>
              <a:solidFill>
                <a:srgbClr val="EE8A10"/>
              </a:solidFill>
            </p:grpSpPr>
            <p:sp>
              <p:nvSpPr>
                <p:cNvPr id="1048750"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51"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52"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53"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54"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5"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3"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2" name="标题 1"/>
          <p:cNvSpPr>
            <a:spLocks noGrp="1"/>
          </p:cNvSpPr>
          <p:nvPr>
            <p:custDataLst>
              <p:tags r:id="rId2"/>
            </p:custDataLst>
          </p:nvPr>
        </p:nvSpPr>
        <p:spPr>
          <a:xfrm>
            <a:off x="438785" y="746760"/>
            <a:ext cx="10972800" cy="609600"/>
          </a:xfrm>
          <a:prstGeom prst="rect">
            <a:avLst/>
          </a:prstGeom>
          <a:noFill/>
        </p:spPr>
        <p:txBody>
          <a:bodyPr vert="horz" lIns="0" tIns="0" rIns="0" bIns="0" rtlCol="0" anchor="t" anchorCtr="0">
            <a:normAutofit/>
          </a:bodyPr>
          <a:lstStyle>
            <a:lvl1pPr marL="0" indent="0" algn="l" defTabSz="914400" rtl="0" eaLnBrk="1" fontAlgn="auto" latinLnBrk="0" hangingPunct="1">
              <a:lnSpc>
                <a:spcPct val="111000"/>
              </a:lnSpc>
              <a:spcBef>
                <a:spcPct val="0"/>
              </a:spcBef>
              <a:spcAft>
                <a:spcPct val="0"/>
              </a:spcAft>
              <a:buNone/>
              <a:defRPr sz="3600" b="0" u="none" strike="noStrike" kern="1200" cap="none" spc="0" normalizeH="0" baseline="0">
                <a:solidFill>
                  <a:schemeClr val="tx1"/>
                </a:solidFill>
                <a:uFillTx/>
                <a:latin typeface="MiSans Demibold" panose="00000700000000000000" charset="-122"/>
                <a:ea typeface="MiSans Medium" panose="00000600000000000000" charset="-122"/>
                <a:cs typeface="+mj-cs"/>
                <a:sym typeface="MiSans Demibold" panose="00000700000000000000" charset="-122"/>
              </a:defRPr>
            </a:lvl1pPr>
          </a:lstStyle>
          <a:p>
            <a:endParaRPr lang="en-US" altLang="zh-CN" sz="2800" dirty="0">
              <a:latin typeface="黑体" panose="02010609060101010101" charset="-122"/>
              <a:ea typeface="黑体" panose="02010609060101010101" charset="-122"/>
              <a:cs typeface="黑体" panose="02010609060101010101" charset="-122"/>
            </a:endParaRPr>
          </a:p>
        </p:txBody>
      </p:sp>
      <p:sp>
        <p:nvSpPr>
          <p:cNvPr id="5" name="文本框 4"/>
          <p:cNvSpPr txBox="1"/>
          <p:nvPr/>
        </p:nvSpPr>
        <p:spPr>
          <a:xfrm>
            <a:off x="486244" y="709414"/>
            <a:ext cx="6096000" cy="369332"/>
          </a:xfrm>
          <a:prstGeom prst="rect">
            <a:avLst/>
          </a:prstGeom>
          <a:noFill/>
        </p:spPr>
        <p:txBody>
          <a:bodyPr wrap="square">
            <a:spAutoFit/>
          </a:bodyPr>
          <a:lstStyle/>
          <a:p>
            <a:r>
              <a:rPr lang="zh-CN" altLang="en-US" b="1" dirty="0">
                <a:latin typeface="微软雅黑" panose="020B0503020204020204" pitchFamily="34" charset="-122"/>
                <a:ea typeface="微软雅黑" panose="020B0503020204020204" pitchFamily="34" charset="-122"/>
              </a:rPr>
              <a:t>研究方法</a:t>
            </a:r>
            <a:endParaRPr lang="zh-CN" altLang="en-US" b="1" dirty="0">
              <a:latin typeface="微软雅黑" panose="020B0503020204020204" pitchFamily="34" charset="-122"/>
              <a:ea typeface="微软雅黑" panose="020B0503020204020204" pitchFamily="34" charset="-122"/>
            </a:endParaRPr>
          </a:p>
        </p:txBody>
      </p:sp>
      <p:pic>
        <p:nvPicPr>
          <p:cNvPr id="7" name="图片 6"/>
          <p:cNvPicPr>
            <a:picLocks noChangeAspect="1"/>
          </p:cNvPicPr>
          <p:nvPr/>
        </p:nvPicPr>
        <p:blipFill>
          <a:blip r:embed="rId3"/>
          <a:stretch>
            <a:fillRect/>
          </a:stretch>
        </p:blipFill>
        <p:spPr>
          <a:xfrm>
            <a:off x="5155615" y="520572"/>
            <a:ext cx="4609893" cy="1671576"/>
          </a:xfrm>
          <a:prstGeom prst="rect">
            <a:avLst/>
          </a:prstGeom>
        </p:spPr>
      </p:pic>
      <mc:AlternateContent xmlns:mc="http://schemas.openxmlformats.org/markup-compatibility/2006">
        <mc:Choice xmlns:a14="http://schemas.microsoft.com/office/drawing/2010/main" Requires="a14">
          <p:sp>
            <p:nvSpPr>
              <p:cNvPr id="9" name="文本框 8"/>
              <p:cNvSpPr txBox="1"/>
              <p:nvPr/>
            </p:nvSpPr>
            <p:spPr>
              <a:xfrm>
                <a:off x="486244" y="1117797"/>
                <a:ext cx="5061116" cy="1200329"/>
              </a:xfrm>
              <a:prstGeom prst="rect">
                <a:avLst/>
              </a:prstGeom>
              <a:noFill/>
            </p:spPr>
            <p:txBody>
              <a:bodyPr wrap="square">
                <a:spAutoFit/>
              </a:bodyPr>
              <a:lstStyle/>
              <a:p>
                <a:pPr>
                  <a:buNone/>
                </a:pPr>
                <a:r>
                  <a:rPr lang="en-US" altLang="zh-CN" b="1" dirty="0"/>
                  <a:t>1.</a:t>
                </a:r>
                <a:r>
                  <a:rPr lang="zh-CN" altLang="en-US" b="1" dirty="0"/>
                  <a:t>问题定义</a:t>
                </a:r>
                <a:endParaRPr lang="zh-CN" altLang="en-US" b="1" dirty="0"/>
              </a:p>
              <a:p>
                <a:pPr>
                  <a:buNone/>
                </a:pPr>
                <a:r>
                  <a:rPr lang="zh-CN" altLang="en-US" dirty="0"/>
                  <a:t>作者把一个抓取任务定义为：</a:t>
                </a:r>
                <a:endParaRPr lang="zh-CN" altLang="en-US" dirty="0"/>
              </a:p>
              <a:p>
                <a:pPr>
                  <a:buFont typeface="Arial" panose="020B0604020202020204" pitchFamily="34" charset="0"/>
                  <a:buChar char="•"/>
                </a:pPr>
                <a:r>
                  <a:rPr lang="zh-CN" altLang="en-US" dirty="0"/>
                  <a:t>一个物体实例 </a:t>
                </a:r>
                <a14:m>
                  <m:oMath xmlns:m="http://schemas.openxmlformats.org/officeDocument/2006/math">
                    <m:r>
                      <a:rPr lang="zh-CN" altLang="en-US" i="1">
                        <a:latin typeface="Cambria Math" panose="02040503050406030204" pitchFamily="18" charset="0"/>
                      </a:rPr>
                      <m:t>𝑜</m:t>
                    </m:r>
                  </m:oMath>
                </a14:m>
                <a:endParaRPr lang="zh-CN" altLang="en-US" dirty="0"/>
              </a:p>
              <a:p>
                <a:pPr>
                  <a:buFont typeface="Arial" panose="020B0604020202020204" pitchFamily="34" charset="0"/>
                  <a:buChar char="•"/>
                </a:pPr>
                <a:r>
                  <a:rPr lang="zh-CN" altLang="en-US" dirty="0"/>
                  <a:t>一个初始旋转 </a:t>
                </a:r>
                <a14:m>
                  <m:oMath xmlns:m="http://schemas.openxmlformats.org/officeDocument/2006/math">
                    <m:r>
                      <a:rPr lang="zh-CN" altLang="en-US" i="1">
                        <a:latin typeface="Cambria Math" panose="02040503050406030204" pitchFamily="18" charset="0"/>
                      </a:rPr>
                      <m:t>𝑅</m:t>
                    </m:r>
                    <m:r>
                      <a:rPr lang="zh-CN" altLang="en-US" i="0">
                        <a:latin typeface="Cambria Math" panose="02040503050406030204" pitchFamily="18" charset="0"/>
                      </a:rPr>
                      <m:t>∈</m:t>
                    </m:r>
                    <m:r>
                      <a:rPr lang="zh-CN" altLang="en-US" i="1">
                        <a:latin typeface="Cambria Math" panose="02040503050406030204" pitchFamily="18" charset="0"/>
                      </a:rPr>
                      <m:t>𝑆𝑂</m:t>
                    </m:r>
                    <m:d>
                      <m:dPr>
                        <m:ctrlPr>
                          <a:rPr lang="zh-CN" altLang="en-US" i="1">
                            <a:latin typeface="Cambria Math" panose="02040503050406030204" pitchFamily="18" charset="0"/>
                          </a:rPr>
                        </m:ctrlPr>
                      </m:dPr>
                      <m:e>
                        <m:r>
                          <a:rPr lang="en-US" altLang="zh-CN" i="0">
                            <a:latin typeface="Cambria Math" panose="02040503050406030204" pitchFamily="18" charset="0"/>
                          </a:rPr>
                          <m:t>3</m:t>
                        </m:r>
                      </m:e>
                    </m:d>
                  </m:oMath>
                </a14:m>
                <a:endParaRPr lang="zh-CN" altLang="en-US" dirty="0"/>
              </a:p>
            </p:txBody>
          </p:sp>
        </mc:Choice>
        <mc:Fallback>
          <p:sp>
            <p:nvSpPr>
              <p:cNvPr id="9" name="文本框 8"/>
              <p:cNvSpPr txBox="1">
                <a:spLocks noRot="1" noChangeAspect="1" noMove="1" noResize="1" noEditPoints="1" noAdjustHandles="1" noChangeArrowheads="1" noChangeShapeType="1" noTextEdit="1"/>
              </p:cNvSpPr>
              <p:nvPr/>
            </p:nvSpPr>
            <p:spPr>
              <a:xfrm>
                <a:off x="486244" y="1117797"/>
                <a:ext cx="5061116" cy="1200329"/>
              </a:xfrm>
              <a:prstGeom prst="rect">
                <a:avLst/>
              </a:prstGeom>
              <a:blipFill rotWithShape="1">
                <a:blip r:embed="rId4"/>
                <a:stretch>
                  <a:fillRect l="-9" t="-16" b="31"/>
                </a:stretch>
              </a:blipFill>
            </p:spPr>
            <p:txBody>
              <a:bodyPr/>
              <a:lstStyle/>
              <a:p>
                <a:r>
                  <a:rPr lang="zh-CN" altLang="en-US">
                    <a:noFill/>
                  </a:rPr>
                  <a:t> </a:t>
                </a:r>
              </a:p>
            </p:txBody>
          </p:sp>
        </mc:Fallback>
      </mc:AlternateContent>
      <p:sp>
        <p:nvSpPr>
          <p:cNvPr id="11" name="文本框 10"/>
          <p:cNvSpPr txBox="1"/>
          <p:nvPr/>
        </p:nvSpPr>
        <p:spPr>
          <a:xfrm>
            <a:off x="486244" y="2229494"/>
            <a:ext cx="11302960" cy="369332"/>
          </a:xfrm>
          <a:prstGeom prst="rect">
            <a:avLst/>
          </a:prstGeom>
          <a:noFill/>
        </p:spPr>
        <p:txBody>
          <a:bodyPr wrap="square">
            <a:spAutoFit/>
          </a:bodyPr>
          <a:lstStyle/>
          <a:p>
            <a:r>
              <a:rPr lang="zh-CN" altLang="en-US" dirty="0"/>
              <a:t>也就是说，每个任务不仅和“抓什么物体”有关，还和“物体初始姿态”有关。这本质上是一个</a:t>
            </a:r>
            <a:r>
              <a:rPr lang="zh-CN" altLang="en-US" b="1" dirty="0"/>
              <a:t>多任务强化学习问题</a:t>
            </a:r>
            <a:r>
              <a:rPr lang="zh-CN" altLang="en-US" dirty="0"/>
              <a:t>。</a:t>
            </a:r>
            <a:endParaRPr lang="zh-CN" altLang="en-US" dirty="0"/>
          </a:p>
        </p:txBody>
      </p:sp>
      <p:sp>
        <p:nvSpPr>
          <p:cNvPr id="13" name="文本框 12"/>
          <p:cNvSpPr txBox="1"/>
          <p:nvPr/>
        </p:nvSpPr>
        <p:spPr>
          <a:xfrm>
            <a:off x="486244" y="2598826"/>
            <a:ext cx="6096000" cy="369332"/>
          </a:xfrm>
          <a:prstGeom prst="rect">
            <a:avLst/>
          </a:prstGeom>
          <a:noFill/>
        </p:spPr>
        <p:txBody>
          <a:bodyPr wrap="square">
            <a:spAutoFit/>
          </a:bodyPr>
          <a:lstStyle/>
          <a:p>
            <a:r>
              <a:rPr lang="en-US" altLang="zh-CN" b="1" dirty="0"/>
              <a:t>2.</a:t>
            </a:r>
            <a:r>
              <a:rPr lang="zh-CN" altLang="en-US" b="1" dirty="0"/>
              <a:t>两阶段策略学习</a:t>
            </a:r>
            <a:endParaRPr lang="zh-CN" altLang="en-US" b="1" dirty="0"/>
          </a:p>
        </p:txBody>
      </p:sp>
      <mc:AlternateContent xmlns:mc="http://schemas.openxmlformats.org/markup-compatibility/2006">
        <mc:Choice xmlns:a14="http://schemas.microsoft.com/office/drawing/2010/main" Requires="a14">
          <p:sp>
            <p:nvSpPr>
              <p:cNvPr id="15" name="文本框 14"/>
              <p:cNvSpPr txBox="1"/>
              <p:nvPr/>
            </p:nvSpPr>
            <p:spPr>
              <a:xfrm>
                <a:off x="486244" y="2921108"/>
                <a:ext cx="11454146" cy="2031325"/>
              </a:xfrm>
              <a:prstGeom prst="rect">
                <a:avLst/>
              </a:prstGeom>
              <a:noFill/>
            </p:spPr>
            <p:txBody>
              <a:bodyPr wrap="square">
                <a:spAutoFit/>
              </a:bodyPr>
              <a:lstStyle/>
              <a:p>
                <a:pPr>
                  <a:buNone/>
                </a:pPr>
                <a:r>
                  <a:rPr lang="zh-CN" altLang="en-US" b="1" dirty="0"/>
                  <a:t>第一阶段：</a:t>
                </a:r>
                <a:r>
                  <a:rPr lang="en-US" altLang="zh-CN" b="1" dirty="0"/>
                  <a:t>State-based policy learning</a:t>
                </a:r>
                <a:endParaRPr lang="en-US" altLang="zh-CN" b="1" dirty="0"/>
              </a:p>
              <a:p>
                <a:pPr>
                  <a:buNone/>
                </a:pPr>
                <a:r>
                  <a:rPr lang="zh-CN" altLang="en-US" dirty="0"/>
                  <a:t>输入包括：机器人状态 </a:t>
                </a:r>
                <a14:m>
                  <m:oMath xmlns:m="http://schemas.openxmlformats.org/officeDocument/2006/math">
                    <m:sSub>
                      <m:sSubPr>
                        <m:ctrlPr>
                          <a:rPr lang="ar-AE" altLang="zh-CN" i="1">
                            <a:latin typeface="Cambria Math" panose="02040503050406030204" pitchFamily="18" charset="0"/>
                          </a:rPr>
                        </m:ctrlPr>
                      </m:sSubPr>
                      <m:e>
                        <m:r>
                          <a:rPr lang="zh-CN" altLang="ar-AE" i="1">
                            <a:latin typeface="Cambria Math" panose="02040503050406030204" pitchFamily="18" charset="0"/>
                          </a:rPr>
                          <m:t>𝑅</m:t>
                        </m:r>
                      </m:e>
                      <m:sub>
                        <m:r>
                          <a:rPr lang="zh-CN" altLang="ar-AE" i="1">
                            <a:latin typeface="Cambria Math" panose="02040503050406030204" pitchFamily="18" charset="0"/>
                          </a:rPr>
                          <m:t>𝑡</m:t>
                        </m:r>
                      </m:sub>
                    </m:sSub>
                    <m:r>
                      <a:rPr lang="en-US" altLang="zh-CN" b="0" i="0" smtClean="0">
                        <a:latin typeface="Cambria Math" panose="02040503050406030204" pitchFamily="18" charset="0"/>
                      </a:rPr>
                      <m:t> </m:t>
                    </m:r>
                    <m:r>
                      <a:rPr lang="zh-CN" altLang="en-US" i="1">
                        <a:latin typeface="Cambria Math" panose="02040503050406030204" pitchFamily="18" charset="0"/>
                      </a:rPr>
                      <m:t>，</m:t>
                    </m:r>
                  </m:oMath>
                </a14:m>
                <a:r>
                  <a:rPr lang="zh-CN" altLang="en-US" dirty="0"/>
                  <a:t>物体状态 </a:t>
                </a:r>
                <a14:m>
                  <m:oMath xmlns:m="http://schemas.openxmlformats.org/officeDocument/2006/math">
                    <m:sSub>
                      <m:sSubPr>
                        <m:ctrlPr>
                          <a:rPr lang="ar-AE" altLang="zh-CN" i="1">
                            <a:latin typeface="Cambria Math" panose="02040503050406030204" pitchFamily="18" charset="0"/>
                          </a:rPr>
                        </m:ctrlPr>
                      </m:sSubPr>
                      <m:e>
                        <m:r>
                          <a:rPr lang="zh-CN" altLang="ar-AE" i="1">
                            <a:latin typeface="Cambria Math" panose="02040503050406030204" pitchFamily="18" charset="0"/>
                          </a:rPr>
                          <m:t>𝑂</m:t>
                        </m:r>
                      </m:e>
                      <m:sub>
                        <m:r>
                          <a:rPr lang="zh-CN" altLang="ar-AE" i="1">
                            <a:latin typeface="Cambria Math" panose="02040503050406030204" pitchFamily="18" charset="0"/>
                          </a:rPr>
                          <m:t>𝑡</m:t>
                        </m:r>
                      </m:sub>
                    </m:sSub>
                    <m:r>
                      <a:rPr lang="en-US" altLang="zh-CN" b="0" i="0" smtClean="0">
                        <a:latin typeface="Cambria Math" panose="02040503050406030204" pitchFamily="18" charset="0"/>
                      </a:rPr>
                      <m:t> </m:t>
                    </m:r>
                    <m:r>
                      <a:rPr lang="zh-CN" altLang="en-US" i="1">
                        <a:latin typeface="Cambria Math" panose="02040503050406030204" pitchFamily="18" charset="0"/>
                      </a:rPr>
                      <m:t>，</m:t>
                    </m:r>
                  </m:oMath>
                </a14:m>
                <a:r>
                  <a:rPr lang="zh-CN" altLang="en-US" dirty="0"/>
                  <a:t>初始场景点云 </a:t>
                </a:r>
                <a14:m>
                  <m:oMath xmlns:m="http://schemas.openxmlformats.org/officeDocument/2006/math">
                    <m:sSub>
                      <m:sSubPr>
                        <m:ctrlPr>
                          <a:rPr lang="ar-AE" altLang="zh-CN" i="1">
                            <a:latin typeface="Cambria Math" panose="02040503050406030204" pitchFamily="18" charset="0"/>
                          </a:rPr>
                        </m:ctrlPr>
                      </m:sSubPr>
                      <m:e>
                        <m:r>
                          <a:rPr lang="zh-CN" altLang="ar-AE" i="1">
                            <a:latin typeface="Cambria Math" panose="02040503050406030204" pitchFamily="18" charset="0"/>
                          </a:rPr>
                          <m:t>𝑃</m:t>
                        </m:r>
                      </m:e>
                      <m:sub>
                        <m:r>
                          <a:rPr lang="zh-CN" altLang="ar-AE" i="1">
                            <a:latin typeface="Cambria Math" panose="02040503050406030204" pitchFamily="18" charset="0"/>
                          </a:rPr>
                          <m:t>𝑡</m:t>
                        </m:r>
                        <m:r>
                          <a:rPr lang="ar-AE" altLang="zh-CN" i="0">
                            <a:latin typeface="Cambria Math" panose="02040503050406030204" pitchFamily="18" charset="0"/>
                          </a:rPr>
                          <m:t>=</m:t>
                        </m:r>
                        <m:r>
                          <a:rPr lang="ar-AE" altLang="zh-CN" i="0">
                            <a:latin typeface="Cambria Math" panose="02040503050406030204" pitchFamily="18" charset="0"/>
                          </a:rPr>
                          <m:t>0</m:t>
                        </m:r>
                      </m:sub>
                    </m:sSub>
                  </m:oMath>
                </a14:m>
                <a:r>
                  <a:rPr lang="zh-CN" altLang="en-US" dirty="0"/>
                  <a:t>的几何特征 </a:t>
                </a:r>
                <a:endParaRPr lang="zh-CN" altLang="en-US" dirty="0"/>
              </a:p>
              <a:p>
                <a:pPr>
                  <a:buNone/>
                </a:pPr>
                <a:r>
                  <a:rPr lang="zh-CN" altLang="en-US" dirty="0"/>
                  <a:t>这里作者先用一个</a:t>
                </a:r>
                <a:r>
                  <a:rPr lang="zh-CN" altLang="en-US" b="1" dirty="0"/>
                  <a:t>预训练点云自编码器</a:t>
                </a:r>
                <a:r>
                  <a:rPr lang="zh-CN" altLang="en-US" dirty="0"/>
                  <a:t>提取几何特征，并且在这个阶段冻结编码器，只让策略网络学控制。这样做的目的是：</a:t>
                </a:r>
                <a:r>
                  <a:rPr lang="zh-CN" altLang="en-US" b="1" dirty="0"/>
                  <a:t>降低训练难度，先得到一个高质量 </a:t>
                </a:r>
                <a:r>
                  <a:rPr lang="en-US" altLang="zh-CN" b="1" dirty="0"/>
                  <a:t>teacher policy</a:t>
                </a:r>
                <a:r>
                  <a:rPr lang="zh-CN" altLang="en-US" b="1" dirty="0"/>
                  <a:t>。</a:t>
                </a:r>
                <a:r>
                  <a:rPr lang="en-US" altLang="zh-CN" dirty="0"/>
                  <a:t> </a:t>
                </a:r>
                <a:endParaRPr lang="en-US" altLang="zh-CN" dirty="0"/>
              </a:p>
              <a:p>
                <a:pPr>
                  <a:buNone/>
                </a:pPr>
                <a:r>
                  <a:rPr lang="zh-CN" altLang="en-US" b="1" dirty="0"/>
                  <a:t>第二阶段：</a:t>
                </a:r>
                <a:r>
                  <a:rPr lang="en-US" altLang="zh-CN" b="1" dirty="0"/>
                  <a:t>Vision-based policy learning</a:t>
                </a:r>
                <a:endParaRPr lang="en-US" altLang="zh-CN" b="1" dirty="0"/>
              </a:p>
              <a:p>
                <a:pPr>
                  <a:buNone/>
                </a:pPr>
                <a:r>
                  <a:rPr lang="zh-CN" altLang="en-US" dirty="0"/>
                  <a:t>这一阶段不再使用 </a:t>
                </a:r>
                <a:r>
                  <a:rPr lang="en-US" altLang="zh-CN" dirty="0"/>
                  <a:t>oracle object state</a:t>
                </a:r>
                <a:r>
                  <a:rPr lang="zh-CN" altLang="en-US" dirty="0"/>
                  <a:t>，只允许用：机器人状态 </a:t>
                </a:r>
                <a14:m>
                  <m:oMath xmlns:m="http://schemas.openxmlformats.org/officeDocument/2006/math">
                    <m:sSub>
                      <m:sSubPr>
                        <m:ctrlPr>
                          <a:rPr lang="ar-AE" altLang="zh-CN" i="1">
                            <a:latin typeface="Cambria Math" panose="02040503050406030204" pitchFamily="18" charset="0"/>
                          </a:rPr>
                        </m:ctrlPr>
                      </m:sSubPr>
                      <m:e>
                        <m:r>
                          <a:rPr lang="zh-CN" altLang="ar-AE" i="1">
                            <a:latin typeface="Cambria Math" panose="02040503050406030204" pitchFamily="18" charset="0"/>
                          </a:rPr>
                          <m:t>𝑅</m:t>
                        </m:r>
                      </m:e>
                      <m:sub>
                        <m:r>
                          <a:rPr lang="zh-CN" altLang="ar-AE" i="1">
                            <a:latin typeface="Cambria Math" panose="02040503050406030204" pitchFamily="18" charset="0"/>
                          </a:rPr>
                          <m:t>𝑡</m:t>
                        </m:r>
                      </m:sub>
                    </m:sSub>
                    <m:r>
                      <a:rPr lang="zh-CN" altLang="en-US" i="1">
                        <a:latin typeface="Cambria Math" panose="02040503050406030204" pitchFamily="18" charset="0"/>
                      </a:rPr>
                      <m:t>，</m:t>
                    </m:r>
                    <m:r>
                      <a:rPr lang="en-US" altLang="zh-CN" b="0" i="0" smtClean="0">
                        <a:latin typeface="Cambria Math" panose="02040503050406030204" pitchFamily="18" charset="0"/>
                      </a:rPr>
                      <m:t> </m:t>
                    </m:r>
                  </m:oMath>
                </a14:m>
                <a:r>
                  <a:rPr lang="zh-CN" altLang="en-US" dirty="0"/>
                  <a:t>场景点云 </a:t>
                </a:r>
                <a14:m>
                  <m:oMath xmlns:m="http://schemas.openxmlformats.org/officeDocument/2006/math">
                    <m:sSub>
                      <m:sSubPr>
                        <m:ctrlPr>
                          <a:rPr lang="ar-AE" altLang="zh-CN" i="1">
                            <a:latin typeface="Cambria Math" panose="02040503050406030204" pitchFamily="18" charset="0"/>
                          </a:rPr>
                        </m:ctrlPr>
                      </m:sSubPr>
                      <m:e>
                        <m:r>
                          <a:rPr lang="zh-CN" altLang="ar-AE" i="1">
                            <a:latin typeface="Cambria Math" panose="02040503050406030204" pitchFamily="18" charset="0"/>
                          </a:rPr>
                          <m:t>𝑃</m:t>
                        </m:r>
                      </m:e>
                      <m:sub>
                        <m:r>
                          <a:rPr lang="zh-CN" altLang="ar-AE" i="1">
                            <a:latin typeface="Cambria Math" panose="02040503050406030204" pitchFamily="18" charset="0"/>
                          </a:rPr>
                          <m:t>𝑡</m:t>
                        </m:r>
                      </m:sub>
                    </m:sSub>
                  </m:oMath>
                </a14:m>
                <a:r>
                  <a:rPr lang="zh-CN" altLang="en-US" dirty="0"/>
                  <a:t>也就是更符合真实机器人场景。</a:t>
                </a:r>
                <a:endParaRPr lang="en-US" altLang="zh-CN" dirty="0"/>
              </a:p>
              <a:p>
                <a:pPr>
                  <a:buNone/>
                </a:pPr>
                <a:r>
                  <a:rPr lang="zh-CN" altLang="en-US" dirty="0"/>
                  <a:t>采用 </a:t>
                </a:r>
                <a:r>
                  <a:rPr lang="en-US" altLang="zh-CN" b="1" dirty="0" err="1"/>
                  <a:t>PointNet</a:t>
                </a:r>
                <a:r>
                  <a:rPr lang="en-US" altLang="zh-CN" b="1" dirty="0"/>
                  <a:t> + Transformer</a:t>
                </a:r>
                <a:r>
                  <a:rPr lang="en-US" altLang="zh-CN" dirty="0"/>
                  <a:t> </a:t>
                </a:r>
                <a:r>
                  <a:rPr lang="zh-CN" altLang="en-US" dirty="0"/>
                  <a:t>作为视觉 </a:t>
                </a:r>
                <a:r>
                  <a:rPr lang="en-US" altLang="zh-CN" dirty="0"/>
                  <a:t>backbone</a:t>
                </a:r>
                <a:r>
                  <a:rPr lang="zh-CN" altLang="en-US" dirty="0"/>
                  <a:t>，并发现其效果优于单纯 </a:t>
                </a:r>
                <a:r>
                  <a:rPr lang="en-US" altLang="zh-CN" dirty="0" err="1"/>
                  <a:t>PointNet</a:t>
                </a:r>
                <a:r>
                  <a:rPr lang="zh-CN" altLang="en-US" dirty="0"/>
                  <a:t>。</a:t>
                </a:r>
                <a:endParaRPr lang="en-US" altLang="zh-CN" dirty="0"/>
              </a:p>
            </p:txBody>
          </p:sp>
        </mc:Choice>
        <mc:Fallback>
          <p:sp>
            <p:nvSpPr>
              <p:cNvPr id="15" name="文本框 14"/>
              <p:cNvSpPr txBox="1">
                <a:spLocks noRot="1" noChangeAspect="1" noMove="1" noResize="1" noEditPoints="1" noAdjustHandles="1" noChangeArrowheads="1" noChangeShapeType="1" noTextEdit="1"/>
              </p:cNvSpPr>
              <p:nvPr/>
            </p:nvSpPr>
            <p:spPr>
              <a:xfrm>
                <a:off x="486244" y="2921108"/>
                <a:ext cx="11454146" cy="2031325"/>
              </a:xfrm>
              <a:prstGeom prst="rect">
                <a:avLst/>
              </a:prstGeom>
              <a:blipFill rotWithShape="1">
                <a:blip r:embed="rId5"/>
                <a:stretch>
                  <a:fillRect l="-4" t="-5" r="4" b="3"/>
                </a:stretch>
              </a:blipFill>
            </p:spPr>
            <p:txBody>
              <a:bodyPr/>
              <a:lstStyle/>
              <a:p>
                <a:r>
                  <a:rPr lang="zh-CN" altLang="en-US">
                    <a:noFill/>
                  </a:rPr>
                  <a:t> </a:t>
                </a:r>
              </a:p>
            </p:txBody>
          </p:sp>
        </mc:Fallback>
      </mc:AlternateContent>
      <p:sp>
        <p:nvSpPr>
          <p:cNvPr id="17" name="文本框 16"/>
          <p:cNvSpPr txBox="1"/>
          <p:nvPr/>
        </p:nvSpPr>
        <p:spPr>
          <a:xfrm>
            <a:off x="486244" y="4953871"/>
            <a:ext cx="11380636" cy="1296637"/>
          </a:xfrm>
          <a:prstGeom prst="rect">
            <a:avLst/>
          </a:prstGeom>
          <a:noFill/>
        </p:spPr>
        <p:txBody>
          <a:bodyPr wrap="square">
            <a:spAutoFit/>
          </a:bodyPr>
          <a:lstStyle/>
          <a:p>
            <a:pPr>
              <a:lnSpc>
                <a:spcPct val="110000"/>
              </a:lnSpc>
              <a:buNone/>
            </a:pPr>
            <a:r>
              <a:rPr lang="en-US" altLang="zh-CN" b="1" dirty="0"/>
              <a:t>3. </a:t>
            </a:r>
            <a:r>
              <a:rPr lang="en-US" altLang="zh-CN" b="1" dirty="0" err="1"/>
              <a:t>GeoCurriculum</a:t>
            </a:r>
            <a:r>
              <a:rPr lang="zh-CN" altLang="en-US" b="1" dirty="0"/>
              <a:t>：几何感知课程学习</a:t>
            </a:r>
            <a:endParaRPr lang="en-US" altLang="zh-CN" b="1" dirty="0"/>
          </a:p>
          <a:p>
            <a:pPr>
              <a:lnSpc>
                <a:spcPct val="110000"/>
              </a:lnSpc>
              <a:buNone/>
            </a:pPr>
            <a:r>
              <a:rPr lang="en-US" altLang="zh-CN" b="1" dirty="0"/>
              <a:t>4. </a:t>
            </a:r>
            <a:r>
              <a:rPr lang="en-US" altLang="zh-CN" b="1" dirty="0" err="1"/>
              <a:t>GiGSL</a:t>
            </a:r>
            <a:r>
              <a:rPr lang="zh-CN" altLang="en-US" b="1" dirty="0"/>
              <a:t>：几何感知迭代通才</a:t>
            </a:r>
            <a:r>
              <a:rPr lang="en-US" altLang="zh-CN" b="1" dirty="0"/>
              <a:t>-</a:t>
            </a:r>
            <a:r>
              <a:rPr lang="zh-CN" altLang="en-US" b="1" dirty="0"/>
              <a:t>专才学习</a:t>
            </a:r>
            <a:endParaRPr lang="en-US" altLang="zh-CN" b="1" dirty="0"/>
          </a:p>
          <a:p>
            <a:pPr>
              <a:lnSpc>
                <a:spcPct val="110000"/>
              </a:lnSpc>
              <a:buNone/>
            </a:pPr>
            <a:r>
              <a:rPr lang="zh-CN" altLang="en-US" dirty="0"/>
              <a:t>前者按任务的几何特征而非类别标签安排由易到难的课程学习，后者通过几何聚类将相似形状和姿态的任务分配给不同 </a:t>
            </a:r>
            <a:r>
              <a:rPr lang="en-US" altLang="zh-CN" dirty="0"/>
              <a:t>specialist </a:t>
            </a:r>
            <a:r>
              <a:rPr lang="zh-CN" altLang="en-US" dirty="0"/>
              <a:t>进行专门训练，并通过 </a:t>
            </a:r>
            <a:r>
              <a:rPr lang="en-US" altLang="zh-CN" dirty="0"/>
              <a:t>specialist </a:t>
            </a:r>
            <a:r>
              <a:rPr lang="zh-CN" altLang="en-US" dirty="0"/>
              <a:t>与 </a:t>
            </a:r>
            <a:r>
              <a:rPr lang="en-US" altLang="zh-CN" dirty="0"/>
              <a:t>generalist </a:t>
            </a:r>
            <a:r>
              <a:rPr lang="zh-CN" altLang="en-US" dirty="0"/>
              <a:t>之间的迭代蒸馏不断提升整体策略的泛化能力。</a:t>
            </a:r>
            <a:endParaRPr lang="en-US" altLang="zh-CN" b="1" dirty="0"/>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0" name="组合 2"/>
          <p:cNvGrpSpPr/>
          <p:nvPr/>
        </p:nvGrpSpPr>
        <p:grpSpPr>
          <a:xfrm>
            <a:off x="0" y="156335"/>
            <a:ext cx="11940390" cy="497839"/>
            <a:chOff x="0" y="156335"/>
            <a:chExt cx="11940390" cy="497839"/>
          </a:xfrm>
        </p:grpSpPr>
        <p:grpSp>
          <p:nvGrpSpPr>
            <p:cNvPr id="121" name="组合 3"/>
            <p:cNvGrpSpPr/>
            <p:nvPr/>
          </p:nvGrpSpPr>
          <p:grpSpPr>
            <a:xfrm>
              <a:off x="0" y="156335"/>
              <a:ext cx="9666514" cy="497839"/>
              <a:chOff x="0" y="248698"/>
              <a:chExt cx="9666514" cy="497839"/>
            </a:xfrm>
          </p:grpSpPr>
          <p:grpSp>
            <p:nvGrpSpPr>
              <p:cNvPr id="122" name="组合 4"/>
              <p:cNvGrpSpPr/>
              <p:nvPr/>
            </p:nvGrpSpPr>
            <p:grpSpPr>
              <a:xfrm>
                <a:off x="0" y="294640"/>
                <a:ext cx="880552" cy="375920"/>
                <a:chOff x="0" y="294640"/>
                <a:chExt cx="1094740" cy="467360"/>
              </a:xfrm>
              <a:solidFill>
                <a:srgbClr val="EE8A10"/>
              </a:solidFill>
            </p:grpSpPr>
            <p:sp>
              <p:nvSpPr>
                <p:cNvPr id="1048746"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47"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48"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749" name="文本框 5"/>
              <p:cNvSpPr txBox="1"/>
              <p:nvPr/>
            </p:nvSpPr>
            <p:spPr>
              <a:xfrm>
                <a:off x="972489" y="248698"/>
                <a:ext cx="2702560" cy="497839"/>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23" name="组合 6"/>
              <p:cNvGrpSpPr/>
              <p:nvPr/>
            </p:nvGrpSpPr>
            <p:grpSpPr>
              <a:xfrm>
                <a:off x="3356076" y="408709"/>
                <a:ext cx="1749361" cy="147782"/>
                <a:chOff x="635462" y="775854"/>
                <a:chExt cx="1749361" cy="147782"/>
              </a:xfrm>
              <a:solidFill>
                <a:srgbClr val="EE8A10"/>
              </a:solidFill>
            </p:grpSpPr>
            <p:sp>
              <p:nvSpPr>
                <p:cNvPr id="1048750"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51"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52"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53"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54"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5"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3"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5" name="文本框 4"/>
          <p:cNvSpPr txBox="1"/>
          <p:nvPr/>
        </p:nvSpPr>
        <p:spPr>
          <a:xfrm>
            <a:off x="416781" y="778012"/>
            <a:ext cx="10144650" cy="646331"/>
          </a:xfrm>
          <a:prstGeom prst="rect">
            <a:avLst/>
          </a:prstGeom>
          <a:noFill/>
        </p:spPr>
        <p:txBody>
          <a:bodyPr wrap="square">
            <a:spAutoFit/>
          </a:bodyPr>
          <a:lstStyle/>
          <a:p>
            <a:pPr>
              <a:buNone/>
            </a:pPr>
            <a:r>
              <a:rPr lang="zh-CN" altLang="en-US" b="1" dirty="0"/>
              <a:t>实验设置</a:t>
            </a:r>
            <a:endParaRPr lang="zh-CN" altLang="en-US" b="1" dirty="0"/>
          </a:p>
          <a:p>
            <a:pPr>
              <a:buNone/>
            </a:pPr>
            <a:r>
              <a:rPr lang="zh-CN" altLang="en-US" dirty="0"/>
              <a:t>论文在 </a:t>
            </a:r>
            <a:r>
              <a:rPr lang="en-US" altLang="zh-CN" b="1" dirty="0" err="1"/>
              <a:t>UniDexGrasp</a:t>
            </a:r>
            <a:r>
              <a:rPr lang="en-US" altLang="zh-CN" b="1" dirty="0"/>
              <a:t> benchmark</a:t>
            </a:r>
            <a:r>
              <a:rPr lang="zh-CN" altLang="en-US" dirty="0"/>
              <a:t> 上进行实验。这个基准包含：</a:t>
            </a:r>
            <a:r>
              <a:rPr lang="en-US" altLang="zh-CN" b="1" dirty="0"/>
              <a:t>3165 </a:t>
            </a:r>
            <a:r>
              <a:rPr lang="zh-CN" altLang="en-US" b="1" dirty="0"/>
              <a:t>个物体实例</a:t>
            </a:r>
            <a:r>
              <a:rPr lang="zh-CN" altLang="en-US" dirty="0"/>
              <a:t> ，</a:t>
            </a:r>
            <a:r>
              <a:rPr lang="en-US" altLang="zh-CN" b="1" dirty="0"/>
              <a:t>133 </a:t>
            </a:r>
            <a:r>
              <a:rPr lang="zh-CN" altLang="en-US" b="1" dirty="0"/>
              <a:t>个类别</a:t>
            </a:r>
            <a:endParaRPr lang="zh-CN" altLang="en-US" dirty="0"/>
          </a:p>
        </p:txBody>
      </p:sp>
      <p:sp>
        <p:nvSpPr>
          <p:cNvPr id="7" name="文本框 6"/>
          <p:cNvSpPr txBox="1"/>
          <p:nvPr/>
        </p:nvSpPr>
        <p:spPr>
          <a:xfrm>
            <a:off x="416781" y="1322743"/>
            <a:ext cx="10860819" cy="4038926"/>
          </a:xfrm>
          <a:prstGeom prst="rect">
            <a:avLst/>
          </a:prstGeom>
          <a:noFill/>
        </p:spPr>
        <p:txBody>
          <a:bodyPr wrap="square">
            <a:spAutoFit/>
          </a:bodyPr>
          <a:lstStyle/>
          <a:p>
            <a:pPr>
              <a:lnSpc>
                <a:spcPct val="110000"/>
              </a:lnSpc>
              <a:buNone/>
            </a:pPr>
            <a:r>
              <a:rPr lang="en-US" altLang="zh-CN" b="1" dirty="0"/>
              <a:t>1. State-based </a:t>
            </a:r>
            <a:r>
              <a:rPr lang="zh-CN" altLang="en-US" b="1" dirty="0"/>
              <a:t>结果</a:t>
            </a:r>
            <a:endParaRPr lang="zh-CN" altLang="en-US" b="1" dirty="0"/>
          </a:p>
          <a:p>
            <a:pPr>
              <a:lnSpc>
                <a:spcPct val="110000"/>
              </a:lnSpc>
              <a:buNone/>
            </a:pPr>
            <a:r>
              <a:rPr lang="zh-CN" altLang="en-US" dirty="0"/>
              <a:t>论文结果表明，作者方法的 </a:t>
            </a:r>
            <a:r>
              <a:rPr lang="en-US" altLang="zh-CN" dirty="0"/>
              <a:t>state-based policy </a:t>
            </a:r>
            <a:r>
              <a:rPr lang="zh-CN" altLang="en-US" dirty="0"/>
              <a:t>达到：</a:t>
            </a:r>
            <a:endParaRPr lang="zh-CN" altLang="en-US" dirty="0"/>
          </a:p>
          <a:p>
            <a:pPr>
              <a:lnSpc>
                <a:spcPct val="110000"/>
              </a:lnSpc>
              <a:buFont typeface="Arial" panose="020B0604020202020204" pitchFamily="34" charset="0"/>
              <a:buChar char="•"/>
            </a:pPr>
            <a:r>
              <a:rPr lang="zh-CN" altLang="en-US" b="1" dirty="0"/>
              <a:t>训练集：</a:t>
            </a:r>
            <a:r>
              <a:rPr lang="en-US" altLang="zh-CN" b="1" dirty="0"/>
              <a:t>87.9%</a:t>
            </a:r>
            <a:r>
              <a:rPr lang="zh-CN" altLang="en-US" dirty="0"/>
              <a:t> </a:t>
            </a:r>
            <a:endParaRPr lang="zh-CN" altLang="en-US" dirty="0"/>
          </a:p>
          <a:p>
            <a:pPr>
              <a:lnSpc>
                <a:spcPct val="110000"/>
              </a:lnSpc>
              <a:buFont typeface="Arial" panose="020B0604020202020204" pitchFamily="34" charset="0"/>
              <a:buChar char="•"/>
            </a:pPr>
            <a:r>
              <a:rPr lang="zh-CN" altLang="en-US" b="1" dirty="0"/>
              <a:t>测试集 </a:t>
            </a:r>
            <a:r>
              <a:rPr lang="en-US" altLang="zh-CN" b="1" dirty="0"/>
              <a:t>seen category / unseen object</a:t>
            </a:r>
            <a:r>
              <a:rPr lang="zh-CN" altLang="en-US" b="1" dirty="0"/>
              <a:t>：</a:t>
            </a:r>
            <a:r>
              <a:rPr lang="en-US" altLang="zh-CN" b="1" dirty="0"/>
              <a:t>84.3%</a:t>
            </a:r>
            <a:r>
              <a:rPr lang="en-US" altLang="zh-CN" dirty="0"/>
              <a:t> </a:t>
            </a:r>
            <a:endParaRPr lang="en-US" altLang="zh-CN" dirty="0"/>
          </a:p>
          <a:p>
            <a:pPr>
              <a:lnSpc>
                <a:spcPct val="110000"/>
              </a:lnSpc>
              <a:buFont typeface="Arial" panose="020B0604020202020204" pitchFamily="34" charset="0"/>
              <a:buChar char="•"/>
            </a:pPr>
            <a:r>
              <a:rPr lang="zh-CN" altLang="en-US" b="1" dirty="0"/>
              <a:t>测试集 </a:t>
            </a:r>
            <a:r>
              <a:rPr lang="en-US" altLang="zh-CN" b="1" dirty="0"/>
              <a:t>unseen category</a:t>
            </a:r>
            <a:r>
              <a:rPr lang="zh-CN" altLang="en-US" b="1" dirty="0"/>
              <a:t>：</a:t>
            </a:r>
            <a:r>
              <a:rPr lang="en-US" altLang="zh-CN" b="1" dirty="0"/>
              <a:t>83.1%</a:t>
            </a:r>
            <a:r>
              <a:rPr lang="en-US" altLang="zh-CN" dirty="0"/>
              <a:t> </a:t>
            </a:r>
            <a:endParaRPr lang="en-US" altLang="zh-CN" dirty="0"/>
          </a:p>
          <a:p>
            <a:pPr>
              <a:lnSpc>
                <a:spcPct val="110000"/>
              </a:lnSpc>
              <a:buNone/>
            </a:pPr>
            <a:r>
              <a:rPr lang="zh-CN" altLang="en-US" dirty="0"/>
              <a:t>相比 </a:t>
            </a:r>
            <a:r>
              <a:rPr lang="en-US" altLang="zh-CN" dirty="0" err="1"/>
              <a:t>UniDexGrasp</a:t>
            </a:r>
            <a:r>
              <a:rPr lang="en-US" altLang="zh-CN" dirty="0"/>
              <a:t> </a:t>
            </a:r>
            <a:r>
              <a:rPr lang="zh-CN" altLang="en-US" dirty="0"/>
              <a:t>的 </a:t>
            </a:r>
            <a:r>
              <a:rPr lang="en-US" altLang="zh-CN" dirty="0"/>
              <a:t>79.4%</a:t>
            </a:r>
            <a:r>
              <a:rPr lang="zh-CN" altLang="en-US" dirty="0"/>
              <a:t>、</a:t>
            </a:r>
            <a:r>
              <a:rPr lang="en-US" altLang="zh-CN" dirty="0"/>
              <a:t>74.3%</a:t>
            </a:r>
            <a:r>
              <a:rPr lang="zh-CN" altLang="en-US" dirty="0"/>
              <a:t>、</a:t>
            </a:r>
            <a:r>
              <a:rPr lang="en-US" altLang="zh-CN" dirty="0"/>
              <a:t>70.8% </a:t>
            </a:r>
            <a:r>
              <a:rPr lang="zh-CN" altLang="en-US" dirty="0"/>
              <a:t>有明显提升。</a:t>
            </a:r>
            <a:endParaRPr lang="en-US" altLang="zh-CN" dirty="0"/>
          </a:p>
          <a:p>
            <a:pPr>
              <a:lnSpc>
                <a:spcPct val="110000"/>
              </a:lnSpc>
            </a:pPr>
            <a:r>
              <a:rPr lang="en-US" altLang="zh-CN" b="1" dirty="0"/>
              <a:t>2. Vision-based </a:t>
            </a:r>
            <a:r>
              <a:rPr lang="zh-CN" altLang="en-US" b="1" dirty="0"/>
              <a:t>结果</a:t>
            </a:r>
            <a:endParaRPr lang="zh-CN" altLang="en-US" b="1" dirty="0"/>
          </a:p>
          <a:p>
            <a:pPr>
              <a:lnSpc>
                <a:spcPct val="110000"/>
              </a:lnSpc>
            </a:pPr>
            <a:r>
              <a:rPr lang="zh-CN" altLang="en-US" dirty="0"/>
              <a:t>最终视觉策略达到：</a:t>
            </a:r>
            <a:endParaRPr lang="zh-CN" altLang="en-US" dirty="0"/>
          </a:p>
          <a:p>
            <a:pPr>
              <a:lnSpc>
                <a:spcPct val="110000"/>
              </a:lnSpc>
            </a:pPr>
            <a:r>
              <a:rPr lang="zh-CN" altLang="en-US" b="1" dirty="0"/>
              <a:t>训练集：</a:t>
            </a:r>
            <a:r>
              <a:rPr lang="en-US" altLang="zh-CN" b="1" dirty="0"/>
              <a:t>85.4%</a:t>
            </a:r>
            <a:r>
              <a:rPr lang="zh-CN" altLang="en-US" dirty="0"/>
              <a:t> </a:t>
            </a:r>
            <a:endParaRPr lang="zh-CN" altLang="en-US" dirty="0"/>
          </a:p>
          <a:p>
            <a:pPr>
              <a:lnSpc>
                <a:spcPct val="110000"/>
              </a:lnSpc>
            </a:pPr>
            <a:r>
              <a:rPr lang="zh-CN" altLang="en-US" b="1" dirty="0"/>
              <a:t>测试集 </a:t>
            </a:r>
            <a:r>
              <a:rPr lang="en-US" altLang="zh-CN" b="1" dirty="0"/>
              <a:t>unseen object</a:t>
            </a:r>
            <a:r>
              <a:rPr lang="zh-CN" altLang="en-US" b="1" dirty="0"/>
              <a:t>：</a:t>
            </a:r>
            <a:r>
              <a:rPr lang="en-US" altLang="zh-CN" b="1" dirty="0"/>
              <a:t>79.6%</a:t>
            </a:r>
            <a:r>
              <a:rPr lang="en-US" altLang="zh-CN" dirty="0"/>
              <a:t> </a:t>
            </a:r>
            <a:endParaRPr lang="en-US" altLang="zh-CN" dirty="0"/>
          </a:p>
          <a:p>
            <a:pPr>
              <a:lnSpc>
                <a:spcPct val="110000"/>
              </a:lnSpc>
            </a:pPr>
            <a:r>
              <a:rPr lang="zh-CN" altLang="en-US" b="1" dirty="0"/>
              <a:t>测试集 </a:t>
            </a:r>
            <a:r>
              <a:rPr lang="en-US" altLang="zh-CN" b="1" dirty="0"/>
              <a:t>unseen category</a:t>
            </a:r>
            <a:r>
              <a:rPr lang="zh-CN" altLang="en-US" b="1" dirty="0"/>
              <a:t>：</a:t>
            </a:r>
            <a:r>
              <a:rPr lang="en-US" altLang="zh-CN" b="1" dirty="0"/>
              <a:t>76.7%</a:t>
            </a:r>
            <a:r>
              <a:rPr lang="en-US" altLang="zh-CN" dirty="0"/>
              <a:t> </a:t>
            </a:r>
            <a:endParaRPr lang="en-US" altLang="zh-CN" dirty="0"/>
          </a:p>
          <a:p>
            <a:pPr>
              <a:lnSpc>
                <a:spcPct val="110000"/>
              </a:lnSpc>
            </a:pPr>
            <a:r>
              <a:rPr lang="zh-CN" altLang="en-US" dirty="0"/>
              <a:t>而 </a:t>
            </a:r>
            <a:r>
              <a:rPr lang="en-US" altLang="zh-CN" dirty="0" err="1"/>
              <a:t>UniDexGrasp</a:t>
            </a:r>
            <a:r>
              <a:rPr lang="en-US" altLang="zh-CN" dirty="0"/>
              <a:t> </a:t>
            </a:r>
            <a:r>
              <a:rPr lang="zh-CN" altLang="en-US" dirty="0"/>
              <a:t>对应结果为：</a:t>
            </a:r>
            <a:r>
              <a:rPr lang="en-US" altLang="zh-CN" dirty="0"/>
              <a:t>73.7% </a:t>
            </a:r>
            <a:r>
              <a:rPr lang="zh-CN" altLang="en-US" dirty="0"/>
              <a:t>，</a:t>
            </a:r>
            <a:r>
              <a:rPr lang="en-US" altLang="zh-CN" dirty="0"/>
              <a:t>68.6%</a:t>
            </a:r>
            <a:r>
              <a:rPr lang="zh-CN" altLang="en-US" dirty="0"/>
              <a:t>，</a:t>
            </a:r>
            <a:r>
              <a:rPr lang="en-US" altLang="zh-CN" dirty="0"/>
              <a:t> 65.1%</a:t>
            </a:r>
            <a:endParaRPr lang="en-US" altLang="zh-CN" dirty="0"/>
          </a:p>
          <a:p>
            <a:pPr>
              <a:lnSpc>
                <a:spcPct val="110000"/>
              </a:lnSpc>
            </a:pPr>
            <a:r>
              <a:rPr lang="zh-CN" altLang="en-US" dirty="0"/>
              <a:t>消融实验也证明了 </a:t>
            </a:r>
            <a:r>
              <a:rPr lang="en-US" altLang="zh-CN" dirty="0" err="1"/>
              <a:t>GeoCurriculum</a:t>
            </a:r>
            <a:r>
              <a:rPr lang="zh-CN" altLang="en-US" dirty="0"/>
              <a:t>、</a:t>
            </a:r>
            <a:r>
              <a:rPr lang="en-US" altLang="zh-CN" dirty="0" err="1"/>
              <a:t>GeoClustering</a:t>
            </a:r>
            <a:r>
              <a:rPr lang="zh-CN" altLang="en-US" dirty="0"/>
              <a:t>、迭代 </a:t>
            </a:r>
            <a:r>
              <a:rPr lang="en-US" altLang="zh-CN" dirty="0"/>
              <a:t>fine-tuning </a:t>
            </a:r>
            <a:r>
              <a:rPr lang="zh-CN" altLang="en-US" dirty="0"/>
              <a:t>和 </a:t>
            </a:r>
            <a:r>
              <a:rPr lang="en-US" altLang="zh-CN" dirty="0"/>
              <a:t>Transformer backbone </a:t>
            </a:r>
            <a:r>
              <a:rPr lang="zh-CN" altLang="en-US" dirty="0"/>
              <a:t>都是有效的。</a:t>
            </a:r>
            <a:endParaRPr lang="en-US" altLang="zh-CN" dirty="0"/>
          </a:p>
        </p:txBody>
      </p:sp>
      <p:pic>
        <p:nvPicPr>
          <p:cNvPr id="9" name="图片 8"/>
          <p:cNvPicPr>
            <a:picLocks noChangeAspect="1"/>
          </p:cNvPicPr>
          <p:nvPr/>
        </p:nvPicPr>
        <p:blipFill>
          <a:blip r:embed="rId2"/>
          <a:stretch>
            <a:fillRect/>
          </a:stretch>
        </p:blipFill>
        <p:spPr>
          <a:xfrm>
            <a:off x="6622364" y="1424343"/>
            <a:ext cx="4445192" cy="3572172"/>
          </a:xfrm>
          <a:prstGeom prst="rect">
            <a:avLst/>
          </a:prstGeom>
        </p:spPr>
      </p:pic>
      <p:sp>
        <p:nvSpPr>
          <p:cNvPr id="1048778" name="文本框 27">
            <a:hlinkClick r:id="rId3" action="ppaction://hlinksldjump"/>
          </p:cNvPr>
          <p:cNvSpPr txBox="1"/>
          <p:nvPr/>
        </p:nvSpPr>
        <p:spPr>
          <a:xfrm>
            <a:off x="10934065" y="5961380"/>
            <a:ext cx="622935" cy="455930"/>
          </a:xfrm>
          <a:prstGeom prst="rect">
            <a:avLst/>
          </a:prstGeom>
          <a:noFill/>
          <a:ln>
            <a:solidFill>
              <a:schemeClr val="bg1"/>
            </a:solidFill>
          </a:ln>
        </p:spPr>
        <p:txBody>
          <a:bodyPr wrap="square" rtlCol="0">
            <a:noAutofit/>
          </a:bodyPr>
          <a:lstStyle/>
          <a:p>
            <a:pPr algn="ctr"/>
            <a:r>
              <a:rPr lang="en-US" altLang="zh-CN" sz="2000" spc="600" dirty="0">
                <a:solidFill>
                  <a:schemeClr val="tx1"/>
                </a:solidFill>
                <a:latin typeface="造字工房力黑（非商用）常规体" pitchFamily="50" charset="-122"/>
                <a:ea typeface="造字工房力黑（非商用）常规体" pitchFamily="50" charset="-122"/>
                <a:cs typeface="+mn-ea"/>
                <a:sym typeface="+mn-lt"/>
              </a:rPr>
              <a:t>04</a:t>
            </a:r>
            <a:endParaRPr lang="en-US" altLang="zh-CN" sz="2000" spc="600" dirty="0">
              <a:solidFill>
                <a:schemeClr val="tx1"/>
              </a:solidFill>
              <a:latin typeface="造字工房力黑（非商用）常规体" pitchFamily="50" charset="-122"/>
              <a:ea typeface="造字工房力黑（非商用）常规体" pitchFamily="50"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26" name=""/>
        <p:cNvGrpSpPr/>
        <p:nvPr/>
      </p:nvGrpSpPr>
      <p:grpSpPr>
        <a:xfrm>
          <a:off x="0" y="0"/>
          <a:ext cx="0" cy="0"/>
          <a:chOff x="0" y="0"/>
          <a:chExt cx="0" cy="0"/>
        </a:xfrm>
      </p:grpSpPr>
      <p:sp>
        <p:nvSpPr>
          <p:cNvPr id="1048759" name="文本框 1"/>
          <p:cNvSpPr txBox="1"/>
          <p:nvPr/>
        </p:nvSpPr>
        <p:spPr>
          <a:xfrm>
            <a:off x="247650" y="939165"/>
            <a:ext cx="11696700" cy="521970"/>
          </a:xfrm>
          <a:prstGeom prst="rect">
            <a:avLst/>
          </a:prstGeom>
        </p:spPr>
        <p:txBody>
          <a:bodyPr wrap="square">
            <a:spAutoFit/>
          </a:bodyPr>
          <a:p>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阅读文献分析</a:t>
            </a:r>
            <a:r>
              <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——D(R, O) Grasp</a:t>
            </a:r>
            <a:endPar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127" name="组合 2"/>
          <p:cNvGrpSpPr/>
          <p:nvPr/>
        </p:nvGrpSpPr>
        <p:grpSpPr>
          <a:xfrm>
            <a:off x="0" y="156335"/>
            <a:ext cx="11940390" cy="497839"/>
            <a:chOff x="0" y="156335"/>
            <a:chExt cx="11940390" cy="497839"/>
          </a:xfrm>
        </p:grpSpPr>
        <p:grpSp>
          <p:nvGrpSpPr>
            <p:cNvPr id="128" name="组合 3"/>
            <p:cNvGrpSpPr/>
            <p:nvPr/>
          </p:nvGrpSpPr>
          <p:grpSpPr>
            <a:xfrm>
              <a:off x="0" y="156335"/>
              <a:ext cx="9666514" cy="497839"/>
              <a:chOff x="0" y="248698"/>
              <a:chExt cx="9666514" cy="497839"/>
            </a:xfrm>
          </p:grpSpPr>
          <p:grpSp>
            <p:nvGrpSpPr>
              <p:cNvPr id="129" name="组合 4"/>
              <p:cNvGrpSpPr/>
              <p:nvPr/>
            </p:nvGrpSpPr>
            <p:grpSpPr>
              <a:xfrm>
                <a:off x="0" y="294640"/>
                <a:ext cx="880552" cy="375920"/>
                <a:chOff x="0" y="294640"/>
                <a:chExt cx="1094740" cy="467360"/>
              </a:xfrm>
              <a:solidFill>
                <a:srgbClr val="EE8A10"/>
              </a:solidFill>
            </p:grpSpPr>
            <p:sp>
              <p:nvSpPr>
                <p:cNvPr id="104876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4876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4876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1048763" name="文本框 5"/>
              <p:cNvSpPr txBox="1"/>
              <p:nvPr/>
            </p:nvSpPr>
            <p:spPr>
              <a:xfrm>
                <a:off x="972489" y="248698"/>
                <a:ext cx="2702560" cy="497839"/>
              </a:xfrm>
              <a:prstGeom prst="rect">
                <a:avLst/>
              </a:prstGeom>
              <a:noFill/>
            </p:spPr>
            <p:txBody>
              <a:bodyPr wrap="square" rtlCol="0">
                <a:spAutoFit/>
              </a:bodyPr>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30" name="组合 6"/>
              <p:cNvGrpSpPr/>
              <p:nvPr/>
            </p:nvGrpSpPr>
            <p:grpSpPr>
              <a:xfrm>
                <a:off x="3356076" y="408709"/>
                <a:ext cx="1749361" cy="147782"/>
                <a:chOff x="635462" y="775854"/>
                <a:chExt cx="1749361" cy="147782"/>
              </a:xfrm>
              <a:solidFill>
                <a:srgbClr val="EE8A10"/>
              </a:solidFill>
            </p:grpSpPr>
            <p:sp>
              <p:nvSpPr>
                <p:cNvPr id="1048764"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65"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66"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67"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68"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cxnSp>
            <p:nvCxnSpPr>
              <p:cNvPr id="3145736"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5"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1048769" name="文本框 18"/>
          <p:cNvSpPr txBox="1"/>
          <p:nvPr/>
        </p:nvSpPr>
        <p:spPr>
          <a:xfrm>
            <a:off x="5617845" y="2014855"/>
            <a:ext cx="5123180" cy="3937635"/>
          </a:xfrm>
          <a:prstGeom prst="rect">
            <a:avLst/>
          </a:prstGeom>
          <a:noFill/>
        </p:spPr>
        <p:txBody>
          <a:bodyPr wrap="square">
            <a:noAutofit/>
          </a:bodyPr>
          <a:p>
            <a:pPr indent="0" algn="l">
              <a:buFont typeface="+mj-lt"/>
              <a:buNone/>
            </a:pPr>
            <a:r>
              <a:rPr lang="zh-CN" altLang="en-US" b="1" i="0" dirty="0">
                <a:effectLst/>
                <a:latin typeface="微软雅黑" panose="020B0503020204020204" pitchFamily="34" charset="-122"/>
                <a:ea typeface="微软雅黑" panose="020B0503020204020204" pitchFamily="34" charset="-122"/>
              </a:rPr>
              <a:t>研究背景与问题</a:t>
            </a:r>
            <a:endParaRPr lang="zh-CN" altLang="en-US" b="1" i="0" dirty="0">
              <a:effectLst/>
              <a:latin typeface="微软雅黑" panose="020B0503020204020204" pitchFamily="34" charset="-122"/>
              <a:ea typeface="微软雅黑" panose="020B0503020204020204" pitchFamily="34" charset="-122"/>
            </a:endParaRPr>
          </a:p>
          <a:p>
            <a:pPr indent="0" algn="l">
              <a:buFont typeface="+mj-lt"/>
              <a:buNone/>
            </a:pPr>
            <a:r>
              <a:rPr lang="zh-CN" altLang="en-US" b="1" i="0" dirty="0">
                <a:effectLst/>
                <a:latin typeface="微软雅黑" panose="020B0503020204020204" pitchFamily="34" charset="-122"/>
                <a:ea typeface="微软雅黑" panose="020B0503020204020204" pitchFamily="34" charset="-122"/>
              </a:rPr>
              <a:t>传统的灵巧抓取领域模型和</a:t>
            </a:r>
            <a:r>
              <a:rPr lang="zh-CN" altLang="en-US" b="1" i="0" dirty="0">
                <a:effectLst/>
                <a:latin typeface="微软雅黑" panose="020B0503020204020204" pitchFamily="34" charset="-122"/>
                <a:ea typeface="微软雅黑" panose="020B0503020204020204" pitchFamily="34" charset="-122"/>
              </a:rPr>
              <a:t>方法大致可以分为</a:t>
            </a:r>
            <a:r>
              <a:rPr lang="zh-CN" altLang="en-US" b="1" i="0" dirty="0">
                <a:effectLst/>
                <a:latin typeface="微软雅黑" panose="020B0503020204020204" pitchFamily="34" charset="-122"/>
                <a:ea typeface="微软雅黑" panose="020B0503020204020204" pitchFamily="34" charset="-122"/>
              </a:rPr>
              <a:t>两种：</a:t>
            </a:r>
            <a:endParaRPr lang="zh-CN" altLang="en-US" b="1" i="0" dirty="0">
              <a:effectLst/>
              <a:latin typeface="微软雅黑" panose="020B0503020204020204" pitchFamily="34" charset="-122"/>
              <a:ea typeface="微软雅黑" panose="020B0503020204020204" pitchFamily="34" charset="-122"/>
            </a:endParaRPr>
          </a:p>
          <a:p>
            <a:pPr indent="0" algn="l">
              <a:buFont typeface="+mj-lt"/>
              <a:buNone/>
            </a:pPr>
            <a:r>
              <a:rPr lang="en-US" altLang="zh-CN" b="1" i="0" dirty="0">
                <a:effectLst/>
                <a:latin typeface="微软雅黑" panose="020B0503020204020204" pitchFamily="34" charset="-122"/>
                <a:ea typeface="微软雅黑" panose="020B0503020204020204" pitchFamily="34" charset="-122"/>
              </a:rPr>
              <a:t>1.</a:t>
            </a:r>
            <a:r>
              <a:rPr lang="zh-CN" altLang="en-US" b="1" i="0" dirty="0">
                <a:effectLst/>
                <a:latin typeface="微软雅黑" panose="020B0503020204020204" pitchFamily="34" charset="-122"/>
                <a:ea typeface="微软雅黑" panose="020B0503020204020204" pitchFamily="34" charset="-122"/>
              </a:rPr>
              <a:t>以机器人为中心</a:t>
            </a:r>
            <a:endParaRPr lang="zh-CN" altLang="en-US" b="1" i="0" dirty="0">
              <a:effectLst/>
              <a:latin typeface="微软雅黑" panose="020B0503020204020204" pitchFamily="34" charset="-122"/>
              <a:ea typeface="微软雅黑" panose="020B0503020204020204" pitchFamily="34" charset="-122"/>
            </a:endParaRPr>
          </a:p>
          <a:p>
            <a:pPr indent="0" algn="l">
              <a:buFont typeface="+mj-lt"/>
              <a:buNone/>
            </a:pPr>
            <a:r>
              <a:rPr lang="en-US" altLang="zh-CN" b="1" i="0" dirty="0">
                <a:effectLst/>
                <a:latin typeface="微软雅黑" panose="020B0503020204020204" pitchFamily="34" charset="-122"/>
                <a:ea typeface="微软雅黑" panose="020B0503020204020204" pitchFamily="34" charset="-122"/>
              </a:rPr>
              <a:t>UniDexGrasp++</a:t>
            </a:r>
            <a:r>
              <a:rPr lang="zh-CN" altLang="en-US" b="1" i="0" dirty="0">
                <a:effectLst/>
                <a:latin typeface="微软雅黑" panose="020B0503020204020204" pitchFamily="34" charset="-122"/>
                <a:ea typeface="微软雅黑" panose="020B0503020204020204" pitchFamily="34" charset="-122"/>
              </a:rPr>
              <a:t>为代表，由输入直接预测关节角或机械臂位姿，端到端学习，泛化性差，难以迁移到不同构型的机械手上；样本效率低，需要大量高质量样本进行</a:t>
            </a:r>
            <a:r>
              <a:rPr lang="zh-CN" altLang="en-US" b="1" i="0" dirty="0">
                <a:effectLst/>
                <a:latin typeface="微软雅黑" panose="020B0503020204020204" pitchFamily="34" charset="-122"/>
                <a:ea typeface="微软雅黑" panose="020B0503020204020204" pitchFamily="34" charset="-122"/>
              </a:rPr>
              <a:t>训练。</a:t>
            </a:r>
            <a:endParaRPr lang="zh-CN" altLang="en-US" b="1" i="0" dirty="0">
              <a:effectLst/>
              <a:latin typeface="微软雅黑" panose="020B0503020204020204" pitchFamily="34" charset="-122"/>
              <a:ea typeface="微软雅黑" panose="020B0503020204020204" pitchFamily="34" charset="-122"/>
            </a:endParaRPr>
          </a:p>
          <a:p>
            <a:pPr indent="0" algn="l">
              <a:buFont typeface="+mj-lt"/>
              <a:buNone/>
            </a:pPr>
            <a:r>
              <a:rPr lang="en-US" altLang="zh-CN" b="1" i="0" dirty="0">
                <a:effectLst/>
                <a:latin typeface="微软雅黑" panose="020B0503020204020204" pitchFamily="34" charset="-122"/>
                <a:ea typeface="微软雅黑" panose="020B0503020204020204" pitchFamily="34" charset="-122"/>
              </a:rPr>
              <a:t>2.</a:t>
            </a:r>
            <a:r>
              <a:rPr lang="zh-CN" altLang="en-US" b="1" i="0" dirty="0">
                <a:effectLst/>
                <a:latin typeface="微软雅黑" panose="020B0503020204020204" pitchFamily="34" charset="-122"/>
                <a:ea typeface="微软雅黑" panose="020B0503020204020204" pitchFamily="34" charset="-122"/>
              </a:rPr>
              <a:t>以物体</a:t>
            </a:r>
            <a:r>
              <a:rPr lang="zh-CN" altLang="en-US" b="1" i="0" dirty="0">
                <a:effectLst/>
                <a:latin typeface="微软雅黑" panose="020B0503020204020204" pitchFamily="34" charset="-122"/>
                <a:ea typeface="微软雅黑" panose="020B0503020204020204" pitchFamily="34" charset="-122"/>
              </a:rPr>
              <a:t>为中心</a:t>
            </a:r>
            <a:endParaRPr lang="zh-CN" altLang="en-US" b="1" i="0" dirty="0">
              <a:effectLst/>
              <a:latin typeface="微软雅黑" panose="020B0503020204020204" pitchFamily="34" charset="-122"/>
              <a:ea typeface="微软雅黑" panose="020B0503020204020204" pitchFamily="34" charset="-122"/>
            </a:endParaRPr>
          </a:p>
          <a:p>
            <a:pPr indent="0" algn="l">
              <a:buFont typeface="+mj-lt"/>
              <a:buNone/>
            </a:pPr>
            <a:r>
              <a:rPr lang="zh-CN" altLang="en-US" b="1" i="0" dirty="0">
                <a:effectLst/>
                <a:latin typeface="微软雅黑" panose="020B0503020204020204" pitchFamily="34" charset="-122"/>
                <a:ea typeface="微软雅黑" panose="020B0503020204020204" pitchFamily="34" charset="-122"/>
              </a:rPr>
              <a:t>预测物体上的接触点或接触图，推理效率低，通常需要后续复杂的优化步骤（如逆运动学</a:t>
            </a:r>
            <a:r>
              <a:rPr lang="en-US" altLang="zh-CN" b="1" i="0" dirty="0">
                <a:effectLst/>
                <a:latin typeface="微软雅黑" panose="020B0503020204020204" pitchFamily="34" charset="-122"/>
                <a:ea typeface="微软雅黑" panose="020B0503020204020204" pitchFamily="34" charset="-122"/>
              </a:rPr>
              <a:t>IK</a:t>
            </a:r>
            <a:r>
              <a:rPr lang="zh-CN" altLang="en-US" b="1" i="0" dirty="0">
                <a:effectLst/>
                <a:latin typeface="微软雅黑" panose="020B0503020204020204" pitchFamily="34" charset="-122"/>
                <a:ea typeface="微软雅黑" panose="020B0503020204020204" pitchFamily="34" charset="-122"/>
              </a:rPr>
              <a:t>求解、无穿透约束优化）才能转化为机器人的控制指令，耗时且难以保证</a:t>
            </a:r>
            <a:r>
              <a:rPr lang="zh-CN" altLang="en-US" b="1" i="0" dirty="0">
                <a:effectLst/>
                <a:latin typeface="微软雅黑" panose="020B0503020204020204" pitchFamily="34" charset="-122"/>
                <a:ea typeface="微软雅黑" panose="020B0503020204020204" pitchFamily="34" charset="-122"/>
              </a:rPr>
              <a:t>高精度。</a:t>
            </a:r>
            <a:endParaRPr lang="zh-CN" altLang="en-US" b="1" i="0" dirty="0">
              <a:effectLst/>
              <a:latin typeface="微软雅黑" panose="020B0503020204020204" pitchFamily="34" charset="-122"/>
              <a:ea typeface="微软雅黑" panose="020B0503020204020204" pitchFamily="34" charset="-122"/>
            </a:endParaRPr>
          </a:p>
        </p:txBody>
      </p:sp>
      <p:pic>
        <p:nvPicPr>
          <p:cNvPr id="2" name="图片 1" descr="ScreenShot_2026-04-07_175231_413"/>
          <p:cNvPicPr>
            <a:picLocks noChangeAspect="1"/>
          </p:cNvPicPr>
          <p:nvPr/>
        </p:nvPicPr>
        <p:blipFill>
          <a:blip r:embed="rId2"/>
          <a:stretch>
            <a:fillRect/>
          </a:stretch>
        </p:blipFill>
        <p:spPr>
          <a:xfrm>
            <a:off x="535305" y="1746250"/>
            <a:ext cx="4676775" cy="41338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26" name=""/>
        <p:cNvGrpSpPr/>
        <p:nvPr/>
      </p:nvGrpSpPr>
      <p:grpSpPr>
        <a:xfrm>
          <a:off x="0" y="0"/>
          <a:ext cx="0" cy="0"/>
          <a:chOff x="0" y="0"/>
          <a:chExt cx="0" cy="0"/>
        </a:xfrm>
      </p:grpSpPr>
      <p:sp>
        <p:nvSpPr>
          <p:cNvPr id="1048759" name="文本框 1"/>
          <p:cNvSpPr txBox="1"/>
          <p:nvPr/>
        </p:nvSpPr>
        <p:spPr>
          <a:xfrm>
            <a:off x="247650" y="939165"/>
            <a:ext cx="11696700" cy="521970"/>
          </a:xfrm>
          <a:prstGeom prst="rect">
            <a:avLst/>
          </a:prstGeom>
        </p:spPr>
        <p:txBody>
          <a:bodyPr wrap="square">
            <a:spAutoFit/>
          </a:bodyPr>
          <a:p>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阅读文献分析</a:t>
            </a:r>
            <a:r>
              <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——D(R, O) Grasp</a:t>
            </a:r>
            <a:endPar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127" name="组合 2"/>
          <p:cNvGrpSpPr/>
          <p:nvPr/>
        </p:nvGrpSpPr>
        <p:grpSpPr>
          <a:xfrm>
            <a:off x="0" y="156335"/>
            <a:ext cx="11940390" cy="497839"/>
            <a:chOff x="0" y="156335"/>
            <a:chExt cx="11940390" cy="497839"/>
          </a:xfrm>
        </p:grpSpPr>
        <p:grpSp>
          <p:nvGrpSpPr>
            <p:cNvPr id="128" name="组合 3"/>
            <p:cNvGrpSpPr/>
            <p:nvPr/>
          </p:nvGrpSpPr>
          <p:grpSpPr>
            <a:xfrm>
              <a:off x="0" y="156335"/>
              <a:ext cx="9666514" cy="497839"/>
              <a:chOff x="0" y="248698"/>
              <a:chExt cx="9666514" cy="497839"/>
            </a:xfrm>
          </p:grpSpPr>
          <p:grpSp>
            <p:nvGrpSpPr>
              <p:cNvPr id="129" name="组合 4"/>
              <p:cNvGrpSpPr/>
              <p:nvPr/>
            </p:nvGrpSpPr>
            <p:grpSpPr>
              <a:xfrm>
                <a:off x="0" y="294640"/>
                <a:ext cx="880552" cy="375920"/>
                <a:chOff x="0" y="294640"/>
                <a:chExt cx="1094740" cy="467360"/>
              </a:xfrm>
              <a:solidFill>
                <a:srgbClr val="EE8A10"/>
              </a:solidFill>
            </p:grpSpPr>
            <p:sp>
              <p:nvSpPr>
                <p:cNvPr id="104876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4876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4876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1048763" name="文本框 5"/>
              <p:cNvSpPr txBox="1"/>
              <p:nvPr/>
            </p:nvSpPr>
            <p:spPr>
              <a:xfrm>
                <a:off x="972489" y="248698"/>
                <a:ext cx="2702560" cy="497839"/>
              </a:xfrm>
              <a:prstGeom prst="rect">
                <a:avLst/>
              </a:prstGeom>
              <a:noFill/>
            </p:spPr>
            <p:txBody>
              <a:bodyPr wrap="square" rtlCol="0">
                <a:spAutoFit/>
              </a:bodyPr>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30" name="组合 6"/>
              <p:cNvGrpSpPr/>
              <p:nvPr/>
            </p:nvGrpSpPr>
            <p:grpSpPr>
              <a:xfrm>
                <a:off x="3356076" y="408709"/>
                <a:ext cx="1749361" cy="147782"/>
                <a:chOff x="635462" y="775854"/>
                <a:chExt cx="1749361" cy="147782"/>
              </a:xfrm>
              <a:solidFill>
                <a:srgbClr val="EE8A10"/>
              </a:solidFill>
            </p:grpSpPr>
            <p:sp>
              <p:nvSpPr>
                <p:cNvPr id="1048764"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65"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66"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67"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68"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cxnSp>
            <p:nvCxnSpPr>
              <p:cNvPr id="3145736"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5"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1048769" name="文本框 18"/>
          <p:cNvSpPr txBox="1"/>
          <p:nvPr/>
        </p:nvSpPr>
        <p:spPr>
          <a:xfrm>
            <a:off x="721360" y="1746250"/>
            <a:ext cx="8751570" cy="3641725"/>
          </a:xfrm>
          <a:prstGeom prst="rect">
            <a:avLst/>
          </a:prstGeom>
          <a:noFill/>
        </p:spPr>
        <p:txBody>
          <a:bodyPr wrap="square">
            <a:noAutofit/>
          </a:bodyPr>
          <a:p>
            <a:pPr indent="0" algn="l">
              <a:buFont typeface="+mj-lt"/>
              <a:buNone/>
            </a:pPr>
            <a:r>
              <a:rPr lang="en-US" altLang="zh-CN"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D(R, O) Grasp</a:t>
            </a:r>
            <a:r>
              <a:rPr lang="zh-CN" altLang="en-US" b="1" dirty="0">
                <a:effectLst/>
                <a:latin typeface="微软雅黑" panose="020B0503020204020204" pitchFamily="34" charset="-122"/>
                <a:ea typeface="微软雅黑" panose="020B0503020204020204" pitchFamily="34" charset="-122"/>
                <a:sym typeface="+mn-ea"/>
              </a:rPr>
              <a:t>方法提出，主要是为了解决以下几个问题：</a:t>
            </a:r>
            <a:endParaRPr lang="zh-CN" altLang="en-US"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a:p>
            <a:pPr indent="0" algn="l">
              <a:buFont typeface="+mj-lt"/>
              <a:buNone/>
            </a:pPr>
            <a:endParaRPr lang="zh-CN" altLang="en-US" b="1" i="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mn-ea"/>
            </a:endParaRPr>
          </a:p>
          <a:p>
            <a:pPr indent="0" algn="l">
              <a:buFont typeface="+mj-lt"/>
              <a:buNone/>
            </a:pPr>
            <a:r>
              <a:rPr lang="en-US" altLang="zh-CN"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1. </a:t>
            </a:r>
            <a:r>
              <a:rPr lang="zh-CN" altLang="en-US" b="1" i="0" dirty="0">
                <a:effectLst/>
                <a:latin typeface="微软雅黑" panose="020B0503020204020204" pitchFamily="34" charset="-122"/>
                <a:ea typeface="微软雅黑" panose="020B0503020204020204" pitchFamily="34" charset="-122"/>
              </a:rPr>
              <a:t>跨构型泛化：如何用一个统一的模型处理不同自由度、不同几何形状的机械手（如三指手、五指手）</a:t>
            </a:r>
            <a:endParaRPr lang="zh-CN" altLang="en-US" b="1" i="0" dirty="0">
              <a:effectLst/>
              <a:latin typeface="微软雅黑" panose="020B0503020204020204" pitchFamily="34" charset="-122"/>
              <a:ea typeface="微软雅黑" panose="020B0503020204020204" pitchFamily="34" charset="-122"/>
            </a:endParaRPr>
          </a:p>
          <a:p>
            <a:pPr indent="0" algn="l">
              <a:buFont typeface="+mj-lt"/>
              <a:buNone/>
            </a:pPr>
            <a:endParaRPr lang="zh-CN" altLang="en-US" b="1" i="0" dirty="0">
              <a:effectLst/>
              <a:latin typeface="微软雅黑" panose="020B0503020204020204" pitchFamily="34" charset="-122"/>
              <a:ea typeface="微软雅黑" panose="020B0503020204020204" pitchFamily="34" charset="-122"/>
            </a:endParaRPr>
          </a:p>
          <a:p>
            <a:pPr indent="0" algn="l">
              <a:buFont typeface="+mj-lt"/>
              <a:buNone/>
            </a:pPr>
            <a:r>
              <a:rPr lang="en-US" altLang="zh-CN" b="1" i="0" dirty="0">
                <a:effectLst/>
                <a:latin typeface="微软雅黑" panose="020B0503020204020204" pitchFamily="34" charset="-122"/>
                <a:ea typeface="微软雅黑" panose="020B0503020204020204" pitchFamily="34" charset="-122"/>
              </a:rPr>
              <a:t>2. </a:t>
            </a:r>
            <a:r>
              <a:rPr lang="zh-CN" altLang="en-US" b="1" i="0" dirty="0">
                <a:effectLst/>
                <a:latin typeface="微软雅黑" panose="020B0503020204020204" pitchFamily="34" charset="-122"/>
                <a:ea typeface="微软雅黑" panose="020B0503020204020204" pitchFamily="34" charset="-122"/>
              </a:rPr>
              <a:t>传统方法的融合以及改进：如何兼顾传统方法的优点，解决两种传统思路的单一表示的问题，形成既考虑物体又考虑机械手的</a:t>
            </a:r>
            <a:r>
              <a:rPr lang="zh-CN" altLang="en-US" b="1" i="0" dirty="0">
                <a:effectLst/>
                <a:latin typeface="微软雅黑" panose="020B0503020204020204" pitchFamily="34" charset="-122"/>
                <a:ea typeface="微软雅黑" panose="020B0503020204020204" pitchFamily="34" charset="-122"/>
              </a:rPr>
              <a:t>方法。</a:t>
            </a:r>
            <a:endParaRPr lang="zh-CN" altLang="en-US" b="1" i="0" dirty="0">
              <a:effectLst/>
              <a:latin typeface="微软雅黑" panose="020B0503020204020204" pitchFamily="34" charset="-122"/>
              <a:ea typeface="微软雅黑" panose="020B0503020204020204" pitchFamily="34" charset="-122"/>
            </a:endParaRPr>
          </a:p>
          <a:p>
            <a:pPr indent="0" algn="l">
              <a:buFont typeface="+mj-lt"/>
              <a:buNone/>
            </a:pPr>
            <a:endParaRPr lang="zh-CN" altLang="en-US" b="1" i="0" dirty="0">
              <a:effectLst/>
              <a:latin typeface="微软雅黑" panose="020B0503020204020204" pitchFamily="34" charset="-122"/>
              <a:ea typeface="微软雅黑" panose="020B0503020204020204" pitchFamily="34" charset="-122"/>
            </a:endParaRPr>
          </a:p>
          <a:p>
            <a:pPr indent="0" algn="l">
              <a:buFont typeface="+mj-lt"/>
              <a:buNone/>
            </a:pPr>
            <a:r>
              <a:rPr lang="en-US" altLang="zh-CN" b="1" i="0" dirty="0">
                <a:effectLst/>
                <a:latin typeface="微软雅黑" panose="020B0503020204020204" pitchFamily="34" charset="-122"/>
                <a:ea typeface="微软雅黑" panose="020B0503020204020204" pitchFamily="34" charset="-122"/>
              </a:rPr>
              <a:t>3. </a:t>
            </a:r>
            <a:r>
              <a:rPr lang="zh-CN" altLang="en-US" b="1" i="0" dirty="0">
                <a:effectLst/>
                <a:latin typeface="微软雅黑" panose="020B0503020204020204" pitchFamily="34" charset="-122"/>
                <a:ea typeface="微软雅黑" panose="020B0503020204020204" pitchFamily="34" charset="-122"/>
              </a:rPr>
              <a:t>如何提取特征，来充分的</a:t>
            </a:r>
            <a:r>
              <a:rPr lang="zh-CN" altLang="en-US" b="1" i="0" dirty="0">
                <a:effectLst/>
                <a:latin typeface="微软雅黑" panose="020B0503020204020204" pitchFamily="34" charset="-122"/>
                <a:ea typeface="微软雅黑" panose="020B0503020204020204" pitchFamily="34" charset="-122"/>
              </a:rPr>
              <a:t>鲁棒的表征手和物体的交互</a:t>
            </a:r>
            <a:r>
              <a:rPr lang="zh-CN" altLang="en-US" b="1" i="0" dirty="0">
                <a:effectLst/>
                <a:latin typeface="微软雅黑" panose="020B0503020204020204" pitchFamily="34" charset="-122"/>
                <a:ea typeface="微软雅黑" panose="020B0503020204020204" pitchFamily="34" charset="-122"/>
              </a:rPr>
              <a:t>信息？</a:t>
            </a:r>
            <a:endParaRPr lang="zh-CN" altLang="en-US" b="1" i="0" dirty="0">
              <a:effectLst/>
              <a:latin typeface="微软雅黑" panose="020B0503020204020204" pitchFamily="34" charset="-122"/>
              <a:ea typeface="微软雅黑" panose="020B0503020204020204" pitchFamily="34" charset="-122"/>
            </a:endParaRPr>
          </a:p>
          <a:p>
            <a:pPr algn="l">
              <a:buFont typeface="+mj-lt"/>
              <a:buAutoNum type="arabicPeriod"/>
            </a:pPr>
            <a:endParaRPr lang="zh-CN" altLang="en-US" b="1" i="0" dirty="0">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26" name=""/>
        <p:cNvGrpSpPr/>
        <p:nvPr/>
      </p:nvGrpSpPr>
      <p:grpSpPr>
        <a:xfrm>
          <a:off x="0" y="0"/>
          <a:ext cx="0" cy="0"/>
          <a:chOff x="0" y="0"/>
          <a:chExt cx="0" cy="0"/>
        </a:xfrm>
      </p:grpSpPr>
      <p:sp>
        <p:nvSpPr>
          <p:cNvPr id="1048759" name="文本框 1"/>
          <p:cNvSpPr txBox="1"/>
          <p:nvPr/>
        </p:nvSpPr>
        <p:spPr>
          <a:xfrm>
            <a:off x="247650" y="939165"/>
            <a:ext cx="11696700" cy="521970"/>
          </a:xfrm>
          <a:prstGeom prst="rect">
            <a:avLst/>
          </a:prstGeom>
        </p:spPr>
        <p:txBody>
          <a:bodyPr wrap="square">
            <a:spAutoFit/>
          </a:bodyPr>
          <a:p>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阅读文献分析</a:t>
            </a:r>
            <a:r>
              <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——D(R, O) Grasp</a:t>
            </a:r>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预训练</a:t>
            </a:r>
            <a:endPar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nvGrpSpPr>
          <p:cNvPr id="127" name="组合 2"/>
          <p:cNvGrpSpPr/>
          <p:nvPr/>
        </p:nvGrpSpPr>
        <p:grpSpPr>
          <a:xfrm>
            <a:off x="0" y="156335"/>
            <a:ext cx="11940390" cy="497839"/>
            <a:chOff x="0" y="156335"/>
            <a:chExt cx="11940390" cy="497839"/>
          </a:xfrm>
        </p:grpSpPr>
        <p:grpSp>
          <p:nvGrpSpPr>
            <p:cNvPr id="128" name="组合 3"/>
            <p:cNvGrpSpPr/>
            <p:nvPr/>
          </p:nvGrpSpPr>
          <p:grpSpPr>
            <a:xfrm>
              <a:off x="0" y="156335"/>
              <a:ext cx="9666514" cy="497839"/>
              <a:chOff x="0" y="248698"/>
              <a:chExt cx="9666514" cy="497839"/>
            </a:xfrm>
          </p:grpSpPr>
          <p:grpSp>
            <p:nvGrpSpPr>
              <p:cNvPr id="129" name="组合 4"/>
              <p:cNvGrpSpPr/>
              <p:nvPr/>
            </p:nvGrpSpPr>
            <p:grpSpPr>
              <a:xfrm>
                <a:off x="0" y="294640"/>
                <a:ext cx="880552" cy="375920"/>
                <a:chOff x="0" y="294640"/>
                <a:chExt cx="1094740" cy="467360"/>
              </a:xfrm>
              <a:solidFill>
                <a:srgbClr val="EE8A10"/>
              </a:solidFill>
            </p:grpSpPr>
            <p:sp>
              <p:nvSpPr>
                <p:cNvPr id="104876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4876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4876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1048763" name="文本框 5"/>
              <p:cNvSpPr txBox="1"/>
              <p:nvPr/>
            </p:nvSpPr>
            <p:spPr>
              <a:xfrm>
                <a:off x="972489" y="248698"/>
                <a:ext cx="2702560" cy="497839"/>
              </a:xfrm>
              <a:prstGeom prst="rect">
                <a:avLst/>
              </a:prstGeom>
              <a:noFill/>
            </p:spPr>
            <p:txBody>
              <a:bodyPr wrap="square" rtlCol="0">
                <a:spAutoFit/>
              </a:bodyPr>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30" name="组合 6"/>
              <p:cNvGrpSpPr/>
              <p:nvPr/>
            </p:nvGrpSpPr>
            <p:grpSpPr>
              <a:xfrm>
                <a:off x="3356076" y="408709"/>
                <a:ext cx="1749361" cy="147782"/>
                <a:chOff x="635462" y="775854"/>
                <a:chExt cx="1749361" cy="147782"/>
              </a:xfrm>
              <a:solidFill>
                <a:srgbClr val="EE8A10"/>
              </a:solidFill>
            </p:grpSpPr>
            <p:sp>
              <p:nvSpPr>
                <p:cNvPr id="1048764"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65"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66"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67"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68"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cxnSp>
            <p:nvCxnSpPr>
              <p:cNvPr id="3145736"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5"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1048769" name="文本框 18"/>
          <p:cNvSpPr txBox="1"/>
          <p:nvPr/>
        </p:nvSpPr>
        <p:spPr>
          <a:xfrm>
            <a:off x="721360" y="1746250"/>
            <a:ext cx="7322185" cy="4574540"/>
          </a:xfrm>
          <a:prstGeom prst="rect">
            <a:avLst/>
          </a:prstGeom>
          <a:noFill/>
        </p:spPr>
        <p:txBody>
          <a:bodyPr wrap="square">
            <a:noAutofit/>
          </a:bodyPr>
          <a:p>
            <a:pPr indent="0" algn="l">
              <a:buFont typeface="+mj-lt"/>
              <a:buNone/>
            </a:pPr>
            <a:r>
              <a:rPr lang="zh-CN" altLang="en-US" b="1" i="0" dirty="0">
                <a:effectLst/>
                <a:latin typeface="微软雅黑" panose="020B0503020204020204" pitchFamily="34" charset="-122"/>
                <a:ea typeface="微软雅黑" panose="020B0503020204020204" pitchFamily="34" charset="-122"/>
              </a:rPr>
              <a:t>配置不变性预训练</a:t>
            </a:r>
            <a:endParaRPr lang="zh-CN" altLang="en-US" b="1" i="0" dirty="0">
              <a:effectLst/>
              <a:latin typeface="微软雅黑" panose="020B0503020204020204" pitchFamily="34" charset="-122"/>
              <a:ea typeface="微软雅黑" panose="020B0503020204020204" pitchFamily="34" charset="-122"/>
            </a:endParaRPr>
          </a:p>
          <a:p>
            <a:pPr indent="0" algn="l">
              <a:buFont typeface="+mj-lt"/>
              <a:buNone/>
            </a:pPr>
            <a:endParaRPr lang="zh-CN" altLang="en-US" b="1" i="0" dirty="0">
              <a:effectLst/>
              <a:latin typeface="微软雅黑" panose="020B0503020204020204" pitchFamily="34" charset="-122"/>
              <a:ea typeface="微软雅黑" panose="020B0503020204020204" pitchFamily="34" charset="-122"/>
            </a:endParaRPr>
          </a:p>
          <a:p>
            <a:pPr indent="0" algn="l">
              <a:buFont typeface="+mj-lt"/>
              <a:buNone/>
            </a:pPr>
            <a:r>
              <a:rPr lang="zh-CN" altLang="en-US" b="1" i="0" dirty="0">
                <a:effectLst/>
                <a:latin typeface="微软雅黑" panose="020B0503020204020204" pitchFamily="34" charset="-122"/>
                <a:ea typeface="微软雅黑" panose="020B0503020204020204" pitchFamily="34" charset="-122"/>
              </a:rPr>
              <a:t>目的：</a:t>
            </a:r>
            <a:r>
              <a:rPr lang="zh-CN" altLang="en-US" i="0" dirty="0">
                <a:effectLst/>
                <a:latin typeface="微软雅黑" panose="020B0503020204020204" pitchFamily="34" charset="-122"/>
                <a:ea typeface="微软雅黑" panose="020B0503020204020204" pitchFamily="34" charset="-122"/>
              </a:rPr>
              <a:t>解决机械手在不同姿态（张开</a:t>
            </a:r>
            <a:r>
              <a:rPr lang="en-US" altLang="zh-CN" i="0" dirty="0">
                <a:effectLst/>
                <a:latin typeface="微软雅黑" panose="020B0503020204020204" pitchFamily="34" charset="-122"/>
                <a:ea typeface="微软雅黑" panose="020B0503020204020204" pitchFamily="34" charset="-122"/>
              </a:rPr>
              <a:t> vs </a:t>
            </a:r>
            <a:r>
              <a:rPr lang="zh-CN" altLang="en-US" i="0" dirty="0">
                <a:effectLst/>
                <a:latin typeface="微软雅黑" panose="020B0503020204020204" pitchFamily="34" charset="-122"/>
                <a:ea typeface="微软雅黑" panose="020B0503020204020204" pitchFamily="34" charset="-122"/>
              </a:rPr>
              <a:t>闭合）下几何外观差异巨大的问题。让编码器学会无论手是张开还是握拳，同一点的特征是对应的。</a:t>
            </a:r>
            <a:endParaRPr lang="zh-CN" altLang="en-US" b="1" i="0" dirty="0">
              <a:effectLst/>
              <a:latin typeface="微软雅黑" panose="020B0503020204020204" pitchFamily="34" charset="-122"/>
              <a:ea typeface="微软雅黑" panose="020B0503020204020204" pitchFamily="34" charset="-122"/>
            </a:endParaRPr>
          </a:p>
          <a:p>
            <a:pPr indent="0" algn="l">
              <a:buFont typeface="+mj-lt"/>
              <a:buNone/>
            </a:pPr>
            <a:r>
              <a:rPr lang="zh-CN" altLang="en-US" b="1" i="0" dirty="0">
                <a:effectLst/>
                <a:latin typeface="微软雅黑" panose="020B0503020204020204" pitchFamily="34" charset="-122"/>
                <a:ea typeface="微软雅黑" panose="020B0503020204020204" pitchFamily="34" charset="-122"/>
              </a:rPr>
              <a:t>方法：</a:t>
            </a:r>
            <a:r>
              <a:rPr lang="zh-CN" altLang="en-US" i="0" dirty="0">
                <a:effectLst/>
                <a:latin typeface="微软雅黑" panose="020B0503020204020204" pitchFamily="34" charset="-122"/>
                <a:ea typeface="微软雅黑" panose="020B0503020204020204" pitchFamily="34" charset="-122"/>
              </a:rPr>
              <a:t>对比学习</a:t>
            </a:r>
            <a:r>
              <a:rPr lang="en-US" altLang="zh-CN" i="0" dirty="0">
                <a:effectLst/>
                <a:latin typeface="微软雅黑" panose="020B0503020204020204" pitchFamily="34" charset="-122"/>
                <a:ea typeface="微软雅黑" panose="020B0503020204020204" pitchFamily="34" charset="-122"/>
              </a:rPr>
              <a:t> </a:t>
            </a:r>
            <a:endParaRPr lang="en-US" altLang="zh-CN" b="1" i="0" dirty="0">
              <a:effectLst/>
              <a:latin typeface="微软雅黑" panose="020B0503020204020204" pitchFamily="34" charset="-122"/>
              <a:ea typeface="微软雅黑" panose="020B0503020204020204" pitchFamily="34" charset="-122"/>
            </a:endParaRPr>
          </a:p>
          <a:p>
            <a:pPr indent="0" algn="l">
              <a:buFont typeface="+mj-lt"/>
              <a:buNone/>
            </a:pPr>
            <a:r>
              <a:rPr lang="zh-CN" altLang="en-US" b="1" i="0" dirty="0">
                <a:effectLst/>
                <a:latin typeface="微软雅黑" panose="020B0503020204020204" pitchFamily="34" charset="-122"/>
                <a:ea typeface="微软雅黑" panose="020B0503020204020204" pitchFamily="34" charset="-122"/>
              </a:rPr>
              <a:t>正样本对</a:t>
            </a:r>
            <a:r>
              <a:rPr lang="en-US" altLang="zh-CN" b="1" i="0" dirty="0">
                <a:effectLst/>
                <a:latin typeface="微软雅黑" panose="020B0503020204020204" pitchFamily="34" charset="-122"/>
                <a:ea typeface="微软雅黑" panose="020B0503020204020204" pitchFamily="34" charset="-122"/>
              </a:rPr>
              <a:t> (Positive Pairs)</a:t>
            </a:r>
            <a:r>
              <a:rPr lang="zh-CN" altLang="en-US" b="1" i="0" dirty="0">
                <a:effectLst/>
                <a:latin typeface="微软雅黑" panose="020B0503020204020204" pitchFamily="34" charset="-122"/>
                <a:ea typeface="微软雅黑" panose="020B0503020204020204" pitchFamily="34" charset="-122"/>
              </a:rPr>
              <a:t>：</a:t>
            </a:r>
            <a:r>
              <a:rPr lang="zh-CN" altLang="en-US" i="0" dirty="0">
                <a:effectLst/>
                <a:latin typeface="微软雅黑" panose="020B0503020204020204" pitchFamily="34" charset="-122"/>
                <a:ea typeface="微软雅黑" panose="020B0503020204020204" pitchFamily="34" charset="-122"/>
              </a:rPr>
              <a:t>同一个物理点在不同姿态（如张开和闭合）下的特征。</a:t>
            </a:r>
            <a:endParaRPr lang="zh-CN" altLang="en-US" b="1" i="0" dirty="0">
              <a:effectLst/>
              <a:latin typeface="微软雅黑" panose="020B0503020204020204" pitchFamily="34" charset="-122"/>
              <a:ea typeface="微软雅黑" panose="020B0503020204020204" pitchFamily="34" charset="-122"/>
            </a:endParaRPr>
          </a:p>
          <a:p>
            <a:pPr indent="0" algn="l">
              <a:buFont typeface="+mj-lt"/>
              <a:buNone/>
            </a:pPr>
            <a:r>
              <a:rPr lang="zh-CN" altLang="en-US" b="1" i="0" dirty="0">
                <a:effectLst/>
                <a:latin typeface="微软雅黑" panose="020B0503020204020204" pitchFamily="34" charset="-122"/>
                <a:ea typeface="微软雅黑" panose="020B0503020204020204" pitchFamily="34" charset="-122"/>
              </a:rPr>
              <a:t>负样本对</a:t>
            </a:r>
            <a:r>
              <a:rPr lang="en-US" altLang="zh-CN" b="1" i="0" dirty="0">
                <a:effectLst/>
                <a:latin typeface="微软雅黑" panose="020B0503020204020204" pitchFamily="34" charset="-122"/>
                <a:ea typeface="微软雅黑" panose="020B0503020204020204" pitchFamily="34" charset="-122"/>
              </a:rPr>
              <a:t> (Negative Pairs)</a:t>
            </a:r>
            <a:r>
              <a:rPr lang="zh-CN" altLang="en-US" b="1" i="0" dirty="0">
                <a:effectLst/>
                <a:latin typeface="微软雅黑" panose="020B0503020204020204" pitchFamily="34" charset="-122"/>
                <a:ea typeface="微软雅黑" panose="020B0503020204020204" pitchFamily="34" charset="-122"/>
              </a:rPr>
              <a:t>：</a:t>
            </a:r>
            <a:r>
              <a:rPr lang="zh-CN" altLang="en-US" i="0" dirty="0">
                <a:effectLst/>
                <a:latin typeface="微软雅黑" panose="020B0503020204020204" pitchFamily="34" charset="-122"/>
                <a:ea typeface="微软雅黑" panose="020B0503020204020204" pitchFamily="34" charset="-122"/>
              </a:rPr>
              <a:t>不同点的特征。</a:t>
            </a:r>
            <a:endParaRPr lang="zh-CN" altLang="en-US" b="1" i="0" dirty="0">
              <a:effectLst/>
              <a:latin typeface="微软雅黑" panose="020B0503020204020204" pitchFamily="34" charset="-122"/>
              <a:ea typeface="微软雅黑" panose="020B0503020204020204" pitchFamily="34" charset="-122"/>
            </a:endParaRPr>
          </a:p>
          <a:p>
            <a:pPr indent="0" algn="l">
              <a:buFont typeface="+mj-lt"/>
              <a:buNone/>
            </a:pPr>
            <a:r>
              <a:rPr lang="zh-CN" altLang="en-US" b="1" i="0" dirty="0">
                <a:effectLst/>
                <a:latin typeface="微软雅黑" panose="020B0503020204020204" pitchFamily="34" charset="-122"/>
                <a:ea typeface="微软雅黑" panose="020B0503020204020204" pitchFamily="34" charset="-122"/>
              </a:rPr>
              <a:t>损失函数：</a:t>
            </a:r>
            <a:r>
              <a:rPr lang="zh-CN" altLang="en-US" i="0" dirty="0">
                <a:effectLst/>
                <a:latin typeface="微软雅黑" panose="020B0503020204020204" pitchFamily="34" charset="-122"/>
                <a:ea typeface="微软雅黑" panose="020B0503020204020204" pitchFamily="34" charset="-122"/>
              </a:rPr>
              <a:t>点级对比损失，拉近同一点在不同姿态下的特征距离。</a:t>
            </a:r>
            <a:endParaRPr lang="zh-CN" altLang="en-US" i="0" dirty="0">
              <a:effectLst/>
              <a:latin typeface="微软雅黑" panose="020B0503020204020204" pitchFamily="34" charset="-122"/>
              <a:ea typeface="微软雅黑" panose="020B0503020204020204" pitchFamily="34" charset="-122"/>
            </a:endParaRPr>
          </a:p>
        </p:txBody>
      </p:sp>
      <p:pic>
        <p:nvPicPr>
          <p:cNvPr id="2" name="图片 1" descr="ScreenShot_2026-04-07_220554_863"/>
          <p:cNvPicPr>
            <a:picLocks noChangeAspect="1"/>
          </p:cNvPicPr>
          <p:nvPr/>
        </p:nvPicPr>
        <p:blipFill>
          <a:blip r:embed="rId2"/>
          <a:stretch>
            <a:fillRect/>
          </a:stretch>
        </p:blipFill>
        <p:spPr>
          <a:xfrm>
            <a:off x="8648700" y="1821815"/>
            <a:ext cx="2171700" cy="34575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26" name=""/>
        <p:cNvGrpSpPr/>
        <p:nvPr/>
      </p:nvGrpSpPr>
      <p:grpSpPr>
        <a:xfrm>
          <a:off x="0" y="0"/>
          <a:ext cx="0" cy="0"/>
          <a:chOff x="0" y="0"/>
          <a:chExt cx="0" cy="0"/>
        </a:xfrm>
      </p:grpSpPr>
      <p:sp>
        <p:nvSpPr>
          <p:cNvPr id="1048759" name="文本框 1"/>
          <p:cNvSpPr txBox="1"/>
          <p:nvPr/>
        </p:nvSpPr>
        <p:spPr>
          <a:xfrm>
            <a:off x="247650" y="939165"/>
            <a:ext cx="11696700" cy="521970"/>
          </a:xfrm>
          <a:prstGeom prst="rect">
            <a:avLst/>
          </a:prstGeom>
        </p:spPr>
        <p:txBody>
          <a:bodyPr wrap="square">
            <a:spAutoFit/>
          </a:bodyPr>
          <a:p>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阅读文献分析</a:t>
            </a:r>
            <a:r>
              <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——D(R, O) Grasp</a:t>
            </a:r>
            <a:endPar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127" name="组合 2"/>
          <p:cNvGrpSpPr/>
          <p:nvPr/>
        </p:nvGrpSpPr>
        <p:grpSpPr>
          <a:xfrm>
            <a:off x="0" y="156335"/>
            <a:ext cx="11940390" cy="497839"/>
            <a:chOff x="0" y="156335"/>
            <a:chExt cx="11940390" cy="497839"/>
          </a:xfrm>
        </p:grpSpPr>
        <p:grpSp>
          <p:nvGrpSpPr>
            <p:cNvPr id="128" name="组合 3"/>
            <p:cNvGrpSpPr/>
            <p:nvPr/>
          </p:nvGrpSpPr>
          <p:grpSpPr>
            <a:xfrm>
              <a:off x="0" y="156335"/>
              <a:ext cx="9666514" cy="497839"/>
              <a:chOff x="0" y="248698"/>
              <a:chExt cx="9666514" cy="497839"/>
            </a:xfrm>
          </p:grpSpPr>
          <p:grpSp>
            <p:nvGrpSpPr>
              <p:cNvPr id="129" name="组合 4"/>
              <p:cNvGrpSpPr/>
              <p:nvPr/>
            </p:nvGrpSpPr>
            <p:grpSpPr>
              <a:xfrm>
                <a:off x="0" y="294640"/>
                <a:ext cx="880552" cy="375920"/>
                <a:chOff x="0" y="294640"/>
                <a:chExt cx="1094740" cy="467360"/>
              </a:xfrm>
              <a:solidFill>
                <a:srgbClr val="EE8A10"/>
              </a:solidFill>
            </p:grpSpPr>
            <p:sp>
              <p:nvSpPr>
                <p:cNvPr id="104876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4876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4876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1048763" name="文本框 5"/>
              <p:cNvSpPr txBox="1"/>
              <p:nvPr/>
            </p:nvSpPr>
            <p:spPr>
              <a:xfrm>
                <a:off x="972489" y="248698"/>
                <a:ext cx="2702560" cy="497839"/>
              </a:xfrm>
              <a:prstGeom prst="rect">
                <a:avLst/>
              </a:prstGeom>
              <a:noFill/>
            </p:spPr>
            <p:txBody>
              <a:bodyPr wrap="square" rtlCol="0">
                <a:spAutoFit/>
              </a:bodyPr>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30" name="组合 6"/>
              <p:cNvGrpSpPr/>
              <p:nvPr/>
            </p:nvGrpSpPr>
            <p:grpSpPr>
              <a:xfrm>
                <a:off x="3356076" y="408709"/>
                <a:ext cx="1749361" cy="147782"/>
                <a:chOff x="635462" y="775854"/>
                <a:chExt cx="1749361" cy="147782"/>
              </a:xfrm>
              <a:solidFill>
                <a:srgbClr val="EE8A10"/>
              </a:solidFill>
            </p:grpSpPr>
            <p:sp>
              <p:nvSpPr>
                <p:cNvPr id="1048764"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65"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66"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67"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68"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cxnSp>
            <p:nvCxnSpPr>
              <p:cNvPr id="3145736"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5"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1048769" name="文本框 18"/>
          <p:cNvSpPr txBox="1"/>
          <p:nvPr/>
        </p:nvSpPr>
        <p:spPr>
          <a:xfrm>
            <a:off x="416560" y="1555115"/>
            <a:ext cx="11075035" cy="4952365"/>
          </a:xfrm>
          <a:prstGeom prst="rect">
            <a:avLst/>
          </a:prstGeom>
          <a:noFill/>
        </p:spPr>
        <p:txBody>
          <a:bodyPr wrap="square">
            <a:noAutofit/>
          </a:bodyPr>
          <a:p>
            <a:pPr indent="0" algn="l">
              <a:buFont typeface="+mj-lt"/>
              <a:buNone/>
            </a:pPr>
            <a:r>
              <a:rPr lang="zh-CN" altLang="en-US" b="1" i="0" dirty="0">
                <a:effectLst/>
                <a:latin typeface="微软雅黑" panose="020B0503020204020204" pitchFamily="34" charset="-122"/>
                <a:ea typeface="微软雅黑" panose="020B0503020204020204" pitchFamily="34" charset="-122"/>
              </a:rPr>
              <a:t>核心方法：</a:t>
            </a:r>
            <a:r>
              <a:rPr lang="zh-CN" altLang="en-US" b="1" dirty="0">
                <a:effectLst/>
                <a:latin typeface="微软雅黑" panose="020B0503020204020204" pitchFamily="34" charset="-122"/>
                <a:ea typeface="微软雅黑" panose="020B0503020204020204" pitchFamily="34" charset="-122"/>
                <a:sym typeface="+mn-ea"/>
              </a:rPr>
              <a:t>D(R, O) ——点云距离矩阵的提出</a:t>
            </a:r>
            <a:endParaRPr lang="zh-CN" altLang="en-US" b="1" dirty="0">
              <a:effectLst/>
              <a:latin typeface="微软雅黑" panose="020B0503020204020204" pitchFamily="34" charset="-122"/>
              <a:ea typeface="微软雅黑" panose="020B0503020204020204" pitchFamily="34" charset="-122"/>
              <a:sym typeface="+mn-ea"/>
            </a:endParaRPr>
          </a:p>
          <a:p>
            <a:pPr indent="457200" algn="l">
              <a:buFont typeface="+mj-lt"/>
              <a:buNone/>
            </a:pPr>
            <a:r>
              <a:rPr lang="zh-CN" altLang="en-US" b="1" i="0" dirty="0">
                <a:effectLst/>
                <a:latin typeface="微软雅黑" panose="020B0503020204020204" pitchFamily="34" charset="-122"/>
                <a:ea typeface="微软雅黑" panose="020B0503020204020204" pitchFamily="34" charset="-122"/>
              </a:rPr>
              <a:t>论文提出了一种名为</a:t>
            </a:r>
            <a:r>
              <a:rPr lang="en-US" altLang="zh-CN" b="1" i="0" dirty="0">
                <a:effectLst/>
                <a:latin typeface="微软雅黑" panose="020B0503020204020204" pitchFamily="34" charset="-122"/>
                <a:ea typeface="微软雅黑" panose="020B0503020204020204" pitchFamily="34" charset="-122"/>
              </a:rPr>
              <a:t> D(R,O) </a:t>
            </a:r>
            <a:r>
              <a:rPr lang="zh-CN" altLang="en-US" b="1" i="0" dirty="0">
                <a:effectLst/>
                <a:latin typeface="微软雅黑" panose="020B0503020204020204" pitchFamily="34" charset="-122"/>
                <a:ea typeface="微软雅黑" panose="020B0503020204020204" pitchFamily="34" charset="-122"/>
              </a:rPr>
              <a:t>的统一表示法，它既不是纯粹的机器人中心，也不是纯粹的物体中心，而是以手和物体的交互作为预测</a:t>
            </a:r>
            <a:r>
              <a:rPr lang="zh-CN" altLang="en-US" b="1" i="0" dirty="0">
                <a:effectLst/>
                <a:latin typeface="微软雅黑" panose="020B0503020204020204" pitchFamily="34" charset="-122"/>
                <a:ea typeface="微软雅黑" panose="020B0503020204020204" pitchFamily="34" charset="-122"/>
              </a:rPr>
              <a:t>目标</a:t>
            </a:r>
            <a:endParaRPr lang="zh-CN" altLang="en-US" b="1" i="0" dirty="0">
              <a:effectLst/>
              <a:latin typeface="微软雅黑" panose="020B0503020204020204" pitchFamily="34" charset="-122"/>
              <a:ea typeface="微软雅黑" panose="020B0503020204020204" pitchFamily="34" charset="-122"/>
            </a:endParaRPr>
          </a:p>
          <a:p>
            <a:pPr indent="457200" algn="l">
              <a:buFont typeface="+mj-lt"/>
              <a:buNone/>
            </a:pPr>
            <a:r>
              <a:rPr lang="zh-CN" altLang="en-US" b="1" i="0" dirty="0">
                <a:effectLst/>
                <a:latin typeface="微软雅黑" panose="020B0503020204020204" pitchFamily="34" charset="-122"/>
                <a:ea typeface="微软雅黑" panose="020B0503020204020204" pitchFamily="34" charset="-122"/>
              </a:rPr>
              <a:t>输入：机器人手（张开状态）的点云</a:t>
            </a:r>
            <a:r>
              <a:rPr lang="en-US" altLang="zh-CN" b="1" i="0" dirty="0">
                <a:effectLst/>
                <a:latin typeface="微软雅黑" panose="020B0503020204020204" pitchFamily="34" charset="-122"/>
                <a:ea typeface="微软雅黑" panose="020B0503020204020204" pitchFamily="34" charset="-122"/>
              </a:rPr>
              <a:t>                     </a:t>
            </a:r>
            <a:r>
              <a:rPr lang="zh-CN" altLang="en-US" b="1" i="0" dirty="0">
                <a:effectLst/>
                <a:latin typeface="微软雅黑" panose="020B0503020204020204" pitchFamily="34" charset="-122"/>
                <a:ea typeface="微软雅黑" panose="020B0503020204020204" pitchFamily="34" charset="-122"/>
              </a:rPr>
              <a:t>，物体的点云</a:t>
            </a:r>
            <a:endParaRPr lang="zh-CN" altLang="en-US" b="1" i="0" dirty="0">
              <a:effectLst/>
              <a:latin typeface="微软雅黑" panose="020B0503020204020204" pitchFamily="34" charset="-122"/>
              <a:ea typeface="微软雅黑" panose="020B0503020204020204" pitchFamily="34" charset="-122"/>
            </a:endParaRPr>
          </a:p>
          <a:p>
            <a:pPr indent="457200" algn="l">
              <a:buFont typeface="+mj-lt"/>
              <a:buNone/>
            </a:pPr>
            <a:r>
              <a:rPr lang="zh-CN" altLang="en-US" b="1" i="0" dirty="0">
                <a:effectLst/>
                <a:latin typeface="微软雅黑" panose="020B0503020204020204" pitchFamily="34" charset="-122"/>
                <a:ea typeface="微软雅黑" panose="020B0503020204020204" pitchFamily="34" charset="-122"/>
              </a:rPr>
              <a:t>输出：</a:t>
            </a:r>
            <a:r>
              <a:rPr lang="zh-CN" altLang="en-US" b="1" dirty="0">
                <a:effectLst/>
                <a:latin typeface="微软雅黑" panose="020B0503020204020204" pitchFamily="34" charset="-122"/>
                <a:ea typeface="微软雅黑" panose="020B0503020204020204" pitchFamily="34" charset="-122"/>
                <a:sym typeface="+mn-ea"/>
              </a:rPr>
              <a:t>D(R, O) 矩阵，</a:t>
            </a:r>
            <a:r>
              <a:rPr lang="en-US" altLang="zh-CN" b="1" i="0" dirty="0">
                <a:effectLst/>
                <a:latin typeface="微软雅黑" panose="020B0503020204020204" pitchFamily="34" charset="-122"/>
                <a:ea typeface="微软雅黑" panose="020B0503020204020204" pitchFamily="34" charset="-122"/>
              </a:rPr>
              <a:t>Dij​=</a:t>
            </a:r>
            <a:r>
              <a:rPr lang="zh-CN" altLang="en-US" b="1" i="0" dirty="0">
                <a:effectLst/>
                <a:latin typeface="微软雅黑" panose="020B0503020204020204" pitchFamily="34" charset="-122"/>
                <a:ea typeface="微软雅黑" panose="020B0503020204020204" pitchFamily="34" charset="-122"/>
              </a:rPr>
              <a:t>手上第</a:t>
            </a:r>
            <a:r>
              <a:rPr lang="en-US" altLang="zh-CN" b="1" i="0" dirty="0">
                <a:effectLst/>
                <a:latin typeface="微软雅黑" panose="020B0503020204020204" pitchFamily="34" charset="-122"/>
                <a:ea typeface="微软雅黑" panose="020B0503020204020204" pitchFamily="34" charset="-122"/>
              </a:rPr>
              <a:t>i</a:t>
            </a:r>
            <a:r>
              <a:rPr lang="zh-CN" altLang="en-US" b="1" i="0" dirty="0">
                <a:effectLst/>
                <a:latin typeface="微软雅黑" panose="020B0503020204020204" pitchFamily="34" charset="-122"/>
                <a:ea typeface="微软雅黑" panose="020B0503020204020204" pitchFamily="34" charset="-122"/>
              </a:rPr>
              <a:t>个点到物体第</a:t>
            </a:r>
            <a:r>
              <a:rPr lang="en-US" altLang="zh-CN" b="1" i="0" dirty="0">
                <a:effectLst/>
                <a:latin typeface="微软雅黑" panose="020B0503020204020204" pitchFamily="34" charset="-122"/>
                <a:ea typeface="微软雅黑" panose="020B0503020204020204" pitchFamily="34" charset="-122"/>
              </a:rPr>
              <a:t>j</a:t>
            </a:r>
            <a:r>
              <a:rPr lang="zh-CN" altLang="en-US" b="1" i="0" dirty="0">
                <a:effectLst/>
                <a:latin typeface="微软雅黑" panose="020B0503020204020204" pitchFamily="34" charset="-122"/>
                <a:ea typeface="微软雅黑" panose="020B0503020204020204" pitchFamily="34" charset="-122"/>
              </a:rPr>
              <a:t>个点的距离</a:t>
            </a:r>
            <a:endParaRPr lang="zh-CN" altLang="en-US" b="1" i="0" dirty="0">
              <a:effectLst/>
              <a:latin typeface="微软雅黑" panose="020B0503020204020204" pitchFamily="34" charset="-122"/>
              <a:ea typeface="微软雅黑" panose="020B0503020204020204" pitchFamily="34" charset="-122"/>
            </a:endParaRPr>
          </a:p>
          <a:p>
            <a:pPr algn="l">
              <a:buFont typeface="+mj-lt"/>
              <a:buAutoNum type="arabicPeriod"/>
            </a:pPr>
            <a:endParaRPr lang="zh-CN" altLang="en-US" b="1" i="0" dirty="0">
              <a:effectLst/>
              <a:latin typeface="微软雅黑" panose="020B0503020204020204" pitchFamily="34" charset="-122"/>
              <a:ea typeface="微软雅黑" panose="020B0503020204020204" pitchFamily="34" charset="-122"/>
            </a:endParaRPr>
          </a:p>
        </p:txBody>
      </p:sp>
      <p:pic>
        <p:nvPicPr>
          <p:cNvPr id="4" name="图片 3" descr="ScreenShot_2026-04-07_214105_702"/>
          <p:cNvPicPr>
            <a:picLocks noChangeAspect="1"/>
          </p:cNvPicPr>
          <p:nvPr/>
        </p:nvPicPr>
        <p:blipFill>
          <a:blip r:embed="rId2"/>
          <a:stretch>
            <a:fillRect/>
          </a:stretch>
        </p:blipFill>
        <p:spPr>
          <a:xfrm>
            <a:off x="4704715" y="2376170"/>
            <a:ext cx="1261745" cy="365125"/>
          </a:xfrm>
          <a:prstGeom prst="rect">
            <a:avLst/>
          </a:prstGeom>
        </p:spPr>
      </p:pic>
      <p:pic>
        <p:nvPicPr>
          <p:cNvPr id="2" name="图片 1" descr="ScreenShot_2026-04-07_214120_685"/>
          <p:cNvPicPr>
            <a:picLocks noChangeAspect="1"/>
          </p:cNvPicPr>
          <p:nvPr/>
        </p:nvPicPr>
        <p:blipFill>
          <a:blip r:embed="rId3"/>
          <a:stretch>
            <a:fillRect/>
          </a:stretch>
        </p:blipFill>
        <p:spPr>
          <a:xfrm>
            <a:off x="7633970" y="2376170"/>
            <a:ext cx="1257300" cy="354965"/>
          </a:xfrm>
          <a:prstGeom prst="rect">
            <a:avLst/>
          </a:prstGeom>
        </p:spPr>
      </p:pic>
      <p:pic>
        <p:nvPicPr>
          <p:cNvPr id="3" name="图片 2" descr="ScreenShot_2026-04-07_214613_397"/>
          <p:cNvPicPr>
            <a:picLocks noChangeAspect="1"/>
          </p:cNvPicPr>
          <p:nvPr/>
        </p:nvPicPr>
        <p:blipFill>
          <a:blip r:embed="rId4"/>
          <a:stretch>
            <a:fillRect/>
          </a:stretch>
        </p:blipFill>
        <p:spPr>
          <a:xfrm>
            <a:off x="416560" y="2971800"/>
            <a:ext cx="10658475" cy="37147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26" name=""/>
        <p:cNvGrpSpPr/>
        <p:nvPr/>
      </p:nvGrpSpPr>
      <p:grpSpPr>
        <a:xfrm>
          <a:off x="0" y="0"/>
          <a:ext cx="0" cy="0"/>
          <a:chOff x="0" y="0"/>
          <a:chExt cx="0" cy="0"/>
        </a:xfrm>
      </p:grpSpPr>
      <p:pic>
        <p:nvPicPr>
          <p:cNvPr id="5" name="图片 4" descr="ScreenShot_2026-04-07_214921_207"/>
          <p:cNvPicPr>
            <a:picLocks noChangeAspect="1"/>
          </p:cNvPicPr>
          <p:nvPr/>
        </p:nvPicPr>
        <p:blipFill>
          <a:blip r:embed="rId1"/>
          <a:stretch>
            <a:fillRect/>
          </a:stretch>
        </p:blipFill>
        <p:spPr>
          <a:xfrm>
            <a:off x="3133090" y="1821815"/>
            <a:ext cx="1571625" cy="447675"/>
          </a:xfrm>
          <a:prstGeom prst="rect">
            <a:avLst/>
          </a:prstGeom>
        </p:spPr>
      </p:pic>
      <p:sp>
        <p:nvSpPr>
          <p:cNvPr id="1048759" name="文本框 1"/>
          <p:cNvSpPr txBox="1"/>
          <p:nvPr/>
        </p:nvSpPr>
        <p:spPr>
          <a:xfrm>
            <a:off x="247650" y="939165"/>
            <a:ext cx="11696700" cy="521970"/>
          </a:xfrm>
          <a:prstGeom prst="rect">
            <a:avLst/>
          </a:prstGeom>
        </p:spPr>
        <p:txBody>
          <a:bodyPr wrap="square">
            <a:spAutoFit/>
          </a:bodyPr>
          <a:p>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阅读文献分析</a:t>
            </a:r>
            <a:r>
              <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——D(R, O) Grasp</a:t>
            </a:r>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核心预测</a:t>
            </a:r>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步骤</a:t>
            </a:r>
            <a:endPar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nvGrpSpPr>
          <p:cNvPr id="127" name="组合 2"/>
          <p:cNvGrpSpPr/>
          <p:nvPr/>
        </p:nvGrpSpPr>
        <p:grpSpPr>
          <a:xfrm>
            <a:off x="0" y="156335"/>
            <a:ext cx="11940390" cy="497839"/>
            <a:chOff x="0" y="156335"/>
            <a:chExt cx="11940390" cy="497839"/>
          </a:xfrm>
        </p:grpSpPr>
        <p:grpSp>
          <p:nvGrpSpPr>
            <p:cNvPr id="128" name="组合 3"/>
            <p:cNvGrpSpPr/>
            <p:nvPr/>
          </p:nvGrpSpPr>
          <p:grpSpPr>
            <a:xfrm>
              <a:off x="0" y="156335"/>
              <a:ext cx="9666514" cy="497839"/>
              <a:chOff x="0" y="248698"/>
              <a:chExt cx="9666514" cy="497839"/>
            </a:xfrm>
          </p:grpSpPr>
          <p:grpSp>
            <p:nvGrpSpPr>
              <p:cNvPr id="129" name="组合 4"/>
              <p:cNvGrpSpPr/>
              <p:nvPr/>
            </p:nvGrpSpPr>
            <p:grpSpPr>
              <a:xfrm>
                <a:off x="0" y="294640"/>
                <a:ext cx="880552" cy="375920"/>
                <a:chOff x="0" y="294640"/>
                <a:chExt cx="1094740" cy="467360"/>
              </a:xfrm>
              <a:solidFill>
                <a:srgbClr val="EE8A10"/>
              </a:solidFill>
            </p:grpSpPr>
            <p:sp>
              <p:nvSpPr>
                <p:cNvPr id="104876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4876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4876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1048763" name="文本框 5"/>
              <p:cNvSpPr txBox="1"/>
              <p:nvPr/>
            </p:nvSpPr>
            <p:spPr>
              <a:xfrm>
                <a:off x="972489" y="248698"/>
                <a:ext cx="2702560" cy="497839"/>
              </a:xfrm>
              <a:prstGeom prst="rect">
                <a:avLst/>
              </a:prstGeom>
              <a:noFill/>
            </p:spPr>
            <p:txBody>
              <a:bodyPr wrap="square" rtlCol="0">
                <a:spAutoFit/>
              </a:bodyPr>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30" name="组合 6"/>
              <p:cNvGrpSpPr/>
              <p:nvPr/>
            </p:nvGrpSpPr>
            <p:grpSpPr>
              <a:xfrm>
                <a:off x="3356076" y="408709"/>
                <a:ext cx="1749361" cy="147782"/>
                <a:chOff x="635462" y="775854"/>
                <a:chExt cx="1749361" cy="147782"/>
              </a:xfrm>
              <a:solidFill>
                <a:srgbClr val="EE8A10"/>
              </a:solidFill>
            </p:grpSpPr>
            <p:sp>
              <p:nvSpPr>
                <p:cNvPr id="1048764"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65"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66"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67"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68"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cxnSp>
            <p:nvCxnSpPr>
              <p:cNvPr id="3145736"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5" name="图片 62"/>
            <p:cNvPicPr>
              <a:picLocks noChangeAspect="1"/>
            </p:cNvPicPr>
            <p:nvPr/>
          </p:nvPicPr>
          <p:blipFill>
            <a:blip r:embed="rId2" cstate="print"/>
            <a:srcRect/>
            <a:stretch>
              <a:fillRect/>
            </a:stretch>
          </p:blipFill>
          <p:spPr>
            <a:xfrm>
              <a:off x="9765508" y="161931"/>
              <a:ext cx="2174882" cy="456069"/>
            </a:xfrm>
            <a:prstGeom prst="rect">
              <a:avLst/>
            </a:prstGeom>
          </p:spPr>
        </p:pic>
      </p:grpSp>
      <p:sp>
        <p:nvSpPr>
          <p:cNvPr id="1048769" name="文本框 18"/>
          <p:cNvSpPr txBox="1"/>
          <p:nvPr/>
        </p:nvSpPr>
        <p:spPr>
          <a:xfrm>
            <a:off x="416560" y="1555115"/>
            <a:ext cx="11075035" cy="4952365"/>
          </a:xfrm>
          <a:prstGeom prst="rect">
            <a:avLst/>
          </a:prstGeom>
          <a:noFill/>
        </p:spPr>
        <p:txBody>
          <a:bodyPr wrap="square">
            <a:noAutofit/>
          </a:bodyPr>
          <a:p>
            <a:pPr indent="0" algn="l">
              <a:buFont typeface="+mj-lt"/>
              <a:buNone/>
            </a:pPr>
            <a:r>
              <a:rPr lang="en-US" altLang="zh-CN" b="1" i="0" dirty="0">
                <a:effectLst/>
                <a:latin typeface="微软雅黑" panose="020B0503020204020204" pitchFamily="34" charset="-122"/>
                <a:ea typeface="微软雅黑" panose="020B0503020204020204" pitchFamily="34" charset="-122"/>
              </a:rPr>
              <a:t>1.</a:t>
            </a:r>
            <a:r>
              <a:rPr lang="zh-CN" altLang="en-US" b="1" i="0" dirty="0">
                <a:effectLst/>
                <a:latin typeface="微软雅黑" panose="020B0503020204020204" pitchFamily="34" charset="-122"/>
                <a:ea typeface="微软雅黑" panose="020B0503020204020204" pitchFamily="34" charset="-122"/>
              </a:rPr>
              <a:t>特征提取：用两个</a:t>
            </a:r>
            <a:r>
              <a:rPr lang="en-US" altLang="zh-CN" b="1" i="0" dirty="0">
                <a:effectLst/>
                <a:latin typeface="微软雅黑" panose="020B0503020204020204" pitchFamily="34" charset="-122"/>
                <a:ea typeface="微软雅黑" panose="020B0503020204020204" pitchFamily="34" charset="-122"/>
              </a:rPr>
              <a:t> encoder</a:t>
            </a:r>
            <a:r>
              <a:rPr lang="zh-CN" altLang="en-US" b="1" i="0" dirty="0">
                <a:effectLst/>
                <a:latin typeface="微软雅黑" panose="020B0503020204020204" pitchFamily="34" charset="-122"/>
                <a:ea typeface="微软雅黑" panose="020B0503020204020204" pitchFamily="34" charset="-122"/>
              </a:rPr>
              <a:t>（类似</a:t>
            </a:r>
            <a:r>
              <a:rPr lang="en-US" altLang="zh-CN" b="1" i="0" dirty="0">
                <a:effectLst/>
                <a:latin typeface="微软雅黑" panose="020B0503020204020204" pitchFamily="34" charset="-122"/>
                <a:ea typeface="微软雅黑" panose="020B0503020204020204" pitchFamily="34" charset="-122"/>
              </a:rPr>
              <a:t> PointNet/DGCNN</a:t>
            </a:r>
            <a:r>
              <a:rPr lang="zh-CN" altLang="en-US" b="1" i="0" dirty="0">
                <a:effectLst/>
                <a:latin typeface="微软雅黑" panose="020B0503020204020204" pitchFamily="34" charset="-122"/>
                <a:ea typeface="微软雅黑" panose="020B0503020204020204" pitchFamily="34" charset="-122"/>
              </a:rPr>
              <a:t>）：</a:t>
            </a:r>
            <a:endParaRPr lang="zh-CN" altLang="en-US" b="1" i="0" dirty="0">
              <a:effectLst/>
              <a:latin typeface="微软雅黑" panose="020B0503020204020204" pitchFamily="34" charset="-122"/>
              <a:ea typeface="微软雅黑" panose="020B0503020204020204" pitchFamily="34" charset="-122"/>
            </a:endParaRPr>
          </a:p>
          <a:p>
            <a:pPr indent="0" algn="l">
              <a:buFont typeface="+mj-lt"/>
              <a:buNone/>
            </a:pPr>
            <a:r>
              <a:rPr lang="en-US" altLang="zh-CN" b="1" i="0" dirty="0">
                <a:effectLst/>
                <a:latin typeface="微软雅黑" panose="020B0503020204020204" pitchFamily="34" charset="-122"/>
                <a:ea typeface="微软雅黑" panose="020B0503020204020204" pitchFamily="34" charset="-122"/>
              </a:rPr>
              <a:t>2.</a:t>
            </a:r>
            <a:r>
              <a:rPr lang="zh-CN" altLang="en-US" b="1" i="0" dirty="0">
                <a:effectLst/>
                <a:latin typeface="微软雅黑" panose="020B0503020204020204" pitchFamily="34" charset="-122"/>
                <a:ea typeface="微软雅黑" panose="020B0503020204020204" pitchFamily="34" charset="-122"/>
              </a:rPr>
              <a:t>建立</a:t>
            </a:r>
            <a:r>
              <a:rPr lang="en-US" altLang="zh-CN" b="1" i="0" dirty="0">
                <a:effectLst/>
                <a:latin typeface="微软雅黑" panose="020B0503020204020204" pitchFamily="34" charset="-122"/>
                <a:ea typeface="微软雅黑" panose="020B0503020204020204" pitchFamily="34" charset="-122"/>
              </a:rPr>
              <a:t>“</a:t>
            </a:r>
            <a:r>
              <a:rPr lang="zh-CN" altLang="en-US" b="1" i="0" dirty="0">
                <a:effectLst/>
                <a:latin typeface="微软雅黑" panose="020B0503020204020204" pitchFamily="34" charset="-122"/>
                <a:ea typeface="微软雅黑" panose="020B0503020204020204" pitchFamily="34" charset="-122"/>
              </a:rPr>
              <a:t>手</a:t>
            </a:r>
            <a:r>
              <a:rPr lang="en-US" altLang="zh-CN" b="1" i="0" dirty="0">
                <a:effectLst/>
                <a:latin typeface="微软雅黑" panose="020B0503020204020204" pitchFamily="34" charset="-122"/>
                <a:ea typeface="微软雅黑" panose="020B0503020204020204" pitchFamily="34" charset="-122"/>
              </a:rPr>
              <a:t>-</a:t>
            </a:r>
            <a:r>
              <a:rPr lang="zh-CN" altLang="en-US" b="1" i="0" dirty="0">
                <a:effectLst/>
                <a:latin typeface="微软雅黑" panose="020B0503020204020204" pitchFamily="34" charset="-122"/>
                <a:ea typeface="微软雅黑" panose="020B0503020204020204" pitchFamily="34" charset="-122"/>
              </a:rPr>
              <a:t>物体关系</a:t>
            </a:r>
            <a:r>
              <a:rPr lang="en-US" altLang="zh-CN" b="1" i="0" dirty="0">
                <a:effectLst/>
                <a:latin typeface="微软雅黑" panose="020B0503020204020204" pitchFamily="34" charset="-122"/>
                <a:ea typeface="微软雅黑" panose="020B0503020204020204" pitchFamily="34" charset="-122"/>
              </a:rPr>
              <a:t>”</a:t>
            </a:r>
            <a:r>
              <a:rPr lang="zh-CN" altLang="en-US" b="1" i="0" dirty="0">
                <a:effectLst/>
                <a:latin typeface="微软雅黑" panose="020B0503020204020204" pitchFamily="34" charset="-122"/>
                <a:ea typeface="微软雅黑" panose="020B0503020204020204" pitchFamily="34" charset="-122"/>
              </a:rPr>
              <a:t>：</a:t>
            </a:r>
            <a:endParaRPr lang="zh-CN" altLang="en-US" b="1" i="0" dirty="0">
              <a:effectLst/>
              <a:latin typeface="微软雅黑" panose="020B0503020204020204" pitchFamily="34" charset="-122"/>
              <a:ea typeface="微软雅黑" panose="020B0503020204020204" pitchFamily="34" charset="-122"/>
            </a:endParaRPr>
          </a:p>
          <a:p>
            <a:pPr indent="0" algn="l">
              <a:buFont typeface="+mj-lt"/>
              <a:buNone/>
            </a:pPr>
            <a:r>
              <a:rPr lang="en-US" altLang="zh-CN" b="1" i="0" dirty="0">
                <a:effectLst/>
                <a:latin typeface="微软雅黑" panose="020B0503020204020204" pitchFamily="34" charset="-122"/>
                <a:ea typeface="微软雅黑" panose="020B0503020204020204" pitchFamily="34" charset="-122"/>
              </a:rPr>
              <a:t>3.</a:t>
            </a:r>
            <a:r>
              <a:rPr lang="zh-CN" altLang="en-US" b="1" i="0" dirty="0">
                <a:effectLst/>
                <a:latin typeface="微软雅黑" panose="020B0503020204020204" pitchFamily="34" charset="-122"/>
                <a:ea typeface="微软雅黑" panose="020B0503020204020204" pitchFamily="34" charset="-122"/>
              </a:rPr>
              <a:t>用</a:t>
            </a:r>
            <a:r>
              <a:rPr lang="en-US" altLang="zh-CN" b="1" i="0" dirty="0">
                <a:effectLst/>
                <a:latin typeface="微软雅黑" panose="020B0503020204020204" pitchFamily="34" charset="-122"/>
                <a:ea typeface="微软雅黑" panose="020B0503020204020204" pitchFamily="34" charset="-122"/>
              </a:rPr>
              <a:t> CVAE </a:t>
            </a:r>
            <a:r>
              <a:rPr lang="zh-CN" altLang="en-US" b="1" i="0" dirty="0">
                <a:effectLst/>
                <a:latin typeface="微软雅黑" panose="020B0503020204020204" pitchFamily="34" charset="-122"/>
                <a:ea typeface="微软雅黑" panose="020B0503020204020204" pitchFamily="34" charset="-122"/>
              </a:rPr>
              <a:t>预测距离矩阵：</a:t>
            </a:r>
            <a:r>
              <a:rPr lang="en-US" altLang="zh-CN"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D(R, O)</a:t>
            </a:r>
            <a:endParaRPr lang="zh-CN" altLang="en-US" b="1" i="0" dirty="0">
              <a:effectLst/>
              <a:latin typeface="微软雅黑" panose="020B0503020204020204" pitchFamily="34" charset="-122"/>
              <a:ea typeface="微软雅黑" panose="020B0503020204020204" pitchFamily="34" charset="-122"/>
            </a:endParaRPr>
          </a:p>
        </p:txBody>
      </p:sp>
      <p:pic>
        <p:nvPicPr>
          <p:cNvPr id="3" name="图片 2" descr="ScreenShot_2026-04-07_214613_397"/>
          <p:cNvPicPr>
            <a:picLocks noChangeAspect="1"/>
          </p:cNvPicPr>
          <p:nvPr/>
        </p:nvPicPr>
        <p:blipFill>
          <a:blip r:embed="rId3"/>
          <a:stretch>
            <a:fillRect/>
          </a:stretch>
        </p:blipFill>
        <p:spPr>
          <a:xfrm>
            <a:off x="416560" y="2971800"/>
            <a:ext cx="10658475" cy="3714750"/>
          </a:xfrm>
          <a:prstGeom prst="rect">
            <a:avLst/>
          </a:prstGeom>
        </p:spPr>
      </p:pic>
      <p:pic>
        <p:nvPicPr>
          <p:cNvPr id="4" name="图片 3" descr="ScreenShot_2026-04-07_214748_089"/>
          <p:cNvPicPr>
            <a:picLocks noChangeAspect="1"/>
          </p:cNvPicPr>
          <p:nvPr/>
        </p:nvPicPr>
        <p:blipFill>
          <a:blip r:embed="rId4"/>
          <a:stretch>
            <a:fillRect/>
          </a:stretch>
        </p:blipFill>
        <p:spPr>
          <a:xfrm>
            <a:off x="6875780" y="1555115"/>
            <a:ext cx="2668270" cy="4381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26" name=""/>
        <p:cNvGrpSpPr/>
        <p:nvPr/>
      </p:nvGrpSpPr>
      <p:grpSpPr>
        <a:xfrm>
          <a:off x="0" y="0"/>
          <a:ext cx="0" cy="0"/>
          <a:chOff x="0" y="0"/>
          <a:chExt cx="0" cy="0"/>
        </a:xfrm>
      </p:grpSpPr>
      <p:sp>
        <p:nvSpPr>
          <p:cNvPr id="1048759" name="文本框 1"/>
          <p:cNvSpPr txBox="1"/>
          <p:nvPr/>
        </p:nvSpPr>
        <p:spPr>
          <a:xfrm>
            <a:off x="247650" y="939165"/>
            <a:ext cx="11696700" cy="521970"/>
          </a:xfrm>
          <a:prstGeom prst="rect">
            <a:avLst/>
          </a:prstGeom>
        </p:spPr>
        <p:txBody>
          <a:bodyPr wrap="square">
            <a:spAutoFit/>
          </a:bodyPr>
          <a:p>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阅读文献分析</a:t>
            </a:r>
            <a:r>
              <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——D(R, O) Grasp</a:t>
            </a:r>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核心预测</a:t>
            </a:r>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步骤</a:t>
            </a:r>
            <a:endPar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nvGrpSpPr>
          <p:cNvPr id="127" name="组合 2"/>
          <p:cNvGrpSpPr/>
          <p:nvPr/>
        </p:nvGrpSpPr>
        <p:grpSpPr>
          <a:xfrm>
            <a:off x="0" y="156335"/>
            <a:ext cx="11940390" cy="497839"/>
            <a:chOff x="0" y="156335"/>
            <a:chExt cx="11940390" cy="497839"/>
          </a:xfrm>
        </p:grpSpPr>
        <p:grpSp>
          <p:nvGrpSpPr>
            <p:cNvPr id="128" name="组合 3"/>
            <p:cNvGrpSpPr/>
            <p:nvPr/>
          </p:nvGrpSpPr>
          <p:grpSpPr>
            <a:xfrm>
              <a:off x="0" y="156335"/>
              <a:ext cx="9666514" cy="497839"/>
              <a:chOff x="0" y="248698"/>
              <a:chExt cx="9666514" cy="497839"/>
            </a:xfrm>
          </p:grpSpPr>
          <p:grpSp>
            <p:nvGrpSpPr>
              <p:cNvPr id="129" name="组合 4"/>
              <p:cNvGrpSpPr/>
              <p:nvPr/>
            </p:nvGrpSpPr>
            <p:grpSpPr>
              <a:xfrm>
                <a:off x="0" y="294640"/>
                <a:ext cx="880552" cy="375920"/>
                <a:chOff x="0" y="294640"/>
                <a:chExt cx="1094740" cy="467360"/>
              </a:xfrm>
              <a:solidFill>
                <a:srgbClr val="EE8A10"/>
              </a:solidFill>
            </p:grpSpPr>
            <p:sp>
              <p:nvSpPr>
                <p:cNvPr id="104876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4876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4876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1048763" name="文本框 5"/>
              <p:cNvSpPr txBox="1"/>
              <p:nvPr/>
            </p:nvSpPr>
            <p:spPr>
              <a:xfrm>
                <a:off x="972489" y="248698"/>
                <a:ext cx="2702560" cy="497839"/>
              </a:xfrm>
              <a:prstGeom prst="rect">
                <a:avLst/>
              </a:prstGeom>
              <a:noFill/>
            </p:spPr>
            <p:txBody>
              <a:bodyPr wrap="square" rtlCol="0">
                <a:spAutoFit/>
              </a:bodyPr>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30" name="组合 6"/>
              <p:cNvGrpSpPr/>
              <p:nvPr/>
            </p:nvGrpSpPr>
            <p:grpSpPr>
              <a:xfrm>
                <a:off x="3356076" y="408709"/>
                <a:ext cx="1749361" cy="147782"/>
                <a:chOff x="635462" y="775854"/>
                <a:chExt cx="1749361" cy="147782"/>
              </a:xfrm>
              <a:solidFill>
                <a:srgbClr val="EE8A10"/>
              </a:solidFill>
            </p:grpSpPr>
            <p:sp>
              <p:nvSpPr>
                <p:cNvPr id="1048764"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65"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66"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67"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68"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cxnSp>
            <p:nvCxnSpPr>
              <p:cNvPr id="3145736"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5"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pic>
        <p:nvPicPr>
          <p:cNvPr id="3" name="图片 2" descr="ScreenShot_2026-04-07_214613_397"/>
          <p:cNvPicPr>
            <a:picLocks noChangeAspect="1"/>
          </p:cNvPicPr>
          <p:nvPr/>
        </p:nvPicPr>
        <p:blipFill>
          <a:blip r:embed="rId2"/>
          <a:stretch>
            <a:fillRect/>
          </a:stretch>
        </p:blipFill>
        <p:spPr>
          <a:xfrm>
            <a:off x="416560" y="2971800"/>
            <a:ext cx="10658475" cy="3714750"/>
          </a:xfrm>
          <a:prstGeom prst="rect">
            <a:avLst/>
          </a:prstGeom>
        </p:spPr>
      </p:pic>
      <p:sp>
        <p:nvSpPr>
          <p:cNvPr id="2" name="文本框 18"/>
          <p:cNvSpPr txBox="1"/>
          <p:nvPr/>
        </p:nvSpPr>
        <p:spPr>
          <a:xfrm>
            <a:off x="578485" y="1564640"/>
            <a:ext cx="10113645" cy="1758950"/>
          </a:xfrm>
          <a:prstGeom prst="rect">
            <a:avLst/>
          </a:prstGeom>
          <a:noFill/>
        </p:spPr>
        <p:txBody>
          <a:bodyPr wrap="square">
            <a:noAutofit/>
          </a:bodyPr>
          <a:p>
            <a:pPr indent="0" algn="l">
              <a:buFont typeface="+mj-lt"/>
              <a:buNone/>
            </a:pPr>
            <a:r>
              <a:rPr lang="zh-CN" altLang="en-US" b="1" i="0" dirty="0">
                <a:effectLst/>
                <a:latin typeface="微软雅黑" panose="020B0503020204020204" pitchFamily="34" charset="-122"/>
                <a:ea typeface="微软雅黑" panose="020B0503020204020204" pitchFamily="34" charset="-122"/>
              </a:rPr>
              <a:t>用</a:t>
            </a:r>
            <a:r>
              <a:rPr lang="en-US" altLang="zh-CN" b="1" i="0" dirty="0">
                <a:effectLst/>
                <a:latin typeface="微软雅黑" panose="020B0503020204020204" pitchFamily="34" charset="-122"/>
                <a:ea typeface="微软雅黑" panose="020B0503020204020204" pitchFamily="34" charset="-122"/>
              </a:rPr>
              <a:t> D(R,O) </a:t>
            </a:r>
            <a:r>
              <a:rPr lang="zh-CN" altLang="en-US" b="1" i="0" dirty="0">
                <a:effectLst/>
                <a:latin typeface="微软雅黑" panose="020B0503020204020204" pitchFamily="34" charset="-122"/>
                <a:ea typeface="微软雅黑" panose="020B0503020204020204" pitchFamily="34" charset="-122"/>
              </a:rPr>
              <a:t>反推出手在哪里：多边定位：</a:t>
            </a:r>
            <a:endParaRPr lang="zh-CN" altLang="en-US" b="1" i="0" dirty="0">
              <a:effectLst/>
              <a:latin typeface="微软雅黑" panose="020B0503020204020204" pitchFamily="34" charset="-122"/>
              <a:ea typeface="微软雅黑" panose="020B0503020204020204" pitchFamily="34" charset="-122"/>
            </a:endParaRPr>
          </a:p>
          <a:p>
            <a:pPr indent="0" algn="l">
              <a:buFont typeface="+mj-lt"/>
              <a:buNone/>
            </a:pPr>
            <a:r>
              <a:rPr lang="zh-CN" altLang="en-US" b="1" i="0" dirty="0">
                <a:effectLst/>
                <a:latin typeface="微软雅黑" panose="020B0503020204020204" pitchFamily="34" charset="-122"/>
                <a:ea typeface="微软雅黑" panose="020B0503020204020204" pitchFamily="34" charset="-122"/>
              </a:rPr>
              <a:t>对一个手上的点</a:t>
            </a:r>
            <a:r>
              <a:rPr lang="en-US" altLang="zh-CN" b="1" i="0" dirty="0">
                <a:effectLst/>
                <a:latin typeface="微软雅黑" panose="020B0503020204020204" pitchFamily="34" charset="-122"/>
                <a:ea typeface="微软雅黑" panose="020B0503020204020204" pitchFamily="34" charset="-122"/>
              </a:rPr>
              <a:t>p</a:t>
            </a:r>
            <a:r>
              <a:rPr lang="en-US" altLang="zh-CN" b="1" i="0" baseline="-25000" dirty="0">
                <a:effectLst/>
                <a:latin typeface="微软雅黑" panose="020B0503020204020204" pitchFamily="34" charset="-122"/>
                <a:ea typeface="微软雅黑" panose="020B0503020204020204" pitchFamily="34" charset="-122"/>
              </a:rPr>
              <a:t>i</a:t>
            </a:r>
            <a:r>
              <a:rPr lang="zh-CN" altLang="en-US" b="1" i="0" dirty="0">
                <a:effectLst/>
                <a:latin typeface="微软雅黑" panose="020B0503020204020204" pitchFamily="34" charset="-122"/>
                <a:ea typeface="微软雅黑" panose="020B0503020204020204" pitchFamily="34" charset="-122"/>
              </a:rPr>
              <a:t>，知道它到</a:t>
            </a:r>
            <a:r>
              <a:rPr lang="en-US" altLang="zh-CN" b="1" i="0" dirty="0">
                <a:effectLst/>
                <a:latin typeface="微软雅黑" panose="020B0503020204020204" pitchFamily="34" charset="-122"/>
                <a:ea typeface="微软雅黑" panose="020B0503020204020204" pitchFamily="34" charset="-122"/>
              </a:rPr>
              <a:t> 512 </a:t>
            </a:r>
            <a:r>
              <a:rPr lang="zh-CN" altLang="en-US" b="1" i="0" dirty="0">
                <a:effectLst/>
                <a:latin typeface="微软雅黑" panose="020B0503020204020204" pitchFamily="34" charset="-122"/>
                <a:ea typeface="微软雅黑" panose="020B0503020204020204" pitchFamily="34" charset="-122"/>
              </a:rPr>
              <a:t>个物体点的距离</a:t>
            </a:r>
            <a:endParaRPr lang="zh-CN" altLang="en-US" b="1" i="0" dirty="0">
              <a:effectLst/>
              <a:latin typeface="微软雅黑" panose="020B0503020204020204" pitchFamily="34" charset="-122"/>
              <a:ea typeface="微软雅黑" panose="020B0503020204020204" pitchFamily="34" charset="-122"/>
            </a:endParaRPr>
          </a:p>
          <a:p>
            <a:pPr indent="0" algn="l">
              <a:buFont typeface="+mj-lt"/>
              <a:buNone/>
            </a:pPr>
            <a:r>
              <a:rPr lang="zh-CN" altLang="en-US" b="1" i="0" dirty="0">
                <a:effectLst/>
                <a:latin typeface="微软雅黑" panose="020B0503020204020204" pitchFamily="34" charset="-122"/>
                <a:ea typeface="微软雅黑" panose="020B0503020204020204" pitchFamily="34" charset="-122"/>
              </a:rPr>
              <a:t>得到</a:t>
            </a:r>
            <a:r>
              <a:rPr lang="en-US" altLang="zh-CN" b="1" i="0" dirty="0">
                <a:effectLst/>
                <a:latin typeface="微软雅黑" panose="020B0503020204020204" pitchFamily="34" charset="-122"/>
                <a:ea typeface="微软雅黑" panose="020B0503020204020204" pitchFamily="34" charset="-122"/>
              </a:rPr>
              <a:t>P</a:t>
            </a:r>
            <a:r>
              <a:rPr lang="en-US" altLang="zh-CN" b="1" i="0" baseline="-25000" dirty="0">
                <a:effectLst/>
                <a:latin typeface="微软雅黑" panose="020B0503020204020204" pitchFamily="34" charset="-122"/>
                <a:ea typeface="微软雅黑" panose="020B0503020204020204" pitchFamily="34" charset="-122"/>
              </a:rPr>
              <a:t>P​</a:t>
            </a:r>
            <a:r>
              <a:rPr lang="en-US" altLang="zh-CN" b="1" i="0" dirty="0">
                <a:effectLst/>
                <a:latin typeface="微软雅黑" panose="020B0503020204020204" pitchFamily="34" charset="-122"/>
                <a:ea typeface="微软雅黑" panose="020B0503020204020204" pitchFamily="34" charset="-122"/>
              </a:rPr>
              <a:t>=</a:t>
            </a:r>
            <a:r>
              <a:rPr lang="zh-CN" altLang="en-US" b="1" i="0" dirty="0">
                <a:effectLst/>
                <a:latin typeface="微软雅黑" panose="020B0503020204020204" pitchFamily="34" charset="-122"/>
                <a:ea typeface="微软雅黑" panose="020B0503020204020204" pitchFamily="34" charset="-122"/>
              </a:rPr>
              <a:t>预测的手的点云（抓取姿态）</a:t>
            </a:r>
            <a:endParaRPr lang="zh-CN" altLang="en-US" b="1" i="0" dirty="0">
              <a:effectLst/>
              <a:latin typeface="微软雅黑" panose="020B0503020204020204" pitchFamily="34" charset="-122"/>
              <a:ea typeface="微软雅黑" panose="020B0503020204020204" pitchFamily="34" charset="-122"/>
            </a:endParaRPr>
          </a:p>
          <a:p>
            <a:pPr indent="0" algn="l">
              <a:buFont typeface="+mj-lt"/>
              <a:buNone/>
            </a:pPr>
            <a:r>
              <a:rPr lang="zh-CN" altLang="en-US" b="1" i="0" dirty="0">
                <a:effectLst/>
                <a:latin typeface="微软雅黑" panose="020B0503020204020204" pitchFamily="34" charset="-122"/>
                <a:ea typeface="微软雅黑" panose="020B0503020204020204" pitchFamily="34" charset="-122"/>
              </a:rPr>
              <a:t>最后计算每个</a:t>
            </a:r>
            <a:r>
              <a:rPr lang="en-US" altLang="zh-CN" b="1" i="0" dirty="0">
                <a:effectLst/>
                <a:latin typeface="微软雅黑" panose="020B0503020204020204" pitchFamily="34" charset="-122"/>
                <a:ea typeface="微软雅黑" panose="020B0503020204020204" pitchFamily="34" charset="-122"/>
              </a:rPr>
              <a:t> link </a:t>
            </a:r>
            <a:r>
              <a:rPr lang="zh-CN" altLang="en-US" b="1" i="0" dirty="0">
                <a:effectLst/>
                <a:latin typeface="微软雅黑" panose="020B0503020204020204" pitchFamily="34" charset="-122"/>
                <a:ea typeface="微软雅黑" panose="020B0503020204020204" pitchFamily="34" charset="-122"/>
              </a:rPr>
              <a:t>的</a:t>
            </a:r>
            <a:r>
              <a:rPr lang="en-US" altLang="zh-CN" b="1" i="0" dirty="0">
                <a:effectLst/>
                <a:latin typeface="微软雅黑" panose="020B0503020204020204" pitchFamily="34" charset="-122"/>
                <a:ea typeface="微软雅黑" panose="020B0503020204020204" pitchFamily="34" charset="-122"/>
              </a:rPr>
              <a:t> 6D </a:t>
            </a:r>
            <a:r>
              <a:rPr lang="zh-CN" altLang="en-US" b="1" i="0" dirty="0">
                <a:effectLst/>
                <a:latin typeface="微软雅黑" panose="020B0503020204020204" pitchFamily="34" charset="-122"/>
                <a:ea typeface="微软雅黑" panose="020B0503020204020204" pitchFamily="34" charset="-122"/>
              </a:rPr>
              <a:t>位姿，反推出关节角</a:t>
            </a:r>
            <a:endParaRPr lang="zh-CN" altLang="en-US" b="1" i="0" dirty="0">
              <a:effectLst/>
              <a:latin typeface="微软雅黑" panose="020B0503020204020204" pitchFamily="34" charset="-122"/>
              <a:ea typeface="微软雅黑" panose="020B0503020204020204" pitchFamily="34" charset="-122"/>
            </a:endParaRPr>
          </a:p>
        </p:txBody>
      </p:sp>
      <p:pic>
        <p:nvPicPr>
          <p:cNvPr id="6" name="图片 5" descr="ScreenShot_2026-04-07_215342_035"/>
          <p:cNvPicPr>
            <a:picLocks noChangeAspect="1"/>
          </p:cNvPicPr>
          <p:nvPr/>
        </p:nvPicPr>
        <p:blipFill>
          <a:blip r:embed="rId3"/>
          <a:stretch>
            <a:fillRect/>
          </a:stretch>
        </p:blipFill>
        <p:spPr>
          <a:xfrm>
            <a:off x="5984240" y="1461135"/>
            <a:ext cx="4400550" cy="7810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26" name=""/>
        <p:cNvGrpSpPr/>
        <p:nvPr/>
      </p:nvGrpSpPr>
      <p:grpSpPr>
        <a:xfrm>
          <a:off x="0" y="0"/>
          <a:ext cx="0" cy="0"/>
          <a:chOff x="0" y="0"/>
          <a:chExt cx="0" cy="0"/>
        </a:xfrm>
      </p:grpSpPr>
      <p:sp>
        <p:nvSpPr>
          <p:cNvPr id="1048759" name="文本框 1"/>
          <p:cNvSpPr txBox="1"/>
          <p:nvPr/>
        </p:nvSpPr>
        <p:spPr>
          <a:xfrm>
            <a:off x="247650" y="939165"/>
            <a:ext cx="11696700" cy="521970"/>
          </a:xfrm>
          <a:prstGeom prst="rect">
            <a:avLst/>
          </a:prstGeom>
        </p:spPr>
        <p:txBody>
          <a:bodyPr wrap="square">
            <a:spAutoFit/>
          </a:bodyPr>
          <a:p>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阅读文献分析</a:t>
            </a:r>
            <a:r>
              <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——D(R, O) Grasp</a:t>
            </a:r>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实验验证</a:t>
            </a:r>
            <a:endPar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nvGrpSpPr>
          <p:cNvPr id="127" name="组合 2"/>
          <p:cNvGrpSpPr/>
          <p:nvPr/>
        </p:nvGrpSpPr>
        <p:grpSpPr>
          <a:xfrm>
            <a:off x="0" y="156335"/>
            <a:ext cx="11940390" cy="497839"/>
            <a:chOff x="0" y="156335"/>
            <a:chExt cx="11940390" cy="497839"/>
          </a:xfrm>
        </p:grpSpPr>
        <p:grpSp>
          <p:nvGrpSpPr>
            <p:cNvPr id="128" name="组合 3"/>
            <p:cNvGrpSpPr/>
            <p:nvPr/>
          </p:nvGrpSpPr>
          <p:grpSpPr>
            <a:xfrm>
              <a:off x="0" y="156335"/>
              <a:ext cx="9666514" cy="497839"/>
              <a:chOff x="0" y="248698"/>
              <a:chExt cx="9666514" cy="497839"/>
            </a:xfrm>
          </p:grpSpPr>
          <p:grpSp>
            <p:nvGrpSpPr>
              <p:cNvPr id="129" name="组合 4"/>
              <p:cNvGrpSpPr/>
              <p:nvPr/>
            </p:nvGrpSpPr>
            <p:grpSpPr>
              <a:xfrm>
                <a:off x="0" y="294640"/>
                <a:ext cx="880552" cy="375920"/>
                <a:chOff x="0" y="294640"/>
                <a:chExt cx="1094740" cy="467360"/>
              </a:xfrm>
              <a:solidFill>
                <a:srgbClr val="EE8A10"/>
              </a:solidFill>
            </p:grpSpPr>
            <p:sp>
              <p:nvSpPr>
                <p:cNvPr id="104876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4876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4876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1048763" name="文本框 5"/>
              <p:cNvSpPr txBox="1"/>
              <p:nvPr/>
            </p:nvSpPr>
            <p:spPr>
              <a:xfrm>
                <a:off x="972489" y="248698"/>
                <a:ext cx="2702560" cy="497839"/>
              </a:xfrm>
              <a:prstGeom prst="rect">
                <a:avLst/>
              </a:prstGeom>
              <a:noFill/>
            </p:spPr>
            <p:txBody>
              <a:bodyPr wrap="square" rtlCol="0">
                <a:spAutoFit/>
              </a:bodyPr>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30" name="组合 6"/>
              <p:cNvGrpSpPr/>
              <p:nvPr/>
            </p:nvGrpSpPr>
            <p:grpSpPr>
              <a:xfrm>
                <a:off x="3356076" y="408709"/>
                <a:ext cx="1749361" cy="147782"/>
                <a:chOff x="635462" y="775854"/>
                <a:chExt cx="1749361" cy="147782"/>
              </a:xfrm>
              <a:solidFill>
                <a:srgbClr val="EE8A10"/>
              </a:solidFill>
            </p:grpSpPr>
            <p:sp>
              <p:nvSpPr>
                <p:cNvPr id="1048764"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65"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66"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67"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68"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cxnSp>
            <p:nvCxnSpPr>
              <p:cNvPr id="3145736"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5"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1048769" name="文本框 18"/>
          <p:cNvSpPr txBox="1"/>
          <p:nvPr/>
        </p:nvSpPr>
        <p:spPr>
          <a:xfrm>
            <a:off x="578485" y="1640840"/>
            <a:ext cx="10123170" cy="4206875"/>
          </a:xfrm>
          <a:prstGeom prst="rect">
            <a:avLst/>
          </a:prstGeom>
          <a:noFill/>
        </p:spPr>
        <p:txBody>
          <a:bodyPr wrap="square">
            <a:noAutofit/>
          </a:bodyPr>
          <a:p>
            <a:pPr indent="0" algn="l">
              <a:buFont typeface="+mj-lt"/>
              <a:buNone/>
            </a:pPr>
            <a:r>
              <a:rPr lang="en-US" altLang="zh-CN" b="1" i="0" dirty="0">
                <a:effectLst/>
                <a:latin typeface="微软雅黑" panose="020B0503020204020204" pitchFamily="34" charset="-122"/>
                <a:ea typeface="微软雅黑" panose="020B0503020204020204" pitchFamily="34" charset="-122"/>
              </a:rPr>
              <a:t>1.</a:t>
            </a:r>
            <a:r>
              <a:rPr lang="zh-CN" altLang="en-US" b="1" i="0" dirty="0">
                <a:effectLst/>
                <a:latin typeface="微软雅黑" panose="020B0503020204020204" pitchFamily="34" charset="-122"/>
                <a:ea typeface="微软雅黑" panose="020B0503020204020204" pitchFamily="34" charset="-122"/>
              </a:rPr>
              <a:t>实验设置</a:t>
            </a:r>
            <a:endParaRPr lang="zh-CN" altLang="en-US" b="1" i="0" dirty="0">
              <a:effectLst/>
              <a:latin typeface="微软雅黑" panose="020B0503020204020204" pitchFamily="34" charset="-122"/>
              <a:ea typeface="微软雅黑" panose="020B0503020204020204" pitchFamily="34" charset="-122"/>
            </a:endParaRPr>
          </a:p>
          <a:p>
            <a:pPr indent="457200" algn="l">
              <a:buFont typeface="+mj-lt"/>
              <a:buNone/>
            </a:pPr>
            <a:r>
              <a:rPr lang="zh-CN" altLang="en-US" b="1" i="0" dirty="0">
                <a:effectLst/>
                <a:latin typeface="微软雅黑" panose="020B0503020204020204" pitchFamily="34" charset="-122"/>
                <a:ea typeface="微软雅黑" panose="020B0503020204020204" pitchFamily="34" charset="-122"/>
              </a:rPr>
              <a:t>数据集：基于</a:t>
            </a:r>
            <a:r>
              <a:rPr lang="en-US" altLang="zh-CN" b="1" i="0" dirty="0">
                <a:effectLst/>
                <a:latin typeface="微软雅黑" panose="020B0503020204020204" pitchFamily="34" charset="-122"/>
                <a:ea typeface="微软雅黑" panose="020B0503020204020204" pitchFamily="34" charset="-122"/>
              </a:rPr>
              <a:t> CMapDataset </a:t>
            </a:r>
            <a:r>
              <a:rPr lang="zh-CN" altLang="en-US" b="1" i="0" dirty="0">
                <a:effectLst/>
                <a:latin typeface="微软雅黑" panose="020B0503020204020204" pitchFamily="34" charset="-122"/>
                <a:ea typeface="微软雅黑" panose="020B0503020204020204" pitchFamily="34" charset="-122"/>
              </a:rPr>
              <a:t>的子集，包含</a:t>
            </a:r>
            <a:r>
              <a:rPr lang="en-US" altLang="zh-CN" b="1" i="0" dirty="0">
                <a:effectLst/>
                <a:latin typeface="微软雅黑" panose="020B0503020204020204" pitchFamily="34" charset="-122"/>
                <a:ea typeface="微软雅黑" panose="020B0503020204020204" pitchFamily="34" charset="-122"/>
              </a:rPr>
              <a:t> 73 </a:t>
            </a:r>
            <a:r>
              <a:rPr lang="zh-CN" altLang="en-US" b="1" i="0" dirty="0">
                <a:effectLst/>
                <a:latin typeface="微软雅黑" panose="020B0503020204020204" pitchFamily="34" charset="-122"/>
                <a:ea typeface="微软雅黑" panose="020B0503020204020204" pitchFamily="34" charset="-122"/>
              </a:rPr>
              <a:t>个物体，</a:t>
            </a:r>
            <a:r>
              <a:rPr lang="en-US" altLang="zh-CN" b="1" i="0" dirty="0">
                <a:effectLst/>
                <a:latin typeface="微软雅黑" panose="020B0503020204020204" pitchFamily="34" charset="-122"/>
                <a:ea typeface="微软雅黑" panose="020B0503020204020204" pitchFamily="34" charset="-122"/>
              </a:rPr>
              <a:t>2.4 </a:t>
            </a:r>
            <a:r>
              <a:rPr lang="zh-CN" altLang="en-US" b="1" i="0" dirty="0">
                <a:effectLst/>
                <a:latin typeface="微软雅黑" panose="020B0503020204020204" pitchFamily="34" charset="-122"/>
                <a:ea typeface="微软雅黑" panose="020B0503020204020204" pitchFamily="34" charset="-122"/>
              </a:rPr>
              <a:t>万个抓取数据。</a:t>
            </a:r>
            <a:endParaRPr lang="zh-CN" altLang="en-US" b="1" i="0" dirty="0">
              <a:effectLst/>
              <a:latin typeface="微软雅黑" panose="020B0503020204020204" pitchFamily="34" charset="-122"/>
              <a:ea typeface="微软雅黑" panose="020B0503020204020204" pitchFamily="34" charset="-122"/>
            </a:endParaRPr>
          </a:p>
          <a:p>
            <a:pPr indent="457200" algn="l">
              <a:buFont typeface="+mj-lt"/>
              <a:buNone/>
            </a:pPr>
            <a:r>
              <a:rPr lang="zh-CN" altLang="en-US" b="1" i="0" dirty="0">
                <a:effectLst/>
                <a:latin typeface="微软雅黑" panose="020B0503020204020204" pitchFamily="34" charset="-122"/>
                <a:ea typeface="微软雅黑" panose="020B0503020204020204" pitchFamily="34" charset="-122"/>
              </a:rPr>
              <a:t>机械手：</a:t>
            </a:r>
            <a:r>
              <a:rPr lang="en-US" altLang="zh-CN" b="1" i="0" dirty="0">
                <a:effectLst/>
                <a:latin typeface="微软雅黑" panose="020B0503020204020204" pitchFamily="34" charset="-122"/>
                <a:ea typeface="微软雅黑" panose="020B0503020204020204" pitchFamily="34" charset="-122"/>
              </a:rPr>
              <a:t>Barrett (3</a:t>
            </a:r>
            <a:r>
              <a:rPr lang="zh-CN" altLang="en-US" b="1" i="0" dirty="0">
                <a:effectLst/>
                <a:latin typeface="微软雅黑" panose="020B0503020204020204" pitchFamily="34" charset="-122"/>
                <a:ea typeface="微软雅黑" panose="020B0503020204020204" pitchFamily="34" charset="-122"/>
              </a:rPr>
              <a:t>指</a:t>
            </a:r>
            <a:r>
              <a:rPr lang="en-US" altLang="zh-CN" b="1" i="0" dirty="0">
                <a:effectLst/>
                <a:latin typeface="微软雅黑" panose="020B0503020204020204" pitchFamily="34" charset="-122"/>
                <a:ea typeface="微软雅黑" panose="020B0503020204020204" pitchFamily="34" charset="-122"/>
              </a:rPr>
              <a:t>), Allegro (4</a:t>
            </a:r>
            <a:r>
              <a:rPr lang="zh-CN" altLang="en-US" b="1" i="0" dirty="0">
                <a:effectLst/>
                <a:latin typeface="微软雅黑" panose="020B0503020204020204" pitchFamily="34" charset="-122"/>
                <a:ea typeface="微软雅黑" panose="020B0503020204020204" pitchFamily="34" charset="-122"/>
              </a:rPr>
              <a:t>指</a:t>
            </a:r>
            <a:r>
              <a:rPr lang="en-US" altLang="zh-CN" b="1" i="0" dirty="0">
                <a:effectLst/>
                <a:latin typeface="微软雅黑" panose="020B0503020204020204" pitchFamily="34" charset="-122"/>
                <a:ea typeface="微软雅黑" panose="020B0503020204020204" pitchFamily="34" charset="-122"/>
              </a:rPr>
              <a:t>), ShadowHand (5</a:t>
            </a:r>
            <a:r>
              <a:rPr lang="zh-CN" altLang="en-US" b="1" i="0" dirty="0">
                <a:effectLst/>
                <a:latin typeface="微软雅黑" panose="020B0503020204020204" pitchFamily="34" charset="-122"/>
                <a:ea typeface="微软雅黑" panose="020B0503020204020204" pitchFamily="34" charset="-122"/>
              </a:rPr>
              <a:t>指</a:t>
            </a:r>
            <a:r>
              <a:rPr lang="en-US" altLang="zh-CN" b="1" i="0" dirty="0">
                <a:effectLst/>
                <a:latin typeface="微软雅黑" panose="020B0503020204020204" pitchFamily="34" charset="-122"/>
                <a:ea typeface="微软雅黑" panose="020B0503020204020204" pitchFamily="34" charset="-122"/>
              </a:rPr>
              <a:t>)</a:t>
            </a:r>
            <a:r>
              <a:rPr lang="zh-CN" altLang="en-US" b="1" i="0" dirty="0">
                <a:effectLst/>
                <a:latin typeface="微软雅黑" panose="020B0503020204020204" pitchFamily="34" charset="-122"/>
                <a:ea typeface="微软雅黑" panose="020B0503020204020204" pitchFamily="34" charset="-122"/>
              </a:rPr>
              <a:t>。</a:t>
            </a:r>
            <a:endParaRPr lang="zh-CN" altLang="en-US" b="1" i="0" dirty="0">
              <a:effectLst/>
              <a:latin typeface="微软雅黑" panose="020B0503020204020204" pitchFamily="34" charset="-122"/>
              <a:ea typeface="微软雅黑" panose="020B0503020204020204" pitchFamily="34" charset="-122"/>
            </a:endParaRPr>
          </a:p>
          <a:p>
            <a:pPr indent="457200" algn="l">
              <a:buFont typeface="+mj-lt"/>
              <a:buNone/>
            </a:pPr>
            <a:r>
              <a:rPr lang="zh-CN" altLang="en-US" b="1" i="0" dirty="0">
                <a:effectLst/>
                <a:latin typeface="微软雅黑" panose="020B0503020204020204" pitchFamily="34" charset="-122"/>
                <a:ea typeface="微软雅黑" panose="020B0503020204020204" pitchFamily="34" charset="-122"/>
              </a:rPr>
              <a:t>对比基线：</a:t>
            </a:r>
            <a:r>
              <a:rPr lang="en-US" altLang="zh-CN" b="1" i="0" dirty="0">
                <a:effectLst/>
                <a:latin typeface="微软雅黑" panose="020B0503020204020204" pitchFamily="34" charset="-122"/>
                <a:ea typeface="微软雅黑" panose="020B0503020204020204" pitchFamily="34" charset="-122"/>
              </a:rPr>
              <a:t>DFC (</a:t>
            </a:r>
            <a:r>
              <a:rPr lang="zh-CN" altLang="en-US" b="1" i="0" dirty="0">
                <a:effectLst/>
                <a:latin typeface="微软雅黑" panose="020B0503020204020204" pitchFamily="34" charset="-122"/>
                <a:ea typeface="微软雅黑" panose="020B0503020204020204" pitchFamily="34" charset="-122"/>
              </a:rPr>
              <a:t>优化法</a:t>
            </a:r>
            <a:r>
              <a:rPr lang="en-US" altLang="zh-CN" b="1" i="0" dirty="0">
                <a:effectLst/>
                <a:latin typeface="微软雅黑" panose="020B0503020204020204" pitchFamily="34" charset="-122"/>
                <a:ea typeface="微软雅黑" panose="020B0503020204020204" pitchFamily="34" charset="-122"/>
              </a:rPr>
              <a:t>), GenDexGrasp (</a:t>
            </a:r>
            <a:r>
              <a:rPr lang="zh-CN" altLang="en-US" b="1" i="0" dirty="0">
                <a:effectLst/>
                <a:latin typeface="微软雅黑" panose="020B0503020204020204" pitchFamily="34" charset="-122"/>
                <a:ea typeface="微软雅黑" panose="020B0503020204020204" pitchFamily="34" charset="-122"/>
              </a:rPr>
              <a:t>接触图法</a:t>
            </a:r>
            <a:r>
              <a:rPr lang="en-US" altLang="zh-CN" b="1" i="0" dirty="0">
                <a:effectLst/>
                <a:latin typeface="微软雅黑" panose="020B0503020204020204" pitchFamily="34" charset="-122"/>
                <a:ea typeface="微软雅黑" panose="020B0503020204020204" pitchFamily="34" charset="-122"/>
              </a:rPr>
              <a:t>), ManiFM (</a:t>
            </a:r>
            <a:r>
              <a:rPr lang="zh-CN" altLang="en-US" b="1" i="0" dirty="0">
                <a:effectLst/>
                <a:latin typeface="微软雅黑" panose="020B0503020204020204" pitchFamily="34" charset="-122"/>
                <a:ea typeface="微软雅黑" panose="020B0503020204020204" pitchFamily="34" charset="-122"/>
              </a:rPr>
              <a:t>基础模型法</a:t>
            </a:r>
            <a:r>
              <a:rPr lang="en-US" altLang="zh-CN" b="1" i="0" dirty="0">
                <a:effectLst/>
                <a:latin typeface="微软雅黑" panose="020B0503020204020204" pitchFamily="34" charset="-122"/>
                <a:ea typeface="微软雅黑" panose="020B0503020204020204" pitchFamily="34" charset="-122"/>
              </a:rPr>
              <a:t>)</a:t>
            </a:r>
            <a:r>
              <a:rPr lang="zh-CN" altLang="en-US" b="1" i="0" dirty="0">
                <a:effectLst/>
                <a:latin typeface="微软雅黑" panose="020B0503020204020204" pitchFamily="34" charset="-122"/>
                <a:ea typeface="微软雅黑" panose="020B0503020204020204" pitchFamily="34" charset="-122"/>
              </a:rPr>
              <a:t>。</a:t>
            </a:r>
            <a:endParaRPr lang="zh-CN" altLang="en-US" b="1" i="0" dirty="0">
              <a:effectLst/>
              <a:latin typeface="微软雅黑" panose="020B0503020204020204" pitchFamily="34" charset="-122"/>
              <a:ea typeface="微软雅黑" panose="020B0503020204020204" pitchFamily="34" charset="-122"/>
            </a:endParaRPr>
          </a:p>
          <a:p>
            <a:pPr marL="0" lvl="0" indent="0" algn="l">
              <a:buFont typeface="+mj-lt"/>
              <a:buNone/>
            </a:pPr>
            <a:r>
              <a:rPr lang="en-US" altLang="zh-CN" b="1" i="0" dirty="0">
                <a:solidFill>
                  <a:schemeClr val="tx1"/>
                </a:solidFill>
                <a:effectLst/>
                <a:latin typeface="微软雅黑" panose="020B0503020204020204" pitchFamily="34" charset="-122"/>
                <a:ea typeface="微软雅黑" panose="020B0503020204020204" pitchFamily="34" charset="-122"/>
              </a:rPr>
              <a:t>2.</a:t>
            </a:r>
            <a:r>
              <a:rPr lang="zh-CN" altLang="en-US" b="1" i="0" dirty="0">
                <a:solidFill>
                  <a:schemeClr val="tx1"/>
                </a:solidFill>
                <a:effectLst/>
                <a:latin typeface="微软雅黑" panose="020B0503020204020204" pitchFamily="34" charset="-122"/>
                <a:ea typeface="微软雅黑" panose="020B0503020204020204" pitchFamily="34" charset="-122"/>
              </a:rPr>
              <a:t>实验结果</a:t>
            </a:r>
            <a:endParaRPr lang="zh-CN" altLang="en-US" b="1" i="0" dirty="0">
              <a:solidFill>
                <a:schemeClr val="tx1"/>
              </a:solidFill>
              <a:effectLst/>
              <a:latin typeface="微软雅黑" panose="020B0503020204020204" pitchFamily="34" charset="-122"/>
              <a:ea typeface="微软雅黑" panose="020B0503020204020204" pitchFamily="34" charset="-122"/>
            </a:endParaRPr>
          </a:p>
          <a:p>
            <a:pPr marL="0" lvl="0" indent="457200" algn="l">
              <a:buFont typeface="+mj-lt"/>
              <a:buNone/>
            </a:pPr>
            <a:endParaRPr lang="zh-CN" altLang="en-US" b="1" i="0" dirty="0">
              <a:solidFill>
                <a:schemeClr val="tx1"/>
              </a:solidFill>
              <a:effectLst/>
              <a:latin typeface="微软雅黑" panose="020B0503020204020204" pitchFamily="34" charset="-122"/>
              <a:ea typeface="微软雅黑" panose="020B0503020204020204" pitchFamily="34" charset="-122"/>
            </a:endParaRPr>
          </a:p>
        </p:txBody>
      </p:sp>
      <p:pic>
        <p:nvPicPr>
          <p:cNvPr id="2" name="图片 1" descr="ScreenShot_2026-04-07_222302_505"/>
          <p:cNvPicPr>
            <a:picLocks noChangeAspect="1"/>
          </p:cNvPicPr>
          <p:nvPr/>
        </p:nvPicPr>
        <p:blipFill>
          <a:blip r:embed="rId2"/>
          <a:stretch>
            <a:fillRect/>
          </a:stretch>
        </p:blipFill>
        <p:spPr>
          <a:xfrm>
            <a:off x="637540" y="3176270"/>
            <a:ext cx="10477500" cy="252412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26" name=""/>
        <p:cNvGrpSpPr/>
        <p:nvPr/>
      </p:nvGrpSpPr>
      <p:grpSpPr>
        <a:xfrm>
          <a:off x="0" y="0"/>
          <a:ext cx="0" cy="0"/>
          <a:chOff x="0" y="0"/>
          <a:chExt cx="0" cy="0"/>
        </a:xfrm>
      </p:grpSpPr>
      <p:sp>
        <p:nvSpPr>
          <p:cNvPr id="1048759" name="文本框 1"/>
          <p:cNvSpPr txBox="1"/>
          <p:nvPr/>
        </p:nvSpPr>
        <p:spPr>
          <a:xfrm>
            <a:off x="247650" y="939165"/>
            <a:ext cx="11696700" cy="521970"/>
          </a:xfrm>
          <a:prstGeom prst="rect">
            <a:avLst/>
          </a:prstGeom>
        </p:spPr>
        <p:txBody>
          <a:bodyPr wrap="square">
            <a:spAutoFit/>
          </a:bodyPr>
          <a:p>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阅读文献分析</a:t>
            </a:r>
            <a:r>
              <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——D(R, O) Grasp</a:t>
            </a:r>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优点</a:t>
            </a:r>
            <a:endPar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nvGrpSpPr>
          <p:cNvPr id="127" name="组合 2"/>
          <p:cNvGrpSpPr/>
          <p:nvPr/>
        </p:nvGrpSpPr>
        <p:grpSpPr>
          <a:xfrm>
            <a:off x="0" y="156335"/>
            <a:ext cx="11940390" cy="497839"/>
            <a:chOff x="0" y="156335"/>
            <a:chExt cx="11940390" cy="497839"/>
          </a:xfrm>
        </p:grpSpPr>
        <p:grpSp>
          <p:nvGrpSpPr>
            <p:cNvPr id="128" name="组合 3"/>
            <p:cNvGrpSpPr/>
            <p:nvPr/>
          </p:nvGrpSpPr>
          <p:grpSpPr>
            <a:xfrm>
              <a:off x="0" y="156335"/>
              <a:ext cx="9666514" cy="497839"/>
              <a:chOff x="0" y="248698"/>
              <a:chExt cx="9666514" cy="497839"/>
            </a:xfrm>
          </p:grpSpPr>
          <p:grpSp>
            <p:nvGrpSpPr>
              <p:cNvPr id="129" name="组合 4"/>
              <p:cNvGrpSpPr/>
              <p:nvPr/>
            </p:nvGrpSpPr>
            <p:grpSpPr>
              <a:xfrm>
                <a:off x="0" y="294640"/>
                <a:ext cx="880552" cy="375920"/>
                <a:chOff x="0" y="294640"/>
                <a:chExt cx="1094740" cy="467360"/>
              </a:xfrm>
              <a:solidFill>
                <a:srgbClr val="EE8A10"/>
              </a:solidFill>
            </p:grpSpPr>
            <p:sp>
              <p:nvSpPr>
                <p:cNvPr id="104876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4876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4876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1048763" name="文本框 5"/>
              <p:cNvSpPr txBox="1"/>
              <p:nvPr/>
            </p:nvSpPr>
            <p:spPr>
              <a:xfrm>
                <a:off x="972489" y="248698"/>
                <a:ext cx="2702560" cy="497839"/>
              </a:xfrm>
              <a:prstGeom prst="rect">
                <a:avLst/>
              </a:prstGeom>
              <a:noFill/>
            </p:spPr>
            <p:txBody>
              <a:bodyPr wrap="square" rtlCol="0">
                <a:spAutoFit/>
              </a:bodyPr>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30" name="组合 6"/>
              <p:cNvGrpSpPr/>
              <p:nvPr/>
            </p:nvGrpSpPr>
            <p:grpSpPr>
              <a:xfrm>
                <a:off x="3356076" y="408709"/>
                <a:ext cx="1749361" cy="147782"/>
                <a:chOff x="635462" y="775854"/>
                <a:chExt cx="1749361" cy="147782"/>
              </a:xfrm>
              <a:solidFill>
                <a:srgbClr val="EE8A10"/>
              </a:solidFill>
            </p:grpSpPr>
            <p:sp>
              <p:nvSpPr>
                <p:cNvPr id="1048764"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65"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66"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67"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68"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cxnSp>
            <p:nvCxnSpPr>
              <p:cNvPr id="3145736"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5"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1048769" name="文本框 18"/>
          <p:cNvSpPr txBox="1"/>
          <p:nvPr/>
        </p:nvSpPr>
        <p:spPr>
          <a:xfrm>
            <a:off x="817245" y="1936115"/>
            <a:ext cx="9932035" cy="3746500"/>
          </a:xfrm>
          <a:prstGeom prst="rect">
            <a:avLst/>
          </a:prstGeom>
          <a:noFill/>
        </p:spPr>
        <p:txBody>
          <a:bodyPr wrap="square">
            <a:noAutofit/>
          </a:bodyPr>
          <a:p>
            <a:pPr indent="0" algn="l" fontAlgn="auto">
              <a:lnSpc>
                <a:spcPct val="200000"/>
              </a:lnSpc>
              <a:buFont typeface="+mj-lt"/>
              <a:buAutoNum type="arabicPeriod"/>
            </a:pPr>
            <a:r>
              <a:rPr lang="zh-CN" altLang="en-US" b="1" i="0" dirty="0">
                <a:effectLst/>
                <a:latin typeface="微软雅黑" panose="020B0503020204020204" pitchFamily="34" charset="-122"/>
                <a:ea typeface="微软雅黑" panose="020B0503020204020204" pitchFamily="34" charset="-122"/>
              </a:rPr>
              <a:t>打破瓶颈：成功解决了</a:t>
            </a:r>
            <a:r>
              <a:rPr lang="en-US" altLang="zh-CN" b="1" i="0" dirty="0">
                <a:effectLst/>
                <a:latin typeface="微软雅黑" panose="020B0503020204020204" pitchFamily="34" charset="-122"/>
                <a:ea typeface="微软雅黑" panose="020B0503020204020204" pitchFamily="34" charset="-122"/>
              </a:rPr>
              <a:t>“</a:t>
            </a:r>
            <a:r>
              <a:rPr lang="zh-CN" altLang="en-US" b="1" i="0" dirty="0">
                <a:effectLst/>
                <a:latin typeface="微软雅黑" panose="020B0503020204020204" pitchFamily="34" charset="-122"/>
                <a:ea typeface="微软雅黑" panose="020B0503020204020204" pitchFamily="34" charset="-122"/>
              </a:rPr>
              <a:t>物体中心法推理慢</a:t>
            </a:r>
            <a:r>
              <a:rPr lang="en-US" altLang="zh-CN" b="1" i="0" dirty="0">
                <a:effectLst/>
                <a:latin typeface="微软雅黑" panose="020B0503020204020204" pitchFamily="34" charset="-122"/>
                <a:ea typeface="微软雅黑" panose="020B0503020204020204" pitchFamily="34" charset="-122"/>
              </a:rPr>
              <a:t>”</a:t>
            </a:r>
            <a:r>
              <a:rPr lang="zh-CN" altLang="en-US" b="1" i="0" dirty="0">
                <a:effectLst/>
                <a:latin typeface="微软雅黑" panose="020B0503020204020204" pitchFamily="34" charset="-122"/>
                <a:ea typeface="微软雅黑" panose="020B0503020204020204" pitchFamily="34" charset="-122"/>
              </a:rPr>
              <a:t>和</a:t>
            </a:r>
            <a:r>
              <a:rPr lang="en-US" altLang="zh-CN" b="1" i="0" dirty="0">
                <a:effectLst/>
                <a:latin typeface="微软雅黑" panose="020B0503020204020204" pitchFamily="34" charset="-122"/>
                <a:ea typeface="微软雅黑" panose="020B0503020204020204" pitchFamily="34" charset="-122"/>
              </a:rPr>
              <a:t>“</a:t>
            </a:r>
            <a:r>
              <a:rPr lang="zh-CN" altLang="en-US" b="1" i="0" dirty="0">
                <a:effectLst/>
                <a:latin typeface="微软雅黑" panose="020B0503020204020204" pitchFamily="34" charset="-122"/>
                <a:ea typeface="微软雅黑" panose="020B0503020204020204" pitchFamily="34" charset="-122"/>
              </a:rPr>
              <a:t>机器人中心法泛化差</a:t>
            </a:r>
            <a:r>
              <a:rPr lang="en-US" altLang="zh-CN" b="1" i="0" dirty="0">
                <a:effectLst/>
                <a:latin typeface="微软雅黑" panose="020B0503020204020204" pitchFamily="34" charset="-122"/>
                <a:ea typeface="微软雅黑" panose="020B0503020204020204" pitchFamily="34" charset="-122"/>
              </a:rPr>
              <a:t>”</a:t>
            </a:r>
            <a:r>
              <a:rPr lang="zh-CN" altLang="en-US" b="1" i="0" dirty="0">
                <a:effectLst/>
                <a:latin typeface="微软雅黑" panose="020B0503020204020204" pitchFamily="34" charset="-122"/>
                <a:ea typeface="微软雅黑" panose="020B0503020204020204" pitchFamily="34" charset="-122"/>
              </a:rPr>
              <a:t>的两难困境。</a:t>
            </a:r>
            <a:endParaRPr lang="zh-CN" altLang="en-US" b="1" i="0" dirty="0">
              <a:effectLst/>
              <a:latin typeface="微软雅黑" panose="020B0503020204020204" pitchFamily="34" charset="-122"/>
              <a:ea typeface="微软雅黑" panose="020B0503020204020204" pitchFamily="34" charset="-122"/>
            </a:endParaRPr>
          </a:p>
          <a:p>
            <a:pPr indent="0" algn="l" fontAlgn="auto">
              <a:lnSpc>
                <a:spcPct val="200000"/>
              </a:lnSpc>
              <a:buFont typeface="+mj-lt"/>
              <a:buAutoNum type="arabicPeriod"/>
            </a:pPr>
            <a:r>
              <a:rPr lang="zh-CN" altLang="en-US" b="1" i="0" dirty="0">
                <a:effectLst/>
                <a:latin typeface="微软雅黑" panose="020B0503020204020204" pitchFamily="34" charset="-122"/>
                <a:ea typeface="微软雅黑" panose="020B0503020204020204" pitchFamily="34" charset="-122"/>
              </a:rPr>
              <a:t>高效直接：将复杂的抓取生成转化为几何计算问题，避免了耗时的梯度下降或采样优化</a:t>
            </a:r>
            <a:endParaRPr lang="zh-CN" altLang="en-US" b="1" i="0" dirty="0">
              <a:effectLst/>
              <a:latin typeface="微软雅黑" panose="020B0503020204020204" pitchFamily="34" charset="-122"/>
              <a:ea typeface="微软雅黑" panose="020B0503020204020204" pitchFamily="34" charset="-122"/>
            </a:endParaRPr>
          </a:p>
          <a:p>
            <a:pPr indent="0" algn="l" fontAlgn="auto">
              <a:lnSpc>
                <a:spcPct val="200000"/>
              </a:lnSpc>
              <a:buFont typeface="+mj-lt"/>
              <a:buAutoNum type="arabicPeriod"/>
            </a:pPr>
            <a:r>
              <a:rPr lang="zh-CN" altLang="en-US" b="1" i="0" dirty="0">
                <a:effectLst/>
                <a:latin typeface="微软雅黑" panose="020B0503020204020204" pitchFamily="34" charset="-122"/>
                <a:ea typeface="微软雅黑" panose="020B0503020204020204" pitchFamily="34" charset="-122"/>
              </a:rPr>
              <a:t>强鲁棒性：对部分点云输入（遮挡）具有天然的鲁棒性，适合真实场景。</a:t>
            </a:r>
            <a:endParaRPr lang="zh-CN" altLang="en-US" b="1" i="0" dirty="0">
              <a:effectLst/>
              <a:latin typeface="微软雅黑" panose="020B0503020204020204" pitchFamily="34" charset="-122"/>
              <a:ea typeface="微软雅黑" panose="020B0503020204020204" pitchFamily="34" charset="-122"/>
            </a:endParaRPr>
          </a:p>
          <a:p>
            <a:pPr indent="0" algn="l" fontAlgn="auto">
              <a:lnSpc>
                <a:spcPct val="200000"/>
              </a:lnSpc>
              <a:buFont typeface="+mj-lt"/>
              <a:buAutoNum type="arabicPeriod"/>
            </a:pPr>
            <a:r>
              <a:rPr lang="zh-CN" altLang="en-US" b="1" i="0" dirty="0">
                <a:effectLst/>
                <a:latin typeface="微软雅黑" panose="020B0503020204020204" pitchFamily="34" charset="-122"/>
                <a:ea typeface="微软雅黑" panose="020B0503020204020204" pitchFamily="34" charset="-122"/>
              </a:rPr>
              <a:t>统一表示：一套框架通吃多种机械手，大大降低了为每个新机械手重新训练模型的成本。</a:t>
            </a:r>
            <a:endParaRPr lang="zh-CN" altLang="en-US" b="1" i="0" dirty="0">
              <a:effectLst/>
              <a:latin typeface="微软雅黑" panose="020B0503020204020204" pitchFamily="34" charset="-122"/>
              <a:ea typeface="微软雅黑" panose="020B0503020204020204" pitchFamily="34" charset="-122"/>
            </a:endParaRPr>
          </a:p>
          <a:p>
            <a:pPr algn="l">
              <a:buFont typeface="+mj-lt"/>
              <a:buAutoNum type="arabicPeriod"/>
            </a:pPr>
            <a:endParaRPr lang="zh-CN" altLang="en-US" b="1" i="0" dirty="0">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26" name=""/>
        <p:cNvGrpSpPr/>
        <p:nvPr/>
      </p:nvGrpSpPr>
      <p:grpSpPr>
        <a:xfrm>
          <a:off x="0" y="0"/>
          <a:ext cx="0" cy="0"/>
          <a:chOff x="0" y="0"/>
          <a:chExt cx="0" cy="0"/>
        </a:xfrm>
      </p:grpSpPr>
      <p:sp>
        <p:nvSpPr>
          <p:cNvPr id="1048759" name="文本框 1"/>
          <p:cNvSpPr txBox="1"/>
          <p:nvPr/>
        </p:nvSpPr>
        <p:spPr>
          <a:xfrm>
            <a:off x="247650" y="939165"/>
            <a:ext cx="11696700" cy="521970"/>
          </a:xfrm>
          <a:prstGeom prst="rect">
            <a:avLst/>
          </a:prstGeom>
        </p:spPr>
        <p:txBody>
          <a:bodyPr wrap="square">
            <a:spAutoFit/>
          </a:bodyPr>
          <a:p>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阅读文献分析</a:t>
            </a:r>
            <a:r>
              <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DexGraspNet</a:t>
            </a:r>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数据集</a:t>
            </a:r>
            <a:endPar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127" name="组合 2"/>
          <p:cNvGrpSpPr/>
          <p:nvPr/>
        </p:nvGrpSpPr>
        <p:grpSpPr>
          <a:xfrm>
            <a:off x="0" y="156335"/>
            <a:ext cx="11940390" cy="497839"/>
            <a:chOff x="0" y="156335"/>
            <a:chExt cx="11940390" cy="497839"/>
          </a:xfrm>
        </p:grpSpPr>
        <p:grpSp>
          <p:nvGrpSpPr>
            <p:cNvPr id="128" name="组合 3"/>
            <p:cNvGrpSpPr/>
            <p:nvPr/>
          </p:nvGrpSpPr>
          <p:grpSpPr>
            <a:xfrm>
              <a:off x="0" y="156335"/>
              <a:ext cx="9666514" cy="497839"/>
              <a:chOff x="0" y="248698"/>
              <a:chExt cx="9666514" cy="497839"/>
            </a:xfrm>
          </p:grpSpPr>
          <p:grpSp>
            <p:nvGrpSpPr>
              <p:cNvPr id="129" name="组合 4"/>
              <p:cNvGrpSpPr/>
              <p:nvPr/>
            </p:nvGrpSpPr>
            <p:grpSpPr>
              <a:xfrm>
                <a:off x="0" y="294640"/>
                <a:ext cx="880552" cy="375920"/>
                <a:chOff x="0" y="294640"/>
                <a:chExt cx="1094740" cy="467360"/>
              </a:xfrm>
              <a:solidFill>
                <a:srgbClr val="EE8A10"/>
              </a:solidFill>
            </p:grpSpPr>
            <p:sp>
              <p:nvSpPr>
                <p:cNvPr id="104876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4876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4876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1048763" name="文本框 5"/>
              <p:cNvSpPr txBox="1"/>
              <p:nvPr/>
            </p:nvSpPr>
            <p:spPr>
              <a:xfrm>
                <a:off x="972489" y="248698"/>
                <a:ext cx="2702560" cy="497839"/>
              </a:xfrm>
              <a:prstGeom prst="rect">
                <a:avLst/>
              </a:prstGeom>
              <a:noFill/>
            </p:spPr>
            <p:txBody>
              <a:bodyPr wrap="square" rtlCol="0">
                <a:spAutoFit/>
              </a:bodyPr>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30" name="组合 6"/>
              <p:cNvGrpSpPr/>
              <p:nvPr/>
            </p:nvGrpSpPr>
            <p:grpSpPr>
              <a:xfrm>
                <a:off x="3356076" y="408709"/>
                <a:ext cx="1749361" cy="147782"/>
                <a:chOff x="635462" y="775854"/>
                <a:chExt cx="1749361" cy="147782"/>
              </a:xfrm>
              <a:solidFill>
                <a:srgbClr val="EE8A10"/>
              </a:solidFill>
            </p:grpSpPr>
            <p:sp>
              <p:nvSpPr>
                <p:cNvPr id="1048764"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65"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66"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67"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68"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cxnSp>
            <p:nvCxnSpPr>
              <p:cNvPr id="3145736"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5"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1048769" name="文本框 18"/>
          <p:cNvSpPr txBox="1"/>
          <p:nvPr/>
        </p:nvSpPr>
        <p:spPr>
          <a:xfrm>
            <a:off x="492760" y="1821815"/>
            <a:ext cx="10027920" cy="3990340"/>
          </a:xfrm>
          <a:prstGeom prst="rect">
            <a:avLst/>
          </a:prstGeom>
          <a:noFill/>
        </p:spPr>
        <p:txBody>
          <a:bodyPr wrap="square">
            <a:noAutofit/>
          </a:bodyPr>
          <a:p>
            <a:pPr indent="0" algn="l">
              <a:buFont typeface="+mj-lt"/>
              <a:buNone/>
            </a:pPr>
            <a:r>
              <a:rPr lang="zh-CN" altLang="en-US" b="1" i="0" dirty="0">
                <a:effectLst/>
                <a:latin typeface="微软雅黑" panose="020B0503020204020204" pitchFamily="34" charset="-122"/>
                <a:ea typeface="微软雅黑" panose="020B0503020204020204" pitchFamily="34" charset="-122"/>
              </a:rPr>
              <a:t>研究背景与解决的问题</a:t>
            </a:r>
            <a:endParaRPr lang="zh-CN" altLang="en-US" b="1" i="0" dirty="0">
              <a:effectLst/>
              <a:latin typeface="微软雅黑" panose="020B0503020204020204" pitchFamily="34" charset="-122"/>
              <a:ea typeface="微软雅黑" panose="020B0503020204020204" pitchFamily="34" charset="-122"/>
            </a:endParaRPr>
          </a:p>
          <a:p>
            <a:pPr indent="0" algn="l">
              <a:buFont typeface="+mj-lt"/>
              <a:buNone/>
            </a:pPr>
            <a:endParaRPr lang="zh-CN" altLang="en-US" b="1" i="0" dirty="0">
              <a:effectLst/>
              <a:latin typeface="微软雅黑" panose="020B0503020204020204" pitchFamily="34" charset="-122"/>
              <a:ea typeface="微软雅黑" panose="020B0503020204020204" pitchFamily="34" charset="-122"/>
            </a:endParaRPr>
          </a:p>
          <a:p>
            <a:pPr indent="0" algn="l">
              <a:buFont typeface="+mj-lt"/>
              <a:buNone/>
            </a:pPr>
            <a:r>
              <a:rPr lang="en-US" altLang="zh-CN" b="1" i="0" dirty="0">
                <a:effectLst/>
                <a:latin typeface="微软雅黑" panose="020B0503020204020204" pitchFamily="34" charset="-122"/>
                <a:ea typeface="微软雅黑" panose="020B0503020204020204" pitchFamily="34" charset="-122"/>
              </a:rPr>
              <a:t>1.</a:t>
            </a:r>
            <a:r>
              <a:rPr lang="zh-CN" altLang="en-US" b="1" i="0" dirty="0">
                <a:effectLst/>
                <a:latin typeface="微软雅黑" panose="020B0503020204020204" pitchFamily="34" charset="-122"/>
                <a:ea typeface="微软雅黑" panose="020B0503020204020204" pitchFamily="34" charset="-122"/>
              </a:rPr>
              <a:t>核心痛点</a:t>
            </a:r>
            <a:endParaRPr lang="zh-CN" altLang="en-US" b="1" i="0" dirty="0">
              <a:effectLst/>
              <a:latin typeface="微软雅黑" panose="020B0503020204020204" pitchFamily="34" charset="-122"/>
              <a:ea typeface="微软雅黑" panose="020B0503020204020204" pitchFamily="34" charset="-122"/>
            </a:endParaRPr>
          </a:p>
          <a:p>
            <a:pPr lvl="1" indent="0" algn="l">
              <a:buFont typeface="+mj-lt"/>
              <a:buNone/>
            </a:pPr>
            <a:r>
              <a:rPr lang="zh-CN" altLang="en-US" b="1" i="0" dirty="0">
                <a:effectLst/>
                <a:latin typeface="微软雅黑" panose="020B0503020204020204" pitchFamily="34" charset="-122"/>
                <a:ea typeface="微软雅黑" panose="020B0503020204020204" pitchFamily="34" charset="-122"/>
              </a:rPr>
              <a:t>现有的灵巧手（如</a:t>
            </a:r>
            <a:r>
              <a:rPr lang="en-US" altLang="zh-CN" b="1" i="0" dirty="0">
                <a:effectLst/>
                <a:latin typeface="微软雅黑" panose="020B0503020204020204" pitchFamily="34" charset="-122"/>
                <a:ea typeface="微软雅黑" panose="020B0503020204020204" pitchFamily="34" charset="-122"/>
              </a:rPr>
              <a:t> ShadowHand</a:t>
            </a:r>
            <a:r>
              <a:rPr lang="zh-CN" altLang="en-US" b="1" i="0" dirty="0">
                <a:effectLst/>
                <a:latin typeface="微软雅黑" panose="020B0503020204020204" pitchFamily="34" charset="-122"/>
                <a:ea typeface="微软雅黑" panose="020B0503020204020204" pitchFamily="34" charset="-122"/>
              </a:rPr>
              <a:t>）抓取数据集存在严重瓶颈：</a:t>
            </a:r>
            <a:endParaRPr lang="zh-CN" altLang="en-US" b="1" i="0" dirty="0">
              <a:effectLst/>
              <a:latin typeface="微软雅黑" panose="020B0503020204020204" pitchFamily="34" charset="-122"/>
              <a:ea typeface="微软雅黑" panose="020B0503020204020204" pitchFamily="34" charset="-122"/>
            </a:endParaRPr>
          </a:p>
          <a:p>
            <a:pPr lvl="1" indent="0" algn="l">
              <a:buFont typeface="+mj-lt"/>
              <a:buNone/>
            </a:pPr>
            <a:r>
              <a:rPr lang="zh-CN" altLang="en-US" b="1" i="0" dirty="0">
                <a:effectLst/>
                <a:latin typeface="微软雅黑" panose="020B0503020204020204" pitchFamily="34" charset="-122"/>
                <a:ea typeface="微软雅黑" panose="020B0503020204020204" pitchFamily="34" charset="-122"/>
              </a:rPr>
              <a:t>规模小：</a:t>
            </a:r>
            <a:r>
              <a:rPr lang="zh-CN" altLang="en-US" i="0" dirty="0">
                <a:effectLst/>
                <a:latin typeface="微软雅黑" panose="020B0503020204020204" pitchFamily="34" charset="-122"/>
                <a:ea typeface="微软雅黑" panose="020B0503020204020204" pitchFamily="34" charset="-122"/>
              </a:rPr>
              <a:t>现有最大的真实数据集（如</a:t>
            </a:r>
            <a:r>
              <a:rPr lang="en-US" altLang="zh-CN" i="0" dirty="0">
                <a:effectLst/>
                <a:latin typeface="微软雅黑" panose="020B0503020204020204" pitchFamily="34" charset="-122"/>
                <a:ea typeface="微软雅黑" panose="020B0503020204020204" pitchFamily="34" charset="-122"/>
              </a:rPr>
              <a:t> DDG</a:t>
            </a:r>
            <a:r>
              <a:rPr lang="zh-CN" altLang="en-US" i="0" dirty="0">
                <a:effectLst/>
                <a:latin typeface="微软雅黑" panose="020B0503020204020204" pitchFamily="34" charset="-122"/>
                <a:ea typeface="微软雅黑" panose="020B0503020204020204" pitchFamily="34" charset="-122"/>
              </a:rPr>
              <a:t>）仅有约</a:t>
            </a:r>
            <a:r>
              <a:rPr lang="en-US" altLang="zh-CN" i="0" dirty="0">
                <a:effectLst/>
                <a:latin typeface="微软雅黑" panose="020B0503020204020204" pitchFamily="34" charset="-122"/>
                <a:ea typeface="微软雅黑" panose="020B0503020204020204" pitchFamily="34" charset="-122"/>
              </a:rPr>
              <a:t> 6.9K </a:t>
            </a:r>
            <a:r>
              <a:rPr lang="zh-CN" altLang="en-US" i="0" dirty="0">
                <a:effectLst/>
                <a:latin typeface="微软雅黑" panose="020B0503020204020204" pitchFamily="34" charset="-122"/>
                <a:ea typeface="微软雅黑" panose="020B0503020204020204" pitchFamily="34" charset="-122"/>
              </a:rPr>
              <a:t>抓取数据，远不足以训练深度模型。</a:t>
            </a:r>
            <a:endParaRPr lang="zh-CN" altLang="en-US" b="1" i="0" dirty="0">
              <a:effectLst/>
              <a:latin typeface="微软雅黑" panose="020B0503020204020204" pitchFamily="34" charset="-122"/>
              <a:ea typeface="微软雅黑" panose="020B0503020204020204" pitchFamily="34" charset="-122"/>
            </a:endParaRPr>
          </a:p>
          <a:p>
            <a:pPr lvl="1" indent="0" algn="l">
              <a:buFont typeface="+mj-lt"/>
              <a:buNone/>
            </a:pPr>
            <a:r>
              <a:rPr lang="zh-CN" altLang="en-US" b="1" i="0" dirty="0">
                <a:effectLst/>
                <a:latin typeface="微软雅黑" panose="020B0503020204020204" pitchFamily="34" charset="-122"/>
                <a:ea typeface="微软雅黑" panose="020B0503020204020204" pitchFamily="34" charset="-122"/>
              </a:rPr>
              <a:t>多样性差：</a:t>
            </a:r>
            <a:r>
              <a:rPr lang="zh-CN" altLang="en-US" i="0" dirty="0">
                <a:effectLst/>
                <a:latin typeface="微软雅黑" panose="020B0503020204020204" pitchFamily="34" charset="-122"/>
                <a:ea typeface="微软雅黑" panose="020B0503020204020204" pitchFamily="34" charset="-122"/>
              </a:rPr>
              <a:t>基于采样的规划器（如</a:t>
            </a:r>
            <a:r>
              <a:rPr lang="en-US" altLang="zh-CN" i="0" dirty="0">
                <a:effectLst/>
                <a:latin typeface="微软雅黑" panose="020B0503020204020204" pitchFamily="34" charset="-122"/>
                <a:ea typeface="微软雅黑" panose="020B0503020204020204" pitchFamily="34" charset="-122"/>
              </a:rPr>
              <a:t> GraspIt!</a:t>
            </a:r>
            <a:r>
              <a:rPr lang="zh-CN" altLang="en-US" i="0" dirty="0">
                <a:effectLst/>
                <a:latin typeface="微软雅黑" panose="020B0503020204020204" pitchFamily="34" charset="-122"/>
                <a:ea typeface="微软雅黑" panose="020B0503020204020204" pitchFamily="34" charset="-122"/>
              </a:rPr>
              <a:t>）通常在低维特征空间搜索，导致生成的抓取姿态僵硬、单一，无法覆盖灵巧手的高自由度能力。</a:t>
            </a:r>
            <a:endParaRPr lang="zh-CN" altLang="en-US" b="1" i="0" dirty="0">
              <a:effectLst/>
              <a:latin typeface="微软雅黑" panose="020B0503020204020204" pitchFamily="34" charset="-122"/>
              <a:ea typeface="微软雅黑" panose="020B0503020204020204" pitchFamily="34" charset="-122"/>
            </a:endParaRPr>
          </a:p>
          <a:p>
            <a:pPr lvl="1" indent="0" algn="l">
              <a:buFont typeface="+mj-lt"/>
              <a:buNone/>
            </a:pPr>
            <a:r>
              <a:rPr lang="zh-CN" altLang="en-US" b="1" i="0" dirty="0">
                <a:effectLst/>
                <a:latin typeface="微软雅黑" panose="020B0503020204020204" pitchFamily="34" charset="-122"/>
                <a:ea typeface="微软雅黑" panose="020B0503020204020204" pitchFamily="34" charset="-122"/>
              </a:rPr>
              <a:t>合成效率低：</a:t>
            </a:r>
            <a:r>
              <a:rPr lang="zh-CN" altLang="en-US" i="0" dirty="0">
                <a:effectLst/>
                <a:latin typeface="微软雅黑" panose="020B0503020204020204" pitchFamily="34" charset="-122"/>
                <a:ea typeface="微软雅黑" panose="020B0503020204020204" pitchFamily="34" charset="-122"/>
              </a:rPr>
              <a:t>虽然</a:t>
            </a:r>
            <a:r>
              <a:rPr lang="en-US" altLang="zh-CN" i="0" dirty="0">
                <a:effectLst/>
                <a:latin typeface="微软雅黑" panose="020B0503020204020204" pitchFamily="34" charset="-122"/>
                <a:ea typeface="微软雅黑" panose="020B0503020204020204" pitchFamily="34" charset="-122"/>
              </a:rPr>
              <a:t> Liu </a:t>
            </a:r>
            <a:r>
              <a:rPr lang="zh-CN" altLang="en-US" i="0" dirty="0">
                <a:effectLst/>
                <a:latin typeface="微软雅黑" panose="020B0503020204020204" pitchFamily="34" charset="-122"/>
                <a:ea typeface="微软雅黑" panose="020B0503020204020204" pitchFamily="34" charset="-122"/>
              </a:rPr>
              <a:t>提出了基于可微力闭合的优化方法，但其收敛慢、成功率低、对网格质量要求高，难以大规模应用。</a:t>
            </a:r>
            <a:endParaRPr lang="zh-CN" altLang="en-US" i="0" dirty="0">
              <a:effectLst/>
              <a:latin typeface="微软雅黑" panose="020B0503020204020204" pitchFamily="34" charset="-122"/>
              <a:ea typeface="微软雅黑" panose="020B0503020204020204" pitchFamily="34" charset="-122"/>
            </a:endParaRPr>
          </a:p>
          <a:p>
            <a:pPr lvl="1" indent="0" algn="l">
              <a:buFont typeface="+mj-lt"/>
              <a:buNone/>
            </a:pPr>
            <a:endParaRPr lang="zh-CN" altLang="en-US" i="0" dirty="0">
              <a:effectLst/>
              <a:latin typeface="微软雅黑" panose="020B0503020204020204" pitchFamily="34" charset="-122"/>
              <a:ea typeface="微软雅黑" panose="020B0503020204020204" pitchFamily="34" charset="-122"/>
            </a:endParaRPr>
          </a:p>
          <a:p>
            <a:pPr marL="0" lvl="0" indent="457200" algn="l">
              <a:buFont typeface="+mj-lt"/>
              <a:buNone/>
            </a:pPr>
            <a:r>
              <a:rPr lang="zh-CN" altLang="en-US" i="0" dirty="0">
                <a:solidFill>
                  <a:schemeClr val="tx1"/>
                </a:solidFill>
                <a:effectLst/>
                <a:latin typeface="微软雅黑" panose="020B0503020204020204" pitchFamily="34" charset="-122"/>
                <a:ea typeface="微软雅黑" panose="020B0503020204020204" pitchFamily="34" charset="-122"/>
              </a:rPr>
              <a:t>如何在合理的时间成本内（</a:t>
            </a:r>
            <a:r>
              <a:rPr lang="en-US" altLang="zh-CN" i="0" dirty="0">
                <a:solidFill>
                  <a:schemeClr val="tx1"/>
                </a:solidFill>
                <a:effectLst/>
                <a:latin typeface="微软雅黑" panose="020B0503020204020204" pitchFamily="34" charset="-122"/>
                <a:ea typeface="微软雅黑" panose="020B0503020204020204" pitchFamily="34" charset="-122"/>
              </a:rPr>
              <a:t>GPU</a:t>
            </a:r>
            <a:r>
              <a:rPr lang="zh-CN" altLang="en-US" i="0" dirty="0">
                <a:solidFill>
                  <a:schemeClr val="tx1"/>
                </a:solidFill>
                <a:effectLst/>
                <a:latin typeface="微软雅黑" panose="020B0503020204020204" pitchFamily="34" charset="-122"/>
                <a:ea typeface="微软雅黑" panose="020B0503020204020204" pitchFamily="34" charset="-122"/>
              </a:rPr>
              <a:t>小时），为数千个物体生成百万级的稳定抓取数据？如何突破传统采样法的局限，生成符合物理规律且姿态丰富的抓取（不仅仅是捏住，而是包裹、抓握等）？</a:t>
            </a:r>
            <a:endParaRPr lang="zh-CN" altLang="en-US" i="0" dirty="0">
              <a:solidFill>
                <a:schemeClr val="tx1"/>
              </a:solidFill>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26" name=""/>
        <p:cNvGrpSpPr/>
        <p:nvPr/>
      </p:nvGrpSpPr>
      <p:grpSpPr>
        <a:xfrm>
          <a:off x="0" y="0"/>
          <a:ext cx="0" cy="0"/>
          <a:chOff x="0" y="0"/>
          <a:chExt cx="0" cy="0"/>
        </a:xfrm>
      </p:grpSpPr>
      <p:sp>
        <p:nvSpPr>
          <p:cNvPr id="1048759" name="文本框 1"/>
          <p:cNvSpPr txBox="1"/>
          <p:nvPr/>
        </p:nvSpPr>
        <p:spPr>
          <a:xfrm>
            <a:off x="247650" y="939165"/>
            <a:ext cx="11696700" cy="521970"/>
          </a:xfrm>
          <a:prstGeom prst="rect">
            <a:avLst/>
          </a:prstGeom>
        </p:spPr>
        <p:txBody>
          <a:bodyPr wrap="square">
            <a:spAutoFit/>
          </a:bodyPr>
          <a:p>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阅读文献分析</a:t>
            </a:r>
            <a:r>
              <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DexGraspNet</a:t>
            </a:r>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数据集构建</a:t>
            </a:r>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核心方法</a:t>
            </a:r>
            <a:endPar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127" name="组合 2"/>
          <p:cNvGrpSpPr/>
          <p:nvPr/>
        </p:nvGrpSpPr>
        <p:grpSpPr>
          <a:xfrm>
            <a:off x="0" y="156335"/>
            <a:ext cx="11940390" cy="497839"/>
            <a:chOff x="0" y="156335"/>
            <a:chExt cx="11940390" cy="497839"/>
          </a:xfrm>
        </p:grpSpPr>
        <p:grpSp>
          <p:nvGrpSpPr>
            <p:cNvPr id="128" name="组合 3"/>
            <p:cNvGrpSpPr/>
            <p:nvPr/>
          </p:nvGrpSpPr>
          <p:grpSpPr>
            <a:xfrm>
              <a:off x="0" y="156335"/>
              <a:ext cx="9666514" cy="497839"/>
              <a:chOff x="0" y="248698"/>
              <a:chExt cx="9666514" cy="497839"/>
            </a:xfrm>
          </p:grpSpPr>
          <p:grpSp>
            <p:nvGrpSpPr>
              <p:cNvPr id="129" name="组合 4"/>
              <p:cNvGrpSpPr/>
              <p:nvPr/>
            </p:nvGrpSpPr>
            <p:grpSpPr>
              <a:xfrm>
                <a:off x="0" y="294640"/>
                <a:ext cx="880552" cy="375920"/>
                <a:chOff x="0" y="294640"/>
                <a:chExt cx="1094740" cy="467360"/>
              </a:xfrm>
              <a:solidFill>
                <a:srgbClr val="EE8A10"/>
              </a:solidFill>
            </p:grpSpPr>
            <p:sp>
              <p:nvSpPr>
                <p:cNvPr id="104876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4876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4876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1048763" name="文本框 5"/>
              <p:cNvSpPr txBox="1"/>
              <p:nvPr/>
            </p:nvSpPr>
            <p:spPr>
              <a:xfrm>
                <a:off x="972489" y="248698"/>
                <a:ext cx="2702560" cy="497839"/>
              </a:xfrm>
              <a:prstGeom prst="rect">
                <a:avLst/>
              </a:prstGeom>
              <a:noFill/>
            </p:spPr>
            <p:txBody>
              <a:bodyPr wrap="square" rtlCol="0">
                <a:spAutoFit/>
              </a:bodyPr>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30" name="组合 6"/>
              <p:cNvGrpSpPr/>
              <p:nvPr/>
            </p:nvGrpSpPr>
            <p:grpSpPr>
              <a:xfrm>
                <a:off x="3356076" y="408709"/>
                <a:ext cx="1749361" cy="147782"/>
                <a:chOff x="635462" y="775854"/>
                <a:chExt cx="1749361" cy="147782"/>
              </a:xfrm>
              <a:solidFill>
                <a:srgbClr val="EE8A10"/>
              </a:solidFill>
            </p:grpSpPr>
            <p:sp>
              <p:nvSpPr>
                <p:cNvPr id="1048764"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65"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66"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67"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68"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cxnSp>
            <p:nvCxnSpPr>
              <p:cNvPr id="3145736"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5"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1048769" name="文本框 18"/>
          <p:cNvSpPr txBox="1"/>
          <p:nvPr/>
        </p:nvSpPr>
        <p:spPr>
          <a:xfrm>
            <a:off x="817245" y="1936115"/>
            <a:ext cx="10598785" cy="3903980"/>
          </a:xfrm>
          <a:prstGeom prst="rect">
            <a:avLst/>
          </a:prstGeom>
          <a:noFill/>
        </p:spPr>
        <p:txBody>
          <a:bodyPr wrap="square">
            <a:noAutofit/>
          </a:bodyPr>
          <a:p>
            <a:pPr indent="457200" algn="l">
              <a:buFont typeface="+mj-lt"/>
              <a:buNone/>
            </a:pPr>
            <a:r>
              <a:rPr lang="zh-CN" altLang="en-US" b="1" i="0" dirty="0">
                <a:effectLst/>
                <a:latin typeface="微软雅黑" panose="020B0503020204020204" pitchFamily="34" charset="-122"/>
                <a:ea typeface="微软雅黑" panose="020B0503020204020204" pitchFamily="34" charset="-122"/>
              </a:rPr>
              <a:t>论文提出了一种基于改进优化的合成流水线。其核心逻辑是：通过优化能量函数</a:t>
            </a:r>
            <a:r>
              <a:rPr lang="en-US" altLang="zh-CN" b="1" i="0" dirty="0">
                <a:effectLst/>
                <a:latin typeface="微软雅黑" panose="020B0503020204020204" pitchFamily="34" charset="-122"/>
                <a:ea typeface="微软雅黑" panose="020B0503020204020204" pitchFamily="34" charset="-122"/>
              </a:rPr>
              <a:t> E </a:t>
            </a:r>
            <a:r>
              <a:rPr lang="zh-CN" altLang="en-US" b="1" i="0" dirty="0">
                <a:effectLst/>
                <a:latin typeface="微软雅黑" panose="020B0503020204020204" pitchFamily="34" charset="-122"/>
                <a:ea typeface="微软雅黑" panose="020B0503020204020204" pitchFamily="34" charset="-122"/>
              </a:rPr>
              <a:t>来寻找手部姿态，使得手既能接触物体，又能形成力闭合</a:t>
            </a:r>
            <a:endParaRPr lang="zh-CN" altLang="en-US" b="1" i="0" dirty="0">
              <a:effectLst/>
              <a:latin typeface="微软雅黑" panose="020B0503020204020204" pitchFamily="34" charset="-122"/>
              <a:ea typeface="微软雅黑" panose="020B0503020204020204" pitchFamily="34" charset="-122"/>
            </a:endParaRPr>
          </a:p>
          <a:p>
            <a:pPr indent="457200" algn="l">
              <a:buFont typeface="+mj-lt"/>
              <a:buNone/>
            </a:pPr>
            <a:r>
              <a:rPr lang="zh-CN" altLang="en-US" b="1" i="0" dirty="0">
                <a:effectLst/>
                <a:latin typeface="微软雅黑" panose="020B0503020204020204" pitchFamily="34" charset="-122"/>
                <a:ea typeface="微软雅黑" panose="020B0503020204020204" pitchFamily="34" charset="-122"/>
              </a:rPr>
              <a:t>整个框架分为三个主要阶段：物体预处理、抓取生成（核心）、抓取验证。</a:t>
            </a:r>
            <a:endParaRPr lang="zh-CN" altLang="en-US" b="1" i="0" dirty="0">
              <a:effectLst/>
              <a:latin typeface="微软雅黑" panose="020B0503020204020204" pitchFamily="34" charset="-122"/>
              <a:ea typeface="微软雅黑" panose="020B0503020204020204" pitchFamily="34" charset="-122"/>
            </a:endParaRPr>
          </a:p>
          <a:p>
            <a:pPr marL="0" lvl="0" indent="457200" algn="l">
              <a:buFont typeface="+mj-lt"/>
              <a:buNone/>
            </a:pPr>
            <a:r>
              <a:rPr lang="zh-CN" altLang="en-US" b="1" i="0" dirty="0">
                <a:solidFill>
                  <a:schemeClr val="tx1"/>
                </a:solidFill>
                <a:effectLst/>
                <a:latin typeface="微软雅黑" panose="020B0503020204020204" pitchFamily="34" charset="-122"/>
                <a:ea typeface="微软雅黑" panose="020B0503020204020204" pitchFamily="34" charset="-122"/>
              </a:rPr>
              <a:t>第一阶段：物体预处理</a:t>
            </a:r>
            <a:endParaRPr lang="zh-CN" altLang="en-US" b="1" i="0" dirty="0">
              <a:solidFill>
                <a:schemeClr val="tx1"/>
              </a:solidFill>
              <a:effectLst/>
              <a:latin typeface="微软雅黑" panose="020B0503020204020204" pitchFamily="34" charset="-122"/>
              <a:ea typeface="微软雅黑" panose="020B0503020204020204" pitchFamily="34" charset="-122"/>
            </a:endParaRPr>
          </a:p>
          <a:p>
            <a:pPr marL="0" lvl="0" indent="457200" algn="l">
              <a:buFont typeface="+mj-lt"/>
              <a:buNone/>
            </a:pPr>
            <a:r>
              <a:rPr lang="zh-CN" altLang="en-US" b="1" i="0" dirty="0">
                <a:solidFill>
                  <a:schemeClr val="tx1"/>
                </a:solidFill>
                <a:effectLst/>
                <a:latin typeface="微软雅黑" panose="020B0503020204020204" pitchFamily="34" charset="-122"/>
                <a:ea typeface="微软雅黑" panose="020B0503020204020204" pitchFamily="34" charset="-122"/>
              </a:rPr>
              <a:t>数据整合：从</a:t>
            </a:r>
            <a:r>
              <a:rPr lang="en-US" altLang="zh-CN" b="1" i="0" dirty="0">
                <a:effectLst/>
                <a:latin typeface="微软雅黑" panose="020B0503020204020204" pitchFamily="34" charset="-122"/>
                <a:ea typeface="微软雅黑" panose="020B0503020204020204" pitchFamily="34" charset="-122"/>
              </a:rPr>
              <a:t> ShapeNetCore/sem, YCB, Google Scanned Objects </a:t>
            </a:r>
            <a:r>
              <a:rPr lang="zh-CN" altLang="en-US" b="1" i="0" dirty="0">
                <a:effectLst/>
                <a:latin typeface="微软雅黑" panose="020B0503020204020204" pitchFamily="34" charset="-122"/>
                <a:ea typeface="微软雅黑" panose="020B0503020204020204" pitchFamily="34" charset="-122"/>
              </a:rPr>
              <a:t>等数据源收集物体。</a:t>
            </a:r>
            <a:endParaRPr lang="zh-CN" altLang="en-US" b="1" i="0" dirty="0">
              <a:effectLst/>
              <a:latin typeface="微软雅黑" panose="020B0503020204020204" pitchFamily="34" charset="-122"/>
              <a:ea typeface="微软雅黑" panose="020B0503020204020204" pitchFamily="34" charset="-122"/>
            </a:endParaRPr>
          </a:p>
          <a:p>
            <a:pPr marL="0" lvl="0" indent="457200" algn="l">
              <a:buFont typeface="+mj-lt"/>
              <a:buNone/>
            </a:pPr>
            <a:r>
              <a:rPr lang="zh-CN" altLang="en-US" b="1" i="0" dirty="0">
                <a:effectLst/>
                <a:latin typeface="微软雅黑" panose="020B0503020204020204" pitchFamily="34" charset="-122"/>
                <a:ea typeface="微软雅黑" panose="020B0503020204020204" pitchFamily="34" charset="-122"/>
              </a:rPr>
              <a:t>预处理：</a:t>
            </a:r>
            <a:r>
              <a:rPr lang="zh-CN" altLang="en-US" b="1" dirty="0">
                <a:effectLst/>
                <a:latin typeface="微软雅黑" panose="020B0503020204020204" pitchFamily="34" charset="-122"/>
                <a:ea typeface="微软雅黑" panose="020B0503020204020204" pitchFamily="34" charset="-122"/>
                <a:sym typeface="+mn-ea"/>
              </a:rPr>
              <a:t>抓取生成。</a:t>
            </a:r>
            <a:r>
              <a:rPr lang="zh-CN" altLang="en-US" b="1" i="0" dirty="0">
                <a:effectLst/>
                <a:latin typeface="微软雅黑" panose="020B0503020204020204" pitchFamily="34" charset="-122"/>
                <a:ea typeface="微软雅黑" panose="020B0503020204020204" pitchFamily="34" charset="-122"/>
              </a:rPr>
              <a:t>统一归一化到单位球；用</a:t>
            </a:r>
            <a:r>
              <a:rPr lang="en-US" altLang="zh-CN" b="1" i="0" dirty="0">
                <a:effectLst/>
                <a:latin typeface="微软雅黑" panose="020B0503020204020204" pitchFamily="34" charset="-122"/>
                <a:ea typeface="微软雅黑" panose="020B0503020204020204" pitchFamily="34" charset="-122"/>
              </a:rPr>
              <a:t> 5 </a:t>
            </a:r>
            <a:r>
              <a:rPr lang="zh-CN" altLang="en-US" b="1" i="0" dirty="0">
                <a:effectLst/>
                <a:latin typeface="微软雅黑" panose="020B0503020204020204" pitchFamily="34" charset="-122"/>
                <a:ea typeface="微软雅黑" panose="020B0503020204020204" pitchFamily="34" charset="-122"/>
              </a:rPr>
              <a:t>个固定尺度做缩放增强；建为封闭</a:t>
            </a:r>
            <a:r>
              <a:rPr lang="en-US" altLang="zh-CN" b="1" i="0" dirty="0">
                <a:effectLst/>
                <a:latin typeface="微软雅黑" panose="020B0503020204020204" pitchFamily="34" charset="-122"/>
                <a:ea typeface="微软雅黑" panose="020B0503020204020204" pitchFamily="34" charset="-122"/>
              </a:rPr>
              <a:t> manifold</a:t>
            </a:r>
            <a:r>
              <a:rPr lang="zh-CN" altLang="en-US" b="1" i="0" dirty="0">
                <a:effectLst/>
                <a:latin typeface="微软雅黑" panose="020B0503020204020204" pitchFamily="34" charset="-122"/>
                <a:ea typeface="微软雅黑" panose="020B0503020204020204" pitchFamily="34" charset="-122"/>
              </a:rPr>
              <a:t>；用</a:t>
            </a:r>
            <a:r>
              <a:rPr lang="en-US" altLang="zh-CN" b="1" i="0" dirty="0">
                <a:effectLst/>
                <a:latin typeface="微软雅黑" panose="020B0503020204020204" pitchFamily="34" charset="-122"/>
                <a:ea typeface="微软雅黑" panose="020B0503020204020204" pitchFamily="34" charset="-122"/>
              </a:rPr>
              <a:t> CoACD </a:t>
            </a:r>
            <a:r>
              <a:rPr lang="zh-CN" altLang="en-US" b="1" i="0" dirty="0">
                <a:effectLst/>
                <a:latin typeface="微软雅黑" panose="020B0503020204020204" pitchFamily="34" charset="-122"/>
                <a:ea typeface="微软雅黑" panose="020B0503020204020204" pitchFamily="34" charset="-122"/>
              </a:rPr>
              <a:t>做凸分解，生成碰撞网格供仿真使用。</a:t>
            </a:r>
            <a:endParaRPr lang="zh-CN" altLang="en-US" b="1" i="0" dirty="0">
              <a:effectLst/>
              <a:latin typeface="微软雅黑" panose="020B0503020204020204" pitchFamily="34" charset="-122"/>
              <a:ea typeface="微软雅黑" panose="020B0503020204020204" pitchFamily="34" charset="-122"/>
            </a:endParaRPr>
          </a:p>
          <a:p>
            <a:pPr marL="0" lvl="0" indent="457200" algn="l">
              <a:buFont typeface="+mj-lt"/>
              <a:buNone/>
            </a:pPr>
            <a:r>
              <a:rPr lang="zh-CN" altLang="en-US" b="1" i="0" dirty="0">
                <a:effectLst/>
                <a:latin typeface="微软雅黑" panose="020B0503020204020204" pitchFamily="34" charset="-122"/>
                <a:ea typeface="微软雅黑" panose="020B0503020204020204" pitchFamily="34" charset="-122"/>
              </a:rPr>
              <a:t>第二阶段：</a:t>
            </a:r>
            <a:r>
              <a:rPr lang="zh-CN" altLang="en-US" b="1" i="0" dirty="0">
                <a:effectLst/>
                <a:latin typeface="微软雅黑" panose="020B0503020204020204" pitchFamily="34" charset="-122"/>
                <a:ea typeface="微软雅黑" panose="020B0503020204020204" pitchFamily="34" charset="-122"/>
              </a:rPr>
              <a:t>基于可微优化，从随机初始化手姿开始，不断最小化一个能量函数，得到候选抓取。</a:t>
            </a:r>
            <a:endParaRPr lang="zh-CN" altLang="en-US" b="1" i="0" dirty="0">
              <a:effectLst/>
              <a:latin typeface="微软雅黑" panose="020B0503020204020204" pitchFamily="34" charset="-122"/>
              <a:ea typeface="微软雅黑" panose="020B0503020204020204" pitchFamily="34" charset="-122"/>
            </a:endParaRPr>
          </a:p>
          <a:p>
            <a:pPr marL="0" lvl="0" indent="457200" algn="l">
              <a:buFont typeface="+mj-lt"/>
              <a:buNone/>
            </a:pPr>
            <a:r>
              <a:rPr lang="zh-CN" altLang="en-US" b="1" i="0" dirty="0">
                <a:effectLst/>
                <a:latin typeface="微软雅黑" panose="020B0503020204020204" pitchFamily="34" charset="-122"/>
                <a:ea typeface="微软雅黑" panose="020B0503020204020204" pitchFamily="34" charset="-122"/>
              </a:rPr>
              <a:t>第三阶段：抓取验证。把候选抓取丢进</a:t>
            </a:r>
            <a:r>
              <a:rPr lang="en-US" altLang="zh-CN" b="1" i="0" dirty="0">
                <a:effectLst/>
                <a:latin typeface="微软雅黑" panose="020B0503020204020204" pitchFamily="34" charset="-122"/>
                <a:ea typeface="微软雅黑" panose="020B0503020204020204" pitchFamily="34" charset="-122"/>
              </a:rPr>
              <a:t> Isaac Gym </a:t>
            </a:r>
            <a:r>
              <a:rPr lang="zh-CN" altLang="en-US" b="1" i="0" dirty="0">
                <a:effectLst/>
                <a:latin typeface="微软雅黑" panose="020B0503020204020204" pitchFamily="34" charset="-122"/>
                <a:ea typeface="微软雅黑" panose="020B0503020204020204" pitchFamily="34" charset="-122"/>
              </a:rPr>
              <a:t>做物理仿真，筛掉不稳定或穿透过大的结果。</a:t>
            </a:r>
            <a:endParaRPr lang="zh-CN" altLang="en-US" b="1" i="0" dirty="0">
              <a:effectLst/>
              <a:latin typeface="微软雅黑" panose="020B0503020204020204" pitchFamily="34" charset="-122"/>
              <a:ea typeface="微软雅黑" panose="020B0503020204020204" pitchFamily="34" charset="-122"/>
            </a:endParaRPr>
          </a:p>
          <a:p>
            <a:pPr marL="0" lvl="0" indent="457200" algn="l">
              <a:buFont typeface="+mj-lt"/>
              <a:buNone/>
            </a:pPr>
            <a:endParaRPr lang="zh-CN" altLang="en-US" b="1" i="0" dirty="0">
              <a:effectLst/>
              <a:latin typeface="微软雅黑" panose="020B0503020204020204" pitchFamily="34" charset="-122"/>
              <a:ea typeface="微软雅黑" panose="020B0503020204020204" pitchFamily="34" charset="-122"/>
            </a:endParaRPr>
          </a:p>
          <a:p>
            <a:pPr marL="0" lvl="0" indent="457200" algn="l">
              <a:buFont typeface="+mj-lt"/>
              <a:buNone/>
            </a:pPr>
            <a:endParaRPr lang="zh-CN" altLang="en-US" b="1" i="0" dirty="0">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26" name=""/>
        <p:cNvGrpSpPr/>
        <p:nvPr/>
      </p:nvGrpSpPr>
      <p:grpSpPr>
        <a:xfrm>
          <a:off x="0" y="0"/>
          <a:ext cx="0" cy="0"/>
          <a:chOff x="0" y="0"/>
          <a:chExt cx="0" cy="0"/>
        </a:xfrm>
      </p:grpSpPr>
      <p:pic>
        <p:nvPicPr>
          <p:cNvPr id="3" name="图片 2" descr="ScreenShot_2026-04-07_225308_032"/>
          <p:cNvPicPr>
            <a:picLocks noChangeAspect="1"/>
          </p:cNvPicPr>
          <p:nvPr/>
        </p:nvPicPr>
        <p:blipFill>
          <a:blip r:embed="rId1"/>
          <a:stretch>
            <a:fillRect/>
          </a:stretch>
        </p:blipFill>
        <p:spPr>
          <a:xfrm>
            <a:off x="2640330" y="4328795"/>
            <a:ext cx="2571750" cy="752475"/>
          </a:xfrm>
          <a:prstGeom prst="rect">
            <a:avLst/>
          </a:prstGeom>
        </p:spPr>
      </p:pic>
      <p:pic>
        <p:nvPicPr>
          <p:cNvPr id="4" name="图片 3" descr="ScreenShot_2026-04-07_225303_385"/>
          <p:cNvPicPr>
            <a:picLocks noChangeAspect="1"/>
          </p:cNvPicPr>
          <p:nvPr/>
        </p:nvPicPr>
        <p:blipFill>
          <a:blip r:embed="rId2"/>
          <a:stretch>
            <a:fillRect/>
          </a:stretch>
        </p:blipFill>
        <p:spPr>
          <a:xfrm>
            <a:off x="2628265" y="3714750"/>
            <a:ext cx="2214880" cy="762000"/>
          </a:xfrm>
          <a:prstGeom prst="rect">
            <a:avLst/>
          </a:prstGeom>
        </p:spPr>
      </p:pic>
      <p:sp>
        <p:nvSpPr>
          <p:cNvPr id="1048759" name="文本框 1"/>
          <p:cNvSpPr txBox="1"/>
          <p:nvPr/>
        </p:nvSpPr>
        <p:spPr>
          <a:xfrm>
            <a:off x="247650" y="939165"/>
            <a:ext cx="11696700" cy="521970"/>
          </a:xfrm>
          <a:prstGeom prst="rect">
            <a:avLst/>
          </a:prstGeom>
        </p:spPr>
        <p:txBody>
          <a:bodyPr wrap="square">
            <a:spAutoFit/>
          </a:bodyPr>
          <a:p>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阅读文献分析</a:t>
            </a:r>
            <a:r>
              <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DexGraspNet</a:t>
            </a:r>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数据集构建</a:t>
            </a:r>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核心方法</a:t>
            </a:r>
            <a:endPar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127" name="组合 2"/>
          <p:cNvGrpSpPr/>
          <p:nvPr/>
        </p:nvGrpSpPr>
        <p:grpSpPr>
          <a:xfrm>
            <a:off x="0" y="156335"/>
            <a:ext cx="11940390" cy="497839"/>
            <a:chOff x="0" y="156335"/>
            <a:chExt cx="11940390" cy="497839"/>
          </a:xfrm>
        </p:grpSpPr>
        <p:grpSp>
          <p:nvGrpSpPr>
            <p:cNvPr id="128" name="组合 3"/>
            <p:cNvGrpSpPr/>
            <p:nvPr/>
          </p:nvGrpSpPr>
          <p:grpSpPr>
            <a:xfrm>
              <a:off x="0" y="156335"/>
              <a:ext cx="9666514" cy="497839"/>
              <a:chOff x="0" y="248698"/>
              <a:chExt cx="9666514" cy="497839"/>
            </a:xfrm>
          </p:grpSpPr>
          <p:grpSp>
            <p:nvGrpSpPr>
              <p:cNvPr id="129" name="组合 4"/>
              <p:cNvGrpSpPr/>
              <p:nvPr/>
            </p:nvGrpSpPr>
            <p:grpSpPr>
              <a:xfrm>
                <a:off x="0" y="294640"/>
                <a:ext cx="880552" cy="375920"/>
                <a:chOff x="0" y="294640"/>
                <a:chExt cx="1094740" cy="467360"/>
              </a:xfrm>
              <a:solidFill>
                <a:srgbClr val="EE8A10"/>
              </a:solidFill>
            </p:grpSpPr>
            <p:sp>
              <p:nvSpPr>
                <p:cNvPr id="104876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4876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4876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1048763" name="文本框 5"/>
              <p:cNvSpPr txBox="1"/>
              <p:nvPr/>
            </p:nvSpPr>
            <p:spPr>
              <a:xfrm>
                <a:off x="972489" y="248698"/>
                <a:ext cx="2702560" cy="497839"/>
              </a:xfrm>
              <a:prstGeom prst="rect">
                <a:avLst/>
              </a:prstGeom>
              <a:noFill/>
            </p:spPr>
            <p:txBody>
              <a:bodyPr wrap="square" rtlCol="0">
                <a:spAutoFit/>
              </a:bodyPr>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30" name="组合 6"/>
              <p:cNvGrpSpPr/>
              <p:nvPr/>
            </p:nvGrpSpPr>
            <p:grpSpPr>
              <a:xfrm>
                <a:off x="3356076" y="408709"/>
                <a:ext cx="1749361" cy="147782"/>
                <a:chOff x="635462" y="775854"/>
                <a:chExt cx="1749361" cy="147782"/>
              </a:xfrm>
              <a:solidFill>
                <a:srgbClr val="EE8A10"/>
              </a:solidFill>
            </p:grpSpPr>
            <p:sp>
              <p:nvSpPr>
                <p:cNvPr id="1048764"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65"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66"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67"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68"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cxnSp>
            <p:nvCxnSpPr>
              <p:cNvPr id="3145736"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5" name="图片 62"/>
            <p:cNvPicPr>
              <a:picLocks noChangeAspect="1"/>
            </p:cNvPicPr>
            <p:nvPr/>
          </p:nvPicPr>
          <p:blipFill>
            <a:blip r:embed="rId3" cstate="print"/>
            <a:srcRect/>
            <a:stretch>
              <a:fillRect/>
            </a:stretch>
          </p:blipFill>
          <p:spPr>
            <a:xfrm>
              <a:off x="9765508" y="161931"/>
              <a:ext cx="2174882" cy="456069"/>
            </a:xfrm>
            <a:prstGeom prst="rect">
              <a:avLst/>
            </a:prstGeom>
          </p:spPr>
        </p:pic>
      </p:grpSp>
      <p:sp>
        <p:nvSpPr>
          <p:cNvPr id="1048769" name="文本框 18"/>
          <p:cNvSpPr txBox="1"/>
          <p:nvPr/>
        </p:nvSpPr>
        <p:spPr>
          <a:xfrm>
            <a:off x="817245" y="1936115"/>
            <a:ext cx="10598785" cy="3903980"/>
          </a:xfrm>
          <a:prstGeom prst="rect">
            <a:avLst/>
          </a:prstGeom>
          <a:noFill/>
        </p:spPr>
        <p:txBody>
          <a:bodyPr wrap="square">
            <a:noAutofit/>
          </a:bodyPr>
          <a:p>
            <a:pPr marL="0" lvl="0" indent="457200" algn="l">
              <a:buFont typeface="+mj-lt"/>
              <a:buNone/>
            </a:pPr>
            <a:r>
              <a:rPr lang="zh-CN" altLang="en-US" b="1" i="0" dirty="0">
                <a:effectLst/>
                <a:latin typeface="微软雅黑" panose="020B0503020204020204" pitchFamily="34" charset="-122"/>
                <a:ea typeface="微软雅黑" panose="020B0503020204020204" pitchFamily="34" charset="-122"/>
              </a:rPr>
              <a:t>抓取生成的数学建模</a:t>
            </a:r>
            <a:r>
              <a:rPr lang="en-US" altLang="zh-CN" b="1" i="0" dirty="0">
                <a:effectLst/>
                <a:latin typeface="微软雅黑" panose="020B0503020204020204" pitchFamily="34" charset="-122"/>
                <a:ea typeface="微软雅黑" panose="020B0503020204020204" pitchFamily="34" charset="-122"/>
              </a:rPr>
              <a:t>:</a:t>
            </a:r>
            <a:endParaRPr lang="en-US" altLang="zh-CN" b="1" i="0" dirty="0">
              <a:effectLst/>
              <a:latin typeface="微软雅黑" panose="020B0503020204020204" pitchFamily="34" charset="-122"/>
              <a:ea typeface="微软雅黑" panose="020B0503020204020204" pitchFamily="34" charset="-122"/>
            </a:endParaRPr>
          </a:p>
          <a:p>
            <a:pPr marL="0" lvl="0" indent="457200" algn="l">
              <a:buFont typeface="+mj-lt"/>
              <a:buNone/>
            </a:pPr>
            <a:r>
              <a:rPr lang="zh-CN" altLang="en-US" b="1" i="0" dirty="0">
                <a:effectLst/>
                <a:latin typeface="微软雅黑" panose="020B0503020204020204" pitchFamily="34" charset="-122"/>
                <a:ea typeface="微软雅黑" panose="020B0503020204020204" pitchFamily="34" charset="-122"/>
              </a:rPr>
              <a:t>作者的方法建立在文献调研的基础上。这个基线的思想是：把</a:t>
            </a:r>
            <a:r>
              <a:rPr lang="en-US" altLang="zh-CN" b="1" i="0" dirty="0">
                <a:effectLst/>
                <a:latin typeface="微软雅黑" panose="020B0503020204020204" pitchFamily="34" charset="-122"/>
                <a:ea typeface="微软雅黑" panose="020B0503020204020204" pitchFamily="34" charset="-122"/>
              </a:rPr>
              <a:t>“</a:t>
            </a:r>
            <a:r>
              <a:rPr lang="zh-CN" altLang="en-US" b="1" i="0" dirty="0">
                <a:effectLst/>
                <a:latin typeface="微软雅黑" panose="020B0503020204020204" pitchFamily="34" charset="-122"/>
                <a:ea typeface="微软雅黑" panose="020B0503020204020204" pitchFamily="34" charset="-122"/>
              </a:rPr>
              <a:t>抓取是否稳定</a:t>
            </a:r>
            <a:r>
              <a:rPr lang="en-US" altLang="zh-CN" b="1" i="0" dirty="0">
                <a:effectLst/>
                <a:latin typeface="微软雅黑" panose="020B0503020204020204" pitchFamily="34" charset="-122"/>
                <a:ea typeface="微软雅黑" panose="020B0503020204020204" pitchFamily="34" charset="-122"/>
              </a:rPr>
              <a:t>”</a:t>
            </a:r>
            <a:r>
              <a:rPr lang="zh-CN" altLang="en-US" b="1" i="0" dirty="0">
                <a:effectLst/>
                <a:latin typeface="微软雅黑" panose="020B0503020204020204" pitchFamily="34" charset="-122"/>
                <a:ea typeface="微软雅黑" panose="020B0503020204020204" pitchFamily="34" charset="-122"/>
              </a:rPr>
              <a:t>写成一个可微分能量，然后直接优化手的姿态和关节角，使能量最小。最核心的稳定性项是</a:t>
            </a:r>
            <a:r>
              <a:rPr lang="en-US" altLang="zh-CN" b="1" i="0" dirty="0">
                <a:effectLst/>
                <a:latin typeface="微软雅黑" panose="020B0503020204020204" pitchFamily="34" charset="-122"/>
                <a:ea typeface="微软雅黑" panose="020B0503020204020204" pitchFamily="34" charset="-122"/>
              </a:rPr>
              <a:t> force closure </a:t>
            </a:r>
            <a:r>
              <a:rPr lang="zh-CN" altLang="en-US" b="1" i="0" dirty="0">
                <a:effectLst/>
                <a:latin typeface="微软雅黑" panose="020B0503020204020204" pitchFamily="34" charset="-122"/>
                <a:ea typeface="微软雅黑" panose="020B0503020204020204" pitchFamily="34" charset="-122"/>
              </a:rPr>
              <a:t>能量。</a:t>
            </a:r>
            <a:endParaRPr lang="zh-CN" altLang="en-US" b="1" i="0" dirty="0">
              <a:effectLst/>
              <a:latin typeface="微软雅黑" panose="020B0503020204020204" pitchFamily="34" charset="-122"/>
              <a:ea typeface="微软雅黑" panose="020B0503020204020204" pitchFamily="34" charset="-122"/>
            </a:endParaRPr>
          </a:p>
          <a:p>
            <a:pPr marL="0" lvl="0" indent="457200" algn="l">
              <a:buFont typeface="+mj-lt"/>
              <a:buNone/>
            </a:pPr>
            <a:r>
              <a:rPr lang="zh-CN" altLang="en-US" b="1" i="0" dirty="0">
                <a:effectLst/>
                <a:latin typeface="微软雅黑" panose="020B0503020204020204" pitchFamily="34" charset="-122"/>
                <a:ea typeface="微软雅黑" panose="020B0503020204020204" pitchFamily="34" charset="-122"/>
              </a:rPr>
              <a:t>直观理解就是：如果接触点布局好、法向方向合理，抓取更可能形成力闭合那么</a:t>
            </a:r>
            <a:r>
              <a:rPr lang="en-US" altLang="zh-CN" b="1" i="0" dirty="0">
                <a:effectLst/>
                <a:latin typeface="微软雅黑" panose="020B0503020204020204" pitchFamily="34" charset="-122"/>
                <a:ea typeface="微软雅黑" panose="020B0503020204020204" pitchFamily="34" charset="-122"/>
              </a:rPr>
              <a:t> E</a:t>
            </a:r>
            <a:r>
              <a:rPr lang="en-US" altLang="zh-CN" b="1" i="0" baseline="-25000" dirty="0">
                <a:effectLst/>
                <a:latin typeface="微软雅黑" panose="020B0503020204020204" pitchFamily="34" charset="-122"/>
                <a:ea typeface="微软雅黑" panose="020B0503020204020204" pitchFamily="34" charset="-122"/>
              </a:rPr>
              <a:t>fc</a:t>
            </a:r>
            <a:r>
              <a:rPr lang="zh-CN" altLang="en-US" b="1" i="0" dirty="0">
                <a:effectLst/>
                <a:latin typeface="微软雅黑" panose="020B0503020204020204" pitchFamily="34" charset="-122"/>
                <a:ea typeface="微软雅黑" panose="020B0503020204020204" pitchFamily="34" charset="-122"/>
              </a:rPr>
              <a:t>会更小，优化就是在寻找能够力闭合的接触组合和手姿。</a:t>
            </a:r>
            <a:endParaRPr lang="zh-CN" altLang="en-US" b="1" i="0" dirty="0">
              <a:effectLst/>
              <a:latin typeface="微软雅黑" panose="020B0503020204020204" pitchFamily="34" charset="-122"/>
              <a:ea typeface="微软雅黑" panose="020B0503020204020204" pitchFamily="34" charset="-122"/>
            </a:endParaRPr>
          </a:p>
          <a:p>
            <a:pPr marL="0" lvl="0" indent="457200" algn="l">
              <a:buFont typeface="+mj-lt"/>
              <a:buNone/>
            </a:pPr>
            <a:r>
              <a:rPr lang="zh-CN" altLang="en-US" b="1" i="0" dirty="0">
                <a:effectLst/>
                <a:latin typeface="微软雅黑" panose="020B0503020204020204" pitchFamily="34" charset="-122"/>
                <a:ea typeface="微软雅黑" panose="020B0503020204020204" pitchFamily="34" charset="-122"/>
              </a:rPr>
              <a:t>除了力闭合，还要保证：手要接近物体表面，形成接触；手不能深度插进物体；手势不要太离谱。</a:t>
            </a:r>
            <a:endParaRPr lang="zh-CN" altLang="en-US" b="1" i="0" dirty="0">
              <a:effectLst/>
              <a:latin typeface="微软雅黑" panose="020B0503020204020204" pitchFamily="34" charset="-122"/>
              <a:ea typeface="微软雅黑" panose="020B0503020204020204" pitchFamily="34" charset="-122"/>
            </a:endParaRPr>
          </a:p>
          <a:p>
            <a:pPr marL="0" lvl="0" indent="457200" algn="l">
              <a:buFont typeface="+mj-lt"/>
              <a:buNone/>
            </a:pPr>
            <a:r>
              <a:rPr lang="zh-CN" altLang="en-US" b="1" i="0" dirty="0">
                <a:effectLst/>
                <a:latin typeface="微软雅黑" panose="020B0503020204020204" pitchFamily="34" charset="-122"/>
                <a:ea typeface="微软雅黑" panose="020B0503020204020204" pitchFamily="34" charset="-122"/>
              </a:rPr>
              <a:t>于是原始方法还用了：</a:t>
            </a:r>
            <a:endParaRPr lang="zh-CN" altLang="en-US" b="1" i="0" dirty="0">
              <a:effectLst/>
              <a:latin typeface="微软雅黑" panose="020B0503020204020204" pitchFamily="34" charset="-122"/>
              <a:ea typeface="微软雅黑" panose="020B0503020204020204" pitchFamily="34" charset="-122"/>
            </a:endParaRPr>
          </a:p>
          <a:p>
            <a:pPr marL="0" lvl="0" indent="457200" algn="l">
              <a:buFont typeface="+mj-lt"/>
              <a:buNone/>
            </a:pPr>
            <a:r>
              <a:rPr lang="zh-CN" altLang="en-US" b="1" i="0" dirty="0">
                <a:effectLst/>
                <a:latin typeface="微软雅黑" panose="020B0503020204020204" pitchFamily="34" charset="-122"/>
                <a:ea typeface="微软雅黑" panose="020B0503020204020204" pitchFamily="34" charset="-122"/>
              </a:rPr>
              <a:t>接触距离项：</a:t>
            </a:r>
            <a:endParaRPr lang="zh-CN" altLang="en-US" b="1" i="0" dirty="0">
              <a:effectLst/>
              <a:latin typeface="微软雅黑" panose="020B0503020204020204" pitchFamily="34" charset="-122"/>
              <a:ea typeface="微软雅黑" panose="020B0503020204020204" pitchFamily="34" charset="-122"/>
            </a:endParaRPr>
          </a:p>
          <a:p>
            <a:pPr marL="0" lvl="0" indent="457200" algn="l">
              <a:buFont typeface="+mj-lt"/>
              <a:buNone/>
            </a:pPr>
            <a:endParaRPr lang="zh-CN" altLang="en-US" b="1" i="0" dirty="0">
              <a:effectLst/>
              <a:latin typeface="微软雅黑" panose="020B0503020204020204" pitchFamily="34" charset="-122"/>
              <a:ea typeface="微软雅黑" panose="020B0503020204020204" pitchFamily="34" charset="-122"/>
            </a:endParaRPr>
          </a:p>
          <a:p>
            <a:pPr marL="0" lvl="0" indent="457200" algn="l">
              <a:buFont typeface="+mj-lt"/>
              <a:buNone/>
            </a:pPr>
            <a:r>
              <a:rPr lang="zh-CN" altLang="en-US" b="1" i="0" dirty="0">
                <a:effectLst/>
                <a:latin typeface="微软雅黑" panose="020B0503020204020204" pitchFamily="34" charset="-122"/>
                <a:ea typeface="微软雅黑" panose="020B0503020204020204" pitchFamily="34" charset="-122"/>
              </a:rPr>
              <a:t>穿透惩罚项：</a:t>
            </a:r>
            <a:endParaRPr lang="zh-CN" altLang="en-US" b="1" i="0" dirty="0">
              <a:effectLst/>
              <a:latin typeface="微软雅黑" panose="020B0503020204020204" pitchFamily="34" charset="-122"/>
              <a:ea typeface="微软雅黑" panose="020B0503020204020204" pitchFamily="34" charset="-122"/>
            </a:endParaRPr>
          </a:p>
          <a:p>
            <a:pPr marL="0" lvl="0" indent="457200" algn="l">
              <a:buFont typeface="+mj-lt"/>
              <a:buNone/>
            </a:pPr>
            <a:endParaRPr lang="zh-CN" altLang="en-US" b="1" i="0" dirty="0">
              <a:effectLst/>
              <a:latin typeface="微软雅黑" panose="020B0503020204020204" pitchFamily="34" charset="-122"/>
              <a:ea typeface="微软雅黑" panose="020B0503020204020204" pitchFamily="34" charset="-122"/>
            </a:endParaRPr>
          </a:p>
          <a:p>
            <a:pPr marL="0" lvl="0" indent="457200" algn="l">
              <a:buFont typeface="+mj-lt"/>
              <a:buNone/>
            </a:pPr>
            <a:r>
              <a:rPr lang="zh-CN" altLang="en-US" b="1" i="0" dirty="0">
                <a:effectLst/>
                <a:latin typeface="微软雅黑" panose="020B0503020204020204" pitchFamily="34" charset="-122"/>
                <a:ea typeface="微软雅黑" panose="020B0503020204020204" pitchFamily="34" charset="-122"/>
              </a:rPr>
              <a:t>姿态先验项：</a:t>
            </a:r>
            <a:r>
              <a:rPr lang="en-US" altLang="zh-CN" b="1" i="0" dirty="0">
                <a:effectLst/>
                <a:latin typeface="微软雅黑" panose="020B0503020204020204" pitchFamily="34" charset="-122"/>
                <a:ea typeface="微软雅黑" panose="020B0503020204020204" pitchFamily="34" charset="-122"/>
              </a:rPr>
              <a:t>Ep</a:t>
            </a:r>
            <a:r>
              <a:rPr lang="en-US" altLang="zh-CN" b="1" i="0" dirty="0">
                <a:effectLst/>
                <a:latin typeface="微软雅黑" panose="020B0503020204020204" pitchFamily="34" charset="-122"/>
                <a:ea typeface="微软雅黑" panose="020B0503020204020204" pitchFamily="34" charset="-122"/>
              </a:rPr>
              <a:t>rior</a:t>
            </a:r>
            <a:endParaRPr lang="zh-CN" altLang="en-US" b="1" i="0" dirty="0">
              <a:effectLst/>
              <a:latin typeface="微软雅黑" panose="020B0503020204020204" pitchFamily="34" charset="-122"/>
              <a:ea typeface="微软雅黑" panose="020B0503020204020204" pitchFamily="34" charset="-122"/>
            </a:endParaRPr>
          </a:p>
          <a:p>
            <a:pPr marL="0" lvl="0" indent="457200" algn="l">
              <a:buFont typeface="+mj-lt"/>
              <a:buNone/>
            </a:pPr>
            <a:endParaRPr lang="zh-CN" altLang="en-US" b="1" i="0" dirty="0">
              <a:effectLst/>
              <a:latin typeface="微软雅黑" panose="020B0503020204020204" pitchFamily="34" charset="-122"/>
              <a:ea typeface="微软雅黑" panose="020B0503020204020204" pitchFamily="34" charset="-122"/>
            </a:endParaRPr>
          </a:p>
          <a:p>
            <a:pPr marL="0" lvl="0" indent="457200" algn="l">
              <a:buFont typeface="+mj-lt"/>
              <a:buNone/>
            </a:pPr>
            <a:r>
              <a:rPr lang="zh-CN" altLang="en-US" b="1" i="0" dirty="0">
                <a:effectLst/>
                <a:latin typeface="微软雅黑" panose="020B0503020204020204" pitchFamily="34" charset="-122"/>
                <a:ea typeface="微软雅黑" panose="020B0503020204020204" pitchFamily="34" charset="-122"/>
              </a:rPr>
              <a:t>总能量：</a:t>
            </a:r>
            <a:endParaRPr lang="zh-CN" altLang="en-US" b="1" i="0" dirty="0">
              <a:effectLst/>
              <a:latin typeface="微软雅黑" panose="020B0503020204020204" pitchFamily="34" charset="-122"/>
              <a:ea typeface="微软雅黑" panose="020B0503020204020204" pitchFamily="34" charset="-122"/>
            </a:endParaRPr>
          </a:p>
        </p:txBody>
      </p:sp>
      <p:pic>
        <p:nvPicPr>
          <p:cNvPr id="2" name="图片 1" descr="ScreenShot_2026-04-07_225356_549"/>
          <p:cNvPicPr>
            <a:picLocks noChangeAspect="1"/>
          </p:cNvPicPr>
          <p:nvPr/>
        </p:nvPicPr>
        <p:blipFill>
          <a:blip r:embed="rId4"/>
          <a:stretch>
            <a:fillRect/>
          </a:stretch>
        </p:blipFill>
        <p:spPr>
          <a:xfrm>
            <a:off x="2319020" y="5396230"/>
            <a:ext cx="4010025" cy="5619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26" name=""/>
        <p:cNvGrpSpPr/>
        <p:nvPr/>
      </p:nvGrpSpPr>
      <p:grpSpPr>
        <a:xfrm>
          <a:off x="0" y="0"/>
          <a:ext cx="0" cy="0"/>
          <a:chOff x="0" y="0"/>
          <a:chExt cx="0" cy="0"/>
        </a:xfrm>
      </p:grpSpPr>
      <p:sp>
        <p:nvSpPr>
          <p:cNvPr id="1048759" name="文本框 1"/>
          <p:cNvSpPr txBox="1"/>
          <p:nvPr/>
        </p:nvSpPr>
        <p:spPr>
          <a:xfrm>
            <a:off x="247650" y="939165"/>
            <a:ext cx="11696700" cy="521970"/>
          </a:xfrm>
          <a:prstGeom prst="rect">
            <a:avLst/>
          </a:prstGeom>
        </p:spPr>
        <p:txBody>
          <a:bodyPr wrap="square">
            <a:spAutoFit/>
          </a:bodyPr>
          <a:p>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阅读文献分析</a:t>
            </a:r>
            <a:r>
              <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——DexGraspNet</a:t>
            </a:r>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数据集构建关键</a:t>
            </a:r>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优化</a:t>
            </a:r>
            <a:endPar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nvGrpSpPr>
          <p:cNvPr id="127" name="组合 2"/>
          <p:cNvGrpSpPr/>
          <p:nvPr/>
        </p:nvGrpSpPr>
        <p:grpSpPr>
          <a:xfrm>
            <a:off x="0" y="156335"/>
            <a:ext cx="11940390" cy="497839"/>
            <a:chOff x="0" y="156335"/>
            <a:chExt cx="11940390" cy="497839"/>
          </a:xfrm>
        </p:grpSpPr>
        <p:grpSp>
          <p:nvGrpSpPr>
            <p:cNvPr id="128" name="组合 3"/>
            <p:cNvGrpSpPr/>
            <p:nvPr/>
          </p:nvGrpSpPr>
          <p:grpSpPr>
            <a:xfrm>
              <a:off x="0" y="156335"/>
              <a:ext cx="9666514" cy="497839"/>
              <a:chOff x="0" y="248698"/>
              <a:chExt cx="9666514" cy="497839"/>
            </a:xfrm>
          </p:grpSpPr>
          <p:grpSp>
            <p:nvGrpSpPr>
              <p:cNvPr id="129" name="组合 4"/>
              <p:cNvGrpSpPr/>
              <p:nvPr/>
            </p:nvGrpSpPr>
            <p:grpSpPr>
              <a:xfrm>
                <a:off x="0" y="294640"/>
                <a:ext cx="880552" cy="375920"/>
                <a:chOff x="0" y="294640"/>
                <a:chExt cx="1094740" cy="467360"/>
              </a:xfrm>
              <a:solidFill>
                <a:srgbClr val="EE8A10"/>
              </a:solidFill>
            </p:grpSpPr>
            <p:sp>
              <p:nvSpPr>
                <p:cNvPr id="104876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4876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4876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1048763" name="文本框 5"/>
              <p:cNvSpPr txBox="1"/>
              <p:nvPr/>
            </p:nvSpPr>
            <p:spPr>
              <a:xfrm>
                <a:off x="972489" y="248698"/>
                <a:ext cx="2702560" cy="497839"/>
              </a:xfrm>
              <a:prstGeom prst="rect">
                <a:avLst/>
              </a:prstGeom>
              <a:noFill/>
            </p:spPr>
            <p:txBody>
              <a:bodyPr wrap="square" rtlCol="0">
                <a:spAutoFit/>
              </a:bodyPr>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30" name="组合 6"/>
              <p:cNvGrpSpPr/>
              <p:nvPr/>
            </p:nvGrpSpPr>
            <p:grpSpPr>
              <a:xfrm>
                <a:off x="3356076" y="408709"/>
                <a:ext cx="1749361" cy="147782"/>
                <a:chOff x="635462" y="775854"/>
                <a:chExt cx="1749361" cy="147782"/>
              </a:xfrm>
              <a:solidFill>
                <a:srgbClr val="EE8A10"/>
              </a:solidFill>
            </p:grpSpPr>
            <p:sp>
              <p:nvSpPr>
                <p:cNvPr id="1048764"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65"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66"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67"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68"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cxnSp>
            <p:nvCxnSpPr>
              <p:cNvPr id="3145736"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5"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1048769" name="文本框 18"/>
          <p:cNvSpPr txBox="1"/>
          <p:nvPr/>
        </p:nvSpPr>
        <p:spPr>
          <a:xfrm>
            <a:off x="817245" y="1936115"/>
            <a:ext cx="10598785" cy="3903980"/>
          </a:xfrm>
          <a:prstGeom prst="rect">
            <a:avLst/>
          </a:prstGeom>
          <a:noFill/>
        </p:spPr>
        <p:txBody>
          <a:bodyPr wrap="square">
            <a:noAutofit/>
          </a:bodyPr>
          <a:p>
            <a:pPr marL="0" lvl="0" indent="457200" algn="l">
              <a:buFont typeface="+mj-lt"/>
              <a:buNone/>
            </a:pPr>
            <a:r>
              <a:rPr lang="zh-CN" altLang="en-US" b="1" i="0" dirty="0">
                <a:effectLst/>
                <a:latin typeface="微软雅黑" panose="020B0503020204020204" pitchFamily="34" charset="-122"/>
                <a:ea typeface="微软雅黑" panose="020B0503020204020204" pitchFamily="34" charset="-122"/>
              </a:rPr>
              <a:t>改进一：更好的初始化策略</a:t>
            </a:r>
            <a:endParaRPr lang="zh-CN" altLang="en-US" b="1" i="0" dirty="0">
              <a:effectLst/>
              <a:latin typeface="微软雅黑" panose="020B0503020204020204" pitchFamily="34" charset="-122"/>
              <a:ea typeface="微软雅黑" panose="020B0503020204020204" pitchFamily="34" charset="-122"/>
            </a:endParaRPr>
          </a:p>
          <a:p>
            <a:pPr marL="0" lvl="0" indent="457200" algn="l">
              <a:buFont typeface="+mj-lt"/>
              <a:buNone/>
            </a:pPr>
            <a:r>
              <a:rPr lang="zh-CN" altLang="en-US" b="1" i="0" dirty="0">
                <a:effectLst/>
                <a:latin typeface="微软雅黑" panose="020B0503020204020204" pitchFamily="34" charset="-122"/>
                <a:ea typeface="微软雅黑" panose="020B0503020204020204" pitchFamily="34" charset="-122"/>
              </a:rPr>
              <a:t>问题：原始方法随机初始化手姿时，成功率低、收敛慢，尤其是初始手姿</a:t>
            </a:r>
            <a:r>
              <a:rPr lang="en-US" altLang="zh-CN" b="1" i="0" dirty="0">
                <a:effectLst/>
                <a:latin typeface="微软雅黑" panose="020B0503020204020204" pitchFamily="34" charset="-122"/>
                <a:ea typeface="微软雅黑" panose="020B0503020204020204" pitchFamily="34" charset="-122"/>
              </a:rPr>
              <a:t>“</a:t>
            </a:r>
            <a:r>
              <a:rPr lang="zh-CN" altLang="en-US" b="1" i="0" dirty="0">
                <a:effectLst/>
                <a:latin typeface="微软雅黑" panose="020B0503020204020204" pitchFamily="34" charset="-122"/>
                <a:ea typeface="微软雅黑" panose="020B0503020204020204" pitchFamily="34" charset="-122"/>
              </a:rPr>
              <a:t>过于闭合</a:t>
            </a:r>
            <a:r>
              <a:rPr lang="en-US" altLang="zh-CN" b="1" i="0" dirty="0">
                <a:effectLst/>
                <a:latin typeface="微软雅黑" panose="020B0503020204020204" pitchFamily="34" charset="-122"/>
                <a:ea typeface="微软雅黑" panose="020B0503020204020204" pitchFamily="34" charset="-122"/>
              </a:rPr>
              <a:t>”</a:t>
            </a:r>
            <a:r>
              <a:rPr lang="zh-CN" altLang="en-US" b="1" i="0" dirty="0">
                <a:effectLst/>
                <a:latin typeface="微软雅黑" panose="020B0503020204020204" pitchFamily="34" charset="-122"/>
                <a:ea typeface="微软雅黑" panose="020B0503020204020204" pitchFamily="34" charset="-122"/>
              </a:rPr>
              <a:t>时，优化很难找到有效抓取。</a:t>
            </a:r>
            <a:endParaRPr lang="zh-CN" altLang="en-US" b="1" i="0" dirty="0">
              <a:effectLst/>
              <a:latin typeface="微软雅黑" panose="020B0503020204020204" pitchFamily="34" charset="-122"/>
              <a:ea typeface="微软雅黑" panose="020B0503020204020204" pitchFamily="34" charset="-122"/>
            </a:endParaRPr>
          </a:p>
          <a:p>
            <a:pPr marL="0" lvl="0" indent="457200" algn="l">
              <a:buFont typeface="+mj-lt"/>
              <a:buNone/>
            </a:pPr>
            <a:endParaRPr lang="zh-CN" altLang="en-US" b="1" i="0" dirty="0">
              <a:effectLst/>
              <a:latin typeface="微软雅黑" panose="020B0503020204020204" pitchFamily="34" charset="-122"/>
              <a:ea typeface="微软雅黑" panose="020B0503020204020204" pitchFamily="34" charset="-122"/>
            </a:endParaRPr>
          </a:p>
          <a:p>
            <a:pPr marL="0" lvl="0" indent="457200" algn="l">
              <a:buFont typeface="+mj-lt"/>
              <a:buNone/>
            </a:pPr>
            <a:r>
              <a:rPr lang="zh-CN" altLang="en-US" b="1" i="0" dirty="0">
                <a:effectLst/>
                <a:latin typeface="微软雅黑" panose="020B0503020204020204" pitchFamily="34" charset="-122"/>
                <a:ea typeface="微软雅黑" panose="020B0503020204020204" pitchFamily="34" charset="-122"/>
              </a:rPr>
              <a:t>作者给初始化加了两条先验：五指张开，给抓取留出空间；手掌朝向物体</a:t>
            </a:r>
            <a:endParaRPr lang="zh-CN" altLang="en-US" b="1" i="0" dirty="0">
              <a:effectLst/>
              <a:latin typeface="微软雅黑" panose="020B0503020204020204" pitchFamily="34" charset="-122"/>
              <a:ea typeface="微软雅黑" panose="020B0503020204020204" pitchFamily="34" charset="-122"/>
            </a:endParaRPr>
          </a:p>
          <a:p>
            <a:pPr marL="0" lvl="0" indent="457200" algn="l">
              <a:buFont typeface="+mj-lt"/>
              <a:buNone/>
            </a:pPr>
            <a:endParaRPr lang="zh-CN" altLang="en-US" b="1" i="0" dirty="0">
              <a:effectLst/>
              <a:latin typeface="微软雅黑" panose="020B0503020204020204" pitchFamily="34" charset="-122"/>
              <a:ea typeface="微软雅黑" panose="020B0503020204020204" pitchFamily="34" charset="-122"/>
            </a:endParaRPr>
          </a:p>
          <a:p>
            <a:pPr marL="0" lvl="0" indent="457200" algn="l">
              <a:buFont typeface="+mj-lt"/>
              <a:buNone/>
            </a:pPr>
            <a:r>
              <a:rPr lang="zh-CN" altLang="en-US" b="1" i="0" dirty="0">
                <a:effectLst/>
                <a:latin typeface="微软雅黑" panose="020B0503020204020204" pitchFamily="34" charset="-122"/>
                <a:ea typeface="微软雅黑" panose="020B0503020204020204" pitchFamily="34" charset="-122"/>
              </a:rPr>
              <a:t>把纯随机搜索改成了带几何先验的目标导向初始化，</a:t>
            </a:r>
            <a:r>
              <a:rPr lang="zh-CN" altLang="en-US" b="1" i="0" dirty="0">
                <a:effectLst/>
                <a:latin typeface="微软雅黑" panose="020B0503020204020204" pitchFamily="34" charset="-122"/>
                <a:ea typeface="微软雅黑" panose="020B0503020204020204" pitchFamily="34" charset="-122"/>
              </a:rPr>
              <a:t>结果显示，更容易收敛到成功抓取，抓取分布更均匀地覆盖物体周围，最终手势更自然。</a:t>
            </a:r>
            <a:endParaRPr lang="zh-CN" altLang="en-US" b="1" i="0" dirty="0">
              <a:effectLst/>
              <a:latin typeface="微软雅黑" panose="020B0503020204020204" pitchFamily="34" charset="-122"/>
              <a:ea typeface="微软雅黑" panose="020B0503020204020204" pitchFamily="34" charset="-122"/>
            </a:endParaRPr>
          </a:p>
          <a:p>
            <a:pPr marL="0" lvl="0" indent="457200" algn="l">
              <a:buFont typeface="+mj-lt"/>
              <a:buNone/>
            </a:pPr>
            <a:endParaRPr lang="zh-CN" altLang="en-US" b="1" i="0" dirty="0">
              <a:effectLst/>
              <a:latin typeface="微软雅黑" panose="020B0503020204020204" pitchFamily="34" charset="-122"/>
              <a:ea typeface="微软雅黑" panose="020B0503020204020204" pitchFamily="34" charset="-122"/>
            </a:endParaRPr>
          </a:p>
          <a:p>
            <a:pPr marL="0" lvl="0" indent="457200" algn="l">
              <a:buFont typeface="+mj-lt"/>
              <a:buNone/>
            </a:pPr>
            <a:r>
              <a:rPr lang="zh-CN" altLang="en-US" b="1" i="0" dirty="0">
                <a:effectLst/>
                <a:latin typeface="微软雅黑" panose="020B0503020204020204" pitchFamily="34" charset="-122"/>
                <a:ea typeface="微软雅黑" panose="020B0503020204020204" pitchFamily="34" charset="-122"/>
              </a:rPr>
              <a:t>改进</a:t>
            </a:r>
            <a:r>
              <a:rPr lang="zh-CN" altLang="en-US" b="1" i="0" dirty="0">
                <a:effectLst/>
                <a:latin typeface="微软雅黑" panose="020B0503020204020204" pitchFamily="34" charset="-122"/>
                <a:ea typeface="微软雅黑" panose="020B0503020204020204" pitchFamily="34" charset="-122"/>
              </a:rPr>
              <a:t>二：反向穿透能量</a:t>
            </a:r>
            <a:endParaRPr lang="zh-CN" altLang="en-US" b="1" i="0" dirty="0">
              <a:effectLst/>
              <a:latin typeface="微软雅黑" panose="020B0503020204020204" pitchFamily="34" charset="-122"/>
              <a:ea typeface="微软雅黑" panose="020B0503020204020204" pitchFamily="34" charset="-122"/>
            </a:endParaRPr>
          </a:p>
          <a:p>
            <a:pPr marL="0" lvl="0" indent="457200" algn="l">
              <a:buFont typeface="+mj-lt"/>
              <a:buNone/>
            </a:pPr>
            <a:r>
              <a:rPr lang="zh-CN" altLang="en-US" b="1" i="0" dirty="0">
                <a:effectLst/>
                <a:latin typeface="微软雅黑" panose="020B0503020204020204" pitchFamily="34" charset="-122"/>
                <a:ea typeface="微软雅黑" panose="020B0503020204020204" pitchFamily="34" charset="-122"/>
              </a:rPr>
              <a:t>问题：原方法的穿透项依赖</a:t>
            </a:r>
            <a:r>
              <a:rPr lang="en-US" altLang="zh-CN" b="1" i="0" dirty="0">
                <a:effectLst/>
                <a:latin typeface="微软雅黑" panose="020B0503020204020204" pitchFamily="34" charset="-122"/>
                <a:ea typeface="微软雅黑" panose="020B0503020204020204" pitchFamily="34" charset="-122"/>
              </a:rPr>
              <a:t>“</a:t>
            </a:r>
            <a:r>
              <a:rPr lang="zh-CN" altLang="en-US" b="1" i="0" dirty="0">
                <a:effectLst/>
                <a:latin typeface="微软雅黑" panose="020B0503020204020204" pitchFamily="34" charset="-122"/>
                <a:ea typeface="微软雅黑" panose="020B0503020204020204" pitchFamily="34" charset="-122"/>
              </a:rPr>
              <a:t>手点是否在物体内部</a:t>
            </a:r>
            <a:r>
              <a:rPr lang="en-US" altLang="zh-CN" b="1" i="0" dirty="0">
                <a:effectLst/>
                <a:latin typeface="微软雅黑" panose="020B0503020204020204" pitchFamily="34" charset="-122"/>
                <a:ea typeface="微软雅黑" panose="020B0503020204020204" pitchFamily="34" charset="-122"/>
              </a:rPr>
              <a:t>”</a:t>
            </a:r>
            <a:r>
              <a:rPr lang="zh-CN" altLang="en-US" b="1" i="0" dirty="0">
                <a:effectLst/>
                <a:latin typeface="微软雅黑" panose="020B0503020204020204" pitchFamily="34" charset="-122"/>
                <a:ea typeface="微软雅黑" panose="020B0503020204020204" pitchFamily="34" charset="-122"/>
              </a:rPr>
              <a:t>。但很多</a:t>
            </a:r>
            <a:r>
              <a:rPr lang="en-US" altLang="zh-CN" b="1" i="0" dirty="0">
                <a:effectLst/>
                <a:latin typeface="微软雅黑" panose="020B0503020204020204" pitchFamily="34" charset="-122"/>
                <a:ea typeface="微软雅黑" panose="020B0503020204020204" pitchFamily="34" charset="-122"/>
              </a:rPr>
              <a:t> CAD/</a:t>
            </a:r>
            <a:r>
              <a:rPr lang="zh-CN" altLang="en-US" b="1" i="0" dirty="0">
                <a:effectLst/>
                <a:latin typeface="微软雅黑" panose="020B0503020204020204" pitchFamily="34" charset="-122"/>
                <a:ea typeface="微软雅黑" panose="020B0503020204020204" pitchFamily="34" charset="-122"/>
              </a:rPr>
              <a:t>扫描物体网格没有厚度或者网格质量差，这会导致：内外判断失效，穿透能量恒为</a:t>
            </a:r>
            <a:r>
              <a:rPr lang="en-US" altLang="zh-CN" b="1" i="0" dirty="0">
                <a:effectLst/>
                <a:latin typeface="微软雅黑" panose="020B0503020204020204" pitchFamily="34" charset="-122"/>
                <a:ea typeface="微软雅黑" panose="020B0503020204020204" pitchFamily="34" charset="-122"/>
              </a:rPr>
              <a:t> 0</a:t>
            </a:r>
            <a:r>
              <a:rPr lang="zh-CN" altLang="en-US" b="1" i="0" dirty="0">
                <a:effectLst/>
                <a:latin typeface="微软雅黑" panose="020B0503020204020204" pitchFamily="34" charset="-122"/>
                <a:ea typeface="微软雅黑" panose="020B0503020204020204" pitchFamily="34" charset="-122"/>
              </a:rPr>
              <a:t>。</a:t>
            </a:r>
            <a:endParaRPr lang="zh-CN" altLang="en-US" b="1" i="0" dirty="0">
              <a:effectLst/>
              <a:latin typeface="微软雅黑" panose="020B0503020204020204" pitchFamily="34" charset="-122"/>
              <a:ea typeface="微软雅黑" panose="020B0503020204020204" pitchFamily="34" charset="-122"/>
            </a:endParaRPr>
          </a:p>
          <a:p>
            <a:pPr marL="0" lvl="0" indent="457200" algn="l">
              <a:buFont typeface="+mj-lt"/>
              <a:buNone/>
            </a:pPr>
            <a:r>
              <a:rPr lang="zh-CN" altLang="en-US" b="1" i="0" dirty="0">
                <a:effectLst/>
                <a:latin typeface="微软雅黑" panose="020B0503020204020204" pitchFamily="34" charset="-122"/>
                <a:ea typeface="微软雅黑" panose="020B0503020204020204" pitchFamily="34" charset="-122"/>
              </a:rPr>
              <a:t>作者把思路反过来，不是从手表面点到物体求穿透，而是从物体点到手网格求距离。从</a:t>
            </a:r>
            <a:r>
              <a:rPr lang="en-US" altLang="zh-CN" b="1" i="0" dirty="0">
                <a:effectLst/>
                <a:latin typeface="微软雅黑" panose="020B0503020204020204" pitchFamily="34" charset="-122"/>
                <a:ea typeface="微软雅黑" panose="020B0503020204020204" pitchFamily="34" charset="-122"/>
              </a:rPr>
              <a:t>“</a:t>
            </a:r>
            <a:r>
              <a:rPr lang="zh-CN" altLang="en-US" b="1" i="0" dirty="0">
                <a:effectLst/>
                <a:latin typeface="微软雅黑" panose="020B0503020204020204" pitchFamily="34" charset="-122"/>
                <a:ea typeface="微软雅黑" panose="020B0503020204020204" pitchFamily="34" charset="-122"/>
              </a:rPr>
              <a:t>只能处理理想网格</a:t>
            </a:r>
            <a:r>
              <a:rPr lang="en-US" altLang="zh-CN" b="1" i="0" dirty="0">
                <a:effectLst/>
                <a:latin typeface="微软雅黑" panose="020B0503020204020204" pitchFamily="34" charset="-122"/>
                <a:ea typeface="微软雅黑" panose="020B0503020204020204" pitchFamily="34" charset="-122"/>
              </a:rPr>
              <a:t>”</a:t>
            </a:r>
            <a:r>
              <a:rPr lang="zh-CN" altLang="en-US" b="1" i="0" dirty="0">
                <a:effectLst/>
                <a:latin typeface="微软雅黑" panose="020B0503020204020204" pitchFamily="34" charset="-122"/>
                <a:ea typeface="微软雅黑" panose="020B0503020204020204" pitchFamily="34" charset="-122"/>
              </a:rPr>
              <a:t>推进到</a:t>
            </a:r>
            <a:r>
              <a:rPr lang="en-US" altLang="zh-CN" b="1" i="0" dirty="0">
                <a:effectLst/>
                <a:latin typeface="微软雅黑" panose="020B0503020204020204" pitchFamily="34" charset="-122"/>
                <a:ea typeface="微软雅黑" panose="020B0503020204020204" pitchFamily="34" charset="-122"/>
              </a:rPr>
              <a:t>“</a:t>
            </a:r>
            <a:r>
              <a:rPr lang="zh-CN" altLang="en-US" b="1" i="0" dirty="0">
                <a:effectLst/>
                <a:latin typeface="微软雅黑" panose="020B0503020204020204" pitchFamily="34" charset="-122"/>
                <a:ea typeface="微软雅黑" panose="020B0503020204020204" pitchFamily="34" charset="-122"/>
              </a:rPr>
              <a:t>能处理大量真实公开模型</a:t>
            </a:r>
            <a:r>
              <a:rPr lang="en-US" altLang="zh-CN" b="1" i="0" dirty="0">
                <a:effectLst/>
                <a:latin typeface="微软雅黑" panose="020B0503020204020204" pitchFamily="34" charset="-122"/>
                <a:ea typeface="微软雅黑" panose="020B0503020204020204" pitchFamily="34" charset="-122"/>
              </a:rPr>
              <a:t>”</a:t>
            </a:r>
            <a:r>
              <a:rPr lang="zh-CN" altLang="en-US" b="1" i="0" dirty="0">
                <a:effectLst/>
                <a:latin typeface="微软雅黑" panose="020B0503020204020204" pitchFamily="34" charset="-122"/>
                <a:ea typeface="微软雅黑" panose="020B0503020204020204" pitchFamily="34" charset="-122"/>
              </a:rPr>
              <a:t>。</a:t>
            </a:r>
            <a:endParaRPr lang="zh-CN" altLang="en-US" b="1" i="0" dirty="0">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26" name=""/>
        <p:cNvGrpSpPr/>
        <p:nvPr/>
      </p:nvGrpSpPr>
      <p:grpSpPr>
        <a:xfrm>
          <a:off x="0" y="0"/>
          <a:ext cx="0" cy="0"/>
          <a:chOff x="0" y="0"/>
          <a:chExt cx="0" cy="0"/>
        </a:xfrm>
      </p:grpSpPr>
      <p:pic>
        <p:nvPicPr>
          <p:cNvPr id="3" name="图片 2" descr="ScreenShot_2026-04-07_230222_677"/>
          <p:cNvPicPr>
            <a:picLocks noChangeAspect="1"/>
          </p:cNvPicPr>
          <p:nvPr/>
        </p:nvPicPr>
        <p:blipFill>
          <a:blip r:embed="rId1"/>
          <a:stretch>
            <a:fillRect/>
          </a:stretch>
        </p:blipFill>
        <p:spPr>
          <a:xfrm>
            <a:off x="2581275" y="2562225"/>
            <a:ext cx="5141595" cy="1019175"/>
          </a:xfrm>
          <a:prstGeom prst="rect">
            <a:avLst/>
          </a:prstGeom>
        </p:spPr>
      </p:pic>
      <p:sp>
        <p:nvSpPr>
          <p:cNvPr id="1048759" name="文本框 1"/>
          <p:cNvSpPr txBox="1"/>
          <p:nvPr/>
        </p:nvSpPr>
        <p:spPr>
          <a:xfrm>
            <a:off x="247650" y="939165"/>
            <a:ext cx="11696700" cy="521970"/>
          </a:xfrm>
          <a:prstGeom prst="rect">
            <a:avLst/>
          </a:prstGeom>
        </p:spPr>
        <p:txBody>
          <a:bodyPr wrap="square">
            <a:spAutoFit/>
          </a:bodyPr>
          <a:p>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阅读文献分析</a:t>
            </a:r>
            <a:r>
              <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——DexGraspNet</a:t>
            </a:r>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数据集构建关键</a:t>
            </a:r>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优化</a:t>
            </a:r>
            <a:endPar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nvGrpSpPr>
          <p:cNvPr id="127" name="组合 2"/>
          <p:cNvGrpSpPr/>
          <p:nvPr/>
        </p:nvGrpSpPr>
        <p:grpSpPr>
          <a:xfrm>
            <a:off x="0" y="156335"/>
            <a:ext cx="11940390" cy="497839"/>
            <a:chOff x="0" y="156335"/>
            <a:chExt cx="11940390" cy="497839"/>
          </a:xfrm>
        </p:grpSpPr>
        <p:grpSp>
          <p:nvGrpSpPr>
            <p:cNvPr id="128" name="组合 3"/>
            <p:cNvGrpSpPr/>
            <p:nvPr/>
          </p:nvGrpSpPr>
          <p:grpSpPr>
            <a:xfrm>
              <a:off x="0" y="156335"/>
              <a:ext cx="9666514" cy="497839"/>
              <a:chOff x="0" y="248698"/>
              <a:chExt cx="9666514" cy="497839"/>
            </a:xfrm>
          </p:grpSpPr>
          <p:grpSp>
            <p:nvGrpSpPr>
              <p:cNvPr id="129" name="组合 4"/>
              <p:cNvGrpSpPr/>
              <p:nvPr/>
            </p:nvGrpSpPr>
            <p:grpSpPr>
              <a:xfrm>
                <a:off x="0" y="294640"/>
                <a:ext cx="880552" cy="375920"/>
                <a:chOff x="0" y="294640"/>
                <a:chExt cx="1094740" cy="467360"/>
              </a:xfrm>
              <a:solidFill>
                <a:srgbClr val="EE8A10"/>
              </a:solidFill>
            </p:grpSpPr>
            <p:sp>
              <p:nvSpPr>
                <p:cNvPr id="104876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4876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4876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1048763" name="文本框 5"/>
              <p:cNvSpPr txBox="1"/>
              <p:nvPr/>
            </p:nvSpPr>
            <p:spPr>
              <a:xfrm>
                <a:off x="972489" y="248698"/>
                <a:ext cx="2702560" cy="497839"/>
              </a:xfrm>
              <a:prstGeom prst="rect">
                <a:avLst/>
              </a:prstGeom>
              <a:noFill/>
            </p:spPr>
            <p:txBody>
              <a:bodyPr wrap="square" rtlCol="0">
                <a:spAutoFit/>
              </a:bodyPr>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30" name="组合 6"/>
              <p:cNvGrpSpPr/>
              <p:nvPr/>
            </p:nvGrpSpPr>
            <p:grpSpPr>
              <a:xfrm>
                <a:off x="3356076" y="408709"/>
                <a:ext cx="1749361" cy="147782"/>
                <a:chOff x="635462" y="775854"/>
                <a:chExt cx="1749361" cy="147782"/>
              </a:xfrm>
              <a:solidFill>
                <a:srgbClr val="EE8A10"/>
              </a:solidFill>
            </p:grpSpPr>
            <p:sp>
              <p:nvSpPr>
                <p:cNvPr id="1048764"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65"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66"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67"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68"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cxnSp>
            <p:nvCxnSpPr>
              <p:cNvPr id="3145736"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5" name="图片 62"/>
            <p:cNvPicPr>
              <a:picLocks noChangeAspect="1"/>
            </p:cNvPicPr>
            <p:nvPr/>
          </p:nvPicPr>
          <p:blipFill>
            <a:blip r:embed="rId2" cstate="print"/>
            <a:srcRect/>
            <a:stretch>
              <a:fillRect/>
            </a:stretch>
          </p:blipFill>
          <p:spPr>
            <a:xfrm>
              <a:off x="9765508" y="161931"/>
              <a:ext cx="2174882" cy="456069"/>
            </a:xfrm>
            <a:prstGeom prst="rect">
              <a:avLst/>
            </a:prstGeom>
          </p:spPr>
        </p:pic>
      </p:grpSp>
      <p:sp>
        <p:nvSpPr>
          <p:cNvPr id="1048769" name="文本框 18"/>
          <p:cNvSpPr txBox="1"/>
          <p:nvPr/>
        </p:nvSpPr>
        <p:spPr>
          <a:xfrm>
            <a:off x="817245" y="1936115"/>
            <a:ext cx="10598785" cy="3903980"/>
          </a:xfrm>
          <a:prstGeom prst="rect">
            <a:avLst/>
          </a:prstGeom>
          <a:noFill/>
        </p:spPr>
        <p:txBody>
          <a:bodyPr wrap="square">
            <a:noAutofit/>
          </a:bodyPr>
          <a:p>
            <a:pPr marL="0" lvl="0" indent="457200" algn="l">
              <a:buFont typeface="+mj-lt"/>
              <a:buNone/>
            </a:pPr>
            <a:r>
              <a:rPr lang="zh-CN" altLang="en-US" b="1" i="0" dirty="0">
                <a:effectLst/>
                <a:latin typeface="微软雅黑" panose="020B0503020204020204" pitchFamily="34" charset="-122"/>
                <a:ea typeface="微软雅黑" panose="020B0503020204020204" pitchFamily="34" charset="-122"/>
              </a:rPr>
              <a:t>改进三：增加自碰撞和关节越界惩罚</a:t>
            </a:r>
            <a:endParaRPr lang="zh-CN" altLang="en-US" b="1" i="0" dirty="0">
              <a:effectLst/>
              <a:latin typeface="微软雅黑" panose="020B0503020204020204" pitchFamily="34" charset="-122"/>
              <a:ea typeface="微软雅黑" panose="020B0503020204020204" pitchFamily="34" charset="-122"/>
            </a:endParaRPr>
          </a:p>
          <a:p>
            <a:pPr marL="0" lvl="0" indent="457200" algn="l">
              <a:buFont typeface="+mj-lt"/>
              <a:buNone/>
            </a:pPr>
            <a:r>
              <a:rPr lang="zh-CN" altLang="en-US" b="1" i="0" dirty="0">
                <a:effectLst/>
                <a:latin typeface="微软雅黑" panose="020B0503020204020204" pitchFamily="34" charset="-122"/>
                <a:ea typeface="微软雅黑" panose="020B0503020204020204" pitchFamily="34" charset="-122"/>
              </a:rPr>
              <a:t>作者发现，单靠原始项优化出来的抓取，有时会出现：手指相互穿插或者手指扭曲等人类手无法做到的动作，不符合</a:t>
            </a:r>
            <a:r>
              <a:rPr lang="zh-CN" altLang="en-US" b="1" i="0" dirty="0">
                <a:effectLst/>
                <a:latin typeface="微软雅黑" panose="020B0503020204020204" pitchFamily="34" charset="-122"/>
                <a:ea typeface="微软雅黑" panose="020B0503020204020204" pitchFamily="34" charset="-122"/>
              </a:rPr>
              <a:t>常识。于是增加两个项：</a:t>
            </a:r>
            <a:endParaRPr lang="zh-CN" altLang="en-US" b="1" i="0" dirty="0">
              <a:effectLst/>
              <a:latin typeface="微软雅黑" panose="020B0503020204020204" pitchFamily="34" charset="-122"/>
              <a:ea typeface="微软雅黑" panose="020B0503020204020204" pitchFamily="34" charset="-122"/>
            </a:endParaRPr>
          </a:p>
          <a:p>
            <a:pPr marL="0" lvl="0" indent="457200" algn="l">
              <a:buFont typeface="+mj-lt"/>
              <a:buNone/>
            </a:pPr>
            <a:r>
              <a:rPr lang="zh-CN" altLang="en-US" b="1" i="0" dirty="0">
                <a:effectLst/>
                <a:latin typeface="微软雅黑" panose="020B0503020204020204" pitchFamily="34" charset="-122"/>
                <a:ea typeface="微软雅黑" panose="020B0503020204020204" pitchFamily="34" charset="-122"/>
              </a:rPr>
              <a:t>自穿透惩罚：</a:t>
            </a:r>
            <a:r>
              <a:rPr lang="en-US" altLang="zh-CN" b="1" i="0" dirty="0">
                <a:effectLst/>
                <a:latin typeface="微软雅黑" panose="020B0503020204020204" pitchFamily="34" charset="-122"/>
                <a:ea typeface="微软雅黑" panose="020B0503020204020204" pitchFamily="34" charset="-122"/>
              </a:rPr>
              <a:t>                                                                         </a:t>
            </a:r>
            <a:r>
              <a:rPr lang="zh-CN" altLang="en-US" b="1" i="0" dirty="0">
                <a:effectLst/>
                <a:latin typeface="微软雅黑" panose="020B0503020204020204" pitchFamily="34" charset="-122"/>
                <a:ea typeface="微软雅黑" panose="020B0503020204020204" pitchFamily="34" charset="-122"/>
              </a:rPr>
              <a:t>其中</a:t>
            </a:r>
            <a:r>
              <a:rPr lang="en-US" altLang="zh-CN" b="1" i="0" dirty="0">
                <a:effectLst/>
                <a:latin typeface="微软雅黑" panose="020B0503020204020204" pitchFamily="34" charset="-122"/>
                <a:ea typeface="微软雅黑" panose="020B0503020204020204" pitchFamily="34" charset="-122"/>
              </a:rPr>
              <a:t> P(H) </a:t>
            </a:r>
            <a:r>
              <a:rPr lang="zh-CN" altLang="en-US" b="1" i="0" dirty="0">
                <a:effectLst/>
                <a:latin typeface="微软雅黑" panose="020B0503020204020204" pitchFamily="34" charset="-122"/>
                <a:ea typeface="微软雅黑" panose="020B0503020204020204" pitchFamily="34" charset="-122"/>
              </a:rPr>
              <a:t>是手上的若干代表点</a:t>
            </a:r>
            <a:endParaRPr lang="zh-CN" altLang="en-US" b="1" i="0" dirty="0">
              <a:effectLst/>
              <a:latin typeface="微软雅黑" panose="020B0503020204020204" pitchFamily="34" charset="-122"/>
              <a:ea typeface="微软雅黑" panose="020B0503020204020204" pitchFamily="34" charset="-122"/>
            </a:endParaRPr>
          </a:p>
          <a:p>
            <a:pPr marL="0" lvl="0" indent="457200" algn="l">
              <a:buFont typeface="+mj-lt"/>
              <a:buNone/>
            </a:pPr>
            <a:endParaRPr lang="zh-CN" altLang="en-US" b="1" i="0" dirty="0">
              <a:effectLst/>
              <a:latin typeface="微软雅黑" panose="020B0503020204020204" pitchFamily="34" charset="-122"/>
              <a:ea typeface="微软雅黑" panose="020B0503020204020204" pitchFamily="34" charset="-122"/>
            </a:endParaRPr>
          </a:p>
          <a:p>
            <a:pPr marL="0" lvl="0" indent="457200" algn="l">
              <a:buFont typeface="+mj-lt"/>
              <a:buNone/>
            </a:pPr>
            <a:endParaRPr lang="zh-CN" altLang="en-US" b="1" i="0" dirty="0">
              <a:effectLst/>
              <a:latin typeface="微软雅黑" panose="020B0503020204020204" pitchFamily="34" charset="-122"/>
              <a:ea typeface="微软雅黑" panose="020B0503020204020204" pitchFamily="34" charset="-122"/>
            </a:endParaRPr>
          </a:p>
          <a:p>
            <a:pPr marL="0" lvl="0" indent="457200" algn="l">
              <a:buFont typeface="+mj-lt"/>
              <a:buNone/>
            </a:pPr>
            <a:r>
              <a:rPr lang="zh-CN" altLang="en-US" b="1" i="0" dirty="0">
                <a:effectLst/>
                <a:latin typeface="微软雅黑" panose="020B0503020204020204" pitchFamily="34" charset="-122"/>
                <a:ea typeface="微软雅黑" panose="020B0503020204020204" pitchFamily="34" charset="-122"/>
              </a:rPr>
              <a:t>关节越界惩罚：</a:t>
            </a:r>
            <a:endParaRPr lang="zh-CN" altLang="en-US" b="1" i="0" dirty="0">
              <a:effectLst/>
              <a:latin typeface="微软雅黑" panose="020B0503020204020204" pitchFamily="34" charset="-122"/>
              <a:ea typeface="微软雅黑" panose="020B0503020204020204" pitchFamily="34" charset="-122"/>
            </a:endParaRPr>
          </a:p>
        </p:txBody>
      </p:sp>
      <p:pic>
        <p:nvPicPr>
          <p:cNvPr id="2" name="图片 1" descr="ScreenShot_2026-04-07_230229_079"/>
          <p:cNvPicPr>
            <a:picLocks noChangeAspect="1"/>
          </p:cNvPicPr>
          <p:nvPr/>
        </p:nvPicPr>
        <p:blipFill>
          <a:blip r:embed="rId3"/>
          <a:stretch>
            <a:fillRect/>
          </a:stretch>
        </p:blipFill>
        <p:spPr>
          <a:xfrm>
            <a:off x="2905125" y="3429000"/>
            <a:ext cx="5733415" cy="8191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26" name=""/>
        <p:cNvGrpSpPr/>
        <p:nvPr/>
      </p:nvGrpSpPr>
      <p:grpSpPr>
        <a:xfrm>
          <a:off x="0" y="0"/>
          <a:ext cx="0" cy="0"/>
          <a:chOff x="0" y="0"/>
          <a:chExt cx="0" cy="0"/>
        </a:xfrm>
      </p:grpSpPr>
      <p:sp>
        <p:nvSpPr>
          <p:cNvPr id="1048759" name="文本框 1"/>
          <p:cNvSpPr txBox="1"/>
          <p:nvPr/>
        </p:nvSpPr>
        <p:spPr>
          <a:xfrm>
            <a:off x="247650" y="939165"/>
            <a:ext cx="11696700" cy="521970"/>
          </a:xfrm>
          <a:prstGeom prst="rect">
            <a:avLst/>
          </a:prstGeom>
        </p:spPr>
        <p:txBody>
          <a:bodyPr wrap="square">
            <a:spAutoFit/>
          </a:bodyPr>
          <a:p>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阅读文献分析</a:t>
            </a:r>
            <a:r>
              <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——DexGraspNet</a:t>
            </a:r>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数据集构建验证与</a:t>
            </a:r>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规模</a:t>
            </a:r>
            <a:endPar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nvGrpSpPr>
          <p:cNvPr id="127" name="组合 2"/>
          <p:cNvGrpSpPr/>
          <p:nvPr/>
        </p:nvGrpSpPr>
        <p:grpSpPr>
          <a:xfrm>
            <a:off x="0" y="156335"/>
            <a:ext cx="11940390" cy="497839"/>
            <a:chOff x="0" y="156335"/>
            <a:chExt cx="11940390" cy="497839"/>
          </a:xfrm>
        </p:grpSpPr>
        <p:grpSp>
          <p:nvGrpSpPr>
            <p:cNvPr id="128" name="组合 3"/>
            <p:cNvGrpSpPr/>
            <p:nvPr/>
          </p:nvGrpSpPr>
          <p:grpSpPr>
            <a:xfrm>
              <a:off x="0" y="156335"/>
              <a:ext cx="9666514" cy="497839"/>
              <a:chOff x="0" y="248698"/>
              <a:chExt cx="9666514" cy="497839"/>
            </a:xfrm>
          </p:grpSpPr>
          <p:grpSp>
            <p:nvGrpSpPr>
              <p:cNvPr id="129" name="组合 4"/>
              <p:cNvGrpSpPr/>
              <p:nvPr/>
            </p:nvGrpSpPr>
            <p:grpSpPr>
              <a:xfrm>
                <a:off x="0" y="294640"/>
                <a:ext cx="880552" cy="375920"/>
                <a:chOff x="0" y="294640"/>
                <a:chExt cx="1094740" cy="467360"/>
              </a:xfrm>
              <a:solidFill>
                <a:srgbClr val="EE8A10"/>
              </a:solidFill>
            </p:grpSpPr>
            <p:sp>
              <p:nvSpPr>
                <p:cNvPr id="104876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4876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4876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1048763" name="文本框 5"/>
              <p:cNvSpPr txBox="1"/>
              <p:nvPr/>
            </p:nvSpPr>
            <p:spPr>
              <a:xfrm>
                <a:off x="972489" y="248698"/>
                <a:ext cx="2702560" cy="497839"/>
              </a:xfrm>
              <a:prstGeom prst="rect">
                <a:avLst/>
              </a:prstGeom>
              <a:noFill/>
            </p:spPr>
            <p:txBody>
              <a:bodyPr wrap="square" rtlCol="0">
                <a:spAutoFit/>
              </a:bodyPr>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30" name="组合 6"/>
              <p:cNvGrpSpPr/>
              <p:nvPr/>
            </p:nvGrpSpPr>
            <p:grpSpPr>
              <a:xfrm>
                <a:off x="3356076" y="408709"/>
                <a:ext cx="1749361" cy="147782"/>
                <a:chOff x="635462" y="775854"/>
                <a:chExt cx="1749361" cy="147782"/>
              </a:xfrm>
              <a:solidFill>
                <a:srgbClr val="EE8A10"/>
              </a:solidFill>
            </p:grpSpPr>
            <p:sp>
              <p:nvSpPr>
                <p:cNvPr id="1048764"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65"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66"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67"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68"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cxnSp>
            <p:nvCxnSpPr>
              <p:cNvPr id="3145736"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5"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1048769" name="文本框 18"/>
          <p:cNvSpPr txBox="1"/>
          <p:nvPr/>
        </p:nvSpPr>
        <p:spPr>
          <a:xfrm>
            <a:off x="817245" y="1936115"/>
            <a:ext cx="10018395" cy="4159250"/>
          </a:xfrm>
          <a:prstGeom prst="rect">
            <a:avLst/>
          </a:prstGeom>
          <a:noFill/>
        </p:spPr>
        <p:txBody>
          <a:bodyPr wrap="square">
            <a:noAutofit/>
          </a:bodyPr>
          <a:p>
            <a:pPr indent="0" algn="l">
              <a:buFont typeface="+mj-lt"/>
              <a:buNone/>
            </a:pPr>
            <a:r>
              <a:rPr lang="zh-CN" altLang="en-US" b="1" i="0" dirty="0">
                <a:effectLst/>
                <a:latin typeface="微软雅黑" panose="020B0503020204020204" pitchFamily="34" charset="-122"/>
                <a:ea typeface="微软雅黑" panose="020B0503020204020204" pitchFamily="34" charset="-122"/>
              </a:rPr>
              <a:t>验证：</a:t>
            </a:r>
            <a:endParaRPr lang="zh-CN" altLang="en-US" b="1" i="0" dirty="0">
              <a:effectLst/>
              <a:latin typeface="微软雅黑" panose="020B0503020204020204" pitchFamily="34" charset="-122"/>
              <a:ea typeface="微软雅黑" panose="020B0503020204020204" pitchFamily="34" charset="-122"/>
            </a:endParaRPr>
          </a:p>
          <a:p>
            <a:pPr indent="457200" algn="l">
              <a:buFont typeface="+mj-lt"/>
              <a:buNone/>
            </a:pPr>
            <a:r>
              <a:rPr lang="zh-CN" altLang="en-US" b="1" i="0" dirty="0">
                <a:effectLst/>
                <a:latin typeface="微软雅黑" panose="020B0503020204020204" pitchFamily="34" charset="-122"/>
                <a:ea typeface="微软雅黑" panose="020B0503020204020204" pitchFamily="34" charset="-122"/>
              </a:rPr>
              <a:t>在</a:t>
            </a:r>
            <a:r>
              <a:rPr lang="en-US" altLang="zh-CN" b="1" i="0" dirty="0">
                <a:effectLst/>
                <a:latin typeface="微软雅黑" panose="020B0503020204020204" pitchFamily="34" charset="-122"/>
                <a:ea typeface="微软雅黑" panose="020B0503020204020204" pitchFamily="34" charset="-122"/>
              </a:rPr>
              <a:t> Isaac Gym + PhysX </a:t>
            </a:r>
            <a:r>
              <a:rPr lang="zh-CN" altLang="en-US" b="1" i="0" dirty="0">
                <a:effectLst/>
                <a:latin typeface="微软雅黑" panose="020B0503020204020204" pitchFamily="34" charset="-122"/>
                <a:ea typeface="微软雅黑" panose="020B0503020204020204" pitchFamily="34" charset="-122"/>
              </a:rPr>
              <a:t>中：按最终抓取参数初始化灵巧手，对接触链节施加小位移，使其主动压向物体，之后加入重力，在</a:t>
            </a:r>
            <a:r>
              <a:rPr lang="en-US" altLang="zh-CN" b="1" i="0" dirty="0">
                <a:effectLst/>
                <a:latin typeface="微软雅黑" panose="020B0503020204020204" pitchFamily="34" charset="-122"/>
                <a:ea typeface="微软雅黑" panose="020B0503020204020204" pitchFamily="34" charset="-122"/>
              </a:rPr>
              <a:t> 6 </a:t>
            </a:r>
            <a:r>
              <a:rPr lang="zh-CN" altLang="en-US" b="1" i="0" dirty="0">
                <a:effectLst/>
                <a:latin typeface="微软雅黑" panose="020B0503020204020204" pitchFamily="34" charset="-122"/>
                <a:ea typeface="微软雅黑" panose="020B0503020204020204" pitchFamily="34" charset="-122"/>
              </a:rPr>
              <a:t>个轴对齐方向的重力下分别测试，仿真</a:t>
            </a:r>
            <a:r>
              <a:rPr lang="en-US" altLang="zh-CN" b="1" i="0" dirty="0">
                <a:effectLst/>
                <a:latin typeface="微软雅黑" panose="020B0503020204020204" pitchFamily="34" charset="-122"/>
                <a:ea typeface="微软雅黑" panose="020B0503020204020204" pitchFamily="34" charset="-122"/>
              </a:rPr>
              <a:t> 100 </a:t>
            </a:r>
            <a:r>
              <a:rPr lang="zh-CN" altLang="en-US" b="1" i="0" dirty="0">
                <a:effectLst/>
                <a:latin typeface="微软雅黑" panose="020B0503020204020204" pitchFamily="34" charset="-122"/>
                <a:ea typeface="微软雅黑" panose="020B0503020204020204" pitchFamily="34" charset="-122"/>
              </a:rPr>
              <a:t>步后，如果仍保持接触，则认为稳定。此外，若最大穿透深度超过</a:t>
            </a:r>
            <a:r>
              <a:rPr lang="en-US" altLang="zh-CN" b="1" i="0" dirty="0">
                <a:effectLst/>
                <a:latin typeface="微软雅黑" panose="020B0503020204020204" pitchFamily="34" charset="-122"/>
                <a:ea typeface="微软雅黑" panose="020B0503020204020204" pitchFamily="34" charset="-122"/>
              </a:rPr>
              <a:t> 0.1 cm</a:t>
            </a:r>
            <a:r>
              <a:rPr lang="zh-CN" altLang="en-US" b="1" i="0" dirty="0">
                <a:effectLst/>
                <a:latin typeface="微软雅黑" panose="020B0503020204020204" pitchFamily="34" charset="-122"/>
                <a:ea typeface="微软雅黑" panose="020B0503020204020204" pitchFamily="34" charset="-122"/>
              </a:rPr>
              <a:t>，也视为失败，最终只有同时通过仿真验证和穿透验证的抓取才被保留。</a:t>
            </a:r>
            <a:endParaRPr lang="zh-CN" altLang="en-US" b="1" i="0" dirty="0">
              <a:effectLst/>
              <a:latin typeface="微软雅黑" panose="020B0503020204020204" pitchFamily="34" charset="-122"/>
              <a:ea typeface="微软雅黑" panose="020B0503020204020204" pitchFamily="34" charset="-122"/>
            </a:endParaRPr>
          </a:p>
          <a:p>
            <a:pPr indent="0" algn="l">
              <a:buFont typeface="+mj-lt"/>
              <a:buNone/>
            </a:pPr>
            <a:endParaRPr lang="zh-CN" altLang="en-US" b="1" i="0" dirty="0">
              <a:effectLst/>
              <a:latin typeface="微软雅黑" panose="020B0503020204020204" pitchFamily="34" charset="-122"/>
              <a:ea typeface="微软雅黑" panose="020B0503020204020204" pitchFamily="34" charset="-122"/>
            </a:endParaRPr>
          </a:p>
          <a:p>
            <a:pPr indent="0" algn="l">
              <a:buFont typeface="+mj-lt"/>
              <a:buNone/>
            </a:pPr>
            <a:r>
              <a:rPr lang="zh-CN" altLang="en-US" b="1" i="0" dirty="0">
                <a:effectLst/>
                <a:latin typeface="微软雅黑" panose="020B0503020204020204" pitchFamily="34" charset="-122"/>
                <a:ea typeface="微软雅黑" panose="020B0503020204020204" pitchFamily="34" charset="-122"/>
              </a:rPr>
              <a:t>规模：</a:t>
            </a:r>
            <a:endParaRPr lang="zh-CN" altLang="en-US" b="1" i="0" dirty="0">
              <a:effectLst/>
              <a:latin typeface="微软雅黑" panose="020B0503020204020204" pitchFamily="34" charset="-122"/>
              <a:ea typeface="微软雅黑" panose="020B0503020204020204" pitchFamily="34" charset="-122"/>
            </a:endParaRPr>
          </a:p>
          <a:p>
            <a:pPr indent="0" algn="l">
              <a:buFont typeface="+mj-lt"/>
              <a:buNone/>
            </a:pPr>
            <a:r>
              <a:rPr lang="zh-CN" altLang="en-US" b="1" i="0" dirty="0">
                <a:effectLst/>
                <a:latin typeface="微软雅黑" panose="020B0503020204020204" pitchFamily="34" charset="-122"/>
                <a:ea typeface="微软雅黑" panose="020B0503020204020204" pitchFamily="34" charset="-122"/>
              </a:rPr>
              <a:t>相比</a:t>
            </a:r>
            <a:r>
              <a:rPr lang="en-US" altLang="zh-CN" b="1" i="0" dirty="0">
                <a:effectLst/>
                <a:latin typeface="微软雅黑" panose="020B0503020204020204" pitchFamily="34" charset="-122"/>
                <a:ea typeface="微软雅黑" panose="020B0503020204020204" pitchFamily="34" charset="-122"/>
              </a:rPr>
              <a:t> DDGdata</a:t>
            </a:r>
            <a:r>
              <a:rPr lang="zh-CN" altLang="en-US" b="1" i="0" dirty="0">
                <a:effectLst/>
                <a:latin typeface="微软雅黑" panose="020B0503020204020204" pitchFamily="34" charset="-122"/>
                <a:ea typeface="微软雅黑" panose="020B0503020204020204" pitchFamily="34" charset="-122"/>
              </a:rPr>
              <a:t>：</a:t>
            </a:r>
            <a:r>
              <a:rPr lang="en-US" altLang="zh-CN" b="1" i="0" dirty="0">
                <a:effectLst/>
                <a:latin typeface="微软雅黑" panose="020B0503020204020204" pitchFamily="34" charset="-122"/>
                <a:ea typeface="微软雅黑" panose="020B0503020204020204" pitchFamily="34" charset="-122"/>
              </a:rPr>
              <a:t>DDGdata</a:t>
            </a:r>
            <a:r>
              <a:rPr lang="zh-CN" altLang="en-US" b="1" i="0" dirty="0">
                <a:effectLst/>
                <a:latin typeface="微软雅黑" panose="020B0503020204020204" pitchFamily="34" charset="-122"/>
                <a:ea typeface="微软雅黑" panose="020B0503020204020204" pitchFamily="34" charset="-122"/>
              </a:rPr>
              <a:t>：</a:t>
            </a:r>
            <a:r>
              <a:rPr lang="en-US" altLang="zh-CN" b="1" i="0" dirty="0">
                <a:effectLst/>
                <a:latin typeface="微软雅黑" panose="020B0503020204020204" pitchFamily="34" charset="-122"/>
                <a:ea typeface="微软雅黑" panose="020B0503020204020204" pitchFamily="34" charset="-122"/>
              </a:rPr>
              <a:t>565</a:t>
            </a:r>
            <a:r>
              <a:rPr lang="zh-CN" altLang="en-US" b="1" i="0" dirty="0">
                <a:effectLst/>
                <a:latin typeface="微软雅黑" panose="020B0503020204020204" pitchFamily="34" charset="-122"/>
                <a:ea typeface="微软雅黑" panose="020B0503020204020204" pitchFamily="34" charset="-122"/>
              </a:rPr>
              <a:t>个物体</a:t>
            </a:r>
            <a:r>
              <a:rPr lang="en-US" altLang="zh-CN" b="1" i="0" dirty="0">
                <a:effectLst/>
                <a:latin typeface="微软雅黑" panose="020B0503020204020204" pitchFamily="34" charset="-122"/>
                <a:ea typeface="微软雅黑" panose="020B0503020204020204" pitchFamily="34" charset="-122"/>
              </a:rPr>
              <a:t>, 6.9k</a:t>
            </a:r>
            <a:r>
              <a:rPr lang="zh-CN" altLang="en-US" b="1" i="0" dirty="0">
                <a:effectLst/>
                <a:latin typeface="微软雅黑" panose="020B0503020204020204" pitchFamily="34" charset="-122"/>
                <a:ea typeface="微软雅黑" panose="020B0503020204020204" pitchFamily="34" charset="-122"/>
              </a:rPr>
              <a:t>个抓取姿态</a:t>
            </a:r>
            <a:endParaRPr lang="en-US" altLang="zh-CN" b="1" i="0" dirty="0">
              <a:effectLst/>
              <a:latin typeface="微软雅黑" panose="020B0503020204020204" pitchFamily="34" charset="-122"/>
              <a:ea typeface="微软雅黑" panose="020B0503020204020204" pitchFamily="34" charset="-122"/>
            </a:endParaRPr>
          </a:p>
          <a:p>
            <a:pPr indent="0" algn="l">
              <a:buFont typeface="+mj-lt"/>
              <a:buNone/>
            </a:pPr>
            <a:r>
              <a:rPr lang="en-US" altLang="zh-CN" b="1" i="0" dirty="0">
                <a:effectLst/>
                <a:latin typeface="微软雅黑" panose="020B0503020204020204" pitchFamily="34" charset="-122"/>
                <a:ea typeface="微软雅黑" panose="020B0503020204020204" pitchFamily="34" charset="-122"/>
              </a:rPr>
              <a:t>                          DexGraspNet</a:t>
            </a:r>
            <a:r>
              <a:rPr lang="zh-CN" altLang="en-US" b="1" i="0" dirty="0">
                <a:effectLst/>
                <a:latin typeface="微软雅黑" panose="020B0503020204020204" pitchFamily="34" charset="-122"/>
                <a:ea typeface="微软雅黑" panose="020B0503020204020204" pitchFamily="34" charset="-122"/>
              </a:rPr>
              <a:t>：</a:t>
            </a:r>
            <a:r>
              <a:rPr lang="en-US" altLang="zh-CN" b="1" i="0" dirty="0">
                <a:effectLst/>
                <a:latin typeface="微软雅黑" panose="020B0503020204020204" pitchFamily="34" charset="-122"/>
                <a:ea typeface="微软雅黑" panose="020B0503020204020204" pitchFamily="34" charset="-122"/>
              </a:rPr>
              <a:t>5355</a:t>
            </a:r>
            <a:r>
              <a:rPr lang="zh-CN" altLang="en-US" b="1" dirty="0">
                <a:effectLst/>
                <a:latin typeface="微软雅黑" panose="020B0503020204020204" pitchFamily="34" charset="-122"/>
                <a:ea typeface="微软雅黑" panose="020B0503020204020204" pitchFamily="34" charset="-122"/>
                <a:sym typeface="+mn-ea"/>
              </a:rPr>
              <a:t>个物体</a:t>
            </a:r>
            <a:r>
              <a:rPr lang="en-US" altLang="zh-CN" b="1" dirty="0">
                <a:effectLst/>
                <a:latin typeface="微软雅黑" panose="020B0503020204020204" pitchFamily="34" charset="-122"/>
                <a:ea typeface="微软雅黑" panose="020B0503020204020204" pitchFamily="34" charset="-122"/>
                <a:sym typeface="+mn-ea"/>
              </a:rPr>
              <a:t>, 132</a:t>
            </a:r>
            <a:r>
              <a:rPr lang="zh-CN" altLang="en-US" b="1" dirty="0">
                <a:effectLst/>
                <a:latin typeface="微软雅黑" panose="020B0503020204020204" pitchFamily="34" charset="-122"/>
                <a:ea typeface="微软雅黑" panose="020B0503020204020204" pitchFamily="34" charset="-122"/>
                <a:sym typeface="+mn-ea"/>
              </a:rPr>
              <a:t>万个抓取姿态</a:t>
            </a:r>
            <a:endParaRPr lang="zh-CN" altLang="en-US" b="1" dirty="0">
              <a:effectLst/>
              <a:latin typeface="微软雅黑" panose="020B0503020204020204" pitchFamily="34" charset="-122"/>
              <a:ea typeface="微软雅黑" panose="020B0503020204020204" pitchFamily="34" charset="-122"/>
              <a:sym typeface="+mn-ea"/>
            </a:endParaRPr>
          </a:p>
          <a:p>
            <a:pPr indent="0" algn="l">
              <a:buFont typeface="+mj-lt"/>
              <a:buNone/>
            </a:pPr>
            <a:r>
              <a:rPr lang="zh-CN" altLang="en-US" b="1" i="0" dirty="0">
                <a:effectLst/>
                <a:latin typeface="微软雅黑" panose="020B0503020204020204" pitchFamily="34" charset="-122"/>
                <a:ea typeface="微软雅黑" panose="020B0503020204020204" pitchFamily="34" charset="-122"/>
              </a:rPr>
              <a:t>而且，在</a:t>
            </a:r>
            <a:r>
              <a:rPr lang="en-US" altLang="zh-CN" b="1" i="0" dirty="0">
                <a:effectLst/>
                <a:latin typeface="微软雅黑" panose="020B0503020204020204" pitchFamily="34" charset="-122"/>
                <a:ea typeface="微软雅黑" panose="020B0503020204020204" pitchFamily="34" charset="-122"/>
              </a:rPr>
              <a:t> A100 </a:t>
            </a:r>
            <a:r>
              <a:rPr lang="zh-CN" altLang="en-US" b="1" i="0" dirty="0">
                <a:effectLst/>
                <a:latin typeface="微软雅黑" panose="020B0503020204020204" pitchFamily="34" charset="-122"/>
                <a:ea typeface="微软雅黑" panose="020B0503020204020204" pitchFamily="34" charset="-122"/>
              </a:rPr>
              <a:t>上，优化</a:t>
            </a:r>
            <a:r>
              <a:rPr lang="en-US" altLang="zh-CN" b="1" i="0" dirty="0">
                <a:effectLst/>
                <a:latin typeface="微软雅黑" panose="020B0503020204020204" pitchFamily="34" charset="-122"/>
                <a:ea typeface="微软雅黑" panose="020B0503020204020204" pitchFamily="34" charset="-122"/>
              </a:rPr>
              <a:t> 10000 </a:t>
            </a:r>
            <a:r>
              <a:rPr lang="zh-CN" altLang="en-US" b="1" i="0" dirty="0">
                <a:effectLst/>
                <a:latin typeface="微软雅黑" panose="020B0503020204020204" pitchFamily="34" charset="-122"/>
                <a:ea typeface="微软雅黑" panose="020B0503020204020204" pitchFamily="34" charset="-122"/>
              </a:rPr>
              <a:t>个抓取，</a:t>
            </a:r>
            <a:r>
              <a:rPr lang="en-US" altLang="zh-CN" b="1" i="0" dirty="0">
                <a:effectLst/>
                <a:latin typeface="微软雅黑" panose="020B0503020204020204" pitchFamily="34" charset="-122"/>
                <a:ea typeface="微软雅黑" panose="020B0503020204020204" pitchFamily="34" charset="-122"/>
              </a:rPr>
              <a:t>6000 </a:t>
            </a:r>
            <a:r>
              <a:rPr lang="zh-CN" altLang="en-US" b="1" i="0" dirty="0">
                <a:effectLst/>
                <a:latin typeface="微软雅黑" panose="020B0503020204020204" pitchFamily="34" charset="-122"/>
                <a:ea typeface="微软雅黑" panose="020B0503020204020204" pitchFamily="34" charset="-122"/>
              </a:rPr>
              <a:t>步，仅需</a:t>
            </a:r>
            <a:r>
              <a:rPr lang="en-US" altLang="zh-CN" b="1" i="0" dirty="0">
                <a:effectLst/>
                <a:latin typeface="微软雅黑" panose="020B0503020204020204" pitchFamily="34" charset="-122"/>
                <a:ea typeface="微软雅黑" panose="020B0503020204020204" pitchFamily="34" charset="-122"/>
              </a:rPr>
              <a:t> 74 </a:t>
            </a:r>
            <a:r>
              <a:rPr lang="zh-CN" altLang="en-US" b="1" i="0" dirty="0">
                <a:effectLst/>
                <a:latin typeface="微软雅黑" panose="020B0503020204020204" pitchFamily="34" charset="-122"/>
                <a:ea typeface="微软雅黑" panose="020B0503020204020204" pitchFamily="34" charset="-122"/>
              </a:rPr>
              <a:t>分钟，其中约</a:t>
            </a:r>
            <a:r>
              <a:rPr lang="en-US" altLang="zh-CN" b="1" i="0" dirty="0">
                <a:effectLst/>
                <a:latin typeface="微软雅黑" panose="020B0503020204020204" pitchFamily="34" charset="-122"/>
                <a:ea typeface="微软雅黑" panose="020B0503020204020204" pitchFamily="34" charset="-122"/>
              </a:rPr>
              <a:t> 18% </a:t>
            </a:r>
            <a:r>
              <a:rPr lang="zh-CN" altLang="en-US" b="1" i="0" dirty="0">
                <a:effectLst/>
                <a:latin typeface="微软雅黑" panose="020B0503020204020204" pitchFamily="34" charset="-122"/>
                <a:ea typeface="微软雅黑" panose="020B0503020204020204" pitchFamily="34" charset="-122"/>
              </a:rPr>
              <a:t>有效。对比原方法，生成</a:t>
            </a:r>
            <a:r>
              <a:rPr lang="en-US" altLang="zh-CN" b="1" i="0" dirty="0">
                <a:effectLst/>
                <a:latin typeface="微软雅黑" panose="020B0503020204020204" pitchFamily="34" charset="-122"/>
                <a:ea typeface="微软雅黑" panose="020B0503020204020204" pitchFamily="34" charset="-122"/>
              </a:rPr>
              <a:t> 1.32M </a:t>
            </a:r>
            <a:r>
              <a:rPr lang="zh-CN" altLang="en-US" b="1" i="0" dirty="0">
                <a:effectLst/>
                <a:latin typeface="微软雅黑" panose="020B0503020204020204" pitchFamily="34" charset="-122"/>
                <a:ea typeface="微软雅黑" panose="020B0503020204020204" pitchFamily="34" charset="-122"/>
              </a:rPr>
              <a:t>有效抓取总共用了</a:t>
            </a:r>
            <a:r>
              <a:rPr lang="en-US" altLang="zh-CN" b="1" i="0" dirty="0">
                <a:effectLst/>
                <a:latin typeface="微软雅黑" panose="020B0503020204020204" pitchFamily="34" charset="-122"/>
                <a:ea typeface="微软雅黑" panose="020B0503020204020204" pitchFamily="34" charset="-122"/>
              </a:rPr>
              <a:t> 950 GPU </a:t>
            </a:r>
            <a:r>
              <a:rPr lang="zh-CN" altLang="en-US" b="1" i="0" dirty="0">
                <a:effectLst/>
                <a:latin typeface="微软雅黑" panose="020B0503020204020204" pitchFamily="34" charset="-122"/>
                <a:ea typeface="微软雅黑" panose="020B0503020204020204" pitchFamily="34" charset="-122"/>
              </a:rPr>
              <a:t>小时，若用原算法，需要约</a:t>
            </a:r>
            <a:r>
              <a:rPr lang="en-US" altLang="zh-CN" b="1" i="0" dirty="0">
                <a:effectLst/>
                <a:latin typeface="微软雅黑" panose="020B0503020204020204" pitchFamily="34" charset="-122"/>
                <a:ea typeface="微软雅黑" panose="020B0503020204020204" pitchFamily="34" charset="-122"/>
              </a:rPr>
              <a:t> 50000 GPU </a:t>
            </a:r>
            <a:r>
              <a:rPr lang="zh-CN" altLang="en-US" b="1" i="0" dirty="0">
                <a:effectLst/>
                <a:latin typeface="微软雅黑" panose="020B0503020204020204" pitchFamily="34" charset="-122"/>
                <a:ea typeface="微软雅黑" panose="020B0503020204020204" pitchFamily="34" charset="-122"/>
              </a:rPr>
              <a:t>小时。</a:t>
            </a:r>
            <a:endParaRPr lang="zh-CN" altLang="en-US" b="1" i="0" dirty="0">
              <a:effectLst/>
              <a:latin typeface="微软雅黑" panose="020B0503020204020204" pitchFamily="34" charset="-122"/>
              <a:ea typeface="微软雅黑" panose="020B0503020204020204" pitchFamily="34" charset="-122"/>
            </a:endParaRPr>
          </a:p>
        </p:txBody>
      </p:sp>
      <p:pic>
        <p:nvPicPr>
          <p:cNvPr id="2" name="图片 1" descr="ScreenShot_2026-04-07_231249_244"/>
          <p:cNvPicPr>
            <a:picLocks noChangeAspect="1"/>
          </p:cNvPicPr>
          <p:nvPr/>
        </p:nvPicPr>
        <p:blipFill>
          <a:blip r:embed="rId2"/>
          <a:stretch>
            <a:fillRect/>
          </a:stretch>
        </p:blipFill>
        <p:spPr>
          <a:xfrm>
            <a:off x="956945" y="1461135"/>
            <a:ext cx="10277475" cy="2209800"/>
          </a:xfrm>
          <a:prstGeom prst="rect">
            <a:avLst/>
          </a:prstGeom>
        </p:spPr>
      </p:pic>
      <p:pic>
        <p:nvPicPr>
          <p:cNvPr id="32" name="图片 31" descr="ScreenShot_2026-04-07_231313_449"/>
          <p:cNvPicPr>
            <a:picLocks noChangeAspect="1"/>
          </p:cNvPicPr>
          <p:nvPr/>
        </p:nvPicPr>
        <p:blipFill>
          <a:blip r:embed="rId3"/>
          <a:stretch>
            <a:fillRect/>
          </a:stretch>
        </p:blipFill>
        <p:spPr>
          <a:xfrm>
            <a:off x="2466975" y="3670935"/>
            <a:ext cx="7258050" cy="22383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3" name="矩形 20"/>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2097177" name="Picture 2"/>
          <p:cNvPicPr>
            <a:picLocks noChangeAspect="1" noChangeArrowheads="1"/>
          </p:cNvPicPr>
          <p:nvPr/>
        </p:nvPicPr>
        <p:blipFill rotWithShape="1">
          <a:blip r:embed="rId1" cstate="print"/>
          <a:srcRect/>
          <a:stretch>
            <a:fillRect/>
          </a:stretch>
        </p:blipFill>
        <p:spPr bwMode="auto">
          <a:xfrm>
            <a:off x="4191000" y="1407160"/>
            <a:ext cx="8001000" cy="4043680"/>
          </a:xfrm>
          <a:prstGeom prst="rect">
            <a:avLst/>
          </a:prstGeom>
          <a:noFill/>
        </p:spPr>
      </p:pic>
      <p:grpSp>
        <p:nvGrpSpPr>
          <p:cNvPr id="134" name="组合 22"/>
          <p:cNvGrpSpPr/>
          <p:nvPr/>
        </p:nvGrpSpPr>
        <p:grpSpPr>
          <a:xfrm>
            <a:off x="0" y="713740"/>
            <a:ext cx="12273281" cy="4737100"/>
            <a:chOff x="0" y="713740"/>
            <a:chExt cx="12273281" cy="4737100"/>
          </a:xfrm>
        </p:grpSpPr>
        <p:grpSp>
          <p:nvGrpSpPr>
            <p:cNvPr id="135" name="组合 25"/>
            <p:cNvGrpSpPr/>
            <p:nvPr/>
          </p:nvGrpSpPr>
          <p:grpSpPr>
            <a:xfrm>
              <a:off x="0" y="1407160"/>
              <a:ext cx="4064000" cy="4043680"/>
              <a:chOff x="0" y="1407160"/>
              <a:chExt cx="4064000" cy="4043680"/>
            </a:xfrm>
          </p:grpSpPr>
          <p:sp>
            <p:nvSpPr>
              <p:cNvPr id="1048774" name="矩形 31"/>
              <p:cNvSpPr/>
              <p:nvPr/>
            </p:nvSpPr>
            <p:spPr>
              <a:xfrm>
                <a:off x="0" y="1407160"/>
                <a:ext cx="4064000" cy="40436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造字工房力黑（非商用）常规体" pitchFamily="50" charset="-122"/>
                  <a:ea typeface="造字工房力黑（非商用）常规体" pitchFamily="50" charset="-122"/>
                  <a:cs typeface="+mn-ea"/>
                  <a:sym typeface="+mn-lt"/>
                </a:endParaRPr>
              </a:p>
            </p:txBody>
          </p:sp>
          <p:sp>
            <p:nvSpPr>
              <p:cNvPr id="1048775" name="文本框 33"/>
              <p:cNvSpPr txBox="1"/>
              <p:nvPr/>
            </p:nvSpPr>
            <p:spPr>
              <a:xfrm>
                <a:off x="127000" y="2644954"/>
                <a:ext cx="3810000" cy="830997"/>
              </a:xfrm>
              <a:prstGeom prst="rect">
                <a:avLst/>
              </a:prstGeom>
              <a:noFill/>
            </p:spPr>
            <p:txBody>
              <a:bodyPr wrap="square" rtlCol="0">
                <a:spAutoFit/>
              </a:bodyPr>
              <a:lstStyle/>
              <a:p>
                <a:pPr algn="ctr"/>
                <a:r>
                  <a:rPr lang="zh-CN" altLang="en-US" sz="4800" dirty="0">
                    <a:solidFill>
                      <a:schemeClr val="bg1"/>
                    </a:solidFill>
                    <a:latin typeface="造字工房力黑（非商用）常规体" pitchFamily="50" charset="-122"/>
                    <a:ea typeface="造字工房力黑（非商用）常规体" pitchFamily="50" charset="-122"/>
                    <a:cs typeface="+mn-ea"/>
                    <a:sym typeface="+mn-lt"/>
                  </a:rPr>
                  <a:t>拟采用方法</a:t>
                </a:r>
                <a:endParaRPr lang="en-US" altLang="zh-CN" sz="4800" dirty="0">
                  <a:solidFill>
                    <a:schemeClr val="bg1"/>
                  </a:solidFill>
                  <a:latin typeface="造字工房力黑（非商用）常规体" pitchFamily="50" charset="-122"/>
                  <a:ea typeface="造字工房力黑（非商用）常规体" pitchFamily="50" charset="-122"/>
                  <a:cs typeface="+mn-ea"/>
                  <a:sym typeface="+mn-lt"/>
                </a:endParaRPr>
              </a:p>
            </p:txBody>
          </p:sp>
        </p:grpSp>
        <p:grpSp>
          <p:nvGrpSpPr>
            <p:cNvPr id="136" name="组合 26"/>
            <p:cNvGrpSpPr/>
            <p:nvPr/>
          </p:nvGrpSpPr>
          <p:grpSpPr>
            <a:xfrm>
              <a:off x="7564229" y="713740"/>
              <a:ext cx="4709052" cy="1386840"/>
              <a:chOff x="7564229" y="713740"/>
              <a:chExt cx="4709052" cy="1386840"/>
            </a:xfrm>
          </p:grpSpPr>
          <p:sp>
            <p:nvSpPr>
              <p:cNvPr id="1048776" name="任意多边形 28"/>
              <p:cNvSpPr/>
              <p:nvPr/>
            </p:nvSpPr>
            <p:spPr>
              <a:xfrm flipH="1" flipV="1">
                <a:off x="7564229" y="713740"/>
                <a:ext cx="4627771" cy="1386840"/>
              </a:xfrm>
              <a:custGeom>
                <a:avLst/>
                <a:gdLst>
                  <a:gd name="connsiteX0" fmla="*/ 0 w 7147560"/>
                  <a:gd name="connsiteY0" fmla="*/ 0 h 2814320"/>
                  <a:gd name="connsiteX1" fmla="*/ 6443980 w 7147560"/>
                  <a:gd name="connsiteY1" fmla="*/ 0 h 2814320"/>
                  <a:gd name="connsiteX2" fmla="*/ 7147560 w 7147560"/>
                  <a:gd name="connsiteY2" fmla="*/ 2814320 h 2814320"/>
                  <a:gd name="connsiteX3" fmla="*/ 0 w 7147560"/>
                  <a:gd name="connsiteY3" fmla="*/ 2814320 h 2814320"/>
                  <a:gd name="connsiteX0-1" fmla="*/ 0 w 8689506"/>
                  <a:gd name="connsiteY0-2" fmla="*/ 0 h 2814320"/>
                  <a:gd name="connsiteX1-3" fmla="*/ 6443980 w 8689506"/>
                  <a:gd name="connsiteY1-4" fmla="*/ 0 h 2814320"/>
                  <a:gd name="connsiteX2-5" fmla="*/ 8689506 w 8689506"/>
                  <a:gd name="connsiteY2-6" fmla="*/ 2814320 h 2814320"/>
                  <a:gd name="connsiteX3-7" fmla="*/ 0 w 8689506"/>
                  <a:gd name="connsiteY3-8" fmla="*/ 2814320 h 2814320"/>
                  <a:gd name="connsiteX4" fmla="*/ 0 w 8689506"/>
                  <a:gd name="connsiteY4" fmla="*/ 0 h 2814320"/>
                  <a:gd name="connsiteX0-9" fmla="*/ 0 w 9235080"/>
                  <a:gd name="connsiteY0-10" fmla="*/ 0 h 2834640"/>
                  <a:gd name="connsiteX1-11" fmla="*/ 6443980 w 9235080"/>
                  <a:gd name="connsiteY1-12" fmla="*/ 0 h 2834640"/>
                  <a:gd name="connsiteX2-13" fmla="*/ 9235080 w 9235080"/>
                  <a:gd name="connsiteY2-14" fmla="*/ 2834640 h 2834640"/>
                  <a:gd name="connsiteX3-15" fmla="*/ 0 w 9235080"/>
                  <a:gd name="connsiteY3-16" fmla="*/ 2814320 h 2834640"/>
                  <a:gd name="connsiteX4-17" fmla="*/ 0 w 9235080"/>
                  <a:gd name="connsiteY4-18" fmla="*/ 0 h 2834640"/>
                </a:gdLst>
                <a:ahLst/>
                <a:cxnLst>
                  <a:cxn ang="0">
                    <a:pos x="connsiteX0-1" y="connsiteY0-2"/>
                  </a:cxn>
                  <a:cxn ang="0">
                    <a:pos x="connsiteX1-3" y="connsiteY1-4"/>
                  </a:cxn>
                  <a:cxn ang="0">
                    <a:pos x="connsiteX2-5" y="connsiteY2-6"/>
                  </a:cxn>
                  <a:cxn ang="0">
                    <a:pos x="connsiteX3-7" y="connsiteY3-8"/>
                  </a:cxn>
                  <a:cxn ang="0">
                    <a:pos x="connsiteX4-17" y="connsiteY4-18"/>
                  </a:cxn>
                </a:cxnLst>
                <a:rect l="l" t="t" r="r" b="b"/>
                <a:pathLst>
                  <a:path w="9235080" h="2834640">
                    <a:moveTo>
                      <a:pt x="0" y="0"/>
                    </a:moveTo>
                    <a:lnTo>
                      <a:pt x="6443980" y="0"/>
                    </a:lnTo>
                    <a:lnTo>
                      <a:pt x="9235080" y="2834640"/>
                    </a:lnTo>
                    <a:lnTo>
                      <a:pt x="0" y="2814320"/>
                    </a:lnTo>
                    <a:lnTo>
                      <a:pt x="0" y="0"/>
                    </a:lnTo>
                    <a:close/>
                  </a:path>
                </a:pathLst>
              </a:cu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造字工房力黑（非商用）常规体" pitchFamily="50" charset="-122"/>
                  <a:ea typeface="造字工房力黑（非商用）常规体" pitchFamily="50" charset="-122"/>
                  <a:cs typeface="+mn-ea"/>
                  <a:sym typeface="+mn-lt"/>
                </a:endParaRPr>
              </a:p>
            </p:txBody>
          </p:sp>
          <p:sp>
            <p:nvSpPr>
              <p:cNvPr id="1048777" name="文本框 30"/>
              <p:cNvSpPr txBox="1"/>
              <p:nvPr/>
            </p:nvSpPr>
            <p:spPr>
              <a:xfrm>
                <a:off x="7793645" y="991661"/>
                <a:ext cx="4479636" cy="764540"/>
              </a:xfrm>
              <a:prstGeom prst="rect">
                <a:avLst/>
              </a:prstGeom>
              <a:noFill/>
            </p:spPr>
            <p:txBody>
              <a:bodyPr wrap="square" rtlCol="0">
                <a:spAutoFit/>
              </a:bodyPr>
              <a:lstStyle/>
              <a:p>
                <a:pPr algn="r"/>
                <a:r>
                  <a:rPr lang="en-US" altLang="zh-CN" sz="4000" spc="300" dirty="0">
                    <a:solidFill>
                      <a:schemeClr val="bg1"/>
                    </a:solidFill>
                    <a:latin typeface="造字工房力黑（非商用）常规体" pitchFamily="50" charset="-122"/>
                    <a:ea typeface="造字工房力黑（非商用）常规体" pitchFamily="50" charset="-122"/>
                    <a:cs typeface="+mn-ea"/>
                    <a:sym typeface="+mn-lt"/>
                  </a:rPr>
                  <a:t>PART FOUR</a:t>
                </a:r>
                <a:endParaRPr lang="zh-CN" altLang="en-US" sz="4000" spc="300" dirty="0">
                  <a:solidFill>
                    <a:schemeClr val="bg1"/>
                  </a:solidFill>
                  <a:latin typeface="造字工房力黑（非商用）常规体" pitchFamily="50" charset="-122"/>
                  <a:ea typeface="造字工房力黑（非商用）常规体" pitchFamily="50" charset="-122"/>
                  <a:cs typeface="+mn-ea"/>
                  <a:sym typeface="+mn-lt"/>
                </a:endParaRPr>
              </a:p>
            </p:txBody>
          </p:sp>
        </p:grpSp>
        <p:sp>
          <p:nvSpPr>
            <p:cNvPr id="1048778" name="文本框 27"/>
            <p:cNvSpPr txBox="1"/>
            <p:nvPr/>
          </p:nvSpPr>
          <p:spPr>
            <a:xfrm>
              <a:off x="9550399" y="3052435"/>
              <a:ext cx="2349194" cy="1577340"/>
            </a:xfrm>
            <a:prstGeom prst="rect">
              <a:avLst/>
            </a:prstGeom>
            <a:noFill/>
            <a:ln>
              <a:solidFill>
                <a:schemeClr val="bg1"/>
              </a:solidFill>
            </a:ln>
          </p:spPr>
          <p:txBody>
            <a:bodyPr wrap="square" rtlCol="0">
              <a:spAutoFit/>
            </a:bodyPr>
            <a:lstStyle/>
            <a:p>
              <a:pPr algn="ctr"/>
              <a:r>
                <a:rPr lang="en-US" altLang="zh-CN" sz="8800" spc="600" dirty="0">
                  <a:solidFill>
                    <a:schemeClr val="bg1"/>
                  </a:solidFill>
                  <a:latin typeface="造字工房力黑（非商用）常规体" pitchFamily="50" charset="-122"/>
                  <a:ea typeface="造字工房力黑（非商用）常规体" pitchFamily="50" charset="-122"/>
                  <a:cs typeface="+mn-ea"/>
                  <a:sym typeface="+mn-lt"/>
                </a:rPr>
                <a:t>04</a:t>
              </a:r>
              <a:endParaRPr lang="zh-CN" altLang="en-US" sz="8800" spc="600" dirty="0">
                <a:solidFill>
                  <a:schemeClr val="bg1"/>
                </a:solidFill>
                <a:latin typeface="造字工房力黑（非商用）常规体" pitchFamily="50" charset="-122"/>
                <a:ea typeface="造字工房力黑（非商用）常规体" pitchFamily="50" charset="-122"/>
                <a:cs typeface="+mn-ea"/>
                <a:sym typeface="+mn-lt"/>
              </a:endParaRPr>
            </a:p>
          </p:txBody>
        </p:sp>
      </p:grpSp>
      <p:pic>
        <p:nvPicPr>
          <p:cNvPr id="2097178" name="图片 14"/>
          <p:cNvPicPr>
            <a:picLocks noChangeAspect="1"/>
          </p:cNvPicPr>
          <p:nvPr/>
        </p:nvPicPr>
        <p:blipFill>
          <a:blip r:embed="rId2" cstate="print"/>
          <a:srcRect/>
          <a:stretch>
            <a:fillRect/>
          </a:stretch>
        </p:blipFill>
        <p:spPr>
          <a:xfrm>
            <a:off x="874769" y="477840"/>
            <a:ext cx="2174882" cy="45606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7" name="组合 98"/>
          <p:cNvGrpSpPr/>
          <p:nvPr/>
        </p:nvGrpSpPr>
        <p:grpSpPr>
          <a:xfrm>
            <a:off x="0" y="156335"/>
            <a:ext cx="11940390" cy="497839"/>
            <a:chOff x="0" y="156335"/>
            <a:chExt cx="11940390" cy="497839"/>
          </a:xfrm>
        </p:grpSpPr>
        <p:grpSp>
          <p:nvGrpSpPr>
            <p:cNvPr id="148" name="组合 99"/>
            <p:cNvGrpSpPr/>
            <p:nvPr/>
          </p:nvGrpSpPr>
          <p:grpSpPr>
            <a:xfrm>
              <a:off x="0" y="156335"/>
              <a:ext cx="9666514" cy="497839"/>
              <a:chOff x="0" y="248698"/>
              <a:chExt cx="9666514" cy="497839"/>
            </a:xfrm>
          </p:grpSpPr>
          <p:grpSp>
            <p:nvGrpSpPr>
              <p:cNvPr id="149" name="组合 101"/>
              <p:cNvGrpSpPr/>
              <p:nvPr/>
            </p:nvGrpSpPr>
            <p:grpSpPr>
              <a:xfrm>
                <a:off x="0" y="294640"/>
                <a:ext cx="880552" cy="375920"/>
                <a:chOff x="0" y="294640"/>
                <a:chExt cx="1094740" cy="467360"/>
              </a:xfrm>
              <a:solidFill>
                <a:srgbClr val="EE8A10"/>
              </a:solidFill>
            </p:grpSpPr>
            <p:sp>
              <p:nvSpPr>
                <p:cNvPr id="104880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80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80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803" name="文本框 102"/>
              <p:cNvSpPr txBox="1"/>
              <p:nvPr/>
            </p:nvSpPr>
            <p:spPr>
              <a:xfrm>
                <a:off x="972489" y="248698"/>
                <a:ext cx="2702560" cy="497839"/>
              </a:xfrm>
              <a:prstGeom prst="rect">
                <a:avLst/>
              </a:prstGeom>
              <a:noFill/>
            </p:spPr>
            <p:txBody>
              <a:bodyPr wrap="square" rtlCol="0">
                <a:spAutoFit/>
              </a:bodyPr>
              <a:lstStyle/>
              <a:p>
                <a:r>
                  <a:rPr lang="en-US" altLang="zh-CN" sz="2400" b="1" spc="600" dirty="0">
                    <a:latin typeface="锐字工房云字库细圆GBK" panose="02010604000000000000" pitchFamily="2" charset="-122"/>
                    <a:ea typeface="锐字工房云字库细圆GBK" panose="02010604000000000000" pitchFamily="2" charset="-122"/>
                  </a:rPr>
                  <a:t>Part four</a:t>
                </a:r>
                <a:endParaRPr lang="en-US" altLang="zh-CN" sz="2400" b="1" spc="600" dirty="0">
                  <a:latin typeface="锐字工房云字库细圆GBK" panose="02010604000000000000" pitchFamily="2" charset="-122"/>
                  <a:ea typeface="锐字工房云字库细圆GBK" panose="02010604000000000000" pitchFamily="2" charset="-122"/>
                </a:endParaRPr>
              </a:p>
            </p:txBody>
          </p:sp>
          <p:grpSp>
            <p:nvGrpSpPr>
              <p:cNvPr id="150" name="组合 103"/>
              <p:cNvGrpSpPr/>
              <p:nvPr/>
            </p:nvGrpSpPr>
            <p:grpSpPr>
              <a:xfrm>
                <a:off x="3356076" y="408709"/>
                <a:ext cx="1749361" cy="147782"/>
                <a:chOff x="635462" y="775854"/>
                <a:chExt cx="1749361" cy="147782"/>
              </a:xfrm>
              <a:solidFill>
                <a:srgbClr val="EE8A10"/>
              </a:solidFill>
            </p:grpSpPr>
            <p:sp>
              <p:nvSpPr>
                <p:cNvPr id="1048804" name="椭圆 105"/>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5" name="椭圆 106"/>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6" name="椭圆 107"/>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7" name="椭圆 108"/>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8" name="椭圆 109"/>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7" name="直接连接符 104"/>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9" name="图片 100"/>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3" name="文本框 2"/>
          <p:cNvSpPr txBox="1"/>
          <p:nvPr/>
        </p:nvSpPr>
        <p:spPr>
          <a:xfrm>
            <a:off x="578181" y="1225169"/>
            <a:ext cx="11207419" cy="3139321"/>
          </a:xfrm>
          <a:prstGeom prst="rect">
            <a:avLst/>
          </a:prstGeom>
          <a:noFill/>
        </p:spPr>
        <p:txBody>
          <a:bodyPr wrap="square">
            <a:spAutoFit/>
          </a:bodyPr>
          <a:lstStyle/>
          <a:p>
            <a:pPr marL="342900" indent="-342900">
              <a:buAutoNum type="arabicPeriod"/>
            </a:pPr>
            <a:r>
              <a:rPr lang="zh-CN" altLang="en-US" b="1" dirty="0"/>
              <a:t>方法总体思路</a:t>
            </a:r>
            <a:endParaRPr lang="en-US" altLang="zh-CN" b="1" dirty="0"/>
          </a:p>
          <a:p>
            <a:pPr marL="285750" indent="-285750">
              <a:buFont typeface="Wingdings" panose="05000000000000000000" pitchFamily="2" charset="2"/>
              <a:buChar char="p"/>
            </a:pPr>
            <a:r>
              <a:rPr lang="zh-CN" altLang="en-US" dirty="0"/>
              <a:t>本课题拟采用“</a:t>
            </a:r>
            <a:r>
              <a:rPr lang="zh-CN" altLang="en-US" b="1" dirty="0"/>
              <a:t>文献综述 </a:t>
            </a:r>
            <a:r>
              <a:rPr lang="en-US" altLang="zh-CN" b="1" dirty="0"/>
              <a:t>+ </a:t>
            </a:r>
            <a:r>
              <a:rPr lang="zh-CN" altLang="en-US" b="1" dirty="0"/>
              <a:t>方法归纳 </a:t>
            </a:r>
            <a:r>
              <a:rPr lang="en-US" altLang="zh-CN" b="1" dirty="0"/>
              <a:t>+ </a:t>
            </a:r>
            <a:r>
              <a:rPr lang="zh-CN" altLang="en-US" b="1" dirty="0"/>
              <a:t>综合方案设计</a:t>
            </a:r>
            <a:r>
              <a:rPr lang="zh-CN" altLang="en-US" dirty="0"/>
              <a:t>”的研究思路，在系统阅读代表性文献的基础上，总结灵巧手物体抓取生成的关键技术路线，并结合课程任务提出一个较为完整的分析框架。</a:t>
            </a:r>
            <a:endParaRPr lang="en-US" altLang="zh-CN" dirty="0"/>
          </a:p>
          <a:p>
            <a:pPr marL="285750" indent="-285750">
              <a:buFont typeface="Wingdings" panose="05000000000000000000" pitchFamily="2" charset="2"/>
              <a:buChar char="p"/>
            </a:pPr>
            <a:r>
              <a:rPr lang="zh-CN" altLang="en-US" dirty="0"/>
              <a:t>从已有研究来看，灵巧手抓取生成通常需要同时解决三个问题：一是如何从视觉或点云中理解目标物体的几何形状，二是如何建立手与物体之间的抓取关系表示，三是如何保证生成结果在物理上合理、在执行上可行。</a:t>
            </a:r>
            <a:r>
              <a:rPr lang="en-US" altLang="zh-CN" dirty="0" err="1"/>
              <a:t>UniDexGrasp</a:t>
            </a:r>
            <a:r>
              <a:rPr lang="en-US" altLang="zh-CN" dirty="0"/>
              <a:t>++ </a:t>
            </a:r>
            <a:r>
              <a:rPr lang="zh-CN" altLang="en-US" dirty="0"/>
              <a:t>强调几何感知与泛化学习，</a:t>
            </a:r>
            <a:r>
              <a:rPr lang="en-US" altLang="zh-CN" dirty="0"/>
              <a:t>D(R,O) Grasp</a:t>
            </a:r>
            <a:r>
              <a:rPr lang="zh-CN" altLang="en-US" dirty="0"/>
              <a:t>强调统一的手</a:t>
            </a:r>
            <a:r>
              <a:rPr lang="en-US" altLang="zh-CN" dirty="0"/>
              <a:t>–</a:t>
            </a:r>
            <a:r>
              <a:rPr lang="zh-CN" altLang="en-US" dirty="0"/>
              <a:t>物体交互表示，</a:t>
            </a:r>
            <a:r>
              <a:rPr lang="en-US" altLang="zh-CN" dirty="0" err="1"/>
              <a:t>DexGrasp</a:t>
            </a:r>
            <a:r>
              <a:rPr lang="en-US" altLang="zh-CN" dirty="0"/>
              <a:t> Anything </a:t>
            </a:r>
            <a:r>
              <a:rPr lang="zh-CN" altLang="en-US" dirty="0"/>
              <a:t>强调物理约束的重要性，这些工作共同构成了本课题方法设计的主要参考。</a:t>
            </a:r>
            <a:endParaRPr lang="en-US" altLang="zh-CN" dirty="0"/>
          </a:p>
          <a:p>
            <a:pPr marL="285750" indent="-285750">
              <a:buFont typeface="Wingdings" panose="05000000000000000000" pitchFamily="2" charset="2"/>
              <a:buChar char="p"/>
            </a:pPr>
            <a:r>
              <a:rPr lang="zh-CN" altLang="en-US" dirty="0"/>
              <a:t>因此，本课题将围绕“</a:t>
            </a:r>
            <a:r>
              <a:rPr lang="zh-CN" altLang="en-US" b="1" dirty="0"/>
              <a:t>感知</a:t>
            </a:r>
            <a:r>
              <a:rPr lang="en-US" altLang="zh-CN" b="1" dirty="0"/>
              <a:t>—</a:t>
            </a:r>
            <a:r>
              <a:rPr lang="zh-CN" altLang="en-US" b="1" dirty="0"/>
              <a:t>表示</a:t>
            </a:r>
            <a:r>
              <a:rPr lang="en-US" altLang="zh-CN" b="1" dirty="0"/>
              <a:t>—</a:t>
            </a:r>
            <a:r>
              <a:rPr lang="zh-CN" altLang="en-US" b="1" dirty="0"/>
              <a:t>生成</a:t>
            </a:r>
            <a:r>
              <a:rPr lang="en-US" altLang="zh-CN" b="1" dirty="0"/>
              <a:t>—</a:t>
            </a:r>
            <a:r>
              <a:rPr lang="zh-CN" altLang="en-US" b="1" dirty="0"/>
              <a:t>约束</a:t>
            </a:r>
            <a:r>
              <a:rPr lang="zh-CN" altLang="en-US" dirty="0"/>
              <a:t>”四个环节展开，构建一个适合课程汇报的轻量化方法框架，用于说明灵巧手抓取生成任务中各关键模块之间的关系。</a:t>
            </a:r>
            <a:endParaRPr lang="en-US" altLang="zh-CN" dirty="0"/>
          </a:p>
          <a:p>
            <a:pPr marL="285750" indent="-285750">
              <a:buFont typeface="Wingdings" panose="05000000000000000000" pitchFamily="2" charset="2"/>
              <a:buChar char="p"/>
            </a:pPr>
            <a:endParaRPr lang="en-US" altLang="zh-CN" dirty="0"/>
          </a:p>
          <a:p>
            <a:r>
              <a:rPr lang="en-US" altLang="zh-CN" b="1" dirty="0"/>
              <a:t>2.</a:t>
            </a:r>
            <a:r>
              <a:rPr lang="zh-CN" altLang="en-US" b="1" dirty="0"/>
              <a:t>技术路线图</a:t>
            </a:r>
            <a:endParaRPr lang="zh-CN" altLang="en-US" b="1" dirty="0"/>
          </a:p>
        </p:txBody>
      </p:sp>
      <p:sp>
        <p:nvSpPr>
          <p:cNvPr id="4" name="文本框 3"/>
          <p:cNvSpPr txBox="1"/>
          <p:nvPr/>
        </p:nvSpPr>
        <p:spPr>
          <a:xfrm>
            <a:off x="550977" y="705445"/>
            <a:ext cx="2350328" cy="461665"/>
          </a:xfrm>
          <a:prstGeom prst="rect">
            <a:avLst/>
          </a:prstGeom>
          <a:noFill/>
        </p:spPr>
        <p:txBody>
          <a:bodyPr wrap="square" rtlCol="0">
            <a:spAutoFit/>
          </a:bodyPr>
          <a:lstStyle/>
          <a:p>
            <a:r>
              <a:rPr lang="zh-CN" altLang="en-US" sz="2400" b="1" dirty="0"/>
              <a:t>拟采用方法</a:t>
            </a:r>
            <a:endParaRPr lang="zh-CN" altLang="en-US" sz="2400" b="1" dirty="0"/>
          </a:p>
        </p:txBody>
      </p:sp>
      <p:sp>
        <p:nvSpPr>
          <p:cNvPr id="6" name="矩形: 圆角 5"/>
          <p:cNvSpPr/>
          <p:nvPr/>
        </p:nvSpPr>
        <p:spPr>
          <a:xfrm>
            <a:off x="4871249" y="3988727"/>
            <a:ext cx="2449499" cy="599440"/>
          </a:xfrm>
          <a:prstGeom prst="roundRect">
            <a:avLst/>
          </a:prstGeom>
          <a:solidFill>
            <a:schemeClr val="accent2">
              <a:lumMod val="60000"/>
              <a:lumOff val="40000"/>
            </a:schemeClr>
          </a:solidFill>
          <a:ln>
            <a:solidFill>
              <a:schemeClr val="accent2">
                <a:lumMod val="75000"/>
              </a:schemeClr>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zh-CN" altLang="en-US" b="1" dirty="0">
                <a:latin typeface="微软雅黑" panose="020B0503020204020204" pitchFamily="34" charset="-122"/>
                <a:ea typeface="微软雅黑" panose="020B0503020204020204" pitchFamily="34" charset="-122"/>
              </a:rPr>
              <a:t>输入</a:t>
            </a:r>
            <a:r>
              <a:rPr lang="en-US" altLang="zh-CN" b="1" dirty="0">
                <a:latin typeface="微软雅黑" panose="020B0503020204020204" pitchFamily="34" charset="-122"/>
                <a:ea typeface="微软雅黑" panose="020B0503020204020204" pitchFamily="34" charset="-122"/>
              </a:rPr>
              <a:t>: </a:t>
            </a:r>
            <a:r>
              <a:rPr lang="zh-CN" altLang="en-US" b="1" dirty="0">
                <a:latin typeface="微软雅黑" panose="020B0503020204020204" pitchFamily="34" charset="-122"/>
                <a:ea typeface="微软雅黑" panose="020B0503020204020204" pitchFamily="34" charset="-122"/>
              </a:rPr>
              <a:t>物体点云数据</a:t>
            </a:r>
            <a:endParaRPr lang="zh-CN" altLang="en-US" b="1" dirty="0">
              <a:latin typeface="微软雅黑" panose="020B0503020204020204" pitchFamily="34" charset="-122"/>
              <a:ea typeface="微软雅黑" panose="020B0503020204020204" pitchFamily="34" charset="-122"/>
            </a:endParaRPr>
          </a:p>
        </p:txBody>
      </p:sp>
      <p:sp>
        <p:nvSpPr>
          <p:cNvPr id="7" name="矩形 6"/>
          <p:cNvSpPr/>
          <p:nvPr/>
        </p:nvSpPr>
        <p:spPr>
          <a:xfrm>
            <a:off x="1453283" y="4894669"/>
            <a:ext cx="2055191" cy="741042"/>
          </a:xfrm>
          <a:prstGeom prst="rect">
            <a:avLst/>
          </a:prstGeom>
          <a:ln w="19050"/>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b="1" dirty="0">
                <a:latin typeface="微软雅黑" panose="020B0503020204020204" pitchFamily="34" charset="-122"/>
                <a:ea typeface="微软雅黑" panose="020B0503020204020204" pitchFamily="34" charset="-122"/>
              </a:rPr>
              <a:t>物体几何特征提取</a:t>
            </a:r>
            <a:endParaRPr lang="zh-CN" altLang="en-US" b="1" dirty="0">
              <a:latin typeface="微软雅黑" panose="020B0503020204020204" pitchFamily="34" charset="-122"/>
              <a:ea typeface="微软雅黑" panose="020B0503020204020204" pitchFamily="34" charset="-122"/>
            </a:endParaRPr>
          </a:p>
        </p:txBody>
      </p:sp>
      <p:sp>
        <p:nvSpPr>
          <p:cNvPr id="8" name="矩形 7"/>
          <p:cNvSpPr/>
          <p:nvPr/>
        </p:nvSpPr>
        <p:spPr>
          <a:xfrm>
            <a:off x="3746769" y="4894669"/>
            <a:ext cx="2366780" cy="741043"/>
          </a:xfrm>
          <a:prstGeom prst="rect">
            <a:avLst/>
          </a:prstGeom>
          <a:ln w="19050"/>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b="1" dirty="0">
                <a:latin typeface="微软雅黑" panose="020B0503020204020204" pitchFamily="34" charset="-122"/>
                <a:ea typeface="微软雅黑" panose="020B0503020204020204" pitchFamily="34" charset="-122"/>
              </a:rPr>
              <a:t>手</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物体交互表示建模</a:t>
            </a:r>
            <a:endParaRPr lang="zh-CN" altLang="en-US" b="1" dirty="0">
              <a:latin typeface="微软雅黑" panose="020B0503020204020204" pitchFamily="34" charset="-122"/>
              <a:ea typeface="微软雅黑" panose="020B0503020204020204" pitchFamily="34" charset="-122"/>
            </a:endParaRPr>
          </a:p>
        </p:txBody>
      </p:sp>
      <p:sp>
        <p:nvSpPr>
          <p:cNvPr id="9" name="矩形 8"/>
          <p:cNvSpPr/>
          <p:nvPr/>
        </p:nvSpPr>
        <p:spPr>
          <a:xfrm>
            <a:off x="6415814" y="4894669"/>
            <a:ext cx="2077946" cy="741043"/>
          </a:xfrm>
          <a:prstGeom prst="rect">
            <a:avLst/>
          </a:prstGeom>
          <a:ln w="19050"/>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b="1" dirty="0">
                <a:latin typeface="微软雅黑" panose="020B0503020204020204" pitchFamily="34" charset="-122"/>
                <a:ea typeface="微软雅黑" panose="020B0503020204020204" pitchFamily="34" charset="-122"/>
              </a:rPr>
              <a:t>候选抓取姿态生成</a:t>
            </a:r>
            <a:endParaRPr lang="zh-CN" altLang="en-US" b="1" dirty="0">
              <a:latin typeface="微软雅黑" panose="020B0503020204020204" pitchFamily="34" charset="-122"/>
              <a:ea typeface="微软雅黑" panose="020B0503020204020204" pitchFamily="34" charset="-122"/>
            </a:endParaRPr>
          </a:p>
        </p:txBody>
      </p:sp>
      <p:sp>
        <p:nvSpPr>
          <p:cNvPr id="10" name="矩形 9"/>
          <p:cNvSpPr/>
          <p:nvPr/>
        </p:nvSpPr>
        <p:spPr>
          <a:xfrm>
            <a:off x="8796024" y="4893387"/>
            <a:ext cx="2260445" cy="741043"/>
          </a:xfrm>
          <a:prstGeom prst="rect">
            <a:avLst/>
          </a:prstGeom>
          <a:ln w="19050"/>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b="1" dirty="0">
                <a:latin typeface="微软雅黑" panose="020B0503020204020204" pitchFamily="34" charset="-122"/>
                <a:ea typeface="微软雅黑" panose="020B0503020204020204" pitchFamily="34" charset="-122"/>
              </a:rPr>
              <a:t>物理约束筛选与修正</a:t>
            </a:r>
            <a:endParaRPr lang="zh-CN" altLang="en-US" b="1" dirty="0">
              <a:latin typeface="微软雅黑" panose="020B0503020204020204" pitchFamily="34" charset="-122"/>
              <a:ea typeface="微软雅黑" panose="020B0503020204020204" pitchFamily="34" charset="-122"/>
            </a:endParaRPr>
          </a:p>
        </p:txBody>
      </p:sp>
      <p:sp>
        <p:nvSpPr>
          <p:cNvPr id="11" name="矩形: 圆角 10"/>
          <p:cNvSpPr/>
          <p:nvPr/>
        </p:nvSpPr>
        <p:spPr>
          <a:xfrm>
            <a:off x="4871250" y="5942214"/>
            <a:ext cx="2449499" cy="599440"/>
          </a:xfrm>
          <a:prstGeom prst="roundRect">
            <a:avLst/>
          </a:prstGeom>
          <a:solidFill>
            <a:schemeClr val="accent2">
              <a:lumMod val="60000"/>
              <a:lumOff val="40000"/>
            </a:schemeClr>
          </a:solidFill>
          <a:ln>
            <a:solidFill>
              <a:schemeClr val="accent2">
                <a:lumMod val="75000"/>
              </a:schemeClr>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zh-CN" altLang="en-US" b="1" dirty="0">
                <a:latin typeface="微软雅黑" panose="020B0503020204020204" pitchFamily="34" charset="-122"/>
                <a:ea typeface="微软雅黑" panose="020B0503020204020204" pitchFamily="34" charset="-122"/>
              </a:rPr>
              <a:t>输出：可行抓取姿态</a:t>
            </a:r>
            <a:endParaRPr lang="zh-CN" altLang="en-US" b="1" dirty="0">
              <a:latin typeface="微软雅黑" panose="020B0503020204020204" pitchFamily="34" charset="-122"/>
              <a:ea typeface="微软雅黑" panose="020B0503020204020204" pitchFamily="34" charset="-122"/>
            </a:endParaRPr>
          </a:p>
        </p:txBody>
      </p:sp>
      <p:sp>
        <p:nvSpPr>
          <p:cNvPr id="17" name="箭头: 右 16"/>
          <p:cNvSpPr/>
          <p:nvPr/>
        </p:nvSpPr>
        <p:spPr>
          <a:xfrm rot="5400000">
            <a:off x="6039817" y="4475903"/>
            <a:ext cx="302264" cy="5722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箭头: 右 17"/>
          <p:cNvSpPr/>
          <p:nvPr/>
        </p:nvSpPr>
        <p:spPr>
          <a:xfrm rot="5400000">
            <a:off x="6109510" y="5504982"/>
            <a:ext cx="302264" cy="5722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 name="直接箭头连接符 19"/>
          <p:cNvCxnSpPr>
            <a:endCxn id="8" idx="1"/>
          </p:cNvCxnSpPr>
          <p:nvPr/>
        </p:nvCxnSpPr>
        <p:spPr>
          <a:xfrm flipV="1">
            <a:off x="3503857" y="5265191"/>
            <a:ext cx="242912" cy="887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a:endCxn id="9" idx="1"/>
          </p:cNvCxnSpPr>
          <p:nvPr/>
        </p:nvCxnSpPr>
        <p:spPr>
          <a:xfrm flipV="1">
            <a:off x="6113549" y="5265191"/>
            <a:ext cx="302265" cy="759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a:endCxn id="10" idx="1"/>
          </p:cNvCxnSpPr>
          <p:nvPr/>
        </p:nvCxnSpPr>
        <p:spPr>
          <a:xfrm flipV="1">
            <a:off x="8480329" y="5263909"/>
            <a:ext cx="315695" cy="1878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7" name="组合 98"/>
          <p:cNvGrpSpPr/>
          <p:nvPr/>
        </p:nvGrpSpPr>
        <p:grpSpPr>
          <a:xfrm>
            <a:off x="0" y="156335"/>
            <a:ext cx="11940390" cy="497839"/>
            <a:chOff x="0" y="156335"/>
            <a:chExt cx="11940390" cy="497839"/>
          </a:xfrm>
        </p:grpSpPr>
        <p:grpSp>
          <p:nvGrpSpPr>
            <p:cNvPr id="148" name="组合 99"/>
            <p:cNvGrpSpPr/>
            <p:nvPr/>
          </p:nvGrpSpPr>
          <p:grpSpPr>
            <a:xfrm>
              <a:off x="0" y="156335"/>
              <a:ext cx="9666514" cy="497839"/>
              <a:chOff x="0" y="248698"/>
              <a:chExt cx="9666514" cy="497839"/>
            </a:xfrm>
          </p:grpSpPr>
          <p:grpSp>
            <p:nvGrpSpPr>
              <p:cNvPr id="149" name="组合 101"/>
              <p:cNvGrpSpPr/>
              <p:nvPr/>
            </p:nvGrpSpPr>
            <p:grpSpPr>
              <a:xfrm>
                <a:off x="0" y="294640"/>
                <a:ext cx="880552" cy="375920"/>
                <a:chOff x="0" y="294640"/>
                <a:chExt cx="1094740" cy="467360"/>
              </a:xfrm>
              <a:solidFill>
                <a:srgbClr val="EE8A10"/>
              </a:solidFill>
            </p:grpSpPr>
            <p:sp>
              <p:nvSpPr>
                <p:cNvPr id="104880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80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80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803" name="文本框 102"/>
              <p:cNvSpPr txBox="1"/>
              <p:nvPr/>
            </p:nvSpPr>
            <p:spPr>
              <a:xfrm>
                <a:off x="972489" y="248698"/>
                <a:ext cx="2702560" cy="497839"/>
              </a:xfrm>
              <a:prstGeom prst="rect">
                <a:avLst/>
              </a:prstGeom>
              <a:noFill/>
            </p:spPr>
            <p:txBody>
              <a:bodyPr wrap="square" rtlCol="0">
                <a:spAutoFit/>
              </a:bodyPr>
              <a:lstStyle/>
              <a:p>
                <a:r>
                  <a:rPr lang="en-US" altLang="zh-CN" sz="2400" b="1" spc="600" dirty="0">
                    <a:latin typeface="锐字工房云字库细圆GBK" panose="02010604000000000000" pitchFamily="2" charset="-122"/>
                    <a:ea typeface="锐字工房云字库细圆GBK" panose="02010604000000000000" pitchFamily="2" charset="-122"/>
                  </a:rPr>
                  <a:t>Part four</a:t>
                </a:r>
                <a:endParaRPr lang="en-US" altLang="zh-CN" sz="2400" b="1" spc="600" dirty="0">
                  <a:latin typeface="锐字工房云字库细圆GBK" panose="02010604000000000000" pitchFamily="2" charset="-122"/>
                  <a:ea typeface="锐字工房云字库细圆GBK" panose="02010604000000000000" pitchFamily="2" charset="-122"/>
                </a:endParaRPr>
              </a:p>
            </p:txBody>
          </p:sp>
          <p:grpSp>
            <p:nvGrpSpPr>
              <p:cNvPr id="150" name="组合 103"/>
              <p:cNvGrpSpPr/>
              <p:nvPr/>
            </p:nvGrpSpPr>
            <p:grpSpPr>
              <a:xfrm>
                <a:off x="3356076" y="408709"/>
                <a:ext cx="1749361" cy="147782"/>
                <a:chOff x="635462" y="775854"/>
                <a:chExt cx="1749361" cy="147782"/>
              </a:xfrm>
              <a:solidFill>
                <a:srgbClr val="EE8A10"/>
              </a:solidFill>
            </p:grpSpPr>
            <p:sp>
              <p:nvSpPr>
                <p:cNvPr id="1048804" name="椭圆 105"/>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5" name="椭圆 106"/>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6" name="椭圆 107"/>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7" name="椭圆 108"/>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8" name="椭圆 109"/>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7" name="直接连接符 104"/>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9" name="图片 100"/>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4" name="文本框 3"/>
          <p:cNvSpPr txBox="1"/>
          <p:nvPr/>
        </p:nvSpPr>
        <p:spPr>
          <a:xfrm>
            <a:off x="550977" y="705445"/>
            <a:ext cx="2350328" cy="461665"/>
          </a:xfrm>
          <a:prstGeom prst="rect">
            <a:avLst/>
          </a:prstGeom>
          <a:noFill/>
        </p:spPr>
        <p:txBody>
          <a:bodyPr wrap="square" rtlCol="0">
            <a:spAutoFit/>
          </a:bodyPr>
          <a:lstStyle/>
          <a:p>
            <a:r>
              <a:rPr lang="zh-CN" altLang="en-US" sz="2400" b="1" dirty="0"/>
              <a:t>拟采用方法</a:t>
            </a:r>
            <a:endParaRPr lang="zh-CN" altLang="en-US" sz="2400" b="1" dirty="0"/>
          </a:p>
        </p:txBody>
      </p:sp>
      <p:sp>
        <p:nvSpPr>
          <p:cNvPr id="10" name="文本框 9"/>
          <p:cNvSpPr txBox="1"/>
          <p:nvPr/>
        </p:nvSpPr>
        <p:spPr>
          <a:xfrm>
            <a:off x="601777" y="1294358"/>
            <a:ext cx="6096000" cy="1477328"/>
          </a:xfrm>
          <a:prstGeom prst="rect">
            <a:avLst/>
          </a:prstGeom>
          <a:noFill/>
        </p:spPr>
        <p:txBody>
          <a:bodyPr wrap="square">
            <a:spAutoFit/>
          </a:bodyPr>
          <a:lstStyle/>
          <a:p>
            <a:pPr>
              <a:buNone/>
            </a:pPr>
            <a:r>
              <a:rPr lang="en-US" altLang="zh-CN" b="1" dirty="0"/>
              <a:t>3. </a:t>
            </a:r>
            <a:r>
              <a:rPr lang="zh-CN" altLang="en-US" b="1" dirty="0"/>
              <a:t>方法依据</a:t>
            </a:r>
            <a:endParaRPr lang="zh-CN" altLang="en-US" b="1" dirty="0"/>
          </a:p>
          <a:p>
            <a:pPr marL="285750" indent="-285750">
              <a:buFont typeface="Wingdings" panose="05000000000000000000" pitchFamily="2" charset="2"/>
              <a:buChar char="p"/>
            </a:pPr>
            <a:r>
              <a:rPr lang="en-US" altLang="zh-CN" dirty="0" err="1"/>
              <a:t>UniDexGrasp</a:t>
            </a:r>
            <a:r>
              <a:rPr lang="en-US" altLang="zh-CN" dirty="0"/>
              <a:t>++</a:t>
            </a:r>
            <a:r>
              <a:rPr lang="zh-CN" altLang="en-US" dirty="0"/>
              <a:t>：提供几何感知和分阶段学习的思路。</a:t>
            </a:r>
            <a:endParaRPr lang="en-US" altLang="zh-CN" dirty="0"/>
          </a:p>
          <a:p>
            <a:pPr marL="285750" indent="-285750">
              <a:buFont typeface="Wingdings" panose="05000000000000000000" pitchFamily="2" charset="2"/>
              <a:buChar char="p"/>
            </a:pPr>
            <a:r>
              <a:rPr lang="en-US" altLang="zh-CN" dirty="0"/>
              <a:t>D(R,O) Grasp</a:t>
            </a:r>
            <a:r>
              <a:rPr lang="zh-CN" altLang="en-US" dirty="0"/>
              <a:t>：提供统一交互表示的思路。</a:t>
            </a:r>
            <a:endParaRPr lang="en-US" altLang="zh-CN" dirty="0"/>
          </a:p>
          <a:p>
            <a:pPr marL="285750" indent="-285750">
              <a:buFont typeface="Wingdings" panose="05000000000000000000" pitchFamily="2" charset="2"/>
              <a:buChar char="p"/>
            </a:pPr>
            <a:r>
              <a:rPr lang="en-US" altLang="zh-CN" dirty="0" err="1"/>
              <a:t>DexGrasp</a:t>
            </a:r>
            <a:r>
              <a:rPr lang="en-US" altLang="zh-CN" dirty="0"/>
              <a:t> Anything</a:t>
            </a:r>
            <a:r>
              <a:rPr lang="zh-CN" altLang="en-US" dirty="0"/>
              <a:t>：提供物理约束驱动生成的思路。 </a:t>
            </a:r>
            <a:endParaRPr lang="en-US" altLang="zh-CN" dirty="0"/>
          </a:p>
          <a:p>
            <a:pPr marL="285750" indent="-285750">
              <a:buFont typeface="Wingdings" panose="05000000000000000000" pitchFamily="2" charset="2"/>
              <a:buChar char="p"/>
            </a:pPr>
            <a:r>
              <a:rPr lang="en-US" altLang="zh-CN" dirty="0" err="1"/>
              <a:t>DexGraspNet</a:t>
            </a:r>
            <a:r>
              <a:rPr lang="zh-CN" altLang="en-US" dirty="0"/>
              <a:t>：提供数据集与评价基础。</a:t>
            </a:r>
            <a:endParaRPr lang="zh-CN" altLang="en-US" dirty="0"/>
          </a:p>
        </p:txBody>
      </p:sp>
      <p:sp>
        <p:nvSpPr>
          <p:cNvPr id="12" name="文本框 11"/>
          <p:cNvSpPr txBox="1"/>
          <p:nvPr/>
        </p:nvSpPr>
        <p:spPr>
          <a:xfrm>
            <a:off x="627048" y="3059668"/>
            <a:ext cx="11199191" cy="1878335"/>
          </a:xfrm>
          <a:prstGeom prst="rect">
            <a:avLst/>
          </a:prstGeom>
          <a:noFill/>
        </p:spPr>
        <p:txBody>
          <a:bodyPr wrap="square">
            <a:spAutoFit/>
          </a:bodyPr>
          <a:lstStyle/>
          <a:p>
            <a:r>
              <a:rPr lang="en-US" altLang="zh-CN" dirty="0"/>
              <a:t>4. </a:t>
            </a:r>
            <a:r>
              <a:rPr lang="zh-CN" altLang="en-US" dirty="0"/>
              <a:t>方法框架</a:t>
            </a:r>
            <a:endParaRPr lang="en-US" altLang="zh-CN" dirty="0"/>
          </a:p>
          <a:p>
            <a:pPr>
              <a:lnSpc>
                <a:spcPct val="110000"/>
              </a:lnSpc>
            </a:pPr>
            <a:r>
              <a:rPr lang="zh-CN" altLang="en-US" dirty="0"/>
              <a:t>本课题拟采用一个以</a:t>
            </a:r>
            <a:r>
              <a:rPr lang="zh-CN" altLang="en-US" b="1" dirty="0"/>
              <a:t>几何理解、交互表示和物理约束</a:t>
            </a:r>
            <a:r>
              <a:rPr lang="zh-CN" altLang="en-US" dirty="0"/>
              <a:t>为主线的综合方法框架。首先，通过物体点云获取目标物体的几何信息，分析其形状、尺度和局部结构特征；然后，以手</a:t>
            </a:r>
            <a:r>
              <a:rPr lang="en-US" altLang="zh-CN" dirty="0"/>
              <a:t>–</a:t>
            </a:r>
            <a:r>
              <a:rPr lang="zh-CN" altLang="en-US" dirty="0"/>
              <a:t>物体交互表示作为核心中间层，将“机器人手如何接近并包覆物体”这一过程用较统一的方式表达出来。</a:t>
            </a:r>
            <a:endParaRPr lang="en-US" altLang="zh-CN" dirty="0"/>
          </a:p>
          <a:p>
            <a:pPr>
              <a:lnSpc>
                <a:spcPct val="110000"/>
              </a:lnSpc>
            </a:pPr>
            <a:r>
              <a:rPr lang="zh-CN" altLang="en-US" dirty="0"/>
              <a:t>在此基础上，生成若干可能的抓取候选姿态，以体现灵巧手抓取的多样性和适应性；随后，再从接触合理性、穿透情况、自碰撞风险等角度对候选结果进行约束筛选和修正，从而输出更稳定、更可信的抓取姿态。</a:t>
            </a:r>
            <a:endParaRPr lang="en-US" altLang="zh-CN" dirty="0"/>
          </a:p>
        </p:txBody>
      </p:sp>
      <p:sp>
        <p:nvSpPr>
          <p:cNvPr id="2" name="文本框 1">
            <a:hlinkClick r:id="rId2" action="ppaction://hlinksldjump"/>
          </p:cNvPr>
          <p:cNvSpPr txBox="1"/>
          <p:nvPr/>
        </p:nvSpPr>
        <p:spPr>
          <a:xfrm>
            <a:off x="10441305" y="5842635"/>
            <a:ext cx="822960" cy="358775"/>
          </a:xfrm>
          <a:prstGeom prst="rect">
            <a:avLst/>
          </a:prstGeom>
          <a:noFill/>
        </p:spPr>
        <p:txBody>
          <a:bodyPr wrap="square" rtlCol="0">
            <a:noAutofit/>
          </a:bodyPr>
          <a:p>
            <a:r>
              <a:rPr lang="zh-CN" altLang="en-US"/>
              <a:t>返回</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33" name=""/>
        <p:cNvGrpSpPr/>
        <p:nvPr/>
      </p:nvGrpSpPr>
      <p:grpSpPr>
        <a:xfrm>
          <a:off x="0" y="0"/>
          <a:ext cx="0" cy="0"/>
          <a:chOff x="0" y="0"/>
          <a:chExt cx="0" cy="0"/>
        </a:xfrm>
      </p:grpSpPr>
      <p:sp>
        <p:nvSpPr>
          <p:cNvPr id="1048773" name="矩形 20"/>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pic>
        <p:nvPicPr>
          <p:cNvPr id="2097177" name="Picture 2"/>
          <p:cNvPicPr>
            <a:picLocks noChangeAspect="1" noChangeArrowheads="1"/>
          </p:cNvPicPr>
          <p:nvPr/>
        </p:nvPicPr>
        <p:blipFill rotWithShape="1">
          <a:blip r:embed="rId1" cstate="print"/>
          <a:srcRect/>
          <a:stretch>
            <a:fillRect/>
          </a:stretch>
        </p:blipFill>
        <p:spPr bwMode="auto">
          <a:xfrm>
            <a:off x="4191000" y="1407160"/>
            <a:ext cx="8001000" cy="4043680"/>
          </a:xfrm>
          <a:prstGeom prst="rect">
            <a:avLst/>
          </a:prstGeom>
          <a:noFill/>
        </p:spPr>
      </p:pic>
      <p:grpSp>
        <p:nvGrpSpPr>
          <p:cNvPr id="134" name="组合 22"/>
          <p:cNvGrpSpPr/>
          <p:nvPr/>
        </p:nvGrpSpPr>
        <p:grpSpPr>
          <a:xfrm>
            <a:off x="0" y="713740"/>
            <a:ext cx="12273281" cy="4737100"/>
            <a:chOff x="0" y="713740"/>
            <a:chExt cx="12273281" cy="4737100"/>
          </a:xfrm>
        </p:grpSpPr>
        <p:grpSp>
          <p:nvGrpSpPr>
            <p:cNvPr id="135" name="组合 25"/>
            <p:cNvGrpSpPr/>
            <p:nvPr/>
          </p:nvGrpSpPr>
          <p:grpSpPr>
            <a:xfrm>
              <a:off x="0" y="1407160"/>
              <a:ext cx="4064000" cy="4043680"/>
              <a:chOff x="0" y="1407160"/>
              <a:chExt cx="4064000" cy="4043680"/>
            </a:xfrm>
          </p:grpSpPr>
          <p:sp>
            <p:nvSpPr>
              <p:cNvPr id="1048774" name="矩形 31"/>
              <p:cNvSpPr/>
              <p:nvPr/>
            </p:nvSpPr>
            <p:spPr>
              <a:xfrm>
                <a:off x="0" y="1407160"/>
                <a:ext cx="4064000" cy="40436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造字工房力黑（非商用）常规体" pitchFamily="50" charset="-122"/>
                  <a:ea typeface="造字工房力黑（非商用）常规体" pitchFamily="50" charset="-122"/>
                  <a:cs typeface="+mn-ea"/>
                  <a:sym typeface="+mn-lt"/>
                </a:endParaRPr>
              </a:p>
            </p:txBody>
          </p:sp>
          <p:sp>
            <p:nvSpPr>
              <p:cNvPr id="1048775" name="文本框 33"/>
              <p:cNvSpPr txBox="1"/>
              <p:nvPr/>
            </p:nvSpPr>
            <p:spPr>
              <a:xfrm>
                <a:off x="127000" y="2644954"/>
                <a:ext cx="3810000" cy="1568450"/>
              </a:xfrm>
              <a:prstGeom prst="rect">
                <a:avLst/>
              </a:prstGeom>
              <a:noFill/>
            </p:spPr>
            <p:txBody>
              <a:bodyPr wrap="square" rtlCol="0">
                <a:spAutoFit/>
              </a:bodyPr>
              <a:p>
                <a:pPr algn="ctr"/>
                <a:r>
                  <a:rPr lang="zh-CN" altLang="en-US" sz="4800" dirty="0">
                    <a:solidFill>
                      <a:schemeClr val="bg1"/>
                    </a:solidFill>
                    <a:latin typeface="造字工房力黑（非商用）常规体" pitchFamily="50" charset="-122"/>
                    <a:ea typeface="造字工房力黑（非商用）常规体" pitchFamily="50" charset="-122"/>
                    <a:cs typeface="+mn-ea"/>
                    <a:sym typeface="+mn-lt"/>
                  </a:rPr>
                  <a:t>成员分工及</a:t>
                </a:r>
                <a:r>
                  <a:rPr lang="zh-CN" altLang="en-US" sz="4800" dirty="0">
                    <a:solidFill>
                      <a:schemeClr val="bg1"/>
                    </a:solidFill>
                    <a:latin typeface="造字工房力黑（非商用）常规体" pitchFamily="50" charset="-122"/>
                    <a:ea typeface="造字工房力黑（非商用）常规体" pitchFamily="50" charset="-122"/>
                    <a:cs typeface="+mn-ea"/>
                    <a:sym typeface="+mn-lt"/>
                  </a:rPr>
                  <a:t>工作安排</a:t>
                </a:r>
                <a:endParaRPr lang="zh-CN" altLang="en-US" sz="4800" dirty="0">
                  <a:solidFill>
                    <a:schemeClr val="bg1"/>
                  </a:solidFill>
                  <a:latin typeface="造字工房力黑（非商用）常规体" pitchFamily="50" charset="-122"/>
                  <a:ea typeface="造字工房力黑（非商用）常规体" pitchFamily="50" charset="-122"/>
                  <a:cs typeface="+mn-ea"/>
                  <a:sym typeface="+mn-lt"/>
                </a:endParaRPr>
              </a:p>
            </p:txBody>
          </p:sp>
        </p:grpSp>
        <p:grpSp>
          <p:nvGrpSpPr>
            <p:cNvPr id="136" name="组合 26"/>
            <p:cNvGrpSpPr/>
            <p:nvPr/>
          </p:nvGrpSpPr>
          <p:grpSpPr>
            <a:xfrm>
              <a:off x="7564229" y="713740"/>
              <a:ext cx="4709052" cy="1386840"/>
              <a:chOff x="7564229" y="713740"/>
              <a:chExt cx="4709052" cy="1386840"/>
            </a:xfrm>
          </p:grpSpPr>
          <p:sp>
            <p:nvSpPr>
              <p:cNvPr id="1048776" name="任意多边形 28"/>
              <p:cNvSpPr/>
              <p:nvPr/>
            </p:nvSpPr>
            <p:spPr>
              <a:xfrm flipH="1" flipV="1">
                <a:off x="7564229" y="713740"/>
                <a:ext cx="4627771" cy="1386840"/>
              </a:xfrm>
              <a:custGeom>
                <a:avLst/>
                <a:gdLst>
                  <a:gd name="connsiteX0" fmla="*/ 0 w 7147560"/>
                  <a:gd name="connsiteY0" fmla="*/ 0 h 2814320"/>
                  <a:gd name="connsiteX1" fmla="*/ 6443980 w 7147560"/>
                  <a:gd name="connsiteY1" fmla="*/ 0 h 2814320"/>
                  <a:gd name="connsiteX2" fmla="*/ 7147560 w 7147560"/>
                  <a:gd name="connsiteY2" fmla="*/ 2814320 h 2814320"/>
                  <a:gd name="connsiteX3" fmla="*/ 0 w 7147560"/>
                  <a:gd name="connsiteY3" fmla="*/ 2814320 h 2814320"/>
                  <a:gd name="connsiteX0-1" fmla="*/ 0 w 8689506"/>
                  <a:gd name="connsiteY0-2" fmla="*/ 0 h 2814320"/>
                  <a:gd name="connsiteX1-3" fmla="*/ 6443980 w 8689506"/>
                  <a:gd name="connsiteY1-4" fmla="*/ 0 h 2814320"/>
                  <a:gd name="connsiteX2-5" fmla="*/ 8689506 w 8689506"/>
                  <a:gd name="connsiteY2-6" fmla="*/ 2814320 h 2814320"/>
                  <a:gd name="connsiteX3-7" fmla="*/ 0 w 8689506"/>
                  <a:gd name="connsiteY3-8" fmla="*/ 2814320 h 2814320"/>
                  <a:gd name="connsiteX4" fmla="*/ 0 w 8689506"/>
                  <a:gd name="connsiteY4" fmla="*/ 0 h 2814320"/>
                  <a:gd name="connsiteX0-9" fmla="*/ 0 w 9235080"/>
                  <a:gd name="connsiteY0-10" fmla="*/ 0 h 2834640"/>
                  <a:gd name="connsiteX1-11" fmla="*/ 6443980 w 9235080"/>
                  <a:gd name="connsiteY1-12" fmla="*/ 0 h 2834640"/>
                  <a:gd name="connsiteX2-13" fmla="*/ 9235080 w 9235080"/>
                  <a:gd name="connsiteY2-14" fmla="*/ 2834640 h 2834640"/>
                  <a:gd name="connsiteX3-15" fmla="*/ 0 w 9235080"/>
                  <a:gd name="connsiteY3-16" fmla="*/ 2814320 h 2834640"/>
                  <a:gd name="connsiteX4-17" fmla="*/ 0 w 9235080"/>
                  <a:gd name="connsiteY4-18" fmla="*/ 0 h 2834640"/>
                </a:gdLst>
                <a:ahLst/>
                <a:cxnLst>
                  <a:cxn ang="0">
                    <a:pos x="connsiteX0-1" y="connsiteY0-2"/>
                  </a:cxn>
                  <a:cxn ang="0">
                    <a:pos x="connsiteX1-3" y="connsiteY1-4"/>
                  </a:cxn>
                  <a:cxn ang="0">
                    <a:pos x="connsiteX2-5" y="connsiteY2-6"/>
                  </a:cxn>
                  <a:cxn ang="0">
                    <a:pos x="connsiteX3-7" y="connsiteY3-8"/>
                  </a:cxn>
                  <a:cxn ang="0">
                    <a:pos x="connsiteX4-17" y="connsiteY4-18"/>
                  </a:cxn>
                </a:cxnLst>
                <a:rect l="l" t="t" r="r" b="b"/>
                <a:pathLst>
                  <a:path w="9235080" h="2834640">
                    <a:moveTo>
                      <a:pt x="0" y="0"/>
                    </a:moveTo>
                    <a:lnTo>
                      <a:pt x="6443980" y="0"/>
                    </a:lnTo>
                    <a:lnTo>
                      <a:pt x="9235080" y="2834640"/>
                    </a:lnTo>
                    <a:lnTo>
                      <a:pt x="0" y="2814320"/>
                    </a:lnTo>
                    <a:lnTo>
                      <a:pt x="0" y="0"/>
                    </a:lnTo>
                    <a:close/>
                  </a:path>
                </a:pathLst>
              </a:cu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造字工房力黑（非商用）常规体" pitchFamily="50" charset="-122"/>
                  <a:ea typeface="造字工房力黑（非商用）常规体" pitchFamily="50" charset="-122"/>
                  <a:cs typeface="+mn-ea"/>
                  <a:sym typeface="+mn-lt"/>
                </a:endParaRPr>
              </a:p>
            </p:txBody>
          </p:sp>
          <p:sp>
            <p:nvSpPr>
              <p:cNvPr id="1048777" name="文本框 30"/>
              <p:cNvSpPr txBox="1"/>
              <p:nvPr/>
            </p:nvSpPr>
            <p:spPr>
              <a:xfrm>
                <a:off x="7793645" y="991661"/>
                <a:ext cx="4479636" cy="764540"/>
              </a:xfrm>
              <a:prstGeom prst="rect">
                <a:avLst/>
              </a:prstGeom>
              <a:noFill/>
            </p:spPr>
            <p:txBody>
              <a:bodyPr wrap="square" rtlCol="0">
                <a:spAutoFit/>
              </a:bodyPr>
              <a:p>
                <a:pPr algn="r"/>
                <a:r>
                  <a:rPr lang="en-US" altLang="zh-CN" sz="4000" spc="300" dirty="0">
                    <a:solidFill>
                      <a:schemeClr val="bg1"/>
                    </a:solidFill>
                    <a:latin typeface="造字工房力黑（非商用）常规体" pitchFamily="50" charset="-122"/>
                    <a:ea typeface="造字工房力黑（非商用）常规体" pitchFamily="50" charset="-122"/>
                    <a:cs typeface="+mn-ea"/>
                    <a:sym typeface="+mn-lt"/>
                  </a:rPr>
                  <a:t>PART FOUR</a:t>
                </a:r>
                <a:endParaRPr lang="zh-CN" altLang="en-US" sz="4000" spc="300" dirty="0">
                  <a:solidFill>
                    <a:schemeClr val="bg1"/>
                  </a:solidFill>
                  <a:latin typeface="造字工房力黑（非商用）常规体" pitchFamily="50" charset="-122"/>
                  <a:ea typeface="造字工房力黑（非商用）常规体" pitchFamily="50" charset="-122"/>
                  <a:cs typeface="+mn-ea"/>
                  <a:sym typeface="+mn-lt"/>
                </a:endParaRPr>
              </a:p>
            </p:txBody>
          </p:sp>
        </p:grpSp>
        <p:sp>
          <p:nvSpPr>
            <p:cNvPr id="1048778" name="文本框 27"/>
            <p:cNvSpPr txBox="1"/>
            <p:nvPr/>
          </p:nvSpPr>
          <p:spPr>
            <a:xfrm>
              <a:off x="9550399" y="3052435"/>
              <a:ext cx="2349194" cy="1445260"/>
            </a:xfrm>
            <a:prstGeom prst="rect">
              <a:avLst/>
            </a:prstGeom>
            <a:noFill/>
            <a:ln>
              <a:solidFill>
                <a:schemeClr val="bg1"/>
              </a:solidFill>
            </a:ln>
          </p:spPr>
          <p:txBody>
            <a:bodyPr wrap="square" rtlCol="0">
              <a:spAutoFit/>
            </a:bodyPr>
            <a:p>
              <a:pPr algn="ctr"/>
              <a:r>
                <a:rPr lang="en-US" altLang="zh-CN" sz="8800" spc="600" dirty="0">
                  <a:solidFill>
                    <a:schemeClr val="bg1"/>
                  </a:solidFill>
                  <a:latin typeface="造字工房力黑（非商用）常规体" pitchFamily="50" charset="-122"/>
                  <a:ea typeface="造字工房力黑（非商用）常规体" pitchFamily="50" charset="-122"/>
                  <a:cs typeface="+mn-ea"/>
                  <a:sym typeface="+mn-lt"/>
                </a:rPr>
                <a:t>05</a:t>
              </a:r>
              <a:endParaRPr lang="zh-CN" altLang="en-US" sz="8800" spc="600" dirty="0">
                <a:solidFill>
                  <a:schemeClr val="bg1"/>
                </a:solidFill>
                <a:latin typeface="造字工房力黑（非商用）常规体" pitchFamily="50" charset="-122"/>
                <a:ea typeface="造字工房力黑（非商用）常规体" pitchFamily="50" charset="-122"/>
                <a:cs typeface="+mn-ea"/>
                <a:sym typeface="+mn-lt"/>
              </a:endParaRPr>
            </a:p>
          </p:txBody>
        </p:sp>
      </p:grpSp>
      <p:pic>
        <p:nvPicPr>
          <p:cNvPr id="2097178" name="图片 14"/>
          <p:cNvPicPr>
            <a:picLocks noChangeAspect="1"/>
          </p:cNvPicPr>
          <p:nvPr/>
        </p:nvPicPr>
        <p:blipFill>
          <a:blip r:embed="rId2" cstate="print"/>
          <a:srcRect/>
          <a:stretch>
            <a:fillRect/>
          </a:stretch>
        </p:blipFill>
        <p:spPr>
          <a:xfrm>
            <a:off x="874769" y="477840"/>
            <a:ext cx="2174882" cy="45606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39" name=""/>
        <p:cNvGrpSpPr/>
        <p:nvPr/>
      </p:nvGrpSpPr>
      <p:grpSpPr>
        <a:xfrm>
          <a:off x="0" y="0"/>
          <a:ext cx="0" cy="0"/>
          <a:chOff x="0" y="0"/>
          <a:chExt cx="0" cy="0"/>
        </a:xfrm>
      </p:grpSpPr>
      <p:grpSp>
        <p:nvGrpSpPr>
          <p:cNvPr id="140" name="Group 44"/>
          <p:cNvGrpSpPr/>
          <p:nvPr>
            <p:custDataLst>
              <p:tags r:id="rId1"/>
            </p:custDataLst>
          </p:nvPr>
        </p:nvGrpSpPr>
        <p:grpSpPr>
          <a:xfrm flipH="1">
            <a:off x="9801075" y="1225881"/>
            <a:ext cx="602615" cy="604520"/>
            <a:chOff x="7204075" y="-1846263"/>
            <a:chExt cx="1939925" cy="1944688"/>
          </a:xfrm>
        </p:grpSpPr>
        <p:sp>
          <p:nvSpPr>
            <p:cNvPr id="1048782" name="ïşḻïďê-Oval 45"/>
            <p:cNvSpPr/>
            <p:nvPr>
              <p:custDataLst>
                <p:tags r:id="rId2"/>
              </p:custDataLst>
            </p:nvPr>
          </p:nvSpPr>
          <p:spPr bwMode="auto">
            <a:xfrm>
              <a:off x="7204075" y="-1846263"/>
              <a:ext cx="1939925" cy="1944688"/>
            </a:xfrm>
            <a:prstGeom prst="ellipse">
              <a:avLst/>
            </a:prstGeom>
            <a:solidFill>
              <a:schemeClr val="accent4">
                <a:lumMod val="100000"/>
              </a:schemeClr>
            </a:solidFill>
            <a:ln>
              <a:noFill/>
            </a:ln>
          </p:spPr>
          <p:txBody>
            <a:bodyPr anchor="ctr"/>
            <a:p>
              <a:pPr algn="ctr"/>
              <a:endParaRPr>
                <a:latin typeface="锐字工房云字库细圆GBK" panose="02010604000000000000" pitchFamily="2" charset="-122"/>
                <a:ea typeface="锐字工房云字库细圆GBK" panose="02010604000000000000" pitchFamily="2" charset="-122"/>
                <a:cs typeface="+mn-ea"/>
                <a:sym typeface="+mn-lt"/>
              </a:endParaRPr>
            </a:p>
          </p:txBody>
        </p:sp>
        <p:grpSp>
          <p:nvGrpSpPr>
            <p:cNvPr id="141" name="Group 46"/>
            <p:cNvGrpSpPr/>
            <p:nvPr/>
          </p:nvGrpSpPr>
          <p:grpSpPr>
            <a:xfrm>
              <a:off x="7519988" y="-1506538"/>
              <a:ext cx="1312862" cy="1265238"/>
              <a:chOff x="7519988" y="-1506538"/>
              <a:chExt cx="1312862" cy="1265238"/>
            </a:xfrm>
          </p:grpSpPr>
          <p:sp>
            <p:nvSpPr>
              <p:cNvPr id="1048783" name="ïşḻïďê-Freeform: Shape 47"/>
              <p:cNvSpPr/>
              <p:nvPr>
                <p:custDataLst>
                  <p:tags r:id="rId3"/>
                </p:custDataLst>
              </p:nvPr>
            </p:nvSpPr>
            <p:spPr bwMode="auto">
              <a:xfrm>
                <a:off x="7519988" y="-1484313"/>
                <a:ext cx="1176338" cy="1117600"/>
              </a:xfrm>
              <a:custGeom>
                <a:avLst/>
                <a:gdLst>
                  <a:gd name="T0" fmla="*/ 211 w 215"/>
                  <a:gd name="T1" fmla="*/ 164 h 204"/>
                  <a:gd name="T2" fmla="*/ 147 w 215"/>
                  <a:gd name="T3" fmla="*/ 199 h 204"/>
                  <a:gd name="T4" fmla="*/ 46 w 215"/>
                  <a:gd name="T5" fmla="*/ 10 h 204"/>
                  <a:gd name="T6" fmla="*/ 35 w 215"/>
                  <a:gd name="T7" fmla="*/ 1 h 204"/>
                  <a:gd name="T8" fmla="*/ 22 w 215"/>
                  <a:gd name="T9" fmla="*/ 3 h 204"/>
                  <a:gd name="T10" fmla="*/ 1 w 215"/>
                  <a:gd name="T11" fmla="*/ 14 h 204"/>
                  <a:gd name="T12" fmla="*/ 0 w 215"/>
                  <a:gd name="T13" fmla="*/ 17 h 204"/>
                  <a:gd name="T14" fmla="*/ 3 w 215"/>
                  <a:gd name="T15" fmla="*/ 18 h 204"/>
                  <a:gd name="T16" fmla="*/ 24 w 215"/>
                  <a:gd name="T17" fmla="*/ 7 h 204"/>
                  <a:gd name="T18" fmla="*/ 34 w 215"/>
                  <a:gd name="T19" fmla="*/ 6 h 204"/>
                  <a:gd name="T20" fmla="*/ 41 w 215"/>
                  <a:gd name="T21" fmla="*/ 12 h 204"/>
                  <a:gd name="T22" fmla="*/ 144 w 215"/>
                  <a:gd name="T23" fmla="*/ 203 h 204"/>
                  <a:gd name="T24" fmla="*/ 146 w 215"/>
                  <a:gd name="T25" fmla="*/ 204 h 204"/>
                  <a:gd name="T26" fmla="*/ 146 w 215"/>
                  <a:gd name="T27" fmla="*/ 204 h 204"/>
                  <a:gd name="T28" fmla="*/ 148 w 215"/>
                  <a:gd name="T29" fmla="*/ 204 h 204"/>
                  <a:gd name="T30" fmla="*/ 213 w 215"/>
                  <a:gd name="T31" fmla="*/ 168 h 204"/>
                  <a:gd name="T32" fmla="*/ 214 w 215"/>
                  <a:gd name="T33" fmla="*/ 165 h 204"/>
                  <a:gd name="T34" fmla="*/ 211 w 215"/>
                  <a:gd name="T35" fmla="*/ 164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5" h="204">
                    <a:moveTo>
                      <a:pt x="211" y="164"/>
                    </a:moveTo>
                    <a:cubicBezTo>
                      <a:pt x="147" y="199"/>
                      <a:pt x="147" y="199"/>
                      <a:pt x="147" y="199"/>
                    </a:cubicBezTo>
                    <a:cubicBezTo>
                      <a:pt x="46" y="10"/>
                      <a:pt x="46" y="10"/>
                      <a:pt x="46" y="10"/>
                    </a:cubicBezTo>
                    <a:cubicBezTo>
                      <a:pt x="43" y="6"/>
                      <a:pt x="40" y="3"/>
                      <a:pt x="35" y="1"/>
                    </a:cubicBezTo>
                    <a:cubicBezTo>
                      <a:pt x="31" y="0"/>
                      <a:pt x="26" y="1"/>
                      <a:pt x="22" y="3"/>
                    </a:cubicBezTo>
                    <a:cubicBezTo>
                      <a:pt x="1" y="14"/>
                      <a:pt x="1" y="14"/>
                      <a:pt x="1" y="14"/>
                    </a:cubicBezTo>
                    <a:cubicBezTo>
                      <a:pt x="0" y="15"/>
                      <a:pt x="0" y="16"/>
                      <a:pt x="0" y="17"/>
                    </a:cubicBezTo>
                    <a:cubicBezTo>
                      <a:pt x="1" y="18"/>
                      <a:pt x="2" y="19"/>
                      <a:pt x="3" y="18"/>
                    </a:cubicBezTo>
                    <a:cubicBezTo>
                      <a:pt x="24" y="7"/>
                      <a:pt x="24" y="7"/>
                      <a:pt x="24" y="7"/>
                    </a:cubicBezTo>
                    <a:cubicBezTo>
                      <a:pt x="27" y="5"/>
                      <a:pt x="31" y="5"/>
                      <a:pt x="34" y="6"/>
                    </a:cubicBezTo>
                    <a:cubicBezTo>
                      <a:pt x="37" y="7"/>
                      <a:pt x="40" y="9"/>
                      <a:pt x="41" y="12"/>
                    </a:cubicBezTo>
                    <a:cubicBezTo>
                      <a:pt x="144" y="203"/>
                      <a:pt x="144" y="203"/>
                      <a:pt x="144" y="203"/>
                    </a:cubicBezTo>
                    <a:cubicBezTo>
                      <a:pt x="145" y="203"/>
                      <a:pt x="145" y="204"/>
                      <a:pt x="146" y="204"/>
                    </a:cubicBezTo>
                    <a:cubicBezTo>
                      <a:pt x="146" y="204"/>
                      <a:pt x="146" y="204"/>
                      <a:pt x="146" y="204"/>
                    </a:cubicBezTo>
                    <a:cubicBezTo>
                      <a:pt x="147" y="204"/>
                      <a:pt x="147" y="204"/>
                      <a:pt x="148" y="204"/>
                    </a:cubicBezTo>
                    <a:cubicBezTo>
                      <a:pt x="213" y="168"/>
                      <a:pt x="213" y="168"/>
                      <a:pt x="213" y="168"/>
                    </a:cubicBezTo>
                    <a:cubicBezTo>
                      <a:pt x="215" y="168"/>
                      <a:pt x="215" y="166"/>
                      <a:pt x="214" y="165"/>
                    </a:cubicBezTo>
                    <a:cubicBezTo>
                      <a:pt x="214" y="164"/>
                      <a:pt x="212" y="164"/>
                      <a:pt x="211" y="164"/>
                    </a:cubicBezTo>
                    <a:close/>
                  </a:path>
                </a:pathLst>
              </a:custGeom>
              <a:solidFill>
                <a:srgbClr val="FFFFFF"/>
              </a:solidFill>
              <a:ln>
                <a:noFill/>
              </a:ln>
            </p:spPr>
            <p:txBody>
              <a:bodyPr anchor="ctr"/>
              <a:p>
                <a:pPr algn="ctr"/>
                <a:endParaRPr>
                  <a:latin typeface="锐字工房云字库细圆GBK" panose="02010604000000000000" pitchFamily="2" charset="-122"/>
                  <a:ea typeface="锐字工房云字库细圆GBK" panose="02010604000000000000" pitchFamily="2" charset="-122"/>
                  <a:cs typeface="+mn-ea"/>
                  <a:sym typeface="+mn-lt"/>
                </a:endParaRPr>
              </a:p>
            </p:txBody>
          </p:sp>
          <p:sp>
            <p:nvSpPr>
              <p:cNvPr id="1048784" name="ïşḻïďê-Freeform: Shape 48"/>
              <p:cNvSpPr/>
              <p:nvPr>
                <p:custDataLst>
                  <p:tags r:id="rId4"/>
                </p:custDataLst>
              </p:nvPr>
            </p:nvSpPr>
            <p:spPr bwMode="auto">
              <a:xfrm>
                <a:off x="8045450" y="-422275"/>
                <a:ext cx="190500" cy="180975"/>
              </a:xfrm>
              <a:custGeom>
                <a:avLst/>
                <a:gdLst>
                  <a:gd name="T0" fmla="*/ 18 w 35"/>
                  <a:gd name="T1" fmla="*/ 0 h 33"/>
                  <a:gd name="T2" fmla="*/ 11 w 35"/>
                  <a:gd name="T3" fmla="*/ 2 h 33"/>
                  <a:gd name="T4" fmla="*/ 4 w 35"/>
                  <a:gd name="T5" fmla="*/ 24 h 33"/>
                  <a:gd name="T6" fmla="*/ 19 w 35"/>
                  <a:gd name="T7" fmla="*/ 33 h 33"/>
                  <a:gd name="T8" fmla="*/ 26 w 35"/>
                  <a:gd name="T9" fmla="*/ 31 h 33"/>
                  <a:gd name="T10" fmla="*/ 34 w 35"/>
                  <a:gd name="T11" fmla="*/ 21 h 33"/>
                  <a:gd name="T12" fmla="*/ 33 w 35"/>
                  <a:gd name="T13" fmla="*/ 9 h 33"/>
                  <a:gd name="T14" fmla="*/ 18 w 35"/>
                  <a:gd name="T15" fmla="*/ 0 h 33"/>
                  <a:gd name="T16" fmla="*/ 30 w 35"/>
                  <a:gd name="T17" fmla="*/ 20 h 33"/>
                  <a:gd name="T18" fmla="*/ 24 w 35"/>
                  <a:gd name="T19" fmla="*/ 27 h 33"/>
                  <a:gd name="T20" fmla="*/ 19 w 35"/>
                  <a:gd name="T21" fmla="*/ 28 h 33"/>
                  <a:gd name="T22" fmla="*/ 8 w 35"/>
                  <a:gd name="T23" fmla="*/ 22 h 33"/>
                  <a:gd name="T24" fmla="*/ 13 w 35"/>
                  <a:gd name="T25" fmla="*/ 6 h 33"/>
                  <a:gd name="T26" fmla="*/ 18 w 35"/>
                  <a:gd name="T27" fmla="*/ 5 h 33"/>
                  <a:gd name="T28" fmla="*/ 29 w 35"/>
                  <a:gd name="T29" fmla="*/ 11 h 33"/>
                  <a:gd name="T30" fmla="*/ 30 w 35"/>
                  <a:gd name="T31" fmla="*/ 2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5" h="33">
                    <a:moveTo>
                      <a:pt x="18" y="0"/>
                    </a:moveTo>
                    <a:cubicBezTo>
                      <a:pt x="16" y="0"/>
                      <a:pt x="13" y="1"/>
                      <a:pt x="11" y="2"/>
                    </a:cubicBezTo>
                    <a:cubicBezTo>
                      <a:pt x="3" y="6"/>
                      <a:pt x="0" y="16"/>
                      <a:pt x="4" y="24"/>
                    </a:cubicBezTo>
                    <a:cubicBezTo>
                      <a:pt x="7" y="30"/>
                      <a:pt x="13" y="33"/>
                      <a:pt x="19" y="33"/>
                    </a:cubicBezTo>
                    <a:cubicBezTo>
                      <a:pt x="21" y="33"/>
                      <a:pt x="24" y="32"/>
                      <a:pt x="26" y="31"/>
                    </a:cubicBezTo>
                    <a:cubicBezTo>
                      <a:pt x="30" y="29"/>
                      <a:pt x="33" y="25"/>
                      <a:pt x="34" y="21"/>
                    </a:cubicBezTo>
                    <a:cubicBezTo>
                      <a:pt x="35" y="17"/>
                      <a:pt x="35" y="13"/>
                      <a:pt x="33" y="9"/>
                    </a:cubicBezTo>
                    <a:cubicBezTo>
                      <a:pt x="30" y="4"/>
                      <a:pt x="24" y="0"/>
                      <a:pt x="18" y="0"/>
                    </a:cubicBezTo>
                    <a:close/>
                    <a:moveTo>
                      <a:pt x="30" y="20"/>
                    </a:moveTo>
                    <a:cubicBezTo>
                      <a:pt x="29" y="23"/>
                      <a:pt x="27" y="25"/>
                      <a:pt x="24" y="27"/>
                    </a:cubicBezTo>
                    <a:cubicBezTo>
                      <a:pt x="22" y="28"/>
                      <a:pt x="20" y="28"/>
                      <a:pt x="19" y="28"/>
                    </a:cubicBezTo>
                    <a:cubicBezTo>
                      <a:pt x="14" y="28"/>
                      <a:pt x="10" y="26"/>
                      <a:pt x="8" y="22"/>
                    </a:cubicBezTo>
                    <a:cubicBezTo>
                      <a:pt x="5" y="16"/>
                      <a:pt x="7" y="9"/>
                      <a:pt x="13" y="6"/>
                    </a:cubicBezTo>
                    <a:cubicBezTo>
                      <a:pt x="15" y="5"/>
                      <a:pt x="17" y="5"/>
                      <a:pt x="18" y="5"/>
                    </a:cubicBezTo>
                    <a:cubicBezTo>
                      <a:pt x="23" y="5"/>
                      <a:pt x="27" y="7"/>
                      <a:pt x="29" y="11"/>
                    </a:cubicBezTo>
                    <a:cubicBezTo>
                      <a:pt x="30" y="14"/>
                      <a:pt x="31" y="17"/>
                      <a:pt x="30" y="20"/>
                    </a:cubicBezTo>
                    <a:close/>
                  </a:path>
                </a:pathLst>
              </a:custGeom>
              <a:solidFill>
                <a:srgbClr val="FFFFFF"/>
              </a:solidFill>
              <a:ln>
                <a:noFill/>
              </a:ln>
            </p:spPr>
            <p:txBody>
              <a:bodyPr anchor="ctr"/>
              <a:p>
                <a:pPr algn="ctr"/>
                <a:endParaRPr>
                  <a:latin typeface="锐字工房云字库细圆GBK" panose="02010604000000000000" pitchFamily="2" charset="-122"/>
                  <a:ea typeface="锐字工房云字库细圆GBK" panose="02010604000000000000" pitchFamily="2" charset="-122"/>
                  <a:cs typeface="+mn-ea"/>
                  <a:sym typeface="+mn-lt"/>
                </a:endParaRPr>
              </a:p>
            </p:txBody>
          </p:sp>
          <p:sp>
            <p:nvSpPr>
              <p:cNvPr id="1048785" name="ïşḻïďê-Freeform: Shape 49"/>
              <p:cNvSpPr/>
              <p:nvPr>
                <p:custDataLst>
                  <p:tags r:id="rId5"/>
                </p:custDataLst>
              </p:nvPr>
            </p:nvSpPr>
            <p:spPr bwMode="auto">
              <a:xfrm>
                <a:off x="7962900" y="-1506538"/>
                <a:ext cx="869950" cy="1003300"/>
              </a:xfrm>
              <a:custGeom>
                <a:avLst/>
                <a:gdLst>
                  <a:gd name="T0" fmla="*/ 158 w 159"/>
                  <a:gd name="T1" fmla="*/ 135 h 183"/>
                  <a:gd name="T2" fmla="*/ 86 w 159"/>
                  <a:gd name="T3" fmla="*/ 2 h 183"/>
                  <a:gd name="T4" fmla="*/ 84 w 159"/>
                  <a:gd name="T5" fmla="*/ 0 h 183"/>
                  <a:gd name="T6" fmla="*/ 83 w 159"/>
                  <a:gd name="T7" fmla="*/ 1 h 183"/>
                  <a:gd name="T8" fmla="*/ 1 w 159"/>
                  <a:gd name="T9" fmla="*/ 45 h 183"/>
                  <a:gd name="T10" fmla="*/ 0 w 159"/>
                  <a:gd name="T11" fmla="*/ 48 h 183"/>
                  <a:gd name="T12" fmla="*/ 72 w 159"/>
                  <a:gd name="T13" fmla="*/ 181 h 183"/>
                  <a:gd name="T14" fmla="*/ 74 w 159"/>
                  <a:gd name="T15" fmla="*/ 183 h 183"/>
                  <a:gd name="T16" fmla="*/ 74 w 159"/>
                  <a:gd name="T17" fmla="*/ 183 h 183"/>
                  <a:gd name="T18" fmla="*/ 76 w 159"/>
                  <a:gd name="T19" fmla="*/ 182 h 183"/>
                  <a:gd name="T20" fmla="*/ 157 w 159"/>
                  <a:gd name="T21" fmla="*/ 138 h 183"/>
                  <a:gd name="T22" fmla="*/ 158 w 159"/>
                  <a:gd name="T23" fmla="*/ 135 h 183"/>
                  <a:gd name="T24" fmla="*/ 83 w 159"/>
                  <a:gd name="T25" fmla="*/ 6 h 183"/>
                  <a:gd name="T26" fmla="*/ 117 w 159"/>
                  <a:gd name="T27" fmla="*/ 69 h 183"/>
                  <a:gd name="T28" fmla="*/ 39 w 159"/>
                  <a:gd name="T29" fmla="*/ 110 h 183"/>
                  <a:gd name="T30" fmla="*/ 6 w 159"/>
                  <a:gd name="T31" fmla="*/ 48 h 183"/>
                  <a:gd name="T32" fmla="*/ 83 w 159"/>
                  <a:gd name="T33" fmla="*/ 6 h 183"/>
                  <a:gd name="T34" fmla="*/ 75 w 159"/>
                  <a:gd name="T35" fmla="*/ 177 h 183"/>
                  <a:gd name="T36" fmla="*/ 42 w 159"/>
                  <a:gd name="T37" fmla="*/ 114 h 183"/>
                  <a:gd name="T38" fmla="*/ 119 w 159"/>
                  <a:gd name="T39" fmla="*/ 73 h 183"/>
                  <a:gd name="T40" fmla="*/ 153 w 159"/>
                  <a:gd name="T41" fmla="*/ 135 h 183"/>
                  <a:gd name="T42" fmla="*/ 75 w 159"/>
                  <a:gd name="T43" fmla="*/ 177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59" h="183">
                    <a:moveTo>
                      <a:pt x="158" y="135"/>
                    </a:moveTo>
                    <a:cubicBezTo>
                      <a:pt x="86" y="2"/>
                      <a:pt x="86" y="2"/>
                      <a:pt x="86" y="2"/>
                    </a:cubicBezTo>
                    <a:cubicBezTo>
                      <a:pt x="86" y="1"/>
                      <a:pt x="85" y="1"/>
                      <a:pt x="84" y="0"/>
                    </a:cubicBezTo>
                    <a:cubicBezTo>
                      <a:pt x="84" y="0"/>
                      <a:pt x="83" y="0"/>
                      <a:pt x="83" y="1"/>
                    </a:cubicBezTo>
                    <a:cubicBezTo>
                      <a:pt x="1" y="45"/>
                      <a:pt x="1" y="45"/>
                      <a:pt x="1" y="45"/>
                    </a:cubicBezTo>
                    <a:cubicBezTo>
                      <a:pt x="0" y="45"/>
                      <a:pt x="0" y="47"/>
                      <a:pt x="0" y="48"/>
                    </a:cubicBezTo>
                    <a:cubicBezTo>
                      <a:pt x="72" y="181"/>
                      <a:pt x="72" y="181"/>
                      <a:pt x="72" y="181"/>
                    </a:cubicBezTo>
                    <a:cubicBezTo>
                      <a:pt x="73" y="182"/>
                      <a:pt x="73" y="182"/>
                      <a:pt x="74" y="183"/>
                    </a:cubicBezTo>
                    <a:cubicBezTo>
                      <a:pt x="74" y="183"/>
                      <a:pt x="74" y="183"/>
                      <a:pt x="74" y="183"/>
                    </a:cubicBezTo>
                    <a:cubicBezTo>
                      <a:pt x="75" y="183"/>
                      <a:pt x="75" y="183"/>
                      <a:pt x="76" y="182"/>
                    </a:cubicBezTo>
                    <a:cubicBezTo>
                      <a:pt x="157" y="138"/>
                      <a:pt x="157" y="138"/>
                      <a:pt x="157" y="138"/>
                    </a:cubicBezTo>
                    <a:cubicBezTo>
                      <a:pt x="158" y="138"/>
                      <a:pt x="159" y="136"/>
                      <a:pt x="158" y="135"/>
                    </a:cubicBezTo>
                    <a:close/>
                    <a:moveTo>
                      <a:pt x="83" y="6"/>
                    </a:moveTo>
                    <a:cubicBezTo>
                      <a:pt x="117" y="69"/>
                      <a:pt x="117" y="69"/>
                      <a:pt x="117" y="69"/>
                    </a:cubicBezTo>
                    <a:cubicBezTo>
                      <a:pt x="39" y="110"/>
                      <a:pt x="39" y="110"/>
                      <a:pt x="39" y="110"/>
                    </a:cubicBezTo>
                    <a:cubicBezTo>
                      <a:pt x="6" y="48"/>
                      <a:pt x="6" y="48"/>
                      <a:pt x="6" y="48"/>
                    </a:cubicBezTo>
                    <a:lnTo>
                      <a:pt x="83" y="6"/>
                    </a:lnTo>
                    <a:close/>
                    <a:moveTo>
                      <a:pt x="75" y="177"/>
                    </a:moveTo>
                    <a:cubicBezTo>
                      <a:pt x="42" y="114"/>
                      <a:pt x="42" y="114"/>
                      <a:pt x="42" y="114"/>
                    </a:cubicBezTo>
                    <a:cubicBezTo>
                      <a:pt x="119" y="73"/>
                      <a:pt x="119" y="73"/>
                      <a:pt x="119" y="73"/>
                    </a:cubicBezTo>
                    <a:cubicBezTo>
                      <a:pt x="153" y="135"/>
                      <a:pt x="153" y="135"/>
                      <a:pt x="153" y="135"/>
                    </a:cubicBezTo>
                    <a:lnTo>
                      <a:pt x="75" y="177"/>
                    </a:lnTo>
                    <a:close/>
                  </a:path>
                </a:pathLst>
              </a:custGeom>
              <a:solidFill>
                <a:srgbClr val="FFFFFF"/>
              </a:solidFill>
              <a:ln>
                <a:noFill/>
              </a:ln>
            </p:spPr>
            <p:txBody>
              <a:bodyPr anchor="ctr"/>
              <a:p>
                <a:pPr algn="ctr"/>
                <a:endParaRPr>
                  <a:latin typeface="锐字工房云字库细圆GBK" panose="02010604000000000000" pitchFamily="2" charset="-122"/>
                  <a:ea typeface="锐字工房云字库细圆GBK" panose="02010604000000000000" pitchFamily="2" charset="-122"/>
                  <a:cs typeface="+mn-ea"/>
                  <a:sym typeface="+mn-lt"/>
                </a:endParaRPr>
              </a:p>
            </p:txBody>
          </p:sp>
          <p:sp>
            <p:nvSpPr>
              <p:cNvPr id="1048786" name="ïşḻïďê-Freeform: Shape 50"/>
              <p:cNvSpPr/>
              <p:nvPr>
                <p:custDataLst>
                  <p:tags r:id="rId6"/>
                </p:custDataLst>
              </p:nvPr>
            </p:nvSpPr>
            <p:spPr bwMode="auto">
              <a:xfrm>
                <a:off x="8132763" y="-1341438"/>
                <a:ext cx="234950" cy="136525"/>
              </a:xfrm>
              <a:custGeom>
                <a:avLst/>
                <a:gdLst>
                  <a:gd name="T0" fmla="*/ 42 w 43"/>
                  <a:gd name="T1" fmla="*/ 4 h 25"/>
                  <a:gd name="T2" fmla="*/ 43 w 43"/>
                  <a:gd name="T3" fmla="*/ 1 h 25"/>
                  <a:gd name="T4" fmla="*/ 40 w 43"/>
                  <a:gd name="T5" fmla="*/ 0 h 25"/>
                  <a:gd name="T6" fmla="*/ 2 w 43"/>
                  <a:gd name="T7" fmla="*/ 21 h 25"/>
                  <a:gd name="T8" fmla="*/ 1 w 43"/>
                  <a:gd name="T9" fmla="*/ 24 h 25"/>
                  <a:gd name="T10" fmla="*/ 3 w 43"/>
                  <a:gd name="T11" fmla="*/ 25 h 25"/>
                  <a:gd name="T12" fmla="*/ 4 w 43"/>
                  <a:gd name="T13" fmla="*/ 25 h 25"/>
                  <a:gd name="T14" fmla="*/ 42 w 43"/>
                  <a:gd name="T15" fmla="*/ 4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25">
                    <a:moveTo>
                      <a:pt x="42" y="4"/>
                    </a:moveTo>
                    <a:cubicBezTo>
                      <a:pt x="43" y="4"/>
                      <a:pt x="43" y="2"/>
                      <a:pt x="43" y="1"/>
                    </a:cubicBezTo>
                    <a:cubicBezTo>
                      <a:pt x="42" y="0"/>
                      <a:pt x="41" y="0"/>
                      <a:pt x="40" y="0"/>
                    </a:cubicBezTo>
                    <a:cubicBezTo>
                      <a:pt x="2" y="21"/>
                      <a:pt x="2" y="21"/>
                      <a:pt x="2" y="21"/>
                    </a:cubicBezTo>
                    <a:cubicBezTo>
                      <a:pt x="0" y="21"/>
                      <a:pt x="0" y="23"/>
                      <a:pt x="1" y="24"/>
                    </a:cubicBezTo>
                    <a:cubicBezTo>
                      <a:pt x="1" y="25"/>
                      <a:pt x="2" y="25"/>
                      <a:pt x="3" y="25"/>
                    </a:cubicBezTo>
                    <a:cubicBezTo>
                      <a:pt x="3" y="25"/>
                      <a:pt x="3" y="25"/>
                      <a:pt x="4" y="25"/>
                    </a:cubicBezTo>
                    <a:lnTo>
                      <a:pt x="42" y="4"/>
                    </a:lnTo>
                    <a:close/>
                  </a:path>
                </a:pathLst>
              </a:custGeom>
              <a:solidFill>
                <a:srgbClr val="FFFFFF"/>
              </a:solidFill>
              <a:ln>
                <a:noFill/>
              </a:ln>
            </p:spPr>
            <p:txBody>
              <a:bodyPr anchor="ctr"/>
              <a:p>
                <a:pPr algn="ctr"/>
                <a:endParaRPr>
                  <a:latin typeface="锐字工房云字库细圆GBK" panose="02010604000000000000" pitchFamily="2" charset="-122"/>
                  <a:ea typeface="锐字工房云字库细圆GBK" panose="02010604000000000000" pitchFamily="2" charset="-122"/>
                  <a:cs typeface="+mn-ea"/>
                  <a:sym typeface="+mn-lt"/>
                </a:endParaRPr>
              </a:p>
            </p:txBody>
          </p:sp>
          <p:sp>
            <p:nvSpPr>
              <p:cNvPr id="1048787" name="ïşḻïďê-Freeform: Shape 51"/>
              <p:cNvSpPr/>
              <p:nvPr>
                <p:custDataLst>
                  <p:tags r:id="rId7"/>
                </p:custDataLst>
              </p:nvPr>
            </p:nvSpPr>
            <p:spPr bwMode="auto">
              <a:xfrm>
                <a:off x="8329613" y="-981075"/>
                <a:ext cx="234950" cy="138113"/>
              </a:xfrm>
              <a:custGeom>
                <a:avLst/>
                <a:gdLst>
                  <a:gd name="T0" fmla="*/ 43 w 43"/>
                  <a:gd name="T1" fmla="*/ 1 h 25"/>
                  <a:gd name="T2" fmla="*/ 39 w 43"/>
                  <a:gd name="T3" fmla="*/ 0 h 25"/>
                  <a:gd name="T4" fmla="*/ 1 w 43"/>
                  <a:gd name="T5" fmla="*/ 21 h 25"/>
                  <a:gd name="T6" fmla="*/ 0 w 43"/>
                  <a:gd name="T7" fmla="*/ 24 h 25"/>
                  <a:gd name="T8" fmla="*/ 2 w 43"/>
                  <a:gd name="T9" fmla="*/ 25 h 25"/>
                  <a:gd name="T10" fmla="*/ 3 w 43"/>
                  <a:gd name="T11" fmla="*/ 25 h 25"/>
                  <a:gd name="T12" fmla="*/ 42 w 43"/>
                  <a:gd name="T13" fmla="*/ 4 h 25"/>
                  <a:gd name="T14" fmla="*/ 43 w 43"/>
                  <a:gd name="T15" fmla="*/ 1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25">
                    <a:moveTo>
                      <a:pt x="43" y="1"/>
                    </a:moveTo>
                    <a:cubicBezTo>
                      <a:pt x="42" y="0"/>
                      <a:pt x="41" y="0"/>
                      <a:pt x="39" y="0"/>
                    </a:cubicBezTo>
                    <a:cubicBezTo>
                      <a:pt x="1" y="21"/>
                      <a:pt x="1" y="21"/>
                      <a:pt x="1" y="21"/>
                    </a:cubicBezTo>
                    <a:cubicBezTo>
                      <a:pt x="0" y="22"/>
                      <a:pt x="0" y="23"/>
                      <a:pt x="0" y="24"/>
                    </a:cubicBezTo>
                    <a:cubicBezTo>
                      <a:pt x="1" y="25"/>
                      <a:pt x="2" y="25"/>
                      <a:pt x="2" y="25"/>
                    </a:cubicBezTo>
                    <a:cubicBezTo>
                      <a:pt x="3" y="25"/>
                      <a:pt x="3" y="25"/>
                      <a:pt x="3" y="25"/>
                    </a:cubicBezTo>
                    <a:cubicBezTo>
                      <a:pt x="42" y="4"/>
                      <a:pt x="42" y="4"/>
                      <a:pt x="42" y="4"/>
                    </a:cubicBezTo>
                    <a:cubicBezTo>
                      <a:pt x="43" y="4"/>
                      <a:pt x="43" y="2"/>
                      <a:pt x="43" y="1"/>
                    </a:cubicBezTo>
                    <a:close/>
                  </a:path>
                </a:pathLst>
              </a:custGeom>
              <a:solidFill>
                <a:srgbClr val="FFFFFF"/>
              </a:solidFill>
              <a:ln>
                <a:noFill/>
              </a:ln>
            </p:spPr>
            <p:txBody>
              <a:bodyPr anchor="ctr"/>
              <a:p>
                <a:pPr algn="ctr"/>
                <a:endParaRPr>
                  <a:latin typeface="锐字工房云字库细圆GBK" panose="02010604000000000000" pitchFamily="2" charset="-122"/>
                  <a:ea typeface="锐字工房云字库细圆GBK" panose="02010604000000000000" pitchFamily="2" charset="-122"/>
                  <a:cs typeface="+mn-ea"/>
                  <a:sym typeface="+mn-lt"/>
                </a:endParaRPr>
              </a:p>
            </p:txBody>
          </p:sp>
        </p:grpSp>
      </p:grpSp>
      <p:grpSp>
        <p:nvGrpSpPr>
          <p:cNvPr id="142" name="Group 62"/>
          <p:cNvGrpSpPr/>
          <p:nvPr>
            <p:custDataLst>
              <p:tags r:id="rId8"/>
            </p:custDataLst>
          </p:nvPr>
        </p:nvGrpSpPr>
        <p:grpSpPr>
          <a:xfrm rot="21540000">
            <a:off x="1534458" y="1231281"/>
            <a:ext cx="624205" cy="624840"/>
            <a:chOff x="2552700" y="-1971675"/>
            <a:chExt cx="1935163" cy="1938338"/>
          </a:xfrm>
        </p:grpSpPr>
        <p:sp>
          <p:nvSpPr>
            <p:cNvPr id="1048788" name="ïşḻïďê-Oval 63"/>
            <p:cNvSpPr/>
            <p:nvPr>
              <p:custDataLst>
                <p:tags r:id="rId9"/>
              </p:custDataLst>
            </p:nvPr>
          </p:nvSpPr>
          <p:spPr bwMode="auto">
            <a:xfrm>
              <a:off x="2552700" y="-1971675"/>
              <a:ext cx="1935163" cy="1938338"/>
            </a:xfrm>
            <a:prstGeom prst="ellipse">
              <a:avLst/>
            </a:prstGeom>
            <a:solidFill>
              <a:schemeClr val="accent2">
                <a:lumMod val="100000"/>
              </a:schemeClr>
            </a:solidFill>
            <a:ln>
              <a:noFill/>
            </a:ln>
          </p:spPr>
          <p:txBody>
            <a:bodyPr anchor="ctr"/>
            <a:p>
              <a:pPr algn="ctr"/>
              <a:endParaRPr>
                <a:latin typeface="锐字工房云字库细圆GBK" panose="02010604000000000000" pitchFamily="2" charset="-122"/>
                <a:ea typeface="锐字工房云字库细圆GBK" panose="02010604000000000000" pitchFamily="2" charset="-122"/>
                <a:cs typeface="+mn-ea"/>
                <a:sym typeface="+mn-lt"/>
              </a:endParaRPr>
            </a:p>
          </p:txBody>
        </p:sp>
        <p:grpSp>
          <p:nvGrpSpPr>
            <p:cNvPr id="143" name="Group 64"/>
            <p:cNvGrpSpPr/>
            <p:nvPr/>
          </p:nvGrpSpPr>
          <p:grpSpPr>
            <a:xfrm>
              <a:off x="2908300" y="-1620838"/>
              <a:ext cx="1228725" cy="1236663"/>
              <a:chOff x="2908300" y="-1620838"/>
              <a:chExt cx="1228725" cy="1236663"/>
            </a:xfrm>
          </p:grpSpPr>
          <p:sp>
            <p:nvSpPr>
              <p:cNvPr id="1048789" name="ïşḻïďê-Freeform: Shape 65"/>
              <p:cNvSpPr/>
              <p:nvPr>
                <p:custDataLst>
                  <p:tags r:id="rId10"/>
                </p:custDataLst>
              </p:nvPr>
            </p:nvSpPr>
            <p:spPr bwMode="auto">
              <a:xfrm>
                <a:off x="3055938" y="-1620838"/>
                <a:ext cx="234950" cy="234950"/>
              </a:xfrm>
              <a:custGeom>
                <a:avLst/>
                <a:gdLst>
                  <a:gd name="T0" fmla="*/ 22 w 43"/>
                  <a:gd name="T1" fmla="*/ 43 h 43"/>
                  <a:gd name="T2" fmla="*/ 43 w 43"/>
                  <a:gd name="T3" fmla="*/ 21 h 43"/>
                  <a:gd name="T4" fmla="*/ 22 w 43"/>
                  <a:gd name="T5" fmla="*/ 0 h 43"/>
                  <a:gd name="T6" fmla="*/ 0 w 43"/>
                  <a:gd name="T7" fmla="*/ 21 h 43"/>
                  <a:gd name="T8" fmla="*/ 22 w 43"/>
                  <a:gd name="T9" fmla="*/ 43 h 43"/>
                  <a:gd name="T10" fmla="*/ 22 w 43"/>
                  <a:gd name="T11" fmla="*/ 5 h 43"/>
                  <a:gd name="T12" fmla="*/ 39 w 43"/>
                  <a:gd name="T13" fmla="*/ 21 h 43"/>
                  <a:gd name="T14" fmla="*/ 22 w 43"/>
                  <a:gd name="T15" fmla="*/ 38 h 43"/>
                  <a:gd name="T16" fmla="*/ 5 w 43"/>
                  <a:gd name="T17" fmla="*/ 21 h 43"/>
                  <a:gd name="T18" fmla="*/ 22 w 43"/>
                  <a:gd name="T19" fmla="*/ 5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43">
                    <a:moveTo>
                      <a:pt x="22" y="43"/>
                    </a:moveTo>
                    <a:cubicBezTo>
                      <a:pt x="34" y="43"/>
                      <a:pt x="43" y="33"/>
                      <a:pt x="43" y="21"/>
                    </a:cubicBezTo>
                    <a:cubicBezTo>
                      <a:pt x="43" y="10"/>
                      <a:pt x="34" y="0"/>
                      <a:pt x="22" y="0"/>
                    </a:cubicBezTo>
                    <a:cubicBezTo>
                      <a:pt x="10" y="0"/>
                      <a:pt x="0" y="10"/>
                      <a:pt x="0" y="21"/>
                    </a:cubicBezTo>
                    <a:cubicBezTo>
                      <a:pt x="0" y="33"/>
                      <a:pt x="10" y="43"/>
                      <a:pt x="22" y="43"/>
                    </a:cubicBezTo>
                    <a:close/>
                    <a:moveTo>
                      <a:pt x="22" y="5"/>
                    </a:moveTo>
                    <a:cubicBezTo>
                      <a:pt x="31" y="5"/>
                      <a:pt x="39" y="12"/>
                      <a:pt x="39" y="21"/>
                    </a:cubicBezTo>
                    <a:cubicBezTo>
                      <a:pt x="39" y="31"/>
                      <a:pt x="31" y="38"/>
                      <a:pt x="22" y="38"/>
                    </a:cubicBezTo>
                    <a:cubicBezTo>
                      <a:pt x="12" y="38"/>
                      <a:pt x="5" y="31"/>
                      <a:pt x="5" y="21"/>
                    </a:cubicBezTo>
                    <a:cubicBezTo>
                      <a:pt x="5" y="12"/>
                      <a:pt x="12" y="5"/>
                      <a:pt x="22" y="5"/>
                    </a:cubicBezTo>
                    <a:close/>
                  </a:path>
                </a:pathLst>
              </a:custGeom>
              <a:solidFill>
                <a:srgbClr val="FFFFFF"/>
              </a:solidFill>
              <a:ln>
                <a:noFill/>
              </a:ln>
            </p:spPr>
            <p:txBody>
              <a:bodyPr anchor="ctr"/>
              <a:p>
                <a:pPr algn="ctr"/>
                <a:endParaRPr>
                  <a:latin typeface="锐字工房云字库细圆GBK" panose="02010604000000000000" pitchFamily="2" charset="-122"/>
                  <a:ea typeface="锐字工房云字库细圆GBK" panose="02010604000000000000" pitchFamily="2" charset="-122"/>
                  <a:cs typeface="+mn-ea"/>
                  <a:sym typeface="+mn-lt"/>
                </a:endParaRPr>
              </a:p>
            </p:txBody>
          </p:sp>
          <p:sp>
            <p:nvSpPr>
              <p:cNvPr id="1048790" name="ïşḻïďê-Freeform: Shape 66"/>
              <p:cNvSpPr/>
              <p:nvPr>
                <p:custDataLst>
                  <p:tags r:id="rId11"/>
                </p:custDataLst>
              </p:nvPr>
            </p:nvSpPr>
            <p:spPr bwMode="auto">
              <a:xfrm>
                <a:off x="3749675" y="-1620838"/>
                <a:ext cx="234950" cy="234950"/>
              </a:xfrm>
              <a:custGeom>
                <a:avLst/>
                <a:gdLst>
                  <a:gd name="T0" fmla="*/ 22 w 43"/>
                  <a:gd name="T1" fmla="*/ 43 h 43"/>
                  <a:gd name="T2" fmla="*/ 43 w 43"/>
                  <a:gd name="T3" fmla="*/ 21 h 43"/>
                  <a:gd name="T4" fmla="*/ 22 w 43"/>
                  <a:gd name="T5" fmla="*/ 0 h 43"/>
                  <a:gd name="T6" fmla="*/ 0 w 43"/>
                  <a:gd name="T7" fmla="*/ 21 h 43"/>
                  <a:gd name="T8" fmla="*/ 22 w 43"/>
                  <a:gd name="T9" fmla="*/ 43 h 43"/>
                  <a:gd name="T10" fmla="*/ 22 w 43"/>
                  <a:gd name="T11" fmla="*/ 5 h 43"/>
                  <a:gd name="T12" fmla="*/ 39 w 43"/>
                  <a:gd name="T13" fmla="*/ 21 h 43"/>
                  <a:gd name="T14" fmla="*/ 22 w 43"/>
                  <a:gd name="T15" fmla="*/ 38 h 43"/>
                  <a:gd name="T16" fmla="*/ 5 w 43"/>
                  <a:gd name="T17" fmla="*/ 21 h 43"/>
                  <a:gd name="T18" fmla="*/ 22 w 43"/>
                  <a:gd name="T19" fmla="*/ 5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43">
                    <a:moveTo>
                      <a:pt x="22" y="43"/>
                    </a:moveTo>
                    <a:cubicBezTo>
                      <a:pt x="34" y="43"/>
                      <a:pt x="43" y="33"/>
                      <a:pt x="43" y="21"/>
                    </a:cubicBezTo>
                    <a:cubicBezTo>
                      <a:pt x="43" y="10"/>
                      <a:pt x="34" y="0"/>
                      <a:pt x="22" y="0"/>
                    </a:cubicBezTo>
                    <a:cubicBezTo>
                      <a:pt x="10" y="0"/>
                      <a:pt x="0" y="10"/>
                      <a:pt x="0" y="21"/>
                    </a:cubicBezTo>
                    <a:cubicBezTo>
                      <a:pt x="0" y="33"/>
                      <a:pt x="10" y="43"/>
                      <a:pt x="22" y="43"/>
                    </a:cubicBezTo>
                    <a:close/>
                    <a:moveTo>
                      <a:pt x="22" y="5"/>
                    </a:moveTo>
                    <a:cubicBezTo>
                      <a:pt x="31" y="5"/>
                      <a:pt x="39" y="12"/>
                      <a:pt x="39" y="21"/>
                    </a:cubicBezTo>
                    <a:cubicBezTo>
                      <a:pt x="39" y="31"/>
                      <a:pt x="31" y="38"/>
                      <a:pt x="22" y="38"/>
                    </a:cubicBezTo>
                    <a:cubicBezTo>
                      <a:pt x="13" y="38"/>
                      <a:pt x="5" y="31"/>
                      <a:pt x="5" y="21"/>
                    </a:cubicBezTo>
                    <a:cubicBezTo>
                      <a:pt x="5" y="12"/>
                      <a:pt x="13" y="5"/>
                      <a:pt x="22" y="5"/>
                    </a:cubicBezTo>
                    <a:close/>
                  </a:path>
                </a:pathLst>
              </a:custGeom>
              <a:solidFill>
                <a:srgbClr val="FFFFFF"/>
              </a:solidFill>
              <a:ln>
                <a:noFill/>
              </a:ln>
            </p:spPr>
            <p:txBody>
              <a:bodyPr anchor="ctr"/>
              <a:p>
                <a:pPr algn="ctr"/>
                <a:endParaRPr>
                  <a:latin typeface="锐字工房云字库细圆GBK" panose="02010604000000000000" pitchFamily="2" charset="-122"/>
                  <a:ea typeface="锐字工房云字库细圆GBK" panose="02010604000000000000" pitchFamily="2" charset="-122"/>
                  <a:cs typeface="+mn-ea"/>
                  <a:sym typeface="+mn-lt"/>
                </a:endParaRPr>
              </a:p>
            </p:txBody>
          </p:sp>
          <p:sp>
            <p:nvSpPr>
              <p:cNvPr id="1048791" name="ïşḻïďê-Freeform: Shape 67"/>
              <p:cNvSpPr/>
              <p:nvPr>
                <p:custDataLst>
                  <p:tags r:id="rId12"/>
                </p:custDataLst>
              </p:nvPr>
            </p:nvSpPr>
            <p:spPr bwMode="auto">
              <a:xfrm>
                <a:off x="2908300" y="-1358900"/>
                <a:ext cx="1228725" cy="974725"/>
              </a:xfrm>
              <a:custGeom>
                <a:avLst/>
                <a:gdLst>
                  <a:gd name="T0" fmla="*/ 205 w 225"/>
                  <a:gd name="T1" fmla="*/ 13 h 178"/>
                  <a:gd name="T2" fmla="*/ 151 w 225"/>
                  <a:gd name="T3" fmla="*/ 13 h 178"/>
                  <a:gd name="T4" fmla="*/ 112 w 225"/>
                  <a:gd name="T5" fmla="*/ 60 h 178"/>
                  <a:gd name="T6" fmla="*/ 74 w 225"/>
                  <a:gd name="T7" fmla="*/ 13 h 178"/>
                  <a:gd name="T8" fmla="*/ 19 w 225"/>
                  <a:gd name="T9" fmla="*/ 13 h 178"/>
                  <a:gd name="T10" fmla="*/ 2 w 225"/>
                  <a:gd name="T11" fmla="*/ 54 h 178"/>
                  <a:gd name="T12" fmla="*/ 26 w 225"/>
                  <a:gd name="T13" fmla="*/ 94 h 178"/>
                  <a:gd name="T14" fmla="*/ 36 w 225"/>
                  <a:gd name="T15" fmla="*/ 178 h 178"/>
                  <a:gd name="T16" fmla="*/ 53 w 225"/>
                  <a:gd name="T17" fmla="*/ 169 h 178"/>
                  <a:gd name="T18" fmla="*/ 74 w 225"/>
                  <a:gd name="T19" fmla="*/ 169 h 178"/>
                  <a:gd name="T20" fmla="*/ 77 w 225"/>
                  <a:gd name="T21" fmla="*/ 60 h 178"/>
                  <a:gd name="T22" fmla="*/ 112 w 225"/>
                  <a:gd name="T23" fmla="*/ 78 h 178"/>
                  <a:gd name="T24" fmla="*/ 147 w 225"/>
                  <a:gd name="T25" fmla="*/ 61 h 178"/>
                  <a:gd name="T26" fmla="*/ 151 w 225"/>
                  <a:gd name="T27" fmla="*/ 169 h 178"/>
                  <a:gd name="T28" fmla="*/ 171 w 225"/>
                  <a:gd name="T29" fmla="*/ 169 h 178"/>
                  <a:gd name="T30" fmla="*/ 189 w 225"/>
                  <a:gd name="T31" fmla="*/ 178 h 178"/>
                  <a:gd name="T32" fmla="*/ 199 w 225"/>
                  <a:gd name="T33" fmla="*/ 169 h 178"/>
                  <a:gd name="T34" fmla="*/ 207 w 225"/>
                  <a:gd name="T35" fmla="*/ 90 h 178"/>
                  <a:gd name="T36" fmla="*/ 81 w 225"/>
                  <a:gd name="T37" fmla="*/ 57 h 178"/>
                  <a:gd name="T38" fmla="*/ 68 w 225"/>
                  <a:gd name="T39" fmla="*/ 24 h 178"/>
                  <a:gd name="T40" fmla="*/ 66 w 225"/>
                  <a:gd name="T41" fmla="*/ 44 h 178"/>
                  <a:gd name="T42" fmla="*/ 69 w 225"/>
                  <a:gd name="T43" fmla="*/ 147 h 178"/>
                  <a:gd name="T44" fmla="*/ 69 w 225"/>
                  <a:gd name="T45" fmla="*/ 169 h 178"/>
                  <a:gd name="T46" fmla="*/ 52 w 225"/>
                  <a:gd name="T47" fmla="*/ 92 h 178"/>
                  <a:gd name="T48" fmla="*/ 41 w 225"/>
                  <a:gd name="T49" fmla="*/ 168 h 178"/>
                  <a:gd name="T50" fmla="*/ 30 w 225"/>
                  <a:gd name="T51" fmla="*/ 169 h 178"/>
                  <a:gd name="T52" fmla="*/ 31 w 225"/>
                  <a:gd name="T53" fmla="*/ 92 h 178"/>
                  <a:gd name="T54" fmla="*/ 31 w 225"/>
                  <a:gd name="T55" fmla="*/ 76 h 178"/>
                  <a:gd name="T56" fmla="*/ 27 w 225"/>
                  <a:gd name="T57" fmla="*/ 35 h 178"/>
                  <a:gd name="T58" fmla="*/ 23 w 225"/>
                  <a:gd name="T59" fmla="*/ 68 h 178"/>
                  <a:gd name="T60" fmla="*/ 27 w 225"/>
                  <a:gd name="T61" fmla="*/ 80 h 178"/>
                  <a:gd name="T62" fmla="*/ 26 w 225"/>
                  <a:gd name="T63" fmla="*/ 89 h 178"/>
                  <a:gd name="T64" fmla="*/ 6 w 225"/>
                  <a:gd name="T65" fmla="*/ 42 h 178"/>
                  <a:gd name="T66" fmla="*/ 48 w 225"/>
                  <a:gd name="T67" fmla="*/ 4 h 178"/>
                  <a:gd name="T68" fmla="*/ 88 w 225"/>
                  <a:gd name="T69" fmla="*/ 47 h 178"/>
                  <a:gd name="T70" fmla="*/ 110 w 225"/>
                  <a:gd name="T71" fmla="*/ 64 h 178"/>
                  <a:gd name="T72" fmla="*/ 114 w 225"/>
                  <a:gd name="T73" fmla="*/ 72 h 178"/>
                  <a:gd name="T74" fmla="*/ 26 w 225"/>
                  <a:gd name="T75" fmla="*/ 43 h 178"/>
                  <a:gd name="T76" fmla="*/ 26 w 225"/>
                  <a:gd name="T77" fmla="*/ 43 h 178"/>
                  <a:gd name="T78" fmla="*/ 198 w 225"/>
                  <a:gd name="T79" fmla="*/ 89 h 178"/>
                  <a:gd name="T80" fmla="*/ 198 w 225"/>
                  <a:gd name="T81" fmla="*/ 80 h 178"/>
                  <a:gd name="T82" fmla="*/ 202 w 225"/>
                  <a:gd name="T83" fmla="*/ 68 h 178"/>
                  <a:gd name="T84" fmla="*/ 198 w 225"/>
                  <a:gd name="T85" fmla="*/ 35 h 178"/>
                  <a:gd name="T86" fmla="*/ 194 w 225"/>
                  <a:gd name="T87" fmla="*/ 76 h 178"/>
                  <a:gd name="T88" fmla="*/ 194 w 225"/>
                  <a:gd name="T89" fmla="*/ 92 h 178"/>
                  <a:gd name="T90" fmla="*/ 195 w 225"/>
                  <a:gd name="T91" fmla="*/ 169 h 178"/>
                  <a:gd name="T92" fmla="*/ 183 w 225"/>
                  <a:gd name="T93" fmla="*/ 168 h 178"/>
                  <a:gd name="T94" fmla="*/ 173 w 225"/>
                  <a:gd name="T95" fmla="*/ 92 h 178"/>
                  <a:gd name="T96" fmla="*/ 155 w 225"/>
                  <a:gd name="T97" fmla="*/ 169 h 178"/>
                  <a:gd name="T98" fmla="*/ 156 w 225"/>
                  <a:gd name="T99" fmla="*/ 147 h 178"/>
                  <a:gd name="T100" fmla="*/ 159 w 225"/>
                  <a:gd name="T101" fmla="*/ 44 h 178"/>
                  <a:gd name="T102" fmla="*/ 157 w 225"/>
                  <a:gd name="T103" fmla="*/ 24 h 178"/>
                  <a:gd name="T104" fmla="*/ 144 w 225"/>
                  <a:gd name="T105" fmla="*/ 57 h 178"/>
                  <a:gd name="T106" fmla="*/ 117 w 225"/>
                  <a:gd name="T107" fmla="*/ 63 h 178"/>
                  <a:gd name="T108" fmla="*/ 137 w 225"/>
                  <a:gd name="T109" fmla="*/ 47 h 178"/>
                  <a:gd name="T110" fmla="*/ 177 w 225"/>
                  <a:gd name="T111" fmla="*/ 4 h 178"/>
                  <a:gd name="T112" fmla="*/ 218 w 225"/>
                  <a:gd name="T113" fmla="*/ 42 h 178"/>
                  <a:gd name="T114" fmla="*/ 203 w 225"/>
                  <a:gd name="T115" fmla="*/ 5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25" h="178">
                    <a:moveTo>
                      <a:pt x="222" y="40"/>
                    </a:moveTo>
                    <a:cubicBezTo>
                      <a:pt x="222" y="40"/>
                      <a:pt x="222" y="40"/>
                      <a:pt x="222" y="40"/>
                    </a:cubicBezTo>
                    <a:cubicBezTo>
                      <a:pt x="205" y="13"/>
                      <a:pt x="205" y="13"/>
                      <a:pt x="205" y="13"/>
                    </a:cubicBezTo>
                    <a:cubicBezTo>
                      <a:pt x="199" y="4"/>
                      <a:pt x="195" y="0"/>
                      <a:pt x="177" y="0"/>
                    </a:cubicBezTo>
                    <a:cubicBezTo>
                      <a:pt x="177" y="0"/>
                      <a:pt x="177" y="0"/>
                      <a:pt x="177" y="0"/>
                    </a:cubicBezTo>
                    <a:cubicBezTo>
                      <a:pt x="158" y="0"/>
                      <a:pt x="154" y="8"/>
                      <a:pt x="151" y="13"/>
                    </a:cubicBezTo>
                    <a:cubicBezTo>
                      <a:pt x="151" y="13"/>
                      <a:pt x="151" y="13"/>
                      <a:pt x="151" y="13"/>
                    </a:cubicBezTo>
                    <a:cubicBezTo>
                      <a:pt x="147" y="20"/>
                      <a:pt x="135" y="41"/>
                      <a:pt x="133" y="44"/>
                    </a:cubicBezTo>
                    <a:cubicBezTo>
                      <a:pt x="131" y="46"/>
                      <a:pt x="119" y="55"/>
                      <a:pt x="112" y="60"/>
                    </a:cubicBezTo>
                    <a:cubicBezTo>
                      <a:pt x="107" y="56"/>
                      <a:pt x="98" y="49"/>
                      <a:pt x="92" y="44"/>
                    </a:cubicBezTo>
                    <a:cubicBezTo>
                      <a:pt x="90" y="41"/>
                      <a:pt x="77" y="20"/>
                      <a:pt x="74" y="13"/>
                    </a:cubicBezTo>
                    <a:cubicBezTo>
                      <a:pt x="74" y="13"/>
                      <a:pt x="74" y="13"/>
                      <a:pt x="74" y="13"/>
                    </a:cubicBezTo>
                    <a:cubicBezTo>
                      <a:pt x="71" y="8"/>
                      <a:pt x="66" y="0"/>
                      <a:pt x="48" y="0"/>
                    </a:cubicBezTo>
                    <a:cubicBezTo>
                      <a:pt x="48" y="0"/>
                      <a:pt x="48" y="0"/>
                      <a:pt x="48" y="0"/>
                    </a:cubicBezTo>
                    <a:cubicBezTo>
                      <a:pt x="29" y="0"/>
                      <a:pt x="26" y="4"/>
                      <a:pt x="19" y="13"/>
                    </a:cubicBezTo>
                    <a:cubicBezTo>
                      <a:pt x="2" y="40"/>
                      <a:pt x="2" y="40"/>
                      <a:pt x="2" y="40"/>
                    </a:cubicBezTo>
                    <a:cubicBezTo>
                      <a:pt x="2" y="40"/>
                      <a:pt x="2" y="40"/>
                      <a:pt x="2" y="40"/>
                    </a:cubicBezTo>
                    <a:cubicBezTo>
                      <a:pt x="0" y="44"/>
                      <a:pt x="0" y="49"/>
                      <a:pt x="2" y="54"/>
                    </a:cubicBezTo>
                    <a:cubicBezTo>
                      <a:pt x="17" y="90"/>
                      <a:pt x="17" y="90"/>
                      <a:pt x="17" y="90"/>
                    </a:cubicBezTo>
                    <a:cubicBezTo>
                      <a:pt x="19" y="92"/>
                      <a:pt x="21" y="94"/>
                      <a:pt x="25" y="94"/>
                    </a:cubicBezTo>
                    <a:cubicBezTo>
                      <a:pt x="25" y="94"/>
                      <a:pt x="25" y="94"/>
                      <a:pt x="26" y="94"/>
                    </a:cubicBezTo>
                    <a:cubicBezTo>
                      <a:pt x="25" y="153"/>
                      <a:pt x="25" y="167"/>
                      <a:pt x="25" y="169"/>
                    </a:cubicBezTo>
                    <a:cubicBezTo>
                      <a:pt x="25" y="169"/>
                      <a:pt x="25" y="169"/>
                      <a:pt x="25" y="169"/>
                    </a:cubicBezTo>
                    <a:cubicBezTo>
                      <a:pt x="26" y="174"/>
                      <a:pt x="30" y="178"/>
                      <a:pt x="36" y="178"/>
                    </a:cubicBezTo>
                    <a:cubicBezTo>
                      <a:pt x="41" y="177"/>
                      <a:pt x="46" y="173"/>
                      <a:pt x="46" y="169"/>
                    </a:cubicBezTo>
                    <a:cubicBezTo>
                      <a:pt x="50" y="122"/>
                      <a:pt x="50" y="122"/>
                      <a:pt x="50" y="122"/>
                    </a:cubicBezTo>
                    <a:cubicBezTo>
                      <a:pt x="53" y="169"/>
                      <a:pt x="53" y="169"/>
                      <a:pt x="53" y="169"/>
                    </a:cubicBezTo>
                    <a:cubicBezTo>
                      <a:pt x="54" y="173"/>
                      <a:pt x="58" y="177"/>
                      <a:pt x="63" y="178"/>
                    </a:cubicBezTo>
                    <a:cubicBezTo>
                      <a:pt x="64" y="178"/>
                      <a:pt x="64" y="178"/>
                      <a:pt x="64" y="178"/>
                    </a:cubicBezTo>
                    <a:cubicBezTo>
                      <a:pt x="69" y="178"/>
                      <a:pt x="73" y="174"/>
                      <a:pt x="74" y="169"/>
                    </a:cubicBezTo>
                    <a:cubicBezTo>
                      <a:pt x="74" y="169"/>
                      <a:pt x="74" y="169"/>
                      <a:pt x="74" y="169"/>
                    </a:cubicBezTo>
                    <a:cubicBezTo>
                      <a:pt x="74" y="166"/>
                      <a:pt x="72" y="100"/>
                      <a:pt x="71" y="51"/>
                    </a:cubicBezTo>
                    <a:cubicBezTo>
                      <a:pt x="77" y="60"/>
                      <a:pt x="77" y="60"/>
                      <a:pt x="77" y="60"/>
                    </a:cubicBezTo>
                    <a:cubicBezTo>
                      <a:pt x="77" y="60"/>
                      <a:pt x="78" y="61"/>
                      <a:pt x="78" y="61"/>
                    </a:cubicBezTo>
                    <a:cubicBezTo>
                      <a:pt x="107" y="77"/>
                      <a:pt x="107" y="77"/>
                      <a:pt x="107" y="77"/>
                    </a:cubicBezTo>
                    <a:cubicBezTo>
                      <a:pt x="108" y="78"/>
                      <a:pt x="110" y="78"/>
                      <a:pt x="112" y="78"/>
                    </a:cubicBezTo>
                    <a:cubicBezTo>
                      <a:pt x="113" y="78"/>
                      <a:pt x="113" y="78"/>
                      <a:pt x="114" y="78"/>
                    </a:cubicBezTo>
                    <a:cubicBezTo>
                      <a:pt x="115" y="78"/>
                      <a:pt x="117" y="78"/>
                      <a:pt x="118" y="77"/>
                    </a:cubicBezTo>
                    <a:cubicBezTo>
                      <a:pt x="147" y="61"/>
                      <a:pt x="147" y="61"/>
                      <a:pt x="147" y="61"/>
                    </a:cubicBezTo>
                    <a:cubicBezTo>
                      <a:pt x="147" y="61"/>
                      <a:pt x="147" y="60"/>
                      <a:pt x="147" y="60"/>
                    </a:cubicBezTo>
                    <a:cubicBezTo>
                      <a:pt x="154" y="51"/>
                      <a:pt x="154" y="51"/>
                      <a:pt x="154" y="51"/>
                    </a:cubicBezTo>
                    <a:cubicBezTo>
                      <a:pt x="152" y="100"/>
                      <a:pt x="151" y="166"/>
                      <a:pt x="151" y="169"/>
                    </a:cubicBezTo>
                    <a:cubicBezTo>
                      <a:pt x="151" y="169"/>
                      <a:pt x="151" y="169"/>
                      <a:pt x="151" y="169"/>
                    </a:cubicBezTo>
                    <a:cubicBezTo>
                      <a:pt x="151" y="174"/>
                      <a:pt x="156" y="178"/>
                      <a:pt x="161" y="178"/>
                    </a:cubicBezTo>
                    <a:cubicBezTo>
                      <a:pt x="167" y="177"/>
                      <a:pt x="171" y="173"/>
                      <a:pt x="171" y="169"/>
                    </a:cubicBezTo>
                    <a:cubicBezTo>
                      <a:pt x="175" y="122"/>
                      <a:pt x="175" y="122"/>
                      <a:pt x="175" y="122"/>
                    </a:cubicBezTo>
                    <a:cubicBezTo>
                      <a:pt x="179" y="169"/>
                      <a:pt x="179" y="169"/>
                      <a:pt x="179" y="169"/>
                    </a:cubicBezTo>
                    <a:cubicBezTo>
                      <a:pt x="179" y="173"/>
                      <a:pt x="183" y="177"/>
                      <a:pt x="189" y="178"/>
                    </a:cubicBezTo>
                    <a:cubicBezTo>
                      <a:pt x="189" y="178"/>
                      <a:pt x="189" y="178"/>
                      <a:pt x="189" y="178"/>
                    </a:cubicBezTo>
                    <a:cubicBezTo>
                      <a:pt x="194" y="178"/>
                      <a:pt x="199" y="174"/>
                      <a:pt x="199" y="169"/>
                    </a:cubicBezTo>
                    <a:cubicBezTo>
                      <a:pt x="199" y="169"/>
                      <a:pt x="199" y="169"/>
                      <a:pt x="199" y="169"/>
                    </a:cubicBezTo>
                    <a:cubicBezTo>
                      <a:pt x="199" y="167"/>
                      <a:pt x="199" y="153"/>
                      <a:pt x="199" y="94"/>
                    </a:cubicBezTo>
                    <a:cubicBezTo>
                      <a:pt x="199" y="94"/>
                      <a:pt x="200" y="94"/>
                      <a:pt x="200" y="94"/>
                    </a:cubicBezTo>
                    <a:cubicBezTo>
                      <a:pt x="203" y="94"/>
                      <a:pt x="206" y="92"/>
                      <a:pt x="207" y="90"/>
                    </a:cubicBezTo>
                    <a:cubicBezTo>
                      <a:pt x="223" y="54"/>
                      <a:pt x="223" y="54"/>
                      <a:pt x="223" y="54"/>
                    </a:cubicBezTo>
                    <a:cubicBezTo>
                      <a:pt x="225" y="49"/>
                      <a:pt x="225" y="44"/>
                      <a:pt x="222" y="40"/>
                    </a:cubicBezTo>
                    <a:close/>
                    <a:moveTo>
                      <a:pt x="81" y="57"/>
                    </a:moveTo>
                    <a:cubicBezTo>
                      <a:pt x="71" y="43"/>
                      <a:pt x="71" y="43"/>
                      <a:pt x="71" y="43"/>
                    </a:cubicBezTo>
                    <a:cubicBezTo>
                      <a:pt x="71" y="37"/>
                      <a:pt x="70" y="32"/>
                      <a:pt x="70" y="27"/>
                    </a:cubicBezTo>
                    <a:cubicBezTo>
                      <a:pt x="70" y="25"/>
                      <a:pt x="69" y="24"/>
                      <a:pt x="68" y="24"/>
                    </a:cubicBezTo>
                    <a:cubicBezTo>
                      <a:pt x="68" y="24"/>
                      <a:pt x="68" y="24"/>
                      <a:pt x="68" y="24"/>
                    </a:cubicBezTo>
                    <a:cubicBezTo>
                      <a:pt x="67" y="24"/>
                      <a:pt x="66" y="25"/>
                      <a:pt x="66" y="27"/>
                    </a:cubicBezTo>
                    <a:cubicBezTo>
                      <a:pt x="66" y="27"/>
                      <a:pt x="66" y="33"/>
                      <a:pt x="66" y="44"/>
                    </a:cubicBezTo>
                    <a:cubicBezTo>
                      <a:pt x="66" y="44"/>
                      <a:pt x="66" y="44"/>
                      <a:pt x="66" y="44"/>
                    </a:cubicBezTo>
                    <a:cubicBezTo>
                      <a:pt x="66" y="58"/>
                      <a:pt x="67" y="78"/>
                      <a:pt x="67" y="98"/>
                    </a:cubicBezTo>
                    <a:cubicBezTo>
                      <a:pt x="68" y="116"/>
                      <a:pt x="68" y="133"/>
                      <a:pt x="69" y="147"/>
                    </a:cubicBezTo>
                    <a:cubicBezTo>
                      <a:pt x="69" y="153"/>
                      <a:pt x="69" y="159"/>
                      <a:pt x="69" y="163"/>
                    </a:cubicBezTo>
                    <a:cubicBezTo>
                      <a:pt x="69" y="166"/>
                      <a:pt x="69" y="167"/>
                      <a:pt x="69" y="169"/>
                    </a:cubicBezTo>
                    <a:cubicBezTo>
                      <a:pt x="69" y="169"/>
                      <a:pt x="69" y="169"/>
                      <a:pt x="69" y="169"/>
                    </a:cubicBezTo>
                    <a:cubicBezTo>
                      <a:pt x="69" y="171"/>
                      <a:pt x="67" y="173"/>
                      <a:pt x="64" y="173"/>
                    </a:cubicBezTo>
                    <a:cubicBezTo>
                      <a:pt x="61" y="173"/>
                      <a:pt x="58" y="171"/>
                      <a:pt x="58" y="168"/>
                    </a:cubicBezTo>
                    <a:cubicBezTo>
                      <a:pt x="52" y="92"/>
                      <a:pt x="52" y="92"/>
                      <a:pt x="52" y="92"/>
                    </a:cubicBezTo>
                    <a:cubicBezTo>
                      <a:pt x="52" y="91"/>
                      <a:pt x="51" y="90"/>
                      <a:pt x="50" y="90"/>
                    </a:cubicBezTo>
                    <a:cubicBezTo>
                      <a:pt x="48" y="90"/>
                      <a:pt x="47" y="91"/>
                      <a:pt x="47" y="92"/>
                    </a:cubicBezTo>
                    <a:cubicBezTo>
                      <a:pt x="41" y="168"/>
                      <a:pt x="41" y="168"/>
                      <a:pt x="41" y="168"/>
                    </a:cubicBezTo>
                    <a:cubicBezTo>
                      <a:pt x="41" y="171"/>
                      <a:pt x="39" y="173"/>
                      <a:pt x="36" y="173"/>
                    </a:cubicBezTo>
                    <a:cubicBezTo>
                      <a:pt x="33" y="173"/>
                      <a:pt x="30" y="171"/>
                      <a:pt x="30" y="169"/>
                    </a:cubicBezTo>
                    <a:cubicBezTo>
                      <a:pt x="30" y="169"/>
                      <a:pt x="30" y="169"/>
                      <a:pt x="30" y="169"/>
                    </a:cubicBezTo>
                    <a:cubicBezTo>
                      <a:pt x="30" y="167"/>
                      <a:pt x="30" y="165"/>
                      <a:pt x="30" y="162"/>
                    </a:cubicBezTo>
                    <a:cubicBezTo>
                      <a:pt x="30" y="157"/>
                      <a:pt x="30" y="151"/>
                      <a:pt x="30" y="144"/>
                    </a:cubicBezTo>
                    <a:cubicBezTo>
                      <a:pt x="30" y="129"/>
                      <a:pt x="30" y="110"/>
                      <a:pt x="31" y="92"/>
                    </a:cubicBezTo>
                    <a:cubicBezTo>
                      <a:pt x="33" y="90"/>
                      <a:pt x="34" y="87"/>
                      <a:pt x="33" y="84"/>
                    </a:cubicBezTo>
                    <a:cubicBezTo>
                      <a:pt x="33" y="84"/>
                      <a:pt x="33" y="84"/>
                      <a:pt x="33" y="83"/>
                    </a:cubicBezTo>
                    <a:cubicBezTo>
                      <a:pt x="33" y="83"/>
                      <a:pt x="32" y="80"/>
                      <a:pt x="31" y="76"/>
                    </a:cubicBezTo>
                    <a:cubicBezTo>
                      <a:pt x="31" y="50"/>
                      <a:pt x="31" y="36"/>
                      <a:pt x="31" y="36"/>
                    </a:cubicBezTo>
                    <a:cubicBezTo>
                      <a:pt x="31" y="35"/>
                      <a:pt x="30" y="34"/>
                      <a:pt x="29" y="34"/>
                    </a:cubicBezTo>
                    <a:cubicBezTo>
                      <a:pt x="28" y="34"/>
                      <a:pt x="27" y="34"/>
                      <a:pt x="27" y="35"/>
                    </a:cubicBezTo>
                    <a:cubicBezTo>
                      <a:pt x="17" y="48"/>
                      <a:pt x="17" y="48"/>
                      <a:pt x="17" y="48"/>
                    </a:cubicBezTo>
                    <a:cubicBezTo>
                      <a:pt x="17" y="48"/>
                      <a:pt x="17" y="49"/>
                      <a:pt x="17" y="50"/>
                    </a:cubicBezTo>
                    <a:cubicBezTo>
                      <a:pt x="17" y="50"/>
                      <a:pt x="20" y="59"/>
                      <a:pt x="23" y="68"/>
                    </a:cubicBezTo>
                    <a:cubicBezTo>
                      <a:pt x="24" y="71"/>
                      <a:pt x="25" y="74"/>
                      <a:pt x="26" y="77"/>
                    </a:cubicBezTo>
                    <a:cubicBezTo>
                      <a:pt x="26" y="77"/>
                      <a:pt x="26" y="77"/>
                      <a:pt x="26" y="77"/>
                    </a:cubicBezTo>
                    <a:cubicBezTo>
                      <a:pt x="26" y="78"/>
                      <a:pt x="27" y="79"/>
                      <a:pt x="27" y="80"/>
                    </a:cubicBezTo>
                    <a:cubicBezTo>
                      <a:pt x="28" y="82"/>
                      <a:pt x="28" y="84"/>
                      <a:pt x="29" y="85"/>
                    </a:cubicBezTo>
                    <a:cubicBezTo>
                      <a:pt x="29" y="85"/>
                      <a:pt x="29" y="85"/>
                      <a:pt x="29" y="85"/>
                    </a:cubicBezTo>
                    <a:cubicBezTo>
                      <a:pt x="29" y="87"/>
                      <a:pt x="28" y="88"/>
                      <a:pt x="26" y="89"/>
                    </a:cubicBezTo>
                    <a:cubicBezTo>
                      <a:pt x="24" y="90"/>
                      <a:pt x="22" y="89"/>
                      <a:pt x="21" y="88"/>
                    </a:cubicBezTo>
                    <a:cubicBezTo>
                      <a:pt x="6" y="52"/>
                      <a:pt x="6" y="52"/>
                      <a:pt x="6" y="52"/>
                    </a:cubicBezTo>
                    <a:cubicBezTo>
                      <a:pt x="5" y="49"/>
                      <a:pt x="5" y="45"/>
                      <a:pt x="6" y="42"/>
                    </a:cubicBezTo>
                    <a:cubicBezTo>
                      <a:pt x="23" y="16"/>
                      <a:pt x="23" y="16"/>
                      <a:pt x="23" y="16"/>
                    </a:cubicBezTo>
                    <a:cubicBezTo>
                      <a:pt x="29" y="8"/>
                      <a:pt x="31" y="4"/>
                      <a:pt x="48" y="4"/>
                    </a:cubicBezTo>
                    <a:cubicBezTo>
                      <a:pt x="48" y="4"/>
                      <a:pt x="48" y="4"/>
                      <a:pt x="48" y="4"/>
                    </a:cubicBezTo>
                    <a:cubicBezTo>
                      <a:pt x="64" y="4"/>
                      <a:pt x="67" y="11"/>
                      <a:pt x="69" y="15"/>
                    </a:cubicBezTo>
                    <a:cubicBezTo>
                      <a:pt x="70" y="15"/>
                      <a:pt x="70" y="15"/>
                      <a:pt x="70" y="15"/>
                    </a:cubicBezTo>
                    <a:cubicBezTo>
                      <a:pt x="74" y="22"/>
                      <a:pt x="88" y="47"/>
                      <a:pt x="88" y="47"/>
                    </a:cubicBezTo>
                    <a:cubicBezTo>
                      <a:pt x="88" y="47"/>
                      <a:pt x="88" y="47"/>
                      <a:pt x="88" y="47"/>
                    </a:cubicBezTo>
                    <a:cubicBezTo>
                      <a:pt x="88" y="47"/>
                      <a:pt x="95" y="52"/>
                      <a:pt x="101" y="57"/>
                    </a:cubicBezTo>
                    <a:cubicBezTo>
                      <a:pt x="104" y="60"/>
                      <a:pt x="108" y="62"/>
                      <a:pt x="110" y="64"/>
                    </a:cubicBezTo>
                    <a:cubicBezTo>
                      <a:pt x="112" y="65"/>
                      <a:pt x="113" y="66"/>
                      <a:pt x="114" y="67"/>
                    </a:cubicBezTo>
                    <a:cubicBezTo>
                      <a:pt x="114" y="67"/>
                      <a:pt x="114" y="67"/>
                      <a:pt x="114" y="67"/>
                    </a:cubicBezTo>
                    <a:cubicBezTo>
                      <a:pt x="115" y="68"/>
                      <a:pt x="115" y="70"/>
                      <a:pt x="114" y="72"/>
                    </a:cubicBezTo>
                    <a:cubicBezTo>
                      <a:pt x="113" y="73"/>
                      <a:pt x="111" y="74"/>
                      <a:pt x="109" y="73"/>
                    </a:cubicBezTo>
                    <a:lnTo>
                      <a:pt x="81" y="57"/>
                    </a:lnTo>
                    <a:close/>
                    <a:moveTo>
                      <a:pt x="26" y="43"/>
                    </a:moveTo>
                    <a:cubicBezTo>
                      <a:pt x="26" y="48"/>
                      <a:pt x="26" y="54"/>
                      <a:pt x="26" y="63"/>
                    </a:cubicBezTo>
                    <a:cubicBezTo>
                      <a:pt x="25" y="58"/>
                      <a:pt x="23" y="54"/>
                      <a:pt x="22" y="50"/>
                    </a:cubicBezTo>
                    <a:lnTo>
                      <a:pt x="26" y="43"/>
                    </a:lnTo>
                    <a:close/>
                    <a:moveTo>
                      <a:pt x="219" y="52"/>
                    </a:moveTo>
                    <a:cubicBezTo>
                      <a:pt x="203" y="88"/>
                      <a:pt x="203" y="88"/>
                      <a:pt x="203" y="88"/>
                    </a:cubicBezTo>
                    <a:cubicBezTo>
                      <a:pt x="202" y="89"/>
                      <a:pt x="200" y="90"/>
                      <a:pt x="198" y="89"/>
                    </a:cubicBezTo>
                    <a:cubicBezTo>
                      <a:pt x="196" y="88"/>
                      <a:pt x="195" y="87"/>
                      <a:pt x="196" y="85"/>
                    </a:cubicBezTo>
                    <a:cubicBezTo>
                      <a:pt x="196" y="85"/>
                      <a:pt x="196" y="85"/>
                      <a:pt x="196" y="85"/>
                    </a:cubicBezTo>
                    <a:cubicBezTo>
                      <a:pt x="196" y="84"/>
                      <a:pt x="197" y="82"/>
                      <a:pt x="198" y="80"/>
                    </a:cubicBezTo>
                    <a:cubicBezTo>
                      <a:pt x="198" y="79"/>
                      <a:pt x="198" y="78"/>
                      <a:pt x="198" y="77"/>
                    </a:cubicBezTo>
                    <a:cubicBezTo>
                      <a:pt x="198" y="77"/>
                      <a:pt x="198" y="77"/>
                      <a:pt x="198" y="77"/>
                    </a:cubicBezTo>
                    <a:cubicBezTo>
                      <a:pt x="199" y="74"/>
                      <a:pt x="201" y="71"/>
                      <a:pt x="202" y="68"/>
                    </a:cubicBezTo>
                    <a:cubicBezTo>
                      <a:pt x="205" y="59"/>
                      <a:pt x="208" y="50"/>
                      <a:pt x="208" y="50"/>
                    </a:cubicBezTo>
                    <a:cubicBezTo>
                      <a:pt x="208" y="49"/>
                      <a:pt x="208" y="48"/>
                      <a:pt x="207" y="48"/>
                    </a:cubicBezTo>
                    <a:cubicBezTo>
                      <a:pt x="198" y="35"/>
                      <a:pt x="198" y="35"/>
                      <a:pt x="198" y="35"/>
                    </a:cubicBezTo>
                    <a:cubicBezTo>
                      <a:pt x="197" y="34"/>
                      <a:pt x="196" y="34"/>
                      <a:pt x="195" y="34"/>
                    </a:cubicBezTo>
                    <a:cubicBezTo>
                      <a:pt x="194" y="34"/>
                      <a:pt x="194" y="35"/>
                      <a:pt x="194" y="36"/>
                    </a:cubicBezTo>
                    <a:cubicBezTo>
                      <a:pt x="194" y="36"/>
                      <a:pt x="194" y="50"/>
                      <a:pt x="194" y="76"/>
                    </a:cubicBezTo>
                    <a:cubicBezTo>
                      <a:pt x="193" y="80"/>
                      <a:pt x="192" y="83"/>
                      <a:pt x="191" y="83"/>
                    </a:cubicBezTo>
                    <a:cubicBezTo>
                      <a:pt x="191" y="84"/>
                      <a:pt x="191" y="84"/>
                      <a:pt x="191" y="84"/>
                    </a:cubicBezTo>
                    <a:cubicBezTo>
                      <a:pt x="190" y="87"/>
                      <a:pt x="192" y="90"/>
                      <a:pt x="194" y="92"/>
                    </a:cubicBezTo>
                    <a:cubicBezTo>
                      <a:pt x="194" y="110"/>
                      <a:pt x="194" y="129"/>
                      <a:pt x="194" y="144"/>
                    </a:cubicBezTo>
                    <a:cubicBezTo>
                      <a:pt x="194" y="151"/>
                      <a:pt x="195" y="157"/>
                      <a:pt x="195" y="162"/>
                    </a:cubicBezTo>
                    <a:cubicBezTo>
                      <a:pt x="195" y="165"/>
                      <a:pt x="195" y="167"/>
                      <a:pt x="195" y="169"/>
                    </a:cubicBezTo>
                    <a:cubicBezTo>
                      <a:pt x="195" y="169"/>
                      <a:pt x="195" y="169"/>
                      <a:pt x="195" y="169"/>
                    </a:cubicBezTo>
                    <a:cubicBezTo>
                      <a:pt x="194" y="171"/>
                      <a:pt x="192" y="173"/>
                      <a:pt x="189" y="173"/>
                    </a:cubicBezTo>
                    <a:cubicBezTo>
                      <a:pt x="186" y="173"/>
                      <a:pt x="183" y="171"/>
                      <a:pt x="183" y="168"/>
                    </a:cubicBezTo>
                    <a:cubicBezTo>
                      <a:pt x="177" y="92"/>
                      <a:pt x="177" y="92"/>
                      <a:pt x="177" y="92"/>
                    </a:cubicBezTo>
                    <a:cubicBezTo>
                      <a:pt x="177" y="91"/>
                      <a:pt x="176" y="90"/>
                      <a:pt x="175" y="90"/>
                    </a:cubicBezTo>
                    <a:cubicBezTo>
                      <a:pt x="174" y="90"/>
                      <a:pt x="173" y="91"/>
                      <a:pt x="173" y="92"/>
                    </a:cubicBezTo>
                    <a:cubicBezTo>
                      <a:pt x="167" y="168"/>
                      <a:pt x="167" y="168"/>
                      <a:pt x="167" y="168"/>
                    </a:cubicBezTo>
                    <a:cubicBezTo>
                      <a:pt x="166" y="171"/>
                      <a:pt x="164" y="173"/>
                      <a:pt x="161" y="173"/>
                    </a:cubicBezTo>
                    <a:cubicBezTo>
                      <a:pt x="158" y="173"/>
                      <a:pt x="155" y="171"/>
                      <a:pt x="155" y="169"/>
                    </a:cubicBezTo>
                    <a:cubicBezTo>
                      <a:pt x="155" y="169"/>
                      <a:pt x="155" y="169"/>
                      <a:pt x="155" y="169"/>
                    </a:cubicBezTo>
                    <a:cubicBezTo>
                      <a:pt x="155" y="167"/>
                      <a:pt x="155" y="166"/>
                      <a:pt x="155" y="163"/>
                    </a:cubicBezTo>
                    <a:cubicBezTo>
                      <a:pt x="156" y="159"/>
                      <a:pt x="156" y="153"/>
                      <a:pt x="156" y="147"/>
                    </a:cubicBezTo>
                    <a:cubicBezTo>
                      <a:pt x="156" y="133"/>
                      <a:pt x="157" y="116"/>
                      <a:pt x="157" y="98"/>
                    </a:cubicBezTo>
                    <a:cubicBezTo>
                      <a:pt x="158" y="78"/>
                      <a:pt x="158" y="58"/>
                      <a:pt x="159" y="44"/>
                    </a:cubicBezTo>
                    <a:cubicBezTo>
                      <a:pt x="159" y="44"/>
                      <a:pt x="159" y="44"/>
                      <a:pt x="159" y="44"/>
                    </a:cubicBezTo>
                    <a:cubicBezTo>
                      <a:pt x="159" y="33"/>
                      <a:pt x="159" y="27"/>
                      <a:pt x="159" y="27"/>
                    </a:cubicBezTo>
                    <a:cubicBezTo>
                      <a:pt x="159" y="25"/>
                      <a:pt x="158" y="24"/>
                      <a:pt x="157" y="24"/>
                    </a:cubicBezTo>
                    <a:cubicBezTo>
                      <a:pt x="157" y="24"/>
                      <a:pt x="157" y="24"/>
                      <a:pt x="157" y="24"/>
                    </a:cubicBezTo>
                    <a:cubicBezTo>
                      <a:pt x="155" y="24"/>
                      <a:pt x="154" y="25"/>
                      <a:pt x="154" y="27"/>
                    </a:cubicBezTo>
                    <a:cubicBezTo>
                      <a:pt x="154" y="32"/>
                      <a:pt x="154" y="37"/>
                      <a:pt x="154" y="43"/>
                    </a:cubicBezTo>
                    <a:cubicBezTo>
                      <a:pt x="144" y="57"/>
                      <a:pt x="144" y="57"/>
                      <a:pt x="144" y="57"/>
                    </a:cubicBezTo>
                    <a:cubicBezTo>
                      <a:pt x="119" y="71"/>
                      <a:pt x="119" y="71"/>
                      <a:pt x="119" y="71"/>
                    </a:cubicBezTo>
                    <a:cubicBezTo>
                      <a:pt x="120" y="68"/>
                      <a:pt x="119" y="65"/>
                      <a:pt x="117" y="63"/>
                    </a:cubicBezTo>
                    <a:cubicBezTo>
                      <a:pt x="117" y="63"/>
                      <a:pt x="117" y="63"/>
                      <a:pt x="117" y="63"/>
                    </a:cubicBezTo>
                    <a:cubicBezTo>
                      <a:pt x="117" y="63"/>
                      <a:pt x="116" y="63"/>
                      <a:pt x="116" y="63"/>
                    </a:cubicBezTo>
                    <a:cubicBezTo>
                      <a:pt x="124" y="57"/>
                      <a:pt x="136" y="47"/>
                      <a:pt x="136" y="47"/>
                    </a:cubicBezTo>
                    <a:cubicBezTo>
                      <a:pt x="136" y="47"/>
                      <a:pt x="137" y="47"/>
                      <a:pt x="137" y="47"/>
                    </a:cubicBezTo>
                    <a:cubicBezTo>
                      <a:pt x="137" y="47"/>
                      <a:pt x="151" y="22"/>
                      <a:pt x="155" y="15"/>
                    </a:cubicBezTo>
                    <a:cubicBezTo>
                      <a:pt x="155" y="15"/>
                      <a:pt x="155" y="15"/>
                      <a:pt x="155" y="15"/>
                    </a:cubicBezTo>
                    <a:cubicBezTo>
                      <a:pt x="157" y="11"/>
                      <a:pt x="161" y="4"/>
                      <a:pt x="177" y="4"/>
                    </a:cubicBezTo>
                    <a:cubicBezTo>
                      <a:pt x="177" y="4"/>
                      <a:pt x="177" y="4"/>
                      <a:pt x="177" y="4"/>
                    </a:cubicBezTo>
                    <a:cubicBezTo>
                      <a:pt x="194" y="4"/>
                      <a:pt x="196" y="8"/>
                      <a:pt x="201" y="16"/>
                    </a:cubicBezTo>
                    <a:cubicBezTo>
                      <a:pt x="218" y="42"/>
                      <a:pt x="218" y="42"/>
                      <a:pt x="218" y="42"/>
                    </a:cubicBezTo>
                    <a:cubicBezTo>
                      <a:pt x="220" y="45"/>
                      <a:pt x="220" y="49"/>
                      <a:pt x="219" y="52"/>
                    </a:cubicBezTo>
                    <a:close/>
                    <a:moveTo>
                      <a:pt x="198" y="43"/>
                    </a:moveTo>
                    <a:cubicBezTo>
                      <a:pt x="203" y="50"/>
                      <a:pt x="203" y="50"/>
                      <a:pt x="203" y="50"/>
                    </a:cubicBezTo>
                    <a:cubicBezTo>
                      <a:pt x="202" y="54"/>
                      <a:pt x="200" y="58"/>
                      <a:pt x="198" y="63"/>
                    </a:cubicBezTo>
                    <a:cubicBezTo>
                      <a:pt x="198" y="54"/>
                      <a:pt x="198" y="48"/>
                      <a:pt x="198" y="43"/>
                    </a:cubicBezTo>
                    <a:close/>
                  </a:path>
                </a:pathLst>
              </a:custGeom>
              <a:solidFill>
                <a:srgbClr val="FFFFFF"/>
              </a:solidFill>
              <a:ln>
                <a:noFill/>
              </a:ln>
            </p:spPr>
            <p:txBody>
              <a:bodyPr anchor="ctr"/>
              <a:p>
                <a:pPr algn="ctr"/>
                <a:endParaRPr>
                  <a:latin typeface="锐字工房云字库细圆GBK" panose="02010604000000000000" pitchFamily="2" charset="-122"/>
                  <a:ea typeface="锐字工房云字库细圆GBK" panose="02010604000000000000" pitchFamily="2" charset="-122"/>
                  <a:cs typeface="+mn-ea"/>
                  <a:sym typeface="+mn-lt"/>
                </a:endParaRPr>
              </a:p>
            </p:txBody>
          </p:sp>
        </p:grpSp>
      </p:grpSp>
      <p:grpSp>
        <p:nvGrpSpPr>
          <p:cNvPr id="144" name="Group 70"/>
          <p:cNvGrpSpPr>
            <a:grpSpLocks noChangeAspect="1"/>
          </p:cNvGrpSpPr>
          <p:nvPr>
            <p:custDataLst>
              <p:tags r:id="rId13"/>
            </p:custDataLst>
          </p:nvPr>
        </p:nvGrpSpPr>
        <p:grpSpPr bwMode="auto">
          <a:xfrm>
            <a:off x="5681848" y="1548783"/>
            <a:ext cx="624840" cy="625475"/>
            <a:chOff x="1544" y="1525"/>
            <a:chExt cx="426" cy="426"/>
          </a:xfrm>
        </p:grpSpPr>
        <p:sp>
          <p:nvSpPr>
            <p:cNvPr id="1048792" name="ïşḻïďê-Oval 71"/>
            <p:cNvSpPr/>
            <p:nvPr>
              <p:custDataLst>
                <p:tags r:id="rId14"/>
              </p:custDataLst>
            </p:nvPr>
          </p:nvSpPr>
          <p:spPr bwMode="auto">
            <a:xfrm>
              <a:off x="1544" y="1525"/>
              <a:ext cx="426" cy="426"/>
            </a:xfrm>
            <a:prstGeom prst="ellipse">
              <a:avLst/>
            </a:prstGeom>
            <a:solidFill>
              <a:schemeClr val="accent1"/>
            </a:solidFill>
            <a:ln>
              <a:noFill/>
            </a:ln>
          </p:spPr>
          <p:txBody>
            <a:bodyPr anchor="ctr"/>
            <a:p>
              <a:pPr algn="ctr"/>
              <a:endParaRPr>
                <a:latin typeface="锐字工房云字库细圆GBK" panose="02010604000000000000" pitchFamily="2" charset="-122"/>
                <a:ea typeface="锐字工房云字库细圆GBK" panose="02010604000000000000" pitchFamily="2" charset="-122"/>
                <a:cs typeface="+mn-ea"/>
                <a:sym typeface="+mn-lt"/>
              </a:endParaRPr>
            </a:p>
          </p:txBody>
        </p:sp>
        <p:sp>
          <p:nvSpPr>
            <p:cNvPr id="1048793" name="ïşḻïďê-Freeform: Shape 72"/>
            <p:cNvSpPr/>
            <p:nvPr>
              <p:custDataLst>
                <p:tags r:id="rId15"/>
              </p:custDataLst>
            </p:nvPr>
          </p:nvSpPr>
          <p:spPr bwMode="auto">
            <a:xfrm>
              <a:off x="1672" y="1606"/>
              <a:ext cx="60" cy="264"/>
            </a:xfrm>
            <a:custGeom>
              <a:avLst/>
              <a:gdLst>
                <a:gd name="T0" fmla="*/ 50 w 50"/>
                <a:gd name="T1" fmla="*/ 173 h 220"/>
                <a:gd name="T2" fmla="*/ 36 w 50"/>
                <a:gd name="T3" fmla="*/ 0 h 220"/>
                <a:gd name="T4" fmla="*/ 0 w 50"/>
                <a:gd name="T5" fmla="*/ 14 h 220"/>
                <a:gd name="T6" fmla="*/ 0 w 50"/>
                <a:gd name="T7" fmla="*/ 173 h 220"/>
                <a:gd name="T8" fmla="*/ 0 w 50"/>
                <a:gd name="T9" fmla="*/ 173 h 220"/>
                <a:gd name="T10" fmla="*/ 0 w 50"/>
                <a:gd name="T11" fmla="*/ 174 h 220"/>
                <a:gd name="T12" fmla="*/ 0 w 50"/>
                <a:gd name="T13" fmla="*/ 174 h 220"/>
                <a:gd name="T14" fmla="*/ 25 w 50"/>
                <a:gd name="T15" fmla="*/ 220 h 220"/>
                <a:gd name="T16" fmla="*/ 50 w 50"/>
                <a:gd name="T17" fmla="*/ 174 h 220"/>
                <a:gd name="T18" fmla="*/ 50 w 50"/>
                <a:gd name="T19" fmla="*/ 174 h 220"/>
                <a:gd name="T20" fmla="*/ 50 w 50"/>
                <a:gd name="T21" fmla="*/ 174 h 220"/>
                <a:gd name="T22" fmla="*/ 31 w 50"/>
                <a:gd name="T23" fmla="*/ 201 h 220"/>
                <a:gd name="T24" fmla="*/ 7 w 50"/>
                <a:gd name="T25" fmla="*/ 177 h 220"/>
                <a:gd name="T26" fmla="*/ 16 w 50"/>
                <a:gd name="T27" fmla="*/ 177 h 220"/>
                <a:gd name="T28" fmla="*/ 18 w 50"/>
                <a:gd name="T29" fmla="*/ 177 h 220"/>
                <a:gd name="T30" fmla="*/ 44 w 50"/>
                <a:gd name="T31" fmla="*/ 175 h 220"/>
                <a:gd name="T32" fmla="*/ 45 w 50"/>
                <a:gd name="T33" fmla="*/ 53 h 220"/>
                <a:gd name="T34" fmla="*/ 4 w 50"/>
                <a:gd name="T35" fmla="*/ 34 h 220"/>
                <a:gd name="T36" fmla="*/ 45 w 50"/>
                <a:gd name="T37" fmla="*/ 53 h 220"/>
                <a:gd name="T38" fmla="*/ 19 w 50"/>
                <a:gd name="T39" fmla="*/ 172 h 220"/>
                <a:gd name="T40" fmla="*/ 31 w 50"/>
                <a:gd name="T41" fmla="*/ 58 h 220"/>
                <a:gd name="T42" fmla="*/ 23 w 50"/>
                <a:gd name="T43" fmla="*/ 171 h 220"/>
                <a:gd name="T44" fmla="*/ 4 w 50"/>
                <a:gd name="T45" fmla="*/ 58 h 220"/>
                <a:gd name="T46" fmla="*/ 14 w 50"/>
                <a:gd name="T47" fmla="*/ 173 h 220"/>
                <a:gd name="T48" fmla="*/ 36 w 50"/>
                <a:gd name="T49" fmla="*/ 169 h 220"/>
                <a:gd name="T50" fmla="*/ 45 w 50"/>
                <a:gd name="T51" fmla="*/ 58 h 220"/>
                <a:gd name="T52" fmla="*/ 36 w 50"/>
                <a:gd name="T53" fmla="*/ 169 h 220"/>
                <a:gd name="T54" fmla="*/ 36 w 50"/>
                <a:gd name="T55" fmla="*/ 5 h 220"/>
                <a:gd name="T56" fmla="*/ 45 w 50"/>
                <a:gd name="T57" fmla="*/ 29 h 220"/>
                <a:gd name="T58" fmla="*/ 4 w 50"/>
                <a:gd name="T59" fmla="*/ 14 h 220"/>
                <a:gd name="T60" fmla="*/ 22 w 50"/>
                <a:gd name="T61" fmla="*/ 206 h 220"/>
                <a:gd name="T62" fmla="*/ 25 w 50"/>
                <a:gd name="T63" fmla="*/ 212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0" h="220">
                  <a:moveTo>
                    <a:pt x="50" y="173"/>
                  </a:moveTo>
                  <a:cubicBezTo>
                    <a:pt x="50" y="173"/>
                    <a:pt x="50" y="173"/>
                    <a:pt x="50" y="173"/>
                  </a:cubicBezTo>
                  <a:cubicBezTo>
                    <a:pt x="50" y="14"/>
                    <a:pt x="50" y="14"/>
                    <a:pt x="50" y="14"/>
                  </a:cubicBezTo>
                  <a:cubicBezTo>
                    <a:pt x="50" y="6"/>
                    <a:pt x="44" y="0"/>
                    <a:pt x="36" y="0"/>
                  </a:cubicBezTo>
                  <a:cubicBezTo>
                    <a:pt x="13" y="0"/>
                    <a:pt x="13" y="0"/>
                    <a:pt x="13" y="0"/>
                  </a:cubicBezTo>
                  <a:cubicBezTo>
                    <a:pt x="6" y="0"/>
                    <a:pt x="0" y="6"/>
                    <a:pt x="0" y="14"/>
                  </a:cubicBezTo>
                  <a:cubicBezTo>
                    <a:pt x="0" y="173"/>
                    <a:pt x="0" y="173"/>
                    <a:pt x="0" y="173"/>
                  </a:cubicBezTo>
                  <a:cubicBezTo>
                    <a:pt x="0" y="173"/>
                    <a:pt x="0" y="173"/>
                    <a:pt x="0" y="173"/>
                  </a:cubicBezTo>
                  <a:cubicBezTo>
                    <a:pt x="0" y="173"/>
                    <a:pt x="0" y="173"/>
                    <a:pt x="0" y="173"/>
                  </a:cubicBezTo>
                  <a:cubicBezTo>
                    <a:pt x="0" y="173"/>
                    <a:pt x="0" y="173"/>
                    <a:pt x="0" y="173"/>
                  </a:cubicBezTo>
                  <a:cubicBezTo>
                    <a:pt x="0" y="174"/>
                    <a:pt x="0" y="174"/>
                    <a:pt x="0" y="174"/>
                  </a:cubicBezTo>
                  <a:cubicBezTo>
                    <a:pt x="0" y="174"/>
                    <a:pt x="0" y="174"/>
                    <a:pt x="0" y="174"/>
                  </a:cubicBezTo>
                  <a:cubicBezTo>
                    <a:pt x="0" y="174"/>
                    <a:pt x="0" y="174"/>
                    <a:pt x="0" y="174"/>
                  </a:cubicBezTo>
                  <a:cubicBezTo>
                    <a:pt x="0" y="174"/>
                    <a:pt x="0" y="174"/>
                    <a:pt x="0" y="174"/>
                  </a:cubicBezTo>
                  <a:cubicBezTo>
                    <a:pt x="23" y="218"/>
                    <a:pt x="23" y="218"/>
                    <a:pt x="23" y="218"/>
                  </a:cubicBezTo>
                  <a:cubicBezTo>
                    <a:pt x="23" y="219"/>
                    <a:pt x="24" y="220"/>
                    <a:pt x="25" y="220"/>
                  </a:cubicBezTo>
                  <a:cubicBezTo>
                    <a:pt x="26" y="220"/>
                    <a:pt x="27" y="219"/>
                    <a:pt x="27" y="218"/>
                  </a:cubicBezTo>
                  <a:cubicBezTo>
                    <a:pt x="50" y="174"/>
                    <a:pt x="50" y="174"/>
                    <a:pt x="50" y="174"/>
                  </a:cubicBezTo>
                  <a:cubicBezTo>
                    <a:pt x="50" y="174"/>
                    <a:pt x="50" y="174"/>
                    <a:pt x="50" y="174"/>
                  </a:cubicBezTo>
                  <a:cubicBezTo>
                    <a:pt x="50" y="174"/>
                    <a:pt x="50" y="174"/>
                    <a:pt x="50" y="174"/>
                  </a:cubicBezTo>
                  <a:cubicBezTo>
                    <a:pt x="50" y="174"/>
                    <a:pt x="50" y="174"/>
                    <a:pt x="50" y="174"/>
                  </a:cubicBezTo>
                  <a:cubicBezTo>
                    <a:pt x="50" y="174"/>
                    <a:pt x="50" y="174"/>
                    <a:pt x="50" y="174"/>
                  </a:cubicBezTo>
                  <a:cubicBezTo>
                    <a:pt x="50" y="174"/>
                    <a:pt x="50" y="174"/>
                    <a:pt x="50" y="173"/>
                  </a:cubicBezTo>
                  <a:close/>
                  <a:moveTo>
                    <a:pt x="31" y="201"/>
                  </a:moveTo>
                  <a:cubicBezTo>
                    <a:pt x="19" y="201"/>
                    <a:pt x="19" y="201"/>
                    <a:pt x="19" y="201"/>
                  </a:cubicBezTo>
                  <a:cubicBezTo>
                    <a:pt x="7" y="177"/>
                    <a:pt x="7" y="177"/>
                    <a:pt x="7" y="177"/>
                  </a:cubicBezTo>
                  <a:cubicBezTo>
                    <a:pt x="8" y="177"/>
                    <a:pt x="9" y="177"/>
                    <a:pt x="11" y="177"/>
                  </a:cubicBezTo>
                  <a:cubicBezTo>
                    <a:pt x="13" y="177"/>
                    <a:pt x="14" y="177"/>
                    <a:pt x="16" y="177"/>
                  </a:cubicBezTo>
                  <a:cubicBezTo>
                    <a:pt x="16" y="177"/>
                    <a:pt x="16" y="177"/>
                    <a:pt x="17" y="177"/>
                  </a:cubicBezTo>
                  <a:cubicBezTo>
                    <a:pt x="17" y="177"/>
                    <a:pt x="17" y="177"/>
                    <a:pt x="18" y="177"/>
                  </a:cubicBezTo>
                  <a:cubicBezTo>
                    <a:pt x="20" y="176"/>
                    <a:pt x="22" y="176"/>
                    <a:pt x="24" y="176"/>
                  </a:cubicBezTo>
                  <a:cubicBezTo>
                    <a:pt x="31" y="174"/>
                    <a:pt x="38" y="173"/>
                    <a:pt x="44" y="175"/>
                  </a:cubicBezTo>
                  <a:lnTo>
                    <a:pt x="31" y="201"/>
                  </a:lnTo>
                  <a:close/>
                  <a:moveTo>
                    <a:pt x="45" y="53"/>
                  </a:moveTo>
                  <a:cubicBezTo>
                    <a:pt x="4" y="53"/>
                    <a:pt x="4" y="53"/>
                    <a:pt x="4" y="53"/>
                  </a:cubicBezTo>
                  <a:cubicBezTo>
                    <a:pt x="4" y="34"/>
                    <a:pt x="4" y="34"/>
                    <a:pt x="4" y="34"/>
                  </a:cubicBezTo>
                  <a:cubicBezTo>
                    <a:pt x="45" y="34"/>
                    <a:pt x="45" y="34"/>
                    <a:pt x="45" y="34"/>
                  </a:cubicBezTo>
                  <a:lnTo>
                    <a:pt x="45" y="53"/>
                  </a:lnTo>
                  <a:close/>
                  <a:moveTo>
                    <a:pt x="23" y="171"/>
                  </a:moveTo>
                  <a:cubicBezTo>
                    <a:pt x="22" y="171"/>
                    <a:pt x="20" y="172"/>
                    <a:pt x="19" y="172"/>
                  </a:cubicBezTo>
                  <a:cubicBezTo>
                    <a:pt x="19" y="58"/>
                    <a:pt x="19" y="58"/>
                    <a:pt x="19" y="58"/>
                  </a:cubicBezTo>
                  <a:cubicBezTo>
                    <a:pt x="31" y="58"/>
                    <a:pt x="31" y="58"/>
                    <a:pt x="31" y="58"/>
                  </a:cubicBezTo>
                  <a:cubicBezTo>
                    <a:pt x="31" y="169"/>
                    <a:pt x="31" y="169"/>
                    <a:pt x="31" y="169"/>
                  </a:cubicBezTo>
                  <a:cubicBezTo>
                    <a:pt x="28" y="170"/>
                    <a:pt x="26" y="170"/>
                    <a:pt x="23" y="171"/>
                  </a:cubicBezTo>
                  <a:close/>
                  <a:moveTo>
                    <a:pt x="4" y="172"/>
                  </a:moveTo>
                  <a:cubicBezTo>
                    <a:pt x="4" y="58"/>
                    <a:pt x="4" y="58"/>
                    <a:pt x="4" y="58"/>
                  </a:cubicBezTo>
                  <a:cubicBezTo>
                    <a:pt x="14" y="58"/>
                    <a:pt x="14" y="58"/>
                    <a:pt x="14" y="58"/>
                  </a:cubicBezTo>
                  <a:cubicBezTo>
                    <a:pt x="14" y="173"/>
                    <a:pt x="14" y="173"/>
                    <a:pt x="14" y="173"/>
                  </a:cubicBezTo>
                  <a:cubicBezTo>
                    <a:pt x="11" y="173"/>
                    <a:pt x="7" y="173"/>
                    <a:pt x="4" y="172"/>
                  </a:cubicBezTo>
                  <a:close/>
                  <a:moveTo>
                    <a:pt x="36" y="169"/>
                  </a:moveTo>
                  <a:cubicBezTo>
                    <a:pt x="36" y="58"/>
                    <a:pt x="36" y="58"/>
                    <a:pt x="36" y="58"/>
                  </a:cubicBezTo>
                  <a:cubicBezTo>
                    <a:pt x="45" y="58"/>
                    <a:pt x="45" y="58"/>
                    <a:pt x="45" y="58"/>
                  </a:cubicBezTo>
                  <a:cubicBezTo>
                    <a:pt x="45" y="170"/>
                    <a:pt x="45" y="170"/>
                    <a:pt x="45" y="170"/>
                  </a:cubicBezTo>
                  <a:cubicBezTo>
                    <a:pt x="42" y="169"/>
                    <a:pt x="39" y="169"/>
                    <a:pt x="36" y="169"/>
                  </a:cubicBezTo>
                  <a:close/>
                  <a:moveTo>
                    <a:pt x="13" y="5"/>
                  </a:moveTo>
                  <a:cubicBezTo>
                    <a:pt x="36" y="5"/>
                    <a:pt x="36" y="5"/>
                    <a:pt x="36" y="5"/>
                  </a:cubicBezTo>
                  <a:cubicBezTo>
                    <a:pt x="41" y="5"/>
                    <a:pt x="45" y="9"/>
                    <a:pt x="45" y="14"/>
                  </a:cubicBezTo>
                  <a:cubicBezTo>
                    <a:pt x="45" y="29"/>
                    <a:pt x="45" y="29"/>
                    <a:pt x="45" y="29"/>
                  </a:cubicBezTo>
                  <a:cubicBezTo>
                    <a:pt x="4" y="29"/>
                    <a:pt x="4" y="29"/>
                    <a:pt x="4" y="29"/>
                  </a:cubicBezTo>
                  <a:cubicBezTo>
                    <a:pt x="4" y="14"/>
                    <a:pt x="4" y="14"/>
                    <a:pt x="4" y="14"/>
                  </a:cubicBezTo>
                  <a:cubicBezTo>
                    <a:pt x="4" y="9"/>
                    <a:pt x="8" y="5"/>
                    <a:pt x="13" y="5"/>
                  </a:cubicBezTo>
                  <a:close/>
                  <a:moveTo>
                    <a:pt x="22" y="206"/>
                  </a:moveTo>
                  <a:cubicBezTo>
                    <a:pt x="28" y="206"/>
                    <a:pt x="28" y="206"/>
                    <a:pt x="28" y="206"/>
                  </a:cubicBezTo>
                  <a:cubicBezTo>
                    <a:pt x="25" y="212"/>
                    <a:pt x="25" y="212"/>
                    <a:pt x="25" y="212"/>
                  </a:cubicBezTo>
                  <a:lnTo>
                    <a:pt x="22" y="206"/>
                  </a:lnTo>
                  <a:close/>
                </a:path>
              </a:pathLst>
            </a:custGeom>
            <a:solidFill>
              <a:srgbClr val="FFFFFF"/>
            </a:solidFill>
            <a:ln>
              <a:noFill/>
            </a:ln>
          </p:spPr>
          <p:txBody>
            <a:bodyPr anchor="ctr"/>
            <a:p>
              <a:pPr algn="ctr"/>
              <a:endParaRPr>
                <a:latin typeface="锐字工房云字库细圆GBK" panose="02010604000000000000" pitchFamily="2" charset="-122"/>
                <a:ea typeface="锐字工房云字库细圆GBK" panose="02010604000000000000" pitchFamily="2" charset="-122"/>
                <a:cs typeface="+mn-ea"/>
                <a:sym typeface="+mn-lt"/>
              </a:endParaRPr>
            </a:p>
          </p:txBody>
        </p:sp>
        <p:sp>
          <p:nvSpPr>
            <p:cNvPr id="1048794" name="ïşḻïďê-Freeform: Shape 73"/>
            <p:cNvSpPr/>
            <p:nvPr>
              <p:custDataLst>
                <p:tags r:id="rId16"/>
              </p:custDataLst>
            </p:nvPr>
          </p:nvSpPr>
          <p:spPr bwMode="auto">
            <a:xfrm>
              <a:off x="1765" y="1606"/>
              <a:ext cx="77" cy="264"/>
            </a:xfrm>
            <a:custGeom>
              <a:avLst/>
              <a:gdLst>
                <a:gd name="T0" fmla="*/ 61 w 64"/>
                <a:gd name="T1" fmla="*/ 0 h 220"/>
                <a:gd name="T2" fmla="*/ 3 w 64"/>
                <a:gd name="T3" fmla="*/ 0 h 220"/>
                <a:gd name="T4" fmla="*/ 0 w 64"/>
                <a:gd name="T5" fmla="*/ 3 h 220"/>
                <a:gd name="T6" fmla="*/ 0 w 64"/>
                <a:gd name="T7" fmla="*/ 217 h 220"/>
                <a:gd name="T8" fmla="*/ 3 w 64"/>
                <a:gd name="T9" fmla="*/ 220 h 220"/>
                <a:gd name="T10" fmla="*/ 61 w 64"/>
                <a:gd name="T11" fmla="*/ 220 h 220"/>
                <a:gd name="T12" fmla="*/ 64 w 64"/>
                <a:gd name="T13" fmla="*/ 217 h 220"/>
                <a:gd name="T14" fmla="*/ 64 w 64"/>
                <a:gd name="T15" fmla="*/ 3 h 220"/>
                <a:gd name="T16" fmla="*/ 61 w 64"/>
                <a:gd name="T17" fmla="*/ 0 h 220"/>
                <a:gd name="T18" fmla="*/ 5 w 64"/>
                <a:gd name="T19" fmla="*/ 215 h 220"/>
                <a:gd name="T20" fmla="*/ 5 w 64"/>
                <a:gd name="T21" fmla="*/ 5 h 220"/>
                <a:gd name="T22" fmla="*/ 59 w 64"/>
                <a:gd name="T23" fmla="*/ 5 h 220"/>
                <a:gd name="T24" fmla="*/ 59 w 64"/>
                <a:gd name="T25" fmla="*/ 22 h 220"/>
                <a:gd name="T26" fmla="*/ 39 w 64"/>
                <a:gd name="T27" fmla="*/ 22 h 220"/>
                <a:gd name="T28" fmla="*/ 37 w 64"/>
                <a:gd name="T29" fmla="*/ 25 h 220"/>
                <a:gd name="T30" fmla="*/ 39 w 64"/>
                <a:gd name="T31" fmla="*/ 27 h 220"/>
                <a:gd name="T32" fmla="*/ 59 w 64"/>
                <a:gd name="T33" fmla="*/ 27 h 220"/>
                <a:gd name="T34" fmla="*/ 59 w 64"/>
                <a:gd name="T35" fmla="*/ 47 h 220"/>
                <a:gd name="T36" fmla="*/ 32 w 64"/>
                <a:gd name="T37" fmla="*/ 47 h 220"/>
                <a:gd name="T38" fmla="*/ 30 w 64"/>
                <a:gd name="T39" fmla="*/ 49 h 220"/>
                <a:gd name="T40" fmla="*/ 32 w 64"/>
                <a:gd name="T41" fmla="*/ 51 h 220"/>
                <a:gd name="T42" fmla="*/ 59 w 64"/>
                <a:gd name="T43" fmla="*/ 51 h 220"/>
                <a:gd name="T44" fmla="*/ 59 w 64"/>
                <a:gd name="T45" fmla="*/ 71 h 220"/>
                <a:gd name="T46" fmla="*/ 39 w 64"/>
                <a:gd name="T47" fmla="*/ 71 h 220"/>
                <a:gd name="T48" fmla="*/ 37 w 64"/>
                <a:gd name="T49" fmla="*/ 73 h 220"/>
                <a:gd name="T50" fmla="*/ 39 w 64"/>
                <a:gd name="T51" fmla="*/ 76 h 220"/>
                <a:gd name="T52" fmla="*/ 59 w 64"/>
                <a:gd name="T53" fmla="*/ 76 h 220"/>
                <a:gd name="T54" fmla="*/ 59 w 64"/>
                <a:gd name="T55" fmla="*/ 95 h 220"/>
                <a:gd name="T56" fmla="*/ 32 w 64"/>
                <a:gd name="T57" fmla="*/ 95 h 220"/>
                <a:gd name="T58" fmla="*/ 30 w 64"/>
                <a:gd name="T59" fmla="*/ 97 h 220"/>
                <a:gd name="T60" fmla="*/ 32 w 64"/>
                <a:gd name="T61" fmla="*/ 100 h 220"/>
                <a:gd name="T62" fmla="*/ 59 w 64"/>
                <a:gd name="T63" fmla="*/ 100 h 220"/>
                <a:gd name="T64" fmla="*/ 59 w 64"/>
                <a:gd name="T65" fmla="*/ 119 h 220"/>
                <a:gd name="T66" fmla="*/ 39 w 64"/>
                <a:gd name="T67" fmla="*/ 119 h 220"/>
                <a:gd name="T68" fmla="*/ 37 w 64"/>
                <a:gd name="T69" fmla="*/ 122 h 220"/>
                <a:gd name="T70" fmla="*/ 39 w 64"/>
                <a:gd name="T71" fmla="*/ 124 h 220"/>
                <a:gd name="T72" fmla="*/ 59 w 64"/>
                <a:gd name="T73" fmla="*/ 124 h 220"/>
                <a:gd name="T74" fmla="*/ 59 w 64"/>
                <a:gd name="T75" fmla="*/ 143 h 220"/>
                <a:gd name="T76" fmla="*/ 32 w 64"/>
                <a:gd name="T77" fmla="*/ 143 h 220"/>
                <a:gd name="T78" fmla="*/ 30 w 64"/>
                <a:gd name="T79" fmla="*/ 146 h 220"/>
                <a:gd name="T80" fmla="*/ 32 w 64"/>
                <a:gd name="T81" fmla="*/ 148 h 220"/>
                <a:gd name="T82" fmla="*/ 59 w 64"/>
                <a:gd name="T83" fmla="*/ 148 h 220"/>
                <a:gd name="T84" fmla="*/ 59 w 64"/>
                <a:gd name="T85" fmla="*/ 168 h 220"/>
                <a:gd name="T86" fmla="*/ 39 w 64"/>
                <a:gd name="T87" fmla="*/ 168 h 220"/>
                <a:gd name="T88" fmla="*/ 37 w 64"/>
                <a:gd name="T89" fmla="*/ 170 h 220"/>
                <a:gd name="T90" fmla="*/ 39 w 64"/>
                <a:gd name="T91" fmla="*/ 172 h 220"/>
                <a:gd name="T92" fmla="*/ 59 w 64"/>
                <a:gd name="T93" fmla="*/ 172 h 220"/>
                <a:gd name="T94" fmla="*/ 59 w 64"/>
                <a:gd name="T95" fmla="*/ 192 h 220"/>
                <a:gd name="T96" fmla="*/ 32 w 64"/>
                <a:gd name="T97" fmla="*/ 192 h 220"/>
                <a:gd name="T98" fmla="*/ 30 w 64"/>
                <a:gd name="T99" fmla="*/ 194 h 220"/>
                <a:gd name="T100" fmla="*/ 32 w 64"/>
                <a:gd name="T101" fmla="*/ 196 h 220"/>
                <a:gd name="T102" fmla="*/ 59 w 64"/>
                <a:gd name="T103" fmla="*/ 196 h 220"/>
                <a:gd name="T104" fmla="*/ 59 w 64"/>
                <a:gd name="T105" fmla="*/ 215 h 220"/>
                <a:gd name="T106" fmla="*/ 5 w 64"/>
                <a:gd name="T107" fmla="*/ 215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4" h="220">
                  <a:moveTo>
                    <a:pt x="61" y="0"/>
                  </a:moveTo>
                  <a:cubicBezTo>
                    <a:pt x="3" y="0"/>
                    <a:pt x="3" y="0"/>
                    <a:pt x="3" y="0"/>
                  </a:cubicBezTo>
                  <a:cubicBezTo>
                    <a:pt x="1" y="0"/>
                    <a:pt x="0" y="1"/>
                    <a:pt x="0" y="3"/>
                  </a:cubicBezTo>
                  <a:cubicBezTo>
                    <a:pt x="0" y="217"/>
                    <a:pt x="0" y="217"/>
                    <a:pt x="0" y="217"/>
                  </a:cubicBezTo>
                  <a:cubicBezTo>
                    <a:pt x="0" y="218"/>
                    <a:pt x="1" y="220"/>
                    <a:pt x="3" y="220"/>
                  </a:cubicBezTo>
                  <a:cubicBezTo>
                    <a:pt x="61" y="220"/>
                    <a:pt x="61" y="220"/>
                    <a:pt x="61" y="220"/>
                  </a:cubicBezTo>
                  <a:cubicBezTo>
                    <a:pt x="63" y="220"/>
                    <a:pt x="64" y="218"/>
                    <a:pt x="64" y="217"/>
                  </a:cubicBezTo>
                  <a:cubicBezTo>
                    <a:pt x="64" y="3"/>
                    <a:pt x="64" y="3"/>
                    <a:pt x="64" y="3"/>
                  </a:cubicBezTo>
                  <a:cubicBezTo>
                    <a:pt x="64" y="1"/>
                    <a:pt x="63" y="0"/>
                    <a:pt x="61" y="0"/>
                  </a:cubicBezTo>
                  <a:close/>
                  <a:moveTo>
                    <a:pt x="5" y="215"/>
                  </a:moveTo>
                  <a:cubicBezTo>
                    <a:pt x="5" y="5"/>
                    <a:pt x="5" y="5"/>
                    <a:pt x="5" y="5"/>
                  </a:cubicBezTo>
                  <a:cubicBezTo>
                    <a:pt x="59" y="5"/>
                    <a:pt x="59" y="5"/>
                    <a:pt x="59" y="5"/>
                  </a:cubicBezTo>
                  <a:cubicBezTo>
                    <a:pt x="59" y="22"/>
                    <a:pt x="59" y="22"/>
                    <a:pt x="59" y="22"/>
                  </a:cubicBezTo>
                  <a:cubicBezTo>
                    <a:pt x="39" y="22"/>
                    <a:pt x="39" y="22"/>
                    <a:pt x="39" y="22"/>
                  </a:cubicBezTo>
                  <a:cubicBezTo>
                    <a:pt x="38" y="22"/>
                    <a:pt x="37" y="24"/>
                    <a:pt x="37" y="25"/>
                  </a:cubicBezTo>
                  <a:cubicBezTo>
                    <a:pt x="37" y="26"/>
                    <a:pt x="38" y="27"/>
                    <a:pt x="39" y="27"/>
                  </a:cubicBezTo>
                  <a:cubicBezTo>
                    <a:pt x="59" y="27"/>
                    <a:pt x="59" y="27"/>
                    <a:pt x="59" y="27"/>
                  </a:cubicBezTo>
                  <a:cubicBezTo>
                    <a:pt x="59" y="47"/>
                    <a:pt x="59" y="47"/>
                    <a:pt x="59" y="47"/>
                  </a:cubicBezTo>
                  <a:cubicBezTo>
                    <a:pt x="32" y="47"/>
                    <a:pt x="32" y="47"/>
                    <a:pt x="32" y="47"/>
                  </a:cubicBezTo>
                  <a:cubicBezTo>
                    <a:pt x="31" y="47"/>
                    <a:pt x="30" y="48"/>
                    <a:pt x="30" y="49"/>
                  </a:cubicBezTo>
                  <a:cubicBezTo>
                    <a:pt x="30" y="50"/>
                    <a:pt x="31" y="51"/>
                    <a:pt x="32" y="51"/>
                  </a:cubicBezTo>
                  <a:cubicBezTo>
                    <a:pt x="59" y="51"/>
                    <a:pt x="59" y="51"/>
                    <a:pt x="59" y="51"/>
                  </a:cubicBezTo>
                  <a:cubicBezTo>
                    <a:pt x="59" y="71"/>
                    <a:pt x="59" y="71"/>
                    <a:pt x="59" y="71"/>
                  </a:cubicBezTo>
                  <a:cubicBezTo>
                    <a:pt x="39" y="71"/>
                    <a:pt x="39" y="71"/>
                    <a:pt x="39" y="71"/>
                  </a:cubicBezTo>
                  <a:cubicBezTo>
                    <a:pt x="38" y="71"/>
                    <a:pt x="37" y="72"/>
                    <a:pt x="37" y="73"/>
                  </a:cubicBezTo>
                  <a:cubicBezTo>
                    <a:pt x="37" y="74"/>
                    <a:pt x="38" y="76"/>
                    <a:pt x="39" y="76"/>
                  </a:cubicBezTo>
                  <a:cubicBezTo>
                    <a:pt x="59" y="76"/>
                    <a:pt x="59" y="76"/>
                    <a:pt x="59" y="76"/>
                  </a:cubicBezTo>
                  <a:cubicBezTo>
                    <a:pt x="59" y="95"/>
                    <a:pt x="59" y="95"/>
                    <a:pt x="59" y="95"/>
                  </a:cubicBezTo>
                  <a:cubicBezTo>
                    <a:pt x="32" y="95"/>
                    <a:pt x="32" y="95"/>
                    <a:pt x="32" y="95"/>
                  </a:cubicBezTo>
                  <a:cubicBezTo>
                    <a:pt x="31" y="95"/>
                    <a:pt x="30" y="96"/>
                    <a:pt x="30" y="97"/>
                  </a:cubicBezTo>
                  <a:cubicBezTo>
                    <a:pt x="30" y="99"/>
                    <a:pt x="31" y="100"/>
                    <a:pt x="32" y="100"/>
                  </a:cubicBezTo>
                  <a:cubicBezTo>
                    <a:pt x="59" y="100"/>
                    <a:pt x="59" y="100"/>
                    <a:pt x="59" y="100"/>
                  </a:cubicBezTo>
                  <a:cubicBezTo>
                    <a:pt x="59" y="119"/>
                    <a:pt x="59" y="119"/>
                    <a:pt x="59" y="119"/>
                  </a:cubicBezTo>
                  <a:cubicBezTo>
                    <a:pt x="39" y="119"/>
                    <a:pt x="39" y="119"/>
                    <a:pt x="39" y="119"/>
                  </a:cubicBezTo>
                  <a:cubicBezTo>
                    <a:pt x="38" y="119"/>
                    <a:pt x="37" y="120"/>
                    <a:pt x="37" y="122"/>
                  </a:cubicBezTo>
                  <a:cubicBezTo>
                    <a:pt x="37" y="123"/>
                    <a:pt x="38" y="124"/>
                    <a:pt x="39" y="124"/>
                  </a:cubicBezTo>
                  <a:cubicBezTo>
                    <a:pt x="59" y="124"/>
                    <a:pt x="59" y="124"/>
                    <a:pt x="59" y="124"/>
                  </a:cubicBezTo>
                  <a:cubicBezTo>
                    <a:pt x="59" y="143"/>
                    <a:pt x="59" y="143"/>
                    <a:pt x="59" y="143"/>
                  </a:cubicBezTo>
                  <a:cubicBezTo>
                    <a:pt x="32" y="143"/>
                    <a:pt x="32" y="143"/>
                    <a:pt x="32" y="143"/>
                  </a:cubicBezTo>
                  <a:cubicBezTo>
                    <a:pt x="31" y="143"/>
                    <a:pt x="30" y="144"/>
                    <a:pt x="30" y="146"/>
                  </a:cubicBezTo>
                  <a:cubicBezTo>
                    <a:pt x="30" y="147"/>
                    <a:pt x="31" y="148"/>
                    <a:pt x="32" y="148"/>
                  </a:cubicBezTo>
                  <a:cubicBezTo>
                    <a:pt x="59" y="148"/>
                    <a:pt x="59" y="148"/>
                    <a:pt x="59" y="148"/>
                  </a:cubicBezTo>
                  <a:cubicBezTo>
                    <a:pt x="59" y="168"/>
                    <a:pt x="59" y="168"/>
                    <a:pt x="59" y="168"/>
                  </a:cubicBezTo>
                  <a:cubicBezTo>
                    <a:pt x="39" y="168"/>
                    <a:pt x="39" y="168"/>
                    <a:pt x="39" y="168"/>
                  </a:cubicBezTo>
                  <a:cubicBezTo>
                    <a:pt x="38" y="168"/>
                    <a:pt x="37" y="169"/>
                    <a:pt x="37" y="170"/>
                  </a:cubicBezTo>
                  <a:cubicBezTo>
                    <a:pt x="37" y="171"/>
                    <a:pt x="38" y="172"/>
                    <a:pt x="39" y="172"/>
                  </a:cubicBezTo>
                  <a:cubicBezTo>
                    <a:pt x="59" y="172"/>
                    <a:pt x="59" y="172"/>
                    <a:pt x="59" y="172"/>
                  </a:cubicBezTo>
                  <a:cubicBezTo>
                    <a:pt x="59" y="192"/>
                    <a:pt x="59" y="192"/>
                    <a:pt x="59" y="192"/>
                  </a:cubicBezTo>
                  <a:cubicBezTo>
                    <a:pt x="32" y="192"/>
                    <a:pt x="32" y="192"/>
                    <a:pt x="32" y="192"/>
                  </a:cubicBezTo>
                  <a:cubicBezTo>
                    <a:pt x="31" y="192"/>
                    <a:pt x="30" y="193"/>
                    <a:pt x="30" y="194"/>
                  </a:cubicBezTo>
                  <a:cubicBezTo>
                    <a:pt x="30" y="195"/>
                    <a:pt x="31" y="196"/>
                    <a:pt x="32" y="196"/>
                  </a:cubicBezTo>
                  <a:cubicBezTo>
                    <a:pt x="59" y="196"/>
                    <a:pt x="59" y="196"/>
                    <a:pt x="59" y="196"/>
                  </a:cubicBezTo>
                  <a:cubicBezTo>
                    <a:pt x="59" y="215"/>
                    <a:pt x="59" y="215"/>
                    <a:pt x="59" y="215"/>
                  </a:cubicBezTo>
                  <a:lnTo>
                    <a:pt x="5" y="215"/>
                  </a:lnTo>
                  <a:close/>
                </a:path>
              </a:pathLst>
            </a:custGeom>
            <a:solidFill>
              <a:srgbClr val="FFFFFF"/>
            </a:solidFill>
            <a:ln>
              <a:noFill/>
            </a:ln>
          </p:spPr>
          <p:txBody>
            <a:bodyPr anchor="ctr"/>
            <a:p>
              <a:pPr algn="ctr"/>
              <a:endParaRPr>
                <a:latin typeface="锐字工房云字库细圆GBK" panose="02010604000000000000" pitchFamily="2" charset="-122"/>
                <a:ea typeface="锐字工房云字库细圆GBK" panose="02010604000000000000" pitchFamily="2" charset="-122"/>
                <a:cs typeface="+mn-ea"/>
                <a:sym typeface="+mn-lt"/>
              </a:endParaRPr>
            </a:p>
          </p:txBody>
        </p:sp>
      </p:grpSp>
      <p:sp>
        <p:nvSpPr>
          <p:cNvPr id="1048795" name="ïşḻïďê-TextBox 77"/>
          <p:cNvSpPr txBox="1"/>
          <p:nvPr>
            <p:custDataLst>
              <p:tags r:id="rId17"/>
            </p:custDataLst>
          </p:nvPr>
        </p:nvSpPr>
        <p:spPr bwMode="auto">
          <a:xfrm>
            <a:off x="22861" y="1865750"/>
            <a:ext cx="4067810" cy="708660"/>
          </a:xfrm>
          <a:prstGeom prst="rect">
            <a:avLst/>
          </a:prstGeom>
          <a:noFill/>
        </p:spPr>
        <p:txBody>
          <a:bodyPr wrap="none" lIns="0" tIns="0" rIns="288000" bIns="0" anchor="b" anchorCtr="0">
            <a:noAutofit/>
          </a:bodyPr>
          <a:p>
            <a:pPr algn="ctr" latinLnBrk="0"/>
            <a:r>
              <a:rPr lang="zh-CN" altLang="en-US"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沈仕伟</a:t>
            </a:r>
            <a:endParaRPr lang="en-US" altLang="zh-CN" sz="2000" b="1" dirty="0">
              <a:solidFill>
                <a:schemeClr val="accent2">
                  <a:lumMod val="100000"/>
                </a:schemeClr>
              </a:solidFill>
              <a:effectLst/>
              <a:latin typeface="Times New Roman" panose="02020603050405020304" pitchFamily="18" charset="0"/>
              <a:ea typeface="锐字工房云字库细圆GBK" panose="02010604000000000000" pitchFamily="2" charset="-122"/>
              <a:cs typeface="Times New Roman" panose="02020603050405020304" pitchFamily="18" charset="0"/>
              <a:sym typeface="+mn-lt"/>
            </a:endParaRPr>
          </a:p>
        </p:txBody>
      </p:sp>
      <p:grpSp>
        <p:nvGrpSpPr>
          <p:cNvPr id="145" name="Group 79"/>
          <p:cNvGrpSpPr/>
          <p:nvPr>
            <p:custDataLst>
              <p:tags r:id="rId18"/>
            </p:custDataLst>
          </p:nvPr>
        </p:nvGrpSpPr>
        <p:grpSpPr>
          <a:xfrm>
            <a:off x="8280250" y="1887545"/>
            <a:ext cx="3660140" cy="4458973"/>
            <a:chOff x="3566870" y="3798889"/>
            <a:chExt cx="3627347" cy="1983206"/>
          </a:xfrm>
        </p:grpSpPr>
        <p:sp>
          <p:nvSpPr>
            <p:cNvPr id="1048796" name="ïşḻïďê-TextBox 80"/>
            <p:cNvSpPr txBox="1"/>
            <p:nvPr>
              <p:custDataLst>
                <p:tags r:id="rId19"/>
              </p:custDataLst>
            </p:nvPr>
          </p:nvSpPr>
          <p:spPr bwMode="auto">
            <a:xfrm>
              <a:off x="3826146" y="3798889"/>
              <a:ext cx="3234657" cy="291465"/>
            </a:xfrm>
            <a:prstGeom prst="rect">
              <a:avLst/>
            </a:prstGeom>
            <a:noFill/>
          </p:spPr>
          <p:txBody>
            <a:bodyPr wrap="none" lIns="288000" tIns="0" rIns="288000" bIns="0" anchor="b" anchorCtr="0">
              <a:noAutofit/>
            </a:bodyPr>
            <a:p>
              <a:pPr algn="ctr" latinLnBrk="0"/>
              <a:r>
                <a:rPr lang="zh-CN" altLang="en-US"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韩育霖</a:t>
              </a:r>
              <a:endParaRPr lang="en-US" altLang="zh-CN" sz="2000" b="1" dirty="0">
                <a:solidFill>
                  <a:schemeClr val="accent4">
                    <a:lumMod val="100000"/>
                  </a:schemeClr>
                </a:solidFill>
                <a:effectLst/>
                <a:latin typeface="Times New Roman" panose="02020603050405020304" pitchFamily="18" charset="0"/>
                <a:ea typeface="锐字工房云字库细圆GBK" panose="02010604000000000000" pitchFamily="2" charset="-122"/>
                <a:cs typeface="Times New Roman" panose="02020603050405020304" pitchFamily="18" charset="0"/>
                <a:sym typeface="+mn-lt"/>
              </a:endParaRPr>
            </a:p>
          </p:txBody>
        </p:sp>
        <p:sp>
          <p:nvSpPr>
            <p:cNvPr id="1048797" name="ïşḻïďê-TextBox 81"/>
            <p:cNvSpPr txBox="1"/>
            <p:nvPr>
              <p:custDataLst>
                <p:tags r:id="rId20"/>
              </p:custDataLst>
            </p:nvPr>
          </p:nvSpPr>
          <p:spPr bwMode="auto">
            <a:xfrm>
              <a:off x="3566870" y="4195134"/>
              <a:ext cx="3627347" cy="1586958"/>
            </a:xfrm>
            <a:prstGeom prst="rect">
              <a:avLst/>
            </a:prstGeom>
            <a:noFill/>
          </p:spPr>
          <p:txBody>
            <a:bodyPr wrap="square" lIns="288000" tIns="0" rIns="288000" bIns="0" anchor="t" anchorCtr="0">
              <a:noAutofit/>
            </a:bodyPr>
            <a:p>
              <a:pPr>
                <a:lnSpc>
                  <a:spcPct val="120000"/>
                </a:lnSpc>
              </a:pPr>
              <a:r>
                <a:rPr lang="zh-CN" altLang="en-US" sz="1800" b="1" dirty="0">
                  <a:effectLst/>
                  <a:latin typeface="黑体" panose="02010609060101010101" charset="-122"/>
                  <a:ea typeface="黑体" panose="02010609060101010101" charset="-122"/>
                  <a:cs typeface="黑体" panose="02010609060101010101" charset="-122"/>
                  <a:sym typeface="+mn-lt"/>
                </a:rPr>
                <a:t>整合文献调研与算法设计成果，撰写不少于5000字的综述报告，确保逻辑清晰、引用规范；制作课题汇报PPT，提炼核心创新点与实验结论，准备答辩材料。</a:t>
              </a:r>
              <a:endParaRPr lang="zh-CN" altLang="en-US" sz="1800" b="1" dirty="0">
                <a:effectLst/>
                <a:latin typeface="黑体" panose="02010609060101010101" charset="-122"/>
                <a:ea typeface="黑体" panose="02010609060101010101" charset="-122"/>
                <a:cs typeface="黑体" panose="02010609060101010101" charset="-122"/>
                <a:sym typeface="+mn-lt"/>
              </a:endParaRPr>
            </a:p>
          </p:txBody>
        </p:sp>
      </p:grpSp>
      <p:grpSp>
        <p:nvGrpSpPr>
          <p:cNvPr id="146" name="Group 88"/>
          <p:cNvGrpSpPr/>
          <p:nvPr>
            <p:custDataLst>
              <p:tags r:id="rId21"/>
            </p:custDataLst>
          </p:nvPr>
        </p:nvGrpSpPr>
        <p:grpSpPr>
          <a:xfrm>
            <a:off x="4018317" y="2488890"/>
            <a:ext cx="4394129" cy="2089738"/>
            <a:chOff x="12202209" y="3767218"/>
            <a:chExt cx="4015561" cy="2520663"/>
          </a:xfrm>
        </p:grpSpPr>
        <p:sp>
          <p:nvSpPr>
            <p:cNvPr id="1048798" name="ïşḻïďê-TextBox 89"/>
            <p:cNvSpPr txBox="1"/>
            <p:nvPr>
              <p:custDataLst>
                <p:tags r:id="rId22"/>
              </p:custDataLst>
            </p:nvPr>
          </p:nvSpPr>
          <p:spPr bwMode="auto">
            <a:xfrm>
              <a:off x="12202209" y="3767218"/>
              <a:ext cx="3848677" cy="698540"/>
            </a:xfrm>
            <a:prstGeom prst="rect">
              <a:avLst/>
            </a:prstGeom>
            <a:noFill/>
          </p:spPr>
          <p:txBody>
            <a:bodyPr wrap="none" lIns="0" tIns="0" rIns="288000" bIns="0" anchor="b" anchorCtr="0">
              <a:noAutofit/>
            </a:bodyPr>
            <a:p>
              <a:pPr algn="ctr" latinLnBrk="0"/>
              <a:r>
                <a:rPr lang="zh-CN" altLang="en-US"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王玉峰</a:t>
              </a:r>
              <a:endParaRPr lang="en-US" altLang="zh-CN" sz="2000" b="1" dirty="0">
                <a:solidFill>
                  <a:schemeClr val="accent1">
                    <a:lumMod val="100000"/>
                  </a:schemeClr>
                </a:solidFill>
                <a:effectLst/>
                <a:latin typeface="Times New Roman" panose="02020603050405020304" pitchFamily="18" charset="0"/>
                <a:ea typeface="锐字工房云字库细圆GBK" panose="02010604000000000000" pitchFamily="2" charset="-122"/>
                <a:cs typeface="Times New Roman" panose="02020603050405020304" pitchFamily="18" charset="0"/>
                <a:sym typeface="+mn-lt"/>
              </a:endParaRPr>
            </a:p>
          </p:txBody>
        </p:sp>
        <p:sp>
          <p:nvSpPr>
            <p:cNvPr id="1048799" name="ïşḻïďê-TextBox 90"/>
            <p:cNvSpPr txBox="1"/>
            <p:nvPr>
              <p:custDataLst>
                <p:tags r:id="rId23"/>
              </p:custDataLst>
            </p:nvPr>
          </p:nvSpPr>
          <p:spPr bwMode="auto">
            <a:xfrm>
              <a:off x="12369093" y="4694717"/>
              <a:ext cx="3848677" cy="1593164"/>
            </a:xfrm>
            <a:prstGeom prst="rect">
              <a:avLst/>
            </a:prstGeom>
            <a:noFill/>
          </p:spPr>
          <p:txBody>
            <a:bodyPr wrap="square" lIns="0" tIns="0" rIns="288000" bIns="0" anchor="t" anchorCtr="0"/>
            <a:p>
              <a:pPr>
                <a:lnSpc>
                  <a:spcPct val="120000"/>
                </a:lnSpc>
              </a:pPr>
              <a:r>
                <a:rPr lang="zh-CN" altLang="en-US" b="1" i="0" dirty="0">
                  <a:solidFill>
                    <a:schemeClr val="tx1"/>
                  </a:solidFill>
                  <a:effectLst/>
                  <a:latin typeface="黑体" panose="02010609060101010101" charset="-122"/>
                  <a:ea typeface="黑体" panose="02010609060101010101" charset="-122"/>
                  <a:cs typeface="黑体" panose="02010609060101010101" charset="-122"/>
                </a:rPr>
                <a:t>基于文献调研结果，对比现有先进方法，分析其在跨构型泛化、推理效率、物理约束处理等方面的优缺点；提出改进方向或新方法的技术路线，制定完整方案。</a:t>
              </a:r>
              <a:endParaRPr lang="en-US" altLang="zh-CN" b="1" i="0" dirty="0">
                <a:solidFill>
                  <a:schemeClr val="tx1"/>
                </a:solidFill>
                <a:effectLst/>
                <a:latin typeface="黑体" panose="02010609060101010101" charset="-122"/>
                <a:ea typeface="黑体" panose="02010609060101010101" charset="-122"/>
                <a:cs typeface="黑体" panose="02010609060101010101" charset="-122"/>
                <a:sym typeface="+mn-lt"/>
              </a:endParaRPr>
            </a:p>
          </p:txBody>
        </p:sp>
      </p:grpSp>
      <p:grpSp>
        <p:nvGrpSpPr>
          <p:cNvPr id="147" name="组合 98"/>
          <p:cNvGrpSpPr/>
          <p:nvPr/>
        </p:nvGrpSpPr>
        <p:grpSpPr>
          <a:xfrm>
            <a:off x="0" y="156335"/>
            <a:ext cx="11940390" cy="497839"/>
            <a:chOff x="0" y="156335"/>
            <a:chExt cx="11940390" cy="497839"/>
          </a:xfrm>
        </p:grpSpPr>
        <p:grpSp>
          <p:nvGrpSpPr>
            <p:cNvPr id="148" name="组合 99"/>
            <p:cNvGrpSpPr/>
            <p:nvPr/>
          </p:nvGrpSpPr>
          <p:grpSpPr>
            <a:xfrm>
              <a:off x="0" y="156335"/>
              <a:ext cx="9666514" cy="497839"/>
              <a:chOff x="0" y="248698"/>
              <a:chExt cx="9666514" cy="497839"/>
            </a:xfrm>
          </p:grpSpPr>
          <p:grpSp>
            <p:nvGrpSpPr>
              <p:cNvPr id="149" name="组合 101"/>
              <p:cNvGrpSpPr/>
              <p:nvPr/>
            </p:nvGrpSpPr>
            <p:grpSpPr>
              <a:xfrm>
                <a:off x="0" y="294640"/>
                <a:ext cx="880552" cy="375920"/>
                <a:chOff x="0" y="294640"/>
                <a:chExt cx="1094740" cy="467360"/>
              </a:xfrm>
              <a:solidFill>
                <a:srgbClr val="EE8A10"/>
              </a:solidFill>
            </p:grpSpPr>
            <p:sp>
              <p:nvSpPr>
                <p:cNvPr id="104880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4880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4880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1048803" name="文本框 102"/>
              <p:cNvSpPr txBox="1"/>
              <p:nvPr/>
            </p:nvSpPr>
            <p:spPr>
              <a:xfrm>
                <a:off x="972489" y="248698"/>
                <a:ext cx="2702560" cy="497839"/>
              </a:xfrm>
              <a:prstGeom prst="rect">
                <a:avLst/>
              </a:prstGeom>
              <a:noFill/>
            </p:spPr>
            <p:txBody>
              <a:bodyPr wrap="square" rtlCol="0">
                <a:spAutoFit/>
              </a:bodyPr>
              <a:p>
                <a:r>
                  <a:rPr lang="en-US" altLang="zh-CN" sz="2400" b="1" spc="600" dirty="0">
                    <a:latin typeface="锐字工房云字库细圆GBK" panose="02010604000000000000" pitchFamily="2" charset="-122"/>
                    <a:ea typeface="锐字工房云字库细圆GBK" panose="02010604000000000000" pitchFamily="2" charset="-122"/>
                  </a:rPr>
                  <a:t>Part four</a:t>
                </a:r>
                <a:endParaRPr lang="en-US" altLang="zh-CN" sz="2400" b="1" spc="600" dirty="0">
                  <a:latin typeface="锐字工房云字库细圆GBK" panose="02010604000000000000" pitchFamily="2" charset="-122"/>
                  <a:ea typeface="锐字工房云字库细圆GBK" panose="02010604000000000000" pitchFamily="2" charset="-122"/>
                </a:endParaRPr>
              </a:p>
            </p:txBody>
          </p:sp>
          <p:grpSp>
            <p:nvGrpSpPr>
              <p:cNvPr id="150" name="组合 103"/>
              <p:cNvGrpSpPr/>
              <p:nvPr/>
            </p:nvGrpSpPr>
            <p:grpSpPr>
              <a:xfrm>
                <a:off x="3356076" y="408709"/>
                <a:ext cx="1749361" cy="147782"/>
                <a:chOff x="635462" y="775854"/>
                <a:chExt cx="1749361" cy="147782"/>
              </a:xfrm>
              <a:solidFill>
                <a:srgbClr val="EE8A10"/>
              </a:solidFill>
            </p:grpSpPr>
            <p:sp>
              <p:nvSpPr>
                <p:cNvPr id="1048804" name="椭圆 105"/>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805" name="椭圆 106"/>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806" name="椭圆 107"/>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807" name="椭圆 108"/>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808" name="椭圆 109"/>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cxnSp>
            <p:nvCxnSpPr>
              <p:cNvPr id="3145737" name="直接连接符 104"/>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9" name="图片 100"/>
            <p:cNvPicPr>
              <a:picLocks noChangeAspect="1"/>
            </p:cNvPicPr>
            <p:nvPr/>
          </p:nvPicPr>
          <p:blipFill>
            <a:blip r:embed="rId24" cstate="print"/>
            <a:srcRect/>
            <a:stretch>
              <a:fillRect/>
            </a:stretch>
          </p:blipFill>
          <p:spPr>
            <a:xfrm>
              <a:off x="9765508" y="161931"/>
              <a:ext cx="2174882" cy="456069"/>
            </a:xfrm>
            <a:prstGeom prst="rect">
              <a:avLst/>
            </a:prstGeom>
          </p:spPr>
        </p:pic>
      </p:grpSp>
      <p:sp>
        <p:nvSpPr>
          <p:cNvPr id="1048809" name="文本框 7"/>
          <p:cNvSpPr txBox="1"/>
          <p:nvPr/>
        </p:nvSpPr>
        <p:spPr>
          <a:xfrm>
            <a:off x="4415622" y="820547"/>
            <a:ext cx="3529330" cy="583565"/>
          </a:xfrm>
          <a:prstGeom prst="rect">
            <a:avLst/>
          </a:prstGeom>
          <a:noFill/>
        </p:spPr>
        <p:txBody>
          <a:bodyPr wrap="square" rtlCol="0">
            <a:spAutoFit/>
          </a:bodyPr>
          <a:p>
            <a:pPr algn="ctr"/>
            <a:r>
              <a:rPr lang="zh-CN" altLang="en-US" sz="3200" b="1" dirty="0">
                <a:latin typeface="Times New Roman" panose="02020603050405020304" pitchFamily="18" charset="0"/>
                <a:cs typeface="Times New Roman" panose="02020603050405020304" pitchFamily="18" charset="0"/>
              </a:rPr>
              <a:t>灵巧手物抓取生成</a:t>
            </a:r>
            <a:endParaRPr lang="zh-CN" altLang="en-US" sz="3200" b="1" dirty="0">
              <a:latin typeface="Times New Roman" panose="02020603050405020304" pitchFamily="18" charset="0"/>
              <a:cs typeface="Times New Roman" panose="02020603050405020304" pitchFamily="18" charset="0"/>
            </a:endParaRPr>
          </a:p>
        </p:txBody>
      </p:sp>
      <p:sp>
        <p:nvSpPr>
          <p:cNvPr id="1048810" name="ïşḻïďê-TextBox 90"/>
          <p:cNvSpPr txBox="1"/>
          <p:nvPr>
            <p:custDataLst>
              <p:tags r:id="rId25"/>
            </p:custDataLst>
          </p:nvPr>
        </p:nvSpPr>
        <p:spPr bwMode="auto">
          <a:xfrm>
            <a:off x="538447" y="2714144"/>
            <a:ext cx="3474085" cy="2699385"/>
          </a:xfrm>
          <a:prstGeom prst="rect">
            <a:avLst/>
          </a:prstGeom>
          <a:noFill/>
        </p:spPr>
        <p:txBody>
          <a:bodyPr wrap="square" lIns="0" tIns="0" rIns="288000" bIns="0" anchor="t" anchorCtr="0">
            <a:noAutofit/>
          </a:bodyPr>
          <a:p>
            <a:pPr>
              <a:lnSpc>
                <a:spcPct val="120000"/>
              </a:lnSpc>
            </a:pPr>
            <a:r>
              <a:rPr lang="zh-CN" altLang="en-US" sz="2000" b="1" dirty="0">
                <a:solidFill>
                  <a:schemeClr val="tx1">
                    <a:lumMod val="85000"/>
                    <a:lumOff val="15000"/>
                  </a:schemeClr>
                </a:solidFill>
                <a:effectLst/>
                <a:latin typeface="黑体" panose="02010609060101010101" charset="-122"/>
                <a:ea typeface="黑体" panose="02010609060101010101" charset="-122"/>
                <a:cs typeface="Times New Roman" panose="02020603050405020304" pitchFamily="18" charset="0"/>
                <a:sym typeface="+mn-lt"/>
              </a:rPr>
              <a:t>聚焦近年前沿研究，深入解读参考文献中的四篇核心论文，对比不同方法的创新点、实验设计与性能表现；补充调研人机交互界面在抓取任务中的应用案例，为后续方案设计提供参考。</a:t>
            </a:r>
            <a:endParaRPr lang="zh-CN" altLang="en-US" sz="2000" b="1" dirty="0">
              <a:solidFill>
                <a:schemeClr val="tx1">
                  <a:lumMod val="85000"/>
                  <a:lumOff val="15000"/>
                </a:schemeClr>
              </a:solidFill>
              <a:effectLst/>
              <a:latin typeface="黑体" panose="02010609060101010101" charset="-122"/>
              <a:ea typeface="黑体" panose="02010609060101010101" charset="-122"/>
              <a:cs typeface="Times New Roman" panose="02020603050405020304" pitchFamily="18" charset="0"/>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26" name=""/>
        <p:cNvGrpSpPr/>
        <p:nvPr/>
      </p:nvGrpSpPr>
      <p:grpSpPr>
        <a:xfrm>
          <a:off x="0" y="0"/>
          <a:ext cx="0" cy="0"/>
          <a:chOff x="0" y="0"/>
          <a:chExt cx="0" cy="0"/>
        </a:xfrm>
      </p:grpSpPr>
      <p:sp>
        <p:nvSpPr>
          <p:cNvPr id="1048759" name="文本框 1"/>
          <p:cNvSpPr txBox="1"/>
          <p:nvPr/>
        </p:nvSpPr>
        <p:spPr>
          <a:xfrm>
            <a:off x="497840" y="793750"/>
            <a:ext cx="11696700" cy="521970"/>
          </a:xfrm>
          <a:prstGeom prst="rect">
            <a:avLst/>
          </a:prstGeom>
        </p:spPr>
        <p:txBody>
          <a:bodyPr wrap="square">
            <a:spAutoFit/>
          </a:bodyPr>
          <a:p>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时间安排</a:t>
            </a:r>
            <a:endPar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127" name="组合 2"/>
          <p:cNvGrpSpPr/>
          <p:nvPr/>
        </p:nvGrpSpPr>
        <p:grpSpPr>
          <a:xfrm>
            <a:off x="0" y="156335"/>
            <a:ext cx="11940390" cy="461665"/>
            <a:chOff x="0" y="156335"/>
            <a:chExt cx="11940390" cy="461665"/>
          </a:xfrm>
        </p:grpSpPr>
        <p:grpSp>
          <p:nvGrpSpPr>
            <p:cNvPr id="128" name="组合 3"/>
            <p:cNvGrpSpPr/>
            <p:nvPr/>
          </p:nvGrpSpPr>
          <p:grpSpPr>
            <a:xfrm>
              <a:off x="0" y="156335"/>
              <a:ext cx="9666514" cy="460375"/>
              <a:chOff x="0" y="248698"/>
              <a:chExt cx="9666514" cy="460375"/>
            </a:xfrm>
          </p:grpSpPr>
          <p:grpSp>
            <p:nvGrpSpPr>
              <p:cNvPr id="129" name="组合 4"/>
              <p:cNvGrpSpPr/>
              <p:nvPr/>
            </p:nvGrpSpPr>
            <p:grpSpPr>
              <a:xfrm>
                <a:off x="0" y="294640"/>
                <a:ext cx="880552" cy="375920"/>
                <a:chOff x="0" y="294640"/>
                <a:chExt cx="1094740" cy="467360"/>
              </a:xfrm>
              <a:solidFill>
                <a:srgbClr val="EE8A10"/>
              </a:solidFill>
            </p:grpSpPr>
            <p:sp>
              <p:nvSpPr>
                <p:cNvPr id="104876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4876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4876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1048763" name="文本框 5"/>
              <p:cNvSpPr txBox="1"/>
              <p:nvPr/>
            </p:nvSpPr>
            <p:spPr>
              <a:xfrm>
                <a:off x="972489" y="248698"/>
                <a:ext cx="2702560" cy="460375"/>
              </a:xfrm>
              <a:prstGeom prst="rect">
                <a:avLst/>
              </a:prstGeom>
              <a:noFill/>
            </p:spPr>
            <p:txBody>
              <a:bodyPr wrap="square" rtlCol="0">
                <a:spAutoFit/>
              </a:bodyPr>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a:t>
                </a:r>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four</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30" name="组合 6"/>
              <p:cNvGrpSpPr/>
              <p:nvPr/>
            </p:nvGrpSpPr>
            <p:grpSpPr>
              <a:xfrm>
                <a:off x="3356076" y="408709"/>
                <a:ext cx="1749361" cy="147782"/>
                <a:chOff x="635462" y="775854"/>
                <a:chExt cx="1749361" cy="147782"/>
              </a:xfrm>
              <a:solidFill>
                <a:srgbClr val="EE8A10"/>
              </a:solidFill>
            </p:grpSpPr>
            <p:sp>
              <p:nvSpPr>
                <p:cNvPr id="1048764"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65"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66"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67"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768"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cxnSp>
            <p:nvCxnSpPr>
              <p:cNvPr id="3145736"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5"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1048769" name="文本框 18"/>
          <p:cNvSpPr txBox="1"/>
          <p:nvPr/>
        </p:nvSpPr>
        <p:spPr>
          <a:xfrm>
            <a:off x="637540" y="1724025"/>
            <a:ext cx="9128125" cy="3635375"/>
          </a:xfrm>
          <a:prstGeom prst="rect">
            <a:avLst/>
          </a:prstGeom>
          <a:noFill/>
        </p:spPr>
        <p:txBody>
          <a:bodyPr wrap="square">
            <a:noAutofit/>
          </a:bodyPr>
          <a:p>
            <a:pPr indent="0" algn="l">
              <a:buFont typeface="+mj-lt"/>
              <a:buNone/>
            </a:pPr>
            <a:r>
              <a:rPr lang="zh-CN" altLang="en-US" b="1" i="0" dirty="0">
                <a:effectLst/>
                <a:latin typeface="微软雅黑" panose="020B0503020204020204" pitchFamily="34" charset="-122"/>
                <a:ea typeface="微软雅黑" panose="020B0503020204020204" pitchFamily="34" charset="-122"/>
              </a:rPr>
              <a:t>第</a:t>
            </a:r>
            <a:r>
              <a:rPr lang="en-US" altLang="zh-CN" b="1" i="0" dirty="0">
                <a:effectLst/>
                <a:latin typeface="微软雅黑" panose="020B0503020204020204" pitchFamily="34" charset="-122"/>
                <a:ea typeface="微软雅黑" panose="020B0503020204020204" pitchFamily="34" charset="-122"/>
              </a:rPr>
              <a:t>1-2</a:t>
            </a:r>
            <a:r>
              <a:rPr lang="zh-CN" altLang="en-US" b="1" i="0" dirty="0">
                <a:effectLst/>
                <a:latin typeface="微软雅黑" panose="020B0503020204020204" pitchFamily="34" charset="-122"/>
                <a:ea typeface="微软雅黑" panose="020B0503020204020204" pitchFamily="34" charset="-122"/>
              </a:rPr>
              <a:t>周：文献调研与方案制定。</a:t>
            </a:r>
            <a:r>
              <a:rPr lang="zh-CN" altLang="en-US" b="1" i="0" dirty="0">
                <a:effectLst/>
                <a:latin typeface="微软雅黑" panose="020B0503020204020204" pitchFamily="34" charset="-122"/>
                <a:ea typeface="微软雅黑" panose="020B0503020204020204" pitchFamily="34" charset="-122"/>
              </a:rPr>
              <a:t>完成文献收集与初步阅读，梳理灵巧手抓取生成的研究现状与技术瓶颈。</a:t>
            </a:r>
            <a:endParaRPr lang="zh-CN" altLang="en-US" b="1" i="0" dirty="0">
              <a:effectLst/>
              <a:latin typeface="微软雅黑" panose="020B0503020204020204" pitchFamily="34" charset="-122"/>
              <a:ea typeface="微软雅黑" panose="020B0503020204020204" pitchFamily="34" charset="-122"/>
            </a:endParaRPr>
          </a:p>
          <a:p>
            <a:pPr indent="0" algn="l">
              <a:buFont typeface="+mj-lt"/>
              <a:buNone/>
            </a:pPr>
            <a:endParaRPr lang="zh-CN" altLang="en-US" b="1" i="0" dirty="0">
              <a:effectLst/>
              <a:latin typeface="微软雅黑" panose="020B0503020204020204" pitchFamily="34" charset="-122"/>
              <a:ea typeface="微软雅黑" panose="020B0503020204020204" pitchFamily="34" charset="-122"/>
            </a:endParaRPr>
          </a:p>
          <a:p>
            <a:pPr indent="0" algn="l">
              <a:buFont typeface="+mj-lt"/>
              <a:buNone/>
            </a:pPr>
            <a:r>
              <a:rPr lang="zh-CN" altLang="en-US" b="1" i="0" dirty="0">
                <a:effectLst/>
                <a:latin typeface="微软雅黑" panose="020B0503020204020204" pitchFamily="34" charset="-122"/>
                <a:ea typeface="微软雅黑" panose="020B0503020204020204" pitchFamily="34" charset="-122"/>
              </a:rPr>
              <a:t>第</a:t>
            </a:r>
            <a:r>
              <a:rPr lang="en-US" altLang="zh-CN" b="1" i="0" dirty="0">
                <a:effectLst/>
                <a:latin typeface="微软雅黑" panose="020B0503020204020204" pitchFamily="34" charset="-122"/>
                <a:ea typeface="微软雅黑" panose="020B0503020204020204" pitchFamily="34" charset="-122"/>
              </a:rPr>
              <a:t>3-5</a:t>
            </a:r>
            <a:r>
              <a:rPr lang="zh-CN" altLang="en-US" b="1" i="0" dirty="0">
                <a:effectLst/>
                <a:latin typeface="微软雅黑" panose="020B0503020204020204" pitchFamily="34" charset="-122"/>
                <a:ea typeface="微软雅黑" panose="020B0503020204020204" pitchFamily="34" charset="-122"/>
              </a:rPr>
              <a:t>周：算法实现与实验验证。完成文献综述初稿，重点分析现有方法的优缺点；完成算法原型开发，实现抓取生成的核心模块；搭建仿真实验环境（如</a:t>
            </a:r>
            <a:r>
              <a:rPr lang="en-US" altLang="zh-CN" b="1" i="0" dirty="0">
                <a:effectLst/>
                <a:latin typeface="微软雅黑" panose="020B0503020204020204" pitchFamily="34" charset="-122"/>
                <a:ea typeface="微软雅黑" panose="020B0503020204020204" pitchFamily="34" charset="-122"/>
              </a:rPr>
              <a:t>PyBullet</a:t>
            </a:r>
            <a:r>
              <a:rPr lang="zh-CN" altLang="en-US" b="1" i="0" dirty="0">
                <a:effectLst/>
                <a:latin typeface="微软雅黑" panose="020B0503020204020204" pitchFamily="34" charset="-122"/>
                <a:ea typeface="微软雅黑" panose="020B0503020204020204" pitchFamily="34" charset="-122"/>
              </a:rPr>
              <a:t>、</a:t>
            </a:r>
            <a:r>
              <a:rPr lang="en-US" altLang="zh-CN" b="1" i="0" dirty="0">
                <a:effectLst/>
                <a:latin typeface="微软雅黑" panose="020B0503020204020204" pitchFamily="34" charset="-122"/>
                <a:ea typeface="微软雅黑" panose="020B0503020204020204" pitchFamily="34" charset="-122"/>
              </a:rPr>
              <a:t>Isaac Gym</a:t>
            </a:r>
            <a:r>
              <a:rPr lang="zh-CN" altLang="en-US" b="1" i="0" dirty="0">
                <a:effectLst/>
                <a:latin typeface="微软雅黑" panose="020B0503020204020204" pitchFamily="34" charset="-122"/>
                <a:ea typeface="微软雅黑" panose="020B0503020204020204" pitchFamily="34" charset="-122"/>
              </a:rPr>
              <a:t>），准备实验数据集。</a:t>
            </a:r>
            <a:endParaRPr lang="zh-CN" altLang="en-US" b="1" i="0" dirty="0">
              <a:effectLst/>
              <a:latin typeface="微软雅黑" panose="020B0503020204020204" pitchFamily="34" charset="-122"/>
              <a:ea typeface="微软雅黑" panose="020B0503020204020204" pitchFamily="34" charset="-122"/>
            </a:endParaRPr>
          </a:p>
          <a:p>
            <a:pPr indent="0" algn="l">
              <a:buFont typeface="+mj-lt"/>
              <a:buNone/>
            </a:pPr>
            <a:endParaRPr lang="zh-CN" altLang="en-US" b="1" i="0" dirty="0">
              <a:effectLst/>
              <a:latin typeface="微软雅黑" panose="020B0503020204020204" pitchFamily="34" charset="-122"/>
              <a:ea typeface="微软雅黑" panose="020B0503020204020204" pitchFamily="34" charset="-122"/>
            </a:endParaRPr>
          </a:p>
          <a:p>
            <a:pPr indent="0" algn="l">
              <a:buFont typeface="+mj-lt"/>
              <a:buNone/>
            </a:pPr>
            <a:r>
              <a:rPr lang="zh-CN" altLang="en-US" b="1" i="0" dirty="0">
                <a:effectLst/>
                <a:latin typeface="微软雅黑" panose="020B0503020204020204" pitchFamily="34" charset="-122"/>
                <a:ea typeface="微软雅黑" panose="020B0503020204020204" pitchFamily="34" charset="-122"/>
              </a:rPr>
              <a:t>第</a:t>
            </a:r>
            <a:r>
              <a:rPr lang="en-US" altLang="zh-CN" b="1" i="0" dirty="0">
                <a:effectLst/>
                <a:latin typeface="微软雅黑" panose="020B0503020204020204" pitchFamily="34" charset="-122"/>
                <a:ea typeface="微软雅黑" panose="020B0503020204020204" pitchFamily="34" charset="-122"/>
              </a:rPr>
              <a:t>6</a:t>
            </a:r>
            <a:r>
              <a:rPr lang="zh-CN" altLang="en-US" b="1" i="0" dirty="0">
                <a:effectLst/>
                <a:latin typeface="微软雅黑" panose="020B0503020204020204" pitchFamily="34" charset="-122"/>
                <a:ea typeface="微软雅黑" panose="020B0503020204020204" pitchFamily="34" charset="-122"/>
              </a:rPr>
              <a:t>周到期末答辩：整理实验数据，总结创新方案，形成答辩材料、</a:t>
            </a:r>
            <a:r>
              <a:rPr lang="en-US" altLang="zh-CN" b="1" i="0" dirty="0">
                <a:effectLst/>
                <a:latin typeface="微软雅黑" panose="020B0503020204020204" pitchFamily="34" charset="-122"/>
                <a:ea typeface="微软雅黑" panose="020B0503020204020204" pitchFamily="34" charset="-122"/>
              </a:rPr>
              <a:t>PPT</a:t>
            </a:r>
            <a:r>
              <a:rPr lang="zh-CN" altLang="en-US" b="1" i="0" dirty="0">
                <a:effectLst/>
                <a:latin typeface="微软雅黑" panose="020B0503020204020204" pitchFamily="34" charset="-122"/>
                <a:ea typeface="微软雅黑" panose="020B0503020204020204" pitchFamily="34" charset="-122"/>
              </a:rPr>
              <a:t>。</a:t>
            </a:r>
            <a:endParaRPr lang="zh-CN" altLang="en-US" b="1" i="0" dirty="0">
              <a:effectLst/>
              <a:latin typeface="微软雅黑" panose="020B0503020204020204" pitchFamily="34" charset="-122"/>
              <a:ea typeface="微软雅黑" panose="020B0503020204020204" pitchFamily="34" charset="-122"/>
            </a:endParaRPr>
          </a:p>
          <a:p>
            <a:pPr algn="l">
              <a:buFont typeface="+mj-lt"/>
              <a:buAutoNum type="arabicPeriod"/>
            </a:pPr>
            <a:endParaRPr lang="zh-CN" altLang="en-US" b="1" i="0" dirty="0">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1" cstate="screen">
            <a:lum/>
          </a:blip>
          <a:srcRect/>
          <a:stretch>
            <a:fillRect/>
          </a:stretch>
        </a:blipFill>
        <a:effectLst/>
      </p:bgPr>
    </p:bg>
    <p:spTree>
      <p:nvGrpSpPr>
        <p:cNvPr id="162" name=""/>
        <p:cNvGrpSpPr/>
        <p:nvPr/>
      </p:nvGrpSpPr>
      <p:grpSpPr>
        <a:xfrm>
          <a:off x="0" y="0"/>
          <a:ext cx="0" cy="0"/>
          <a:chOff x="0" y="0"/>
          <a:chExt cx="0" cy="0"/>
        </a:xfrm>
      </p:grpSpPr>
      <p:sp>
        <p:nvSpPr>
          <p:cNvPr id="1048833" name="矩形 20"/>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pic>
        <p:nvPicPr>
          <p:cNvPr id="2097181" name="Picture 2"/>
          <p:cNvPicPr>
            <a:picLocks noChangeAspect="1" noChangeArrowheads="1"/>
          </p:cNvPicPr>
          <p:nvPr/>
        </p:nvPicPr>
        <p:blipFill rotWithShape="1">
          <a:blip r:embed="rId2" cstate="print"/>
          <a:srcRect/>
          <a:stretch>
            <a:fillRect/>
          </a:stretch>
        </p:blipFill>
        <p:spPr bwMode="auto">
          <a:xfrm>
            <a:off x="4191000" y="1407160"/>
            <a:ext cx="8001000" cy="4043680"/>
          </a:xfrm>
          <a:prstGeom prst="rect">
            <a:avLst/>
          </a:prstGeom>
          <a:noFill/>
        </p:spPr>
      </p:pic>
      <p:grpSp>
        <p:nvGrpSpPr>
          <p:cNvPr id="163" name="组合 22"/>
          <p:cNvGrpSpPr/>
          <p:nvPr/>
        </p:nvGrpSpPr>
        <p:grpSpPr>
          <a:xfrm>
            <a:off x="20955" y="764540"/>
            <a:ext cx="12385040" cy="4686300"/>
            <a:chOff x="0" y="795020"/>
            <a:chExt cx="12070080" cy="4655820"/>
          </a:xfrm>
        </p:grpSpPr>
        <p:grpSp>
          <p:nvGrpSpPr>
            <p:cNvPr id="164" name="组合 25"/>
            <p:cNvGrpSpPr/>
            <p:nvPr/>
          </p:nvGrpSpPr>
          <p:grpSpPr>
            <a:xfrm>
              <a:off x="0" y="1407160"/>
              <a:ext cx="4064000" cy="4043680"/>
              <a:chOff x="0" y="1407160"/>
              <a:chExt cx="4064000" cy="4043680"/>
            </a:xfrm>
          </p:grpSpPr>
          <p:sp>
            <p:nvSpPr>
              <p:cNvPr id="1048834" name="矩形 31"/>
              <p:cNvSpPr/>
              <p:nvPr/>
            </p:nvSpPr>
            <p:spPr>
              <a:xfrm>
                <a:off x="0" y="1407160"/>
                <a:ext cx="4064000" cy="40436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造字工房力黑（非商用）常规体" pitchFamily="50" charset="-122"/>
                  <a:ea typeface="造字工房力黑（非商用）常规体" pitchFamily="50" charset="-122"/>
                  <a:cs typeface="+mn-ea"/>
                  <a:sym typeface="+mn-lt"/>
                </a:endParaRPr>
              </a:p>
            </p:txBody>
          </p:sp>
          <p:sp>
            <p:nvSpPr>
              <p:cNvPr id="1048835" name="文本框 33"/>
              <p:cNvSpPr txBox="1"/>
              <p:nvPr/>
            </p:nvSpPr>
            <p:spPr>
              <a:xfrm>
                <a:off x="126865" y="2714322"/>
                <a:ext cx="2885086" cy="2365131"/>
              </a:xfrm>
              <a:prstGeom prst="rect">
                <a:avLst/>
              </a:prstGeom>
              <a:noFill/>
            </p:spPr>
            <p:txBody>
              <a:bodyPr wrap="square" rtlCol="0">
                <a:noAutofit/>
              </a:bodyPr>
              <a:p>
                <a:pPr algn="ctr">
                  <a:lnSpc>
                    <a:spcPct val="100000"/>
                  </a:lnSpc>
                </a:pPr>
                <a:r>
                  <a:rPr lang="zh-CN" altLang="en-US" sz="4800" dirty="0">
                    <a:solidFill>
                      <a:schemeClr val="bg1"/>
                    </a:solidFill>
                    <a:latin typeface="造字工房力黑（非商用）常规体" pitchFamily="50" charset="-122"/>
                    <a:ea typeface="造字工房力黑（非商用）常规体" pitchFamily="50" charset="-122"/>
                    <a:cs typeface="+mn-ea"/>
                    <a:sym typeface="+mn-lt"/>
                  </a:rPr>
                  <a:t>扩展</a:t>
                </a:r>
                <a:r>
                  <a:rPr lang="zh-CN" altLang="en-US" sz="4800" dirty="0">
                    <a:solidFill>
                      <a:schemeClr val="bg1"/>
                    </a:solidFill>
                    <a:latin typeface="造字工房力黑（非商用）常规体" pitchFamily="50" charset="-122"/>
                    <a:ea typeface="造字工房力黑（非商用）常规体" pitchFamily="50" charset="-122"/>
                    <a:cs typeface="+mn-ea"/>
                    <a:sym typeface="+mn-lt"/>
                  </a:rPr>
                  <a:t>内容</a:t>
                </a:r>
                <a:endParaRPr lang="zh-CN" altLang="en-US" sz="4800" dirty="0">
                  <a:solidFill>
                    <a:schemeClr val="bg1"/>
                  </a:solidFill>
                  <a:latin typeface="造字工房力黑（非商用）常规体" pitchFamily="50" charset="-122"/>
                  <a:ea typeface="造字工房力黑（非商用）常规体" pitchFamily="50" charset="-122"/>
                  <a:cs typeface="+mn-ea"/>
                  <a:sym typeface="+mn-lt"/>
                </a:endParaRPr>
              </a:p>
            </p:txBody>
          </p:sp>
        </p:grpSp>
        <p:grpSp>
          <p:nvGrpSpPr>
            <p:cNvPr id="165" name="组合 26"/>
            <p:cNvGrpSpPr/>
            <p:nvPr/>
          </p:nvGrpSpPr>
          <p:grpSpPr>
            <a:xfrm>
              <a:off x="7184045" y="795020"/>
              <a:ext cx="4886035" cy="1386840"/>
              <a:chOff x="7184045" y="795020"/>
              <a:chExt cx="4886035" cy="1386840"/>
            </a:xfrm>
          </p:grpSpPr>
          <p:sp>
            <p:nvSpPr>
              <p:cNvPr id="1048836" name="任意多边形 28"/>
              <p:cNvSpPr/>
              <p:nvPr/>
            </p:nvSpPr>
            <p:spPr>
              <a:xfrm flipH="1" flipV="1">
                <a:off x="7442309" y="795020"/>
                <a:ext cx="4627771" cy="1386840"/>
              </a:xfrm>
              <a:custGeom>
                <a:avLst/>
                <a:gdLst>
                  <a:gd name="connsiteX0" fmla="*/ 0 w 7147560"/>
                  <a:gd name="connsiteY0" fmla="*/ 0 h 2814320"/>
                  <a:gd name="connsiteX1" fmla="*/ 6443980 w 7147560"/>
                  <a:gd name="connsiteY1" fmla="*/ 0 h 2814320"/>
                  <a:gd name="connsiteX2" fmla="*/ 7147560 w 7147560"/>
                  <a:gd name="connsiteY2" fmla="*/ 2814320 h 2814320"/>
                  <a:gd name="connsiteX3" fmla="*/ 0 w 7147560"/>
                  <a:gd name="connsiteY3" fmla="*/ 2814320 h 2814320"/>
                  <a:gd name="connsiteX0-1" fmla="*/ 0 w 8689506"/>
                  <a:gd name="connsiteY0-2" fmla="*/ 0 h 2814320"/>
                  <a:gd name="connsiteX1-3" fmla="*/ 6443980 w 8689506"/>
                  <a:gd name="connsiteY1-4" fmla="*/ 0 h 2814320"/>
                  <a:gd name="connsiteX2-5" fmla="*/ 8689506 w 8689506"/>
                  <a:gd name="connsiteY2-6" fmla="*/ 2814320 h 2814320"/>
                  <a:gd name="connsiteX3-7" fmla="*/ 0 w 8689506"/>
                  <a:gd name="connsiteY3-8" fmla="*/ 2814320 h 2814320"/>
                  <a:gd name="connsiteX4" fmla="*/ 0 w 8689506"/>
                  <a:gd name="connsiteY4" fmla="*/ 0 h 2814320"/>
                  <a:gd name="connsiteX0-9" fmla="*/ 0 w 9235080"/>
                  <a:gd name="connsiteY0-10" fmla="*/ 0 h 2834640"/>
                  <a:gd name="connsiteX1-11" fmla="*/ 6443980 w 9235080"/>
                  <a:gd name="connsiteY1-12" fmla="*/ 0 h 2834640"/>
                  <a:gd name="connsiteX2-13" fmla="*/ 9235080 w 9235080"/>
                  <a:gd name="connsiteY2-14" fmla="*/ 2834640 h 2834640"/>
                  <a:gd name="connsiteX3-15" fmla="*/ 0 w 9235080"/>
                  <a:gd name="connsiteY3-16" fmla="*/ 2814320 h 2834640"/>
                  <a:gd name="connsiteX4-17" fmla="*/ 0 w 9235080"/>
                  <a:gd name="connsiteY4-18" fmla="*/ 0 h 2834640"/>
                </a:gdLst>
                <a:ahLst/>
                <a:cxnLst>
                  <a:cxn ang="0">
                    <a:pos x="connsiteX0-1" y="connsiteY0-2"/>
                  </a:cxn>
                  <a:cxn ang="0">
                    <a:pos x="connsiteX1-3" y="connsiteY1-4"/>
                  </a:cxn>
                  <a:cxn ang="0">
                    <a:pos x="connsiteX2-5" y="connsiteY2-6"/>
                  </a:cxn>
                  <a:cxn ang="0">
                    <a:pos x="connsiteX3-7" y="connsiteY3-8"/>
                  </a:cxn>
                  <a:cxn ang="0">
                    <a:pos x="connsiteX4-17" y="connsiteY4-18"/>
                  </a:cxn>
                </a:cxnLst>
                <a:rect l="l" t="t" r="r" b="b"/>
                <a:pathLst>
                  <a:path w="9235080" h="2834640">
                    <a:moveTo>
                      <a:pt x="0" y="0"/>
                    </a:moveTo>
                    <a:lnTo>
                      <a:pt x="6443980" y="0"/>
                    </a:lnTo>
                    <a:lnTo>
                      <a:pt x="9235080" y="2834640"/>
                    </a:lnTo>
                    <a:lnTo>
                      <a:pt x="0" y="2814320"/>
                    </a:lnTo>
                    <a:lnTo>
                      <a:pt x="0" y="0"/>
                    </a:lnTo>
                    <a:close/>
                  </a:path>
                </a:pathLst>
              </a:cu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造字工房力黑（非商用）常规体" pitchFamily="50" charset="-122"/>
                  <a:ea typeface="造字工房力黑（非商用）常规体" pitchFamily="50" charset="-122"/>
                  <a:cs typeface="+mn-ea"/>
                  <a:sym typeface="+mn-lt"/>
                </a:endParaRPr>
              </a:p>
            </p:txBody>
          </p:sp>
          <p:sp>
            <p:nvSpPr>
              <p:cNvPr id="1048837" name="文本框 30"/>
              <p:cNvSpPr txBox="1"/>
              <p:nvPr/>
            </p:nvSpPr>
            <p:spPr>
              <a:xfrm>
                <a:off x="7184045" y="933241"/>
                <a:ext cx="4479636" cy="759568"/>
              </a:xfrm>
              <a:prstGeom prst="rect">
                <a:avLst/>
              </a:prstGeom>
              <a:noFill/>
            </p:spPr>
            <p:txBody>
              <a:bodyPr wrap="square" rtlCol="0">
                <a:spAutoFit/>
              </a:bodyPr>
              <a:p>
                <a:pPr algn="r"/>
                <a:r>
                  <a:rPr lang="en-US" altLang="zh-CN" sz="4000" spc="300" dirty="0">
                    <a:solidFill>
                      <a:schemeClr val="bg1"/>
                    </a:solidFill>
                    <a:latin typeface="造字工房力黑（非商用）常规体" pitchFamily="50" charset="-122"/>
                    <a:ea typeface="造字工房力黑（非商用）常规体" pitchFamily="50" charset="-122"/>
                    <a:cs typeface="+mn-ea"/>
                    <a:sym typeface="+mn-lt"/>
                  </a:rPr>
                  <a:t>PART FIVE</a:t>
                </a:r>
                <a:endParaRPr lang="zh-CN" altLang="en-US" sz="4000" spc="300" dirty="0">
                  <a:solidFill>
                    <a:schemeClr val="bg1"/>
                  </a:solidFill>
                  <a:latin typeface="造字工房力黑（非商用）常规体" pitchFamily="50" charset="-122"/>
                  <a:ea typeface="造字工房力黑（非商用）常规体" pitchFamily="50" charset="-122"/>
                  <a:cs typeface="+mn-ea"/>
                  <a:sym typeface="+mn-lt"/>
                </a:endParaRPr>
              </a:p>
            </p:txBody>
          </p:sp>
        </p:grpSp>
        <p:sp>
          <p:nvSpPr>
            <p:cNvPr id="1048838" name="文本框 27"/>
            <p:cNvSpPr txBox="1"/>
            <p:nvPr/>
          </p:nvSpPr>
          <p:spPr>
            <a:xfrm>
              <a:off x="9550399" y="3052435"/>
              <a:ext cx="2349194" cy="1435860"/>
            </a:xfrm>
            <a:prstGeom prst="rect">
              <a:avLst/>
            </a:prstGeom>
            <a:noFill/>
            <a:ln>
              <a:solidFill>
                <a:schemeClr val="bg1"/>
              </a:solidFill>
            </a:ln>
          </p:spPr>
          <p:txBody>
            <a:bodyPr wrap="square" rtlCol="0">
              <a:spAutoFit/>
            </a:bodyPr>
            <a:p>
              <a:pPr algn="ctr"/>
              <a:r>
                <a:rPr lang="en-US" altLang="zh-CN" sz="8800" spc="600" dirty="0">
                  <a:solidFill>
                    <a:schemeClr val="bg1"/>
                  </a:solidFill>
                  <a:latin typeface="造字工房力黑（非商用）常规体" pitchFamily="50" charset="-122"/>
                  <a:ea typeface="造字工房力黑（非商用）常规体" pitchFamily="50" charset="-122"/>
                  <a:cs typeface="+mn-ea"/>
                  <a:sym typeface="+mn-lt"/>
                </a:rPr>
                <a:t>06</a:t>
              </a:r>
              <a:endParaRPr lang="zh-CN" altLang="en-US" sz="8800" spc="600" dirty="0">
                <a:solidFill>
                  <a:schemeClr val="bg1"/>
                </a:solidFill>
                <a:latin typeface="造字工房力黑（非商用）常规体" pitchFamily="50" charset="-122"/>
                <a:ea typeface="造字工房力黑（非商用）常规体" pitchFamily="50" charset="-122"/>
                <a:cs typeface="+mn-ea"/>
                <a:sym typeface="+mn-lt"/>
              </a:endParaRPr>
            </a:p>
          </p:txBody>
        </p:sp>
      </p:grpSp>
      <p:pic>
        <p:nvPicPr>
          <p:cNvPr id="2097182" name="图片 14"/>
          <p:cNvPicPr>
            <a:picLocks noChangeAspect="1"/>
          </p:cNvPicPr>
          <p:nvPr/>
        </p:nvPicPr>
        <p:blipFill>
          <a:blip r:embed="rId3" cstate="print"/>
          <a:srcRect/>
          <a:stretch>
            <a:fillRect/>
          </a:stretch>
        </p:blipFill>
        <p:spPr>
          <a:xfrm>
            <a:off x="874769" y="477840"/>
            <a:ext cx="2174882" cy="45606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74" name=""/>
        <p:cNvGrpSpPr/>
        <p:nvPr/>
      </p:nvGrpSpPr>
      <p:grpSpPr>
        <a:xfrm>
          <a:off x="0" y="0"/>
          <a:ext cx="0" cy="0"/>
          <a:chOff x="0" y="0"/>
          <a:chExt cx="0" cy="0"/>
        </a:xfrm>
      </p:grpSpPr>
      <p:pic>
        <p:nvPicPr>
          <p:cNvPr id="2" name="图片 1" descr="ScreenShot_2026-04-07_234310_927"/>
          <p:cNvPicPr>
            <a:picLocks noChangeAspect="1"/>
          </p:cNvPicPr>
          <p:nvPr/>
        </p:nvPicPr>
        <p:blipFill>
          <a:blip r:embed="rId1"/>
          <a:stretch>
            <a:fillRect/>
          </a:stretch>
        </p:blipFill>
        <p:spPr>
          <a:xfrm>
            <a:off x="7981950" y="4084955"/>
            <a:ext cx="3771900" cy="762000"/>
          </a:xfrm>
          <a:prstGeom prst="rect">
            <a:avLst/>
          </a:prstGeom>
        </p:spPr>
      </p:pic>
      <p:sp>
        <p:nvSpPr>
          <p:cNvPr id="1048859" name="内容占位符 2"/>
          <p:cNvSpPr>
            <a:spLocks noGrp="1"/>
          </p:cNvSpPr>
          <p:nvPr>
            <p:ph idx="1"/>
          </p:nvPr>
        </p:nvSpPr>
        <p:spPr>
          <a:xfrm>
            <a:off x="416560" y="1174115"/>
            <a:ext cx="10515600" cy="5271770"/>
          </a:xfrm>
        </p:spPr>
        <p:txBody>
          <a:bodyPr/>
          <a:p>
            <a:pPr marL="0" indent="0">
              <a:buNone/>
            </a:pPr>
            <a:r>
              <a:rPr lang="zh-CN" altLang="en-US" sz="2400" b="1" dirty="0">
                <a:latin typeface="黑体" panose="02010609060101010101" charset="-122"/>
                <a:ea typeface="黑体" panose="02010609060101010101" charset="-122"/>
                <a:cs typeface="黑体" panose="02010609060101010101" charset="-122"/>
              </a:rPr>
              <a:t>数学与三维几何基础：</a:t>
            </a:r>
            <a:endParaRPr lang="zh-CN" altLang="en-US" sz="2400" b="1" dirty="0">
              <a:latin typeface="黑体" panose="02010609060101010101" charset="-122"/>
              <a:ea typeface="黑体" panose="02010609060101010101" charset="-122"/>
              <a:cs typeface="黑体" panose="02010609060101010101" charset="-122"/>
            </a:endParaRPr>
          </a:p>
          <a:p>
            <a:pPr marL="0" indent="457200">
              <a:buNone/>
            </a:pPr>
            <a:r>
              <a:rPr lang="zh-CN" altLang="en-US" sz="1800" dirty="0">
                <a:latin typeface="黑体" panose="02010609060101010101" charset="-122"/>
                <a:ea typeface="黑体" panose="02010609060101010101" charset="-122"/>
                <a:cs typeface="黑体" panose="02010609060101010101" charset="-122"/>
              </a:rPr>
              <a:t>灵巧手抓取问题本质上是一个高维空间中的几何建模与优化问题。与平行夹爪仅需确定抓取中心、接近方向和夹爪开合宽度不同，灵巧手往往具有十几个到二十多个自由度，其抓取过程不仅涉及机械手整体在三维空间中的位姿变化，还涉及各手指关节的协同运动、接触点分布以及手</a:t>
            </a:r>
            <a:r>
              <a:rPr lang="en-US" altLang="zh-CN" sz="1800" dirty="0">
                <a:latin typeface="黑体" panose="02010609060101010101" charset="-122"/>
                <a:ea typeface="黑体" panose="02010609060101010101" charset="-122"/>
                <a:cs typeface="黑体" panose="02010609060101010101" charset="-122"/>
              </a:rPr>
              <a:t>-</a:t>
            </a:r>
            <a:r>
              <a:rPr lang="zh-CN" altLang="en-US" sz="1800" dirty="0">
                <a:latin typeface="黑体" panose="02010609060101010101" charset="-122"/>
                <a:ea typeface="黑体" panose="02010609060101010101" charset="-122"/>
                <a:cs typeface="黑体" panose="02010609060101010101" charset="-122"/>
              </a:rPr>
              <a:t>物之间的局部几何关系。因此，要对</a:t>
            </a:r>
            <a:r>
              <a:rPr lang="en-US" altLang="zh-CN" sz="1800" dirty="0">
                <a:latin typeface="黑体" panose="02010609060101010101" charset="-122"/>
                <a:ea typeface="黑体" panose="02010609060101010101" charset="-122"/>
                <a:cs typeface="黑体" panose="02010609060101010101" charset="-122"/>
              </a:rPr>
              <a:t>“</a:t>
            </a:r>
            <a:r>
              <a:rPr lang="zh-CN" altLang="en-US" sz="1800" dirty="0">
                <a:latin typeface="黑体" panose="02010609060101010101" charset="-122"/>
                <a:ea typeface="黑体" panose="02010609060101010101" charset="-122"/>
                <a:cs typeface="黑体" panose="02010609060101010101" charset="-122"/>
              </a:rPr>
              <a:t>抓取</a:t>
            </a:r>
            <a:r>
              <a:rPr lang="en-US" altLang="zh-CN" sz="1800" dirty="0">
                <a:latin typeface="黑体" panose="02010609060101010101" charset="-122"/>
                <a:ea typeface="黑体" panose="02010609060101010101" charset="-122"/>
                <a:cs typeface="黑体" panose="02010609060101010101" charset="-122"/>
              </a:rPr>
              <a:t>”</a:t>
            </a:r>
            <a:r>
              <a:rPr lang="zh-CN" altLang="en-US" sz="1800" dirty="0">
                <a:latin typeface="黑体" panose="02010609060101010101" charset="-122"/>
                <a:ea typeface="黑体" panose="02010609060101010101" charset="-122"/>
                <a:cs typeface="黑体" panose="02010609060101010101" charset="-122"/>
              </a:rPr>
              <a:t>进行精确建模，必须以三维空间的刚体运动理论、流形优化方法以及点云</a:t>
            </a:r>
            <a:r>
              <a:rPr lang="en-US" altLang="zh-CN" sz="1800" dirty="0">
                <a:latin typeface="黑体" panose="02010609060101010101" charset="-122"/>
                <a:ea typeface="黑体" panose="02010609060101010101" charset="-122"/>
                <a:cs typeface="黑体" panose="02010609060101010101" charset="-122"/>
              </a:rPr>
              <a:t>/</a:t>
            </a:r>
            <a:r>
              <a:rPr lang="zh-CN" altLang="en-US" sz="1800" dirty="0">
                <a:latin typeface="黑体" panose="02010609060101010101" charset="-122"/>
                <a:ea typeface="黑体" panose="02010609060101010101" charset="-122"/>
                <a:cs typeface="黑体" panose="02010609060101010101" charset="-122"/>
              </a:rPr>
              <a:t>曲面几何分析为基础。前者解决</a:t>
            </a:r>
            <a:r>
              <a:rPr lang="en-US" altLang="zh-CN" sz="1800" dirty="0">
                <a:latin typeface="黑体" panose="02010609060101010101" charset="-122"/>
                <a:ea typeface="黑体" panose="02010609060101010101" charset="-122"/>
                <a:cs typeface="黑体" panose="02010609060101010101" charset="-122"/>
              </a:rPr>
              <a:t>“</a:t>
            </a:r>
            <a:r>
              <a:rPr lang="zh-CN" altLang="en-US" sz="1800" dirty="0">
                <a:latin typeface="黑体" panose="02010609060101010101" charset="-122"/>
                <a:ea typeface="黑体" panose="02010609060101010101" charset="-122"/>
                <a:cs typeface="黑体" panose="02010609060101010101" charset="-122"/>
              </a:rPr>
              <a:t>手如何放到物体附近</a:t>
            </a:r>
            <a:r>
              <a:rPr lang="en-US" altLang="zh-CN" sz="1800" dirty="0">
                <a:latin typeface="黑体" panose="02010609060101010101" charset="-122"/>
                <a:ea typeface="黑体" panose="02010609060101010101" charset="-122"/>
                <a:cs typeface="黑体" panose="02010609060101010101" charset="-122"/>
              </a:rPr>
              <a:t>”</a:t>
            </a:r>
            <a:r>
              <a:rPr lang="zh-CN" altLang="en-US" sz="1800" dirty="0">
                <a:latin typeface="黑体" panose="02010609060101010101" charset="-122"/>
                <a:ea typeface="黑体" panose="02010609060101010101" charset="-122"/>
                <a:cs typeface="黑体" panose="02010609060101010101" charset="-122"/>
              </a:rPr>
              <a:t>的问题，后者解决</a:t>
            </a:r>
            <a:r>
              <a:rPr lang="en-US" altLang="zh-CN" sz="1800" dirty="0">
                <a:latin typeface="黑体" panose="02010609060101010101" charset="-122"/>
                <a:ea typeface="黑体" panose="02010609060101010101" charset="-122"/>
                <a:cs typeface="黑体" panose="02010609060101010101" charset="-122"/>
              </a:rPr>
              <a:t>“</a:t>
            </a:r>
            <a:r>
              <a:rPr lang="zh-CN" altLang="en-US" sz="1800" dirty="0">
                <a:latin typeface="黑体" panose="02010609060101010101" charset="-122"/>
                <a:ea typeface="黑体" panose="02010609060101010101" charset="-122"/>
                <a:cs typeface="黑体" panose="02010609060101010101" charset="-122"/>
              </a:rPr>
              <a:t>物体哪里适合抓、怎样接触更稳定</a:t>
            </a:r>
            <a:r>
              <a:rPr lang="en-US" altLang="zh-CN" sz="1800" dirty="0">
                <a:latin typeface="黑体" panose="02010609060101010101" charset="-122"/>
                <a:ea typeface="黑体" panose="02010609060101010101" charset="-122"/>
                <a:cs typeface="黑体" panose="02010609060101010101" charset="-122"/>
              </a:rPr>
              <a:t>”</a:t>
            </a:r>
            <a:r>
              <a:rPr lang="zh-CN" altLang="en-US" sz="1800" dirty="0">
                <a:latin typeface="黑体" panose="02010609060101010101" charset="-122"/>
                <a:ea typeface="黑体" panose="02010609060101010101" charset="-122"/>
                <a:cs typeface="黑体" panose="02010609060101010101" charset="-122"/>
              </a:rPr>
              <a:t>的问题</a:t>
            </a:r>
            <a:r>
              <a:rPr lang="zh-CN" altLang="en-US" dirty="0">
                <a:latin typeface="黑体" panose="02010609060101010101" charset="-122"/>
                <a:ea typeface="黑体" panose="02010609060101010101" charset="-122"/>
                <a:cs typeface="黑体" panose="02010609060101010101" charset="-122"/>
              </a:rPr>
              <a:t>。</a:t>
            </a:r>
            <a:endParaRPr lang="zh-CN" altLang="en-US" dirty="0">
              <a:latin typeface="黑体" panose="02010609060101010101" charset="-122"/>
              <a:ea typeface="黑体" panose="02010609060101010101" charset="-122"/>
              <a:cs typeface="黑体" panose="02010609060101010101" charset="-122"/>
            </a:endParaRPr>
          </a:p>
          <a:p>
            <a:pPr marL="0" indent="457200">
              <a:buNone/>
            </a:pPr>
            <a:r>
              <a:rPr lang="zh-CN" altLang="en-US" sz="1800" dirty="0">
                <a:latin typeface="黑体" panose="02010609060101010101" charset="-122"/>
                <a:ea typeface="黑体" panose="02010609060101010101" charset="-122"/>
                <a:cs typeface="黑体" panose="02010609060101010101" charset="-122"/>
              </a:rPr>
              <a:t>刚体运动学与</a:t>
            </a:r>
            <a:r>
              <a:rPr lang="en-US" altLang="zh-CN" sz="1800" dirty="0">
                <a:latin typeface="黑体" panose="02010609060101010101" charset="-122"/>
                <a:ea typeface="黑体" panose="02010609060101010101" charset="-122"/>
                <a:cs typeface="黑体" panose="02010609060101010101" charset="-122"/>
              </a:rPr>
              <a:t> SE(3) </a:t>
            </a:r>
            <a:r>
              <a:rPr lang="zh-CN" altLang="en-US" sz="1800" dirty="0">
                <a:latin typeface="黑体" panose="02010609060101010101" charset="-122"/>
                <a:ea typeface="黑体" panose="02010609060101010101" charset="-122"/>
                <a:cs typeface="黑体" panose="02010609060101010101" charset="-122"/>
              </a:rPr>
              <a:t>群理论：在三维空间中，一个刚体的状态通常由位置与姿态两部分构成。位置描述刚体中心或参考点在空间中的平移，姿态描述刚体相对于参考坐标系的朝向。二者合起来称为刚体的位姿。在机器人抓取任务中，灵巧手掌心或手腕坐标系相对于物体坐标系的关系，就是一个典型的六自由度位姿问题。数学上，三维刚体运动通常表示为特殊欧氏群</a:t>
            </a:r>
            <a:r>
              <a:rPr lang="en-US" altLang="zh-CN" sz="1800" dirty="0">
                <a:latin typeface="黑体" panose="02010609060101010101" charset="-122"/>
                <a:ea typeface="黑体" panose="02010609060101010101" charset="-122"/>
                <a:cs typeface="黑体" panose="02010609060101010101" charset="-122"/>
              </a:rPr>
              <a:t> SE(3)</a:t>
            </a:r>
            <a:r>
              <a:rPr lang="zh-CN" altLang="en-US" sz="1800" dirty="0">
                <a:latin typeface="黑体" panose="02010609060101010101" charset="-122"/>
                <a:ea typeface="黑体" panose="02010609060101010101" charset="-122"/>
                <a:cs typeface="黑体" panose="02010609060101010101" charset="-122"/>
              </a:rPr>
              <a:t>：</a:t>
            </a:r>
            <a:endParaRPr lang="zh-CN" altLang="en-US" sz="1800" dirty="0">
              <a:latin typeface="黑体" panose="02010609060101010101" charset="-122"/>
              <a:ea typeface="黑体" panose="02010609060101010101" charset="-122"/>
              <a:cs typeface="黑体" panose="02010609060101010101" charset="-122"/>
            </a:endParaRPr>
          </a:p>
          <a:p>
            <a:pPr marL="0" indent="457200">
              <a:buNone/>
            </a:pPr>
            <a:endParaRPr lang="zh-CN" altLang="en-US" sz="1800" dirty="0">
              <a:latin typeface="黑体" panose="02010609060101010101" charset="-122"/>
              <a:ea typeface="黑体" panose="02010609060101010101" charset="-122"/>
              <a:cs typeface="黑体" panose="02010609060101010101" charset="-122"/>
            </a:endParaRPr>
          </a:p>
        </p:txBody>
      </p:sp>
      <p:grpSp>
        <p:nvGrpSpPr>
          <p:cNvPr id="175" name="组合 35"/>
          <p:cNvGrpSpPr/>
          <p:nvPr/>
        </p:nvGrpSpPr>
        <p:grpSpPr>
          <a:xfrm>
            <a:off x="0" y="161931"/>
            <a:ext cx="11940390" cy="456069"/>
            <a:chOff x="0" y="161931"/>
            <a:chExt cx="11940390" cy="456069"/>
          </a:xfrm>
        </p:grpSpPr>
        <p:grpSp>
          <p:nvGrpSpPr>
            <p:cNvPr id="176" name="组合 36"/>
            <p:cNvGrpSpPr/>
            <p:nvPr/>
          </p:nvGrpSpPr>
          <p:grpSpPr>
            <a:xfrm>
              <a:off x="0" y="202277"/>
              <a:ext cx="9666514" cy="375920"/>
              <a:chOff x="0" y="294640"/>
              <a:chExt cx="9666514" cy="375920"/>
            </a:xfrm>
          </p:grpSpPr>
          <p:grpSp>
            <p:nvGrpSpPr>
              <p:cNvPr id="177" name="组合 38"/>
              <p:cNvGrpSpPr/>
              <p:nvPr/>
            </p:nvGrpSpPr>
            <p:grpSpPr>
              <a:xfrm>
                <a:off x="0" y="294640"/>
                <a:ext cx="880552" cy="375920"/>
                <a:chOff x="0" y="294640"/>
                <a:chExt cx="1094740" cy="467360"/>
              </a:xfrm>
              <a:solidFill>
                <a:srgbClr val="EE8A10"/>
              </a:solidFill>
            </p:grpSpPr>
            <p:sp>
              <p:nvSpPr>
                <p:cNvPr id="104886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4886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4886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78" name="组合 40"/>
              <p:cNvGrpSpPr/>
              <p:nvPr/>
            </p:nvGrpSpPr>
            <p:grpSpPr>
              <a:xfrm>
                <a:off x="3356076" y="408709"/>
                <a:ext cx="1749361" cy="147782"/>
                <a:chOff x="635462" y="775854"/>
                <a:chExt cx="1749361" cy="147782"/>
              </a:xfrm>
              <a:solidFill>
                <a:srgbClr val="EE8A10"/>
              </a:solidFill>
            </p:grpSpPr>
            <p:sp>
              <p:nvSpPr>
                <p:cNvPr id="1048863" name="椭圆 42"/>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864" name="椭圆 43"/>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865" name="椭圆 44"/>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866" name="椭圆 45"/>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867" name="椭圆 46"/>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cxnSp>
            <p:nvCxnSpPr>
              <p:cNvPr id="3145741" name="直接连接符 41"/>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86" name="图片 37"/>
            <p:cNvPicPr>
              <a:picLocks noChangeAspect="1"/>
            </p:cNvPicPr>
            <p:nvPr/>
          </p:nvPicPr>
          <p:blipFill>
            <a:blip r:embed="rId2" cstate="print"/>
            <a:srcRect/>
            <a:stretch>
              <a:fillRect/>
            </a:stretch>
          </p:blipFill>
          <p:spPr>
            <a:xfrm>
              <a:off x="9765508" y="161931"/>
              <a:ext cx="2174882" cy="456069"/>
            </a:xfrm>
            <a:prstGeom prst="rect">
              <a:avLst/>
            </a:prstGeom>
          </p:spPr>
        </p:pic>
      </p:grpSp>
      <p:sp>
        <p:nvSpPr>
          <p:cNvPr id="1048868" name="文本框 1"/>
          <p:cNvSpPr txBox="1"/>
          <p:nvPr/>
        </p:nvSpPr>
        <p:spPr>
          <a:xfrm>
            <a:off x="972489" y="156335"/>
            <a:ext cx="2702560" cy="497839"/>
          </a:xfrm>
          <a:prstGeom prst="rect">
            <a:avLst/>
          </a:prstGeom>
          <a:noFill/>
        </p:spPr>
        <p:txBody>
          <a:bodyPr wrap="square" rtlCol="0">
            <a:spAutoFit/>
          </a:bodyPr>
          <a:p>
            <a:r>
              <a:rPr lang="en-US" altLang="zh-CN" sz="2400" b="1" spc="600" dirty="0">
                <a:latin typeface="锐字工房云字库细圆GBK" panose="02010604000000000000" pitchFamily="2" charset="-122"/>
                <a:ea typeface="锐字工房云字库细圆GBK" panose="02010604000000000000" pitchFamily="2" charset="-122"/>
              </a:rPr>
              <a:t>Part five</a:t>
            </a:r>
            <a:endParaRPr lang="en-US" altLang="zh-CN" sz="2400" b="1" spc="600" dirty="0">
              <a:latin typeface="锐字工房云字库细圆GBK" panose="02010604000000000000" pitchFamily="2" charset="-122"/>
              <a:ea typeface="锐字工房云字库细圆GBK" panose="02010604000000000000" pitchFamily="2"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74" name=""/>
        <p:cNvGrpSpPr/>
        <p:nvPr/>
      </p:nvGrpSpPr>
      <p:grpSpPr>
        <a:xfrm>
          <a:off x="0" y="0"/>
          <a:ext cx="0" cy="0"/>
          <a:chOff x="0" y="0"/>
          <a:chExt cx="0" cy="0"/>
        </a:xfrm>
      </p:grpSpPr>
      <p:sp>
        <p:nvSpPr>
          <p:cNvPr id="1048859" name="内容占位符 2"/>
          <p:cNvSpPr>
            <a:spLocks noGrp="1"/>
          </p:cNvSpPr>
          <p:nvPr>
            <p:ph idx="1"/>
          </p:nvPr>
        </p:nvSpPr>
        <p:spPr>
          <a:xfrm>
            <a:off x="416560" y="1174115"/>
            <a:ext cx="10515600" cy="5271770"/>
          </a:xfrm>
        </p:spPr>
        <p:txBody>
          <a:bodyPr/>
          <a:p>
            <a:pPr marL="0" indent="0">
              <a:buNone/>
            </a:pPr>
            <a:r>
              <a:rPr lang="zh-CN" altLang="en-US" sz="2400" b="1" dirty="0">
                <a:latin typeface="黑体" panose="02010609060101010101" charset="-122"/>
                <a:ea typeface="黑体" panose="02010609060101010101" charset="-122"/>
                <a:cs typeface="黑体" panose="02010609060101010101" charset="-122"/>
              </a:rPr>
              <a:t>深度学习与</a:t>
            </a:r>
            <a:r>
              <a:rPr lang="en-US" altLang="zh-CN" sz="2400" b="1" dirty="0">
                <a:latin typeface="黑体" panose="02010609060101010101" charset="-122"/>
                <a:ea typeface="黑体" panose="02010609060101010101" charset="-122"/>
                <a:cs typeface="黑体" panose="02010609060101010101" charset="-122"/>
              </a:rPr>
              <a:t>3D</a:t>
            </a:r>
            <a:r>
              <a:rPr lang="zh-CN" altLang="en-US" sz="2400" b="1" dirty="0">
                <a:latin typeface="黑体" panose="02010609060101010101" charset="-122"/>
                <a:ea typeface="黑体" panose="02010609060101010101" charset="-122"/>
                <a:cs typeface="黑体" panose="02010609060101010101" charset="-122"/>
              </a:rPr>
              <a:t>视觉架构</a:t>
            </a:r>
            <a:endParaRPr lang="zh-CN" altLang="en-US" sz="2400" b="1" dirty="0">
              <a:latin typeface="黑体" panose="02010609060101010101" charset="-122"/>
              <a:ea typeface="黑体" panose="02010609060101010101" charset="-122"/>
              <a:cs typeface="黑体" panose="02010609060101010101" charset="-122"/>
            </a:endParaRPr>
          </a:p>
          <a:p>
            <a:pPr marL="0" indent="0">
              <a:buNone/>
            </a:pPr>
            <a:r>
              <a:rPr lang="en-US" altLang="zh-CN" sz="2000" b="1" dirty="0">
                <a:latin typeface="黑体" panose="02010609060101010101" charset="-122"/>
                <a:ea typeface="黑体" panose="02010609060101010101" charset="-122"/>
                <a:cs typeface="黑体" panose="02010609060101010101" charset="-122"/>
              </a:rPr>
              <a:t>PointNet / PointNet++</a:t>
            </a:r>
            <a:r>
              <a:rPr lang="zh-CN" altLang="en-US" sz="2000" b="1" dirty="0">
                <a:latin typeface="黑体" panose="02010609060101010101" charset="-122"/>
                <a:ea typeface="黑体" panose="02010609060101010101" charset="-122"/>
                <a:cs typeface="黑体" panose="02010609060101010101" charset="-122"/>
              </a:rPr>
              <a:t>：</a:t>
            </a:r>
            <a:endParaRPr lang="en-US" altLang="zh-CN" sz="2000" b="1" dirty="0">
              <a:latin typeface="黑体" panose="02010609060101010101" charset="-122"/>
              <a:ea typeface="黑体" panose="02010609060101010101" charset="-122"/>
              <a:cs typeface="黑体" panose="02010609060101010101" charset="-122"/>
            </a:endParaRPr>
          </a:p>
          <a:p>
            <a:pPr marL="0" indent="457200">
              <a:buNone/>
            </a:pPr>
            <a:r>
              <a:rPr lang="zh-CN" altLang="en-US" sz="1800" dirty="0">
                <a:latin typeface="黑体" panose="02010609060101010101" charset="-122"/>
                <a:ea typeface="黑体" panose="02010609060101010101" charset="-122"/>
                <a:cs typeface="黑体" panose="02010609060101010101" charset="-122"/>
              </a:rPr>
              <a:t>使用多层感知机（</a:t>
            </a:r>
            <a:r>
              <a:rPr lang="en-US" altLang="zh-CN" sz="1800" dirty="0">
                <a:latin typeface="黑体" panose="02010609060101010101" charset="-122"/>
                <a:ea typeface="黑体" panose="02010609060101010101" charset="-122"/>
                <a:cs typeface="黑体" panose="02010609060101010101" charset="-122"/>
              </a:rPr>
              <a:t>MLP</a:t>
            </a:r>
            <a:r>
              <a:rPr lang="zh-CN" altLang="en-US" sz="1800" dirty="0">
                <a:latin typeface="黑体" panose="02010609060101010101" charset="-122"/>
                <a:ea typeface="黑体" panose="02010609060101010101" charset="-122"/>
                <a:cs typeface="黑体" panose="02010609060101010101" charset="-122"/>
              </a:rPr>
              <a:t>）独立提取每个点的特征，再通过最大池化（</a:t>
            </a:r>
            <a:r>
              <a:rPr lang="en-US" altLang="zh-CN" sz="1800" dirty="0">
                <a:latin typeface="黑体" panose="02010609060101010101" charset="-122"/>
                <a:ea typeface="黑体" panose="02010609060101010101" charset="-122"/>
                <a:cs typeface="黑体" panose="02010609060101010101" charset="-122"/>
              </a:rPr>
              <a:t>Max Pooling</a:t>
            </a:r>
            <a:r>
              <a:rPr lang="zh-CN" altLang="en-US" sz="1800" dirty="0">
                <a:latin typeface="黑体" panose="02010609060101010101" charset="-122"/>
                <a:ea typeface="黑体" panose="02010609060101010101" charset="-122"/>
                <a:cs typeface="黑体" panose="02010609060101010101" charset="-122"/>
              </a:rPr>
              <a:t>）聚合全局特征。</a:t>
            </a:r>
            <a:r>
              <a:rPr lang="en-US" altLang="zh-CN" sz="1800" dirty="0">
                <a:latin typeface="黑体" panose="02010609060101010101" charset="-122"/>
                <a:ea typeface="黑体" panose="02010609060101010101" charset="-122"/>
                <a:cs typeface="黑体" panose="02010609060101010101" charset="-122"/>
              </a:rPr>
              <a:t>PointNet++</a:t>
            </a:r>
            <a:r>
              <a:rPr lang="zh-CN" altLang="en-US" sz="1800" dirty="0">
                <a:latin typeface="黑体" panose="02010609060101010101" charset="-122"/>
                <a:ea typeface="黑体" panose="02010609060101010101" charset="-122"/>
                <a:cs typeface="黑体" panose="02010609060101010101" charset="-122"/>
              </a:rPr>
              <a:t>进一步引入了层级结构来捕捉局部几何细节。</a:t>
            </a:r>
            <a:endParaRPr lang="zh-CN" altLang="en-US" sz="1800" dirty="0">
              <a:latin typeface="黑体" panose="02010609060101010101" charset="-122"/>
              <a:ea typeface="黑体" panose="02010609060101010101" charset="-122"/>
              <a:cs typeface="黑体" panose="02010609060101010101" charset="-122"/>
            </a:endParaRPr>
          </a:p>
          <a:p>
            <a:pPr marL="0" lvl="0" indent="0">
              <a:buNone/>
            </a:pPr>
            <a:r>
              <a:rPr lang="en-US" altLang="zh-CN" sz="2000" b="1" dirty="0">
                <a:solidFill>
                  <a:schemeClr val="tx1"/>
                </a:solidFill>
                <a:latin typeface="黑体" panose="02010609060101010101" charset="-122"/>
                <a:ea typeface="黑体" panose="02010609060101010101" charset="-122"/>
                <a:cs typeface="黑体" panose="02010609060101010101" charset="-122"/>
              </a:rPr>
              <a:t>扩散模型 (Diffusion Models)：</a:t>
            </a:r>
            <a:endParaRPr lang="en-US" altLang="zh-CN" sz="2000" b="1" dirty="0">
              <a:solidFill>
                <a:schemeClr val="tx1"/>
              </a:solidFill>
              <a:latin typeface="黑体" panose="02010609060101010101" charset="-122"/>
              <a:ea typeface="黑体" panose="02010609060101010101" charset="-122"/>
              <a:cs typeface="黑体" panose="02010609060101010101" charset="-122"/>
            </a:endParaRPr>
          </a:p>
          <a:p>
            <a:pPr marL="0" lvl="0" indent="457200">
              <a:buNone/>
            </a:pPr>
            <a:r>
              <a:rPr lang="zh-CN" altLang="en-US" sz="1800" dirty="0">
                <a:solidFill>
                  <a:schemeClr val="tx1"/>
                </a:solidFill>
                <a:latin typeface="黑体" panose="02010609060101010101" charset="-122"/>
                <a:ea typeface="黑体" panose="02010609060101010101" charset="-122"/>
                <a:cs typeface="黑体" panose="02010609060101010101" charset="-122"/>
              </a:rPr>
              <a:t>从随机噪声开始，通过逐步去噪生成符合物理约束的抓取姿态。能够生成多样化的抓取策略（例如抓杯子可以抓杯身也可以抓把手）。相比传统的回归方法，扩散模型能覆盖多模态解空间，避免陷入局部最优。</a:t>
            </a:r>
            <a:endParaRPr lang="zh-CN" altLang="en-US" sz="1800" dirty="0">
              <a:solidFill>
                <a:schemeClr val="tx1"/>
              </a:solidFill>
              <a:latin typeface="黑体" panose="02010609060101010101" charset="-122"/>
              <a:ea typeface="黑体" panose="02010609060101010101" charset="-122"/>
              <a:cs typeface="黑体" panose="02010609060101010101" charset="-122"/>
            </a:endParaRPr>
          </a:p>
          <a:p>
            <a:pPr marL="0" lvl="0" algn="l">
              <a:buClrTx/>
              <a:buSzTx/>
              <a:buNone/>
            </a:pPr>
            <a:r>
              <a:rPr lang="en-US" altLang="zh-CN" sz="2000" b="1" dirty="0">
                <a:solidFill>
                  <a:schemeClr val="tx1"/>
                </a:solidFill>
                <a:latin typeface="黑体" panose="02010609060101010101" charset="-122"/>
                <a:ea typeface="黑体" panose="02010609060101010101" charset="-122"/>
                <a:cs typeface="黑体" panose="02010609060101010101" charset="-122"/>
              </a:rPr>
              <a:t>变分自编码器 (VAE)</a:t>
            </a:r>
            <a:r>
              <a:rPr lang="zh-CN" altLang="en-US" sz="2000" b="1" dirty="0">
                <a:solidFill>
                  <a:schemeClr val="tx1"/>
                </a:solidFill>
                <a:latin typeface="黑体" panose="02010609060101010101" charset="-122"/>
                <a:ea typeface="黑体" panose="02010609060101010101" charset="-122"/>
                <a:cs typeface="黑体" panose="02010609060101010101" charset="-122"/>
              </a:rPr>
              <a:t>：</a:t>
            </a:r>
            <a:endParaRPr lang="zh-CN" altLang="en-US" sz="2000" b="1" dirty="0">
              <a:solidFill>
                <a:schemeClr val="tx1"/>
              </a:solidFill>
              <a:latin typeface="黑体" panose="02010609060101010101" charset="-122"/>
              <a:ea typeface="黑体" panose="02010609060101010101" charset="-122"/>
              <a:cs typeface="黑体" panose="02010609060101010101" charset="-122"/>
            </a:endParaRPr>
          </a:p>
          <a:p>
            <a:pPr marL="457200" lvl="1" indent="0" algn="l">
              <a:buClrTx/>
              <a:buSzTx/>
              <a:buNone/>
            </a:pPr>
            <a:r>
              <a:rPr lang="zh-CN" altLang="en-US" sz="1800" dirty="0">
                <a:solidFill>
                  <a:schemeClr val="tx1"/>
                </a:solidFill>
                <a:latin typeface="黑体" panose="02010609060101010101" charset="-122"/>
                <a:ea typeface="黑体" panose="02010609060101010101" charset="-122"/>
                <a:cs typeface="黑体" panose="02010609060101010101" charset="-122"/>
              </a:rPr>
              <a:t>用于压缩高维的灵巧手关节角数据，在低维空间进行规划，再解码回高维空间，提高计算效率。</a:t>
            </a:r>
            <a:endParaRPr lang="zh-CN" altLang="en-US" sz="1800" dirty="0">
              <a:solidFill>
                <a:schemeClr val="tx1"/>
              </a:solidFill>
              <a:latin typeface="黑体" panose="02010609060101010101" charset="-122"/>
              <a:ea typeface="黑体" panose="02010609060101010101" charset="-122"/>
              <a:cs typeface="黑体" panose="02010609060101010101" charset="-122"/>
            </a:endParaRPr>
          </a:p>
        </p:txBody>
      </p:sp>
      <p:grpSp>
        <p:nvGrpSpPr>
          <p:cNvPr id="175" name="组合 35"/>
          <p:cNvGrpSpPr/>
          <p:nvPr/>
        </p:nvGrpSpPr>
        <p:grpSpPr>
          <a:xfrm>
            <a:off x="0" y="161931"/>
            <a:ext cx="11940390" cy="456069"/>
            <a:chOff x="0" y="161931"/>
            <a:chExt cx="11940390" cy="456069"/>
          </a:xfrm>
        </p:grpSpPr>
        <p:grpSp>
          <p:nvGrpSpPr>
            <p:cNvPr id="176" name="组合 36"/>
            <p:cNvGrpSpPr/>
            <p:nvPr/>
          </p:nvGrpSpPr>
          <p:grpSpPr>
            <a:xfrm>
              <a:off x="0" y="202277"/>
              <a:ext cx="9666514" cy="375920"/>
              <a:chOff x="0" y="294640"/>
              <a:chExt cx="9666514" cy="375920"/>
            </a:xfrm>
          </p:grpSpPr>
          <p:grpSp>
            <p:nvGrpSpPr>
              <p:cNvPr id="177" name="组合 38"/>
              <p:cNvGrpSpPr/>
              <p:nvPr/>
            </p:nvGrpSpPr>
            <p:grpSpPr>
              <a:xfrm>
                <a:off x="0" y="294640"/>
                <a:ext cx="880552" cy="375920"/>
                <a:chOff x="0" y="294640"/>
                <a:chExt cx="1094740" cy="467360"/>
              </a:xfrm>
              <a:solidFill>
                <a:srgbClr val="EE8A10"/>
              </a:solidFill>
            </p:grpSpPr>
            <p:sp>
              <p:nvSpPr>
                <p:cNvPr id="104886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4886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4886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78" name="组合 40"/>
              <p:cNvGrpSpPr/>
              <p:nvPr/>
            </p:nvGrpSpPr>
            <p:grpSpPr>
              <a:xfrm>
                <a:off x="3356076" y="408709"/>
                <a:ext cx="1749361" cy="147782"/>
                <a:chOff x="635462" y="775854"/>
                <a:chExt cx="1749361" cy="147782"/>
              </a:xfrm>
              <a:solidFill>
                <a:srgbClr val="EE8A10"/>
              </a:solidFill>
            </p:grpSpPr>
            <p:sp>
              <p:nvSpPr>
                <p:cNvPr id="1048863" name="椭圆 42"/>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864" name="椭圆 43"/>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865" name="椭圆 44"/>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866" name="椭圆 45"/>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867" name="椭圆 46"/>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cxnSp>
            <p:nvCxnSpPr>
              <p:cNvPr id="3145741" name="直接连接符 41"/>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86" name="图片 37"/>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1048868" name="文本框 1"/>
          <p:cNvSpPr txBox="1"/>
          <p:nvPr/>
        </p:nvSpPr>
        <p:spPr>
          <a:xfrm>
            <a:off x="972489" y="156335"/>
            <a:ext cx="2702560" cy="497839"/>
          </a:xfrm>
          <a:prstGeom prst="rect">
            <a:avLst/>
          </a:prstGeom>
          <a:noFill/>
        </p:spPr>
        <p:txBody>
          <a:bodyPr wrap="square" rtlCol="0">
            <a:spAutoFit/>
          </a:bodyPr>
          <a:p>
            <a:r>
              <a:rPr lang="en-US" altLang="zh-CN" sz="2400" b="1" spc="600" dirty="0">
                <a:latin typeface="锐字工房云字库细圆GBK" panose="02010604000000000000" pitchFamily="2" charset="-122"/>
                <a:ea typeface="锐字工房云字库细圆GBK" panose="02010604000000000000" pitchFamily="2" charset="-122"/>
              </a:rPr>
              <a:t>Part five</a:t>
            </a:r>
            <a:endParaRPr lang="en-US" altLang="zh-CN" sz="2400" b="1" spc="600" dirty="0">
              <a:latin typeface="锐字工房云字库细圆GBK" panose="02010604000000000000" pitchFamily="2" charset="-122"/>
              <a:ea typeface="锐字工房云字库细圆GBK" panose="02010604000000000000" pitchFamily="2"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74" name=""/>
        <p:cNvGrpSpPr/>
        <p:nvPr/>
      </p:nvGrpSpPr>
      <p:grpSpPr>
        <a:xfrm>
          <a:off x="0" y="0"/>
          <a:ext cx="0" cy="0"/>
          <a:chOff x="0" y="0"/>
          <a:chExt cx="0" cy="0"/>
        </a:xfrm>
      </p:grpSpPr>
      <p:sp>
        <p:nvSpPr>
          <p:cNvPr id="1048859" name="内容占位符 2"/>
          <p:cNvSpPr>
            <a:spLocks noGrp="1"/>
          </p:cNvSpPr>
          <p:nvPr>
            <p:ph idx="1"/>
          </p:nvPr>
        </p:nvSpPr>
        <p:spPr>
          <a:xfrm>
            <a:off x="416560" y="1174115"/>
            <a:ext cx="10515600" cy="5271770"/>
          </a:xfrm>
        </p:spPr>
        <p:txBody>
          <a:bodyPr/>
          <a:p>
            <a:pPr marL="0" indent="0">
              <a:buNone/>
            </a:pPr>
            <a:r>
              <a:rPr lang="zh-CN" altLang="en-US" sz="2400" dirty="0">
                <a:latin typeface="黑体" panose="02010609060101010101" charset="-122"/>
                <a:ea typeface="黑体" panose="02010609060101010101" charset="-122"/>
                <a:cs typeface="黑体" panose="02010609060101010101" charset="-122"/>
              </a:rPr>
              <a:t>仿真平台与物理引擎（实验环境）</a:t>
            </a:r>
            <a:endParaRPr lang="zh-CN" altLang="en-US" sz="2400" dirty="0">
              <a:latin typeface="黑体" panose="02010609060101010101" charset="-122"/>
              <a:ea typeface="黑体" panose="02010609060101010101" charset="-122"/>
              <a:cs typeface="黑体" panose="02010609060101010101" charset="-122"/>
            </a:endParaRPr>
          </a:p>
          <a:p>
            <a:pPr marL="0" indent="0">
              <a:buNone/>
            </a:pPr>
            <a:r>
              <a:rPr lang="en-US" altLang="zh-CN" sz="1800" b="1" dirty="0">
                <a:latin typeface="黑体" panose="02010609060101010101" charset="-122"/>
                <a:ea typeface="黑体" panose="02010609060101010101" charset="-122"/>
                <a:cs typeface="黑体" panose="02010609060101010101" charset="-122"/>
              </a:rPr>
              <a:t>NVIDIA Isaac Gym</a:t>
            </a:r>
            <a:r>
              <a:rPr lang="zh-CN" altLang="en-US" sz="1800" b="1" dirty="0">
                <a:latin typeface="黑体" panose="02010609060101010101" charset="-122"/>
                <a:ea typeface="黑体" panose="02010609060101010101" charset="-122"/>
                <a:cs typeface="黑体" panose="02010609060101010101" charset="-122"/>
              </a:rPr>
              <a:t>：</a:t>
            </a:r>
            <a:r>
              <a:rPr lang="zh-CN" altLang="en-US" sz="1800" dirty="0">
                <a:latin typeface="黑体" panose="02010609060101010101" charset="-122"/>
                <a:ea typeface="黑体" panose="02010609060101010101" charset="-122"/>
                <a:cs typeface="黑体" panose="02010609060101010101" charset="-122"/>
              </a:rPr>
              <a:t>基于</a:t>
            </a:r>
            <a:r>
              <a:rPr lang="en-US" altLang="zh-CN" sz="1800" dirty="0">
                <a:latin typeface="黑体" panose="02010609060101010101" charset="-122"/>
                <a:ea typeface="黑体" panose="02010609060101010101" charset="-122"/>
                <a:cs typeface="黑体" panose="02010609060101010101" charset="-122"/>
              </a:rPr>
              <a:t>GPU</a:t>
            </a:r>
            <a:r>
              <a:rPr lang="zh-CN" altLang="en-US" sz="1800" dirty="0">
                <a:latin typeface="黑体" panose="02010609060101010101" charset="-122"/>
                <a:ea typeface="黑体" panose="02010609060101010101" charset="-122"/>
                <a:cs typeface="黑体" panose="02010609060101010101" charset="-122"/>
              </a:rPr>
              <a:t>并行加速。它可以在一块显卡上同时运行数千个仿真环境。</a:t>
            </a:r>
            <a:r>
              <a:rPr lang="en-US" altLang="zh-CN" sz="1800" dirty="0">
                <a:latin typeface="黑体" panose="02010609060101010101" charset="-122"/>
                <a:ea typeface="黑体" panose="02010609060101010101" charset="-122"/>
                <a:cs typeface="黑体" panose="02010609060101010101" charset="-122"/>
              </a:rPr>
              <a:t>Isaac Gym</a:t>
            </a:r>
            <a:r>
              <a:rPr lang="zh-CN" altLang="en-US" sz="1800" dirty="0">
                <a:latin typeface="黑体" panose="02010609060101010101" charset="-122"/>
                <a:ea typeface="黑体" panose="02010609060101010101" charset="-122"/>
                <a:cs typeface="黑体" panose="02010609060101010101" charset="-122"/>
              </a:rPr>
              <a:t>允许一次性生成成千上万种不同的抓取姿态并并行验证其稳定性，将训练时间从几天缩短到几小时。它是目前强化学习训练灵巧手的首选。</a:t>
            </a:r>
            <a:endParaRPr lang="zh-CN" altLang="en-US" sz="1800" dirty="0">
              <a:latin typeface="黑体" panose="02010609060101010101" charset="-122"/>
              <a:ea typeface="黑体" panose="02010609060101010101" charset="-122"/>
              <a:cs typeface="黑体" panose="02010609060101010101" charset="-122"/>
            </a:endParaRPr>
          </a:p>
          <a:p>
            <a:pPr marL="0" indent="0">
              <a:buNone/>
            </a:pPr>
            <a:r>
              <a:rPr lang="en-US" altLang="zh-CN" sz="1800" b="1" dirty="0">
                <a:latin typeface="黑体" panose="02010609060101010101" charset="-122"/>
                <a:ea typeface="黑体" panose="02010609060101010101" charset="-122"/>
                <a:cs typeface="黑体" panose="02010609060101010101" charset="-122"/>
              </a:rPr>
              <a:t>PyBullet</a:t>
            </a:r>
            <a:r>
              <a:rPr lang="zh-CN" altLang="en-US" sz="1800" b="1" dirty="0">
                <a:latin typeface="黑体" panose="02010609060101010101" charset="-122"/>
                <a:ea typeface="黑体" panose="02010609060101010101" charset="-122"/>
                <a:cs typeface="黑体" panose="02010609060101010101" charset="-122"/>
              </a:rPr>
              <a:t>：</a:t>
            </a:r>
            <a:r>
              <a:rPr lang="zh-CN" altLang="en-US" sz="1800" dirty="0">
                <a:latin typeface="黑体" panose="02010609060101010101" charset="-122"/>
                <a:ea typeface="黑体" panose="02010609060101010101" charset="-122"/>
                <a:cs typeface="黑体" panose="02010609060101010101" charset="-122"/>
              </a:rPr>
              <a:t>轻量级，</a:t>
            </a:r>
            <a:r>
              <a:rPr lang="en-US" altLang="zh-CN" sz="1800" dirty="0">
                <a:latin typeface="黑体" panose="02010609060101010101" charset="-122"/>
                <a:ea typeface="黑体" panose="02010609060101010101" charset="-122"/>
                <a:cs typeface="黑体" panose="02010609060101010101" charset="-122"/>
              </a:rPr>
              <a:t>Python</a:t>
            </a:r>
            <a:r>
              <a:rPr lang="zh-CN" altLang="en-US" sz="1800" dirty="0">
                <a:latin typeface="黑体" panose="02010609060101010101" charset="-122"/>
                <a:ea typeface="黑体" panose="02010609060101010101" charset="-122"/>
                <a:cs typeface="黑体" panose="02010609060101010101" charset="-122"/>
              </a:rPr>
              <a:t>接口友好，内置快速碰撞检测，</a:t>
            </a:r>
            <a:r>
              <a:rPr lang="en-US" altLang="zh-CN" sz="1800" dirty="0">
                <a:latin typeface="黑体" panose="02010609060101010101" charset="-122"/>
                <a:ea typeface="黑体" panose="02010609060101010101" charset="-122"/>
                <a:cs typeface="黑体" panose="02010609060101010101" charset="-122"/>
              </a:rPr>
              <a:t> </a:t>
            </a:r>
            <a:r>
              <a:rPr lang="zh-CN" altLang="en-US" sz="1800" dirty="0">
                <a:latin typeface="黑体" panose="02010609060101010101" charset="-122"/>
                <a:ea typeface="黑体" panose="02010609060101010101" charset="-122"/>
                <a:cs typeface="黑体" panose="02010609060101010101" charset="-122"/>
              </a:rPr>
              <a:t>适合做初步的算法验证和可视化。很多经典抓取数据集（如</a:t>
            </a:r>
            <a:r>
              <a:rPr lang="en-US" altLang="zh-CN" sz="1800" dirty="0">
                <a:latin typeface="黑体" panose="02010609060101010101" charset="-122"/>
                <a:ea typeface="黑体" panose="02010609060101010101" charset="-122"/>
                <a:cs typeface="黑体" panose="02010609060101010101" charset="-122"/>
              </a:rPr>
              <a:t>Dex-Net</a:t>
            </a:r>
            <a:r>
              <a:rPr lang="zh-CN" altLang="en-US" sz="1800" dirty="0">
                <a:latin typeface="黑体" panose="02010609060101010101" charset="-122"/>
                <a:ea typeface="黑体" panose="02010609060101010101" charset="-122"/>
                <a:cs typeface="黑体" panose="02010609060101010101" charset="-122"/>
              </a:rPr>
              <a:t>的部分数据）都是基于类似物理引擎生成的。它计算速度快，适合做几何层面的抓取筛选。</a:t>
            </a:r>
            <a:endParaRPr lang="zh-CN" altLang="en-US" sz="1800" dirty="0">
              <a:latin typeface="黑体" panose="02010609060101010101" charset="-122"/>
              <a:ea typeface="黑体" panose="02010609060101010101" charset="-122"/>
              <a:cs typeface="黑体" panose="02010609060101010101" charset="-122"/>
            </a:endParaRPr>
          </a:p>
        </p:txBody>
      </p:sp>
      <p:grpSp>
        <p:nvGrpSpPr>
          <p:cNvPr id="175" name="组合 35"/>
          <p:cNvGrpSpPr/>
          <p:nvPr/>
        </p:nvGrpSpPr>
        <p:grpSpPr>
          <a:xfrm>
            <a:off x="0" y="161931"/>
            <a:ext cx="11940390" cy="456069"/>
            <a:chOff x="0" y="161931"/>
            <a:chExt cx="11940390" cy="456069"/>
          </a:xfrm>
        </p:grpSpPr>
        <p:grpSp>
          <p:nvGrpSpPr>
            <p:cNvPr id="176" name="组合 36"/>
            <p:cNvGrpSpPr/>
            <p:nvPr/>
          </p:nvGrpSpPr>
          <p:grpSpPr>
            <a:xfrm>
              <a:off x="0" y="202277"/>
              <a:ext cx="9666514" cy="375920"/>
              <a:chOff x="0" y="294640"/>
              <a:chExt cx="9666514" cy="375920"/>
            </a:xfrm>
          </p:grpSpPr>
          <p:grpSp>
            <p:nvGrpSpPr>
              <p:cNvPr id="177" name="组合 38"/>
              <p:cNvGrpSpPr/>
              <p:nvPr/>
            </p:nvGrpSpPr>
            <p:grpSpPr>
              <a:xfrm>
                <a:off x="0" y="294640"/>
                <a:ext cx="880552" cy="375920"/>
                <a:chOff x="0" y="294640"/>
                <a:chExt cx="1094740" cy="467360"/>
              </a:xfrm>
              <a:solidFill>
                <a:srgbClr val="EE8A10"/>
              </a:solidFill>
            </p:grpSpPr>
            <p:sp>
              <p:nvSpPr>
                <p:cNvPr id="104886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4886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4886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78" name="组合 40"/>
              <p:cNvGrpSpPr/>
              <p:nvPr/>
            </p:nvGrpSpPr>
            <p:grpSpPr>
              <a:xfrm>
                <a:off x="3356076" y="408709"/>
                <a:ext cx="1749361" cy="147782"/>
                <a:chOff x="635462" y="775854"/>
                <a:chExt cx="1749361" cy="147782"/>
              </a:xfrm>
              <a:solidFill>
                <a:srgbClr val="EE8A10"/>
              </a:solidFill>
            </p:grpSpPr>
            <p:sp>
              <p:nvSpPr>
                <p:cNvPr id="1048863" name="椭圆 42"/>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864" name="椭圆 43"/>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865" name="椭圆 44"/>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866" name="椭圆 45"/>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867" name="椭圆 46"/>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cxnSp>
            <p:nvCxnSpPr>
              <p:cNvPr id="3145741" name="直接连接符 41"/>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86" name="图片 37"/>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1048868" name="文本框 1"/>
          <p:cNvSpPr txBox="1"/>
          <p:nvPr/>
        </p:nvSpPr>
        <p:spPr>
          <a:xfrm>
            <a:off x="972489" y="156335"/>
            <a:ext cx="2702560" cy="497839"/>
          </a:xfrm>
          <a:prstGeom prst="rect">
            <a:avLst/>
          </a:prstGeom>
          <a:noFill/>
        </p:spPr>
        <p:txBody>
          <a:bodyPr wrap="square" rtlCol="0">
            <a:spAutoFit/>
          </a:bodyPr>
          <a:p>
            <a:r>
              <a:rPr lang="en-US" altLang="zh-CN" sz="2400" b="1" spc="600" dirty="0">
                <a:latin typeface="锐字工房云字库细圆GBK" panose="02010604000000000000" pitchFamily="2" charset="-122"/>
                <a:ea typeface="锐字工房云字库细圆GBK" panose="02010604000000000000" pitchFamily="2" charset="-122"/>
              </a:rPr>
              <a:t>Part five</a:t>
            </a:r>
            <a:endParaRPr lang="en-US" altLang="zh-CN" sz="2400" b="1" spc="600" dirty="0">
              <a:latin typeface="锐字工房云字库细圆GBK" panose="02010604000000000000" pitchFamily="2" charset="-122"/>
              <a:ea typeface="锐字工房云字库细圆GBK" panose="02010604000000000000" pitchFamily="2"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74" name=""/>
        <p:cNvGrpSpPr/>
        <p:nvPr/>
      </p:nvGrpSpPr>
      <p:grpSpPr>
        <a:xfrm>
          <a:off x="0" y="0"/>
          <a:ext cx="0" cy="0"/>
          <a:chOff x="0" y="0"/>
          <a:chExt cx="0" cy="0"/>
        </a:xfrm>
      </p:grpSpPr>
      <p:sp>
        <p:nvSpPr>
          <p:cNvPr id="1048859" name="内容占位符 2"/>
          <p:cNvSpPr>
            <a:spLocks noGrp="1"/>
          </p:cNvSpPr>
          <p:nvPr>
            <p:ph idx="1"/>
          </p:nvPr>
        </p:nvSpPr>
        <p:spPr>
          <a:xfrm>
            <a:off x="416560" y="1174115"/>
            <a:ext cx="10515600" cy="5271770"/>
          </a:xfrm>
        </p:spPr>
        <p:txBody>
          <a:bodyPr/>
          <a:p>
            <a:pPr marL="0" indent="0">
              <a:buNone/>
            </a:pPr>
            <a:r>
              <a:rPr lang="zh-CN" altLang="en-US" sz="1800" dirty="0">
                <a:latin typeface="黑体" panose="02010609060101010101" charset="-122"/>
                <a:ea typeface="黑体" panose="02010609060101010101" charset="-122"/>
                <a:cs typeface="黑体" panose="02010609060101010101" charset="-122"/>
              </a:rPr>
              <a:t>什么是灵巧手？</a:t>
            </a:r>
            <a:endParaRPr lang="zh-CN" altLang="en-US" sz="1800" dirty="0">
              <a:latin typeface="黑体" panose="02010609060101010101" charset="-122"/>
              <a:ea typeface="黑体" panose="02010609060101010101" charset="-122"/>
              <a:cs typeface="黑体" panose="02010609060101010101" charset="-122"/>
            </a:endParaRPr>
          </a:p>
          <a:p>
            <a:pPr marL="0" indent="457200">
              <a:buNone/>
            </a:pPr>
            <a:r>
              <a:rPr lang="zh-CN" altLang="en-US" sz="1800" dirty="0">
                <a:latin typeface="黑体" panose="02010609060101010101" charset="-122"/>
                <a:ea typeface="黑体" panose="02010609060101010101" charset="-122"/>
                <a:cs typeface="黑体" panose="02010609060101010101" charset="-122"/>
              </a:rPr>
              <a:t>不是简单的工业机械爪（只能开合），而是模仿人类手部结构和功能的末端执行器。它通常具有多指（</a:t>
            </a:r>
            <a:r>
              <a:rPr lang="en-US" altLang="zh-CN" sz="1800" dirty="0">
                <a:latin typeface="黑体" panose="02010609060101010101" charset="-122"/>
                <a:ea typeface="黑体" panose="02010609060101010101" charset="-122"/>
                <a:cs typeface="黑体" panose="02010609060101010101" charset="-122"/>
              </a:rPr>
              <a:t>3-5</a:t>
            </a:r>
            <a:r>
              <a:rPr lang="zh-CN" altLang="en-US" sz="1800" dirty="0">
                <a:latin typeface="黑体" panose="02010609060101010101" charset="-122"/>
                <a:ea typeface="黑体" panose="02010609060101010101" charset="-122"/>
                <a:cs typeface="黑体" panose="02010609060101010101" charset="-122"/>
              </a:rPr>
              <a:t>指）、多关节（</a:t>
            </a:r>
            <a:r>
              <a:rPr lang="en-US" altLang="zh-CN" sz="1800" dirty="0">
                <a:latin typeface="黑体" panose="02010609060101010101" charset="-122"/>
                <a:ea typeface="黑体" panose="02010609060101010101" charset="-122"/>
                <a:cs typeface="黑体" panose="02010609060101010101" charset="-122"/>
              </a:rPr>
              <a:t>10</a:t>
            </a:r>
            <a:r>
              <a:rPr lang="zh-CN" altLang="en-US" sz="1800" dirty="0">
                <a:latin typeface="黑体" panose="02010609060101010101" charset="-122"/>
                <a:ea typeface="黑体" panose="02010609060101010101" charset="-122"/>
                <a:cs typeface="黑体" panose="02010609060101010101" charset="-122"/>
              </a:rPr>
              <a:t>个以上自由度），能够像人手一样完成精细操作（如转笔、拿鸡蛋、使用工具）。是具身智能最关键的部件之一。没有灵巧手，机器人只能</a:t>
            </a:r>
            <a:r>
              <a:rPr lang="en-US" altLang="zh-CN" sz="1800" dirty="0">
                <a:latin typeface="黑体" panose="02010609060101010101" charset="-122"/>
                <a:ea typeface="黑体" panose="02010609060101010101" charset="-122"/>
                <a:cs typeface="黑体" panose="02010609060101010101" charset="-122"/>
              </a:rPr>
              <a:t>“</a:t>
            </a:r>
            <a:r>
              <a:rPr lang="zh-CN" altLang="en-US" sz="1800" dirty="0">
                <a:latin typeface="黑体" panose="02010609060101010101" charset="-122"/>
                <a:ea typeface="黑体" panose="02010609060101010101" charset="-122"/>
                <a:cs typeface="黑体" panose="02010609060101010101" charset="-122"/>
              </a:rPr>
              <a:t>推</a:t>
            </a:r>
            <a:r>
              <a:rPr lang="en-US" altLang="zh-CN" sz="1800" dirty="0">
                <a:latin typeface="黑体" panose="02010609060101010101" charset="-122"/>
                <a:ea typeface="黑体" panose="02010609060101010101" charset="-122"/>
                <a:cs typeface="黑体" panose="02010609060101010101" charset="-122"/>
              </a:rPr>
              <a:t>”</a:t>
            </a:r>
            <a:r>
              <a:rPr lang="zh-CN" altLang="en-US" sz="1800" dirty="0">
                <a:latin typeface="黑体" panose="02010609060101010101" charset="-122"/>
                <a:ea typeface="黑体" panose="02010609060101010101" charset="-122"/>
                <a:cs typeface="黑体" panose="02010609060101010101" charset="-122"/>
              </a:rPr>
              <a:t>或</a:t>
            </a:r>
            <a:r>
              <a:rPr lang="en-US" altLang="zh-CN" sz="1800" dirty="0">
                <a:latin typeface="黑体" panose="02010609060101010101" charset="-122"/>
                <a:ea typeface="黑体" panose="02010609060101010101" charset="-122"/>
                <a:cs typeface="黑体" panose="02010609060101010101" charset="-122"/>
              </a:rPr>
              <a:t>“</a:t>
            </a:r>
            <a:r>
              <a:rPr lang="zh-CN" altLang="en-US" sz="1800" dirty="0">
                <a:latin typeface="黑体" panose="02010609060101010101" charset="-122"/>
                <a:ea typeface="黑体" panose="02010609060101010101" charset="-122"/>
                <a:cs typeface="黑体" panose="02010609060101010101" charset="-122"/>
              </a:rPr>
              <a:t>吸</a:t>
            </a:r>
            <a:r>
              <a:rPr lang="en-US" altLang="zh-CN" sz="1800" dirty="0">
                <a:latin typeface="黑体" panose="02010609060101010101" charset="-122"/>
                <a:ea typeface="黑体" panose="02010609060101010101" charset="-122"/>
                <a:cs typeface="黑体" panose="02010609060101010101" charset="-122"/>
              </a:rPr>
              <a:t>”</a:t>
            </a:r>
            <a:r>
              <a:rPr lang="zh-CN" altLang="en-US" sz="1800" dirty="0">
                <a:latin typeface="黑体" panose="02010609060101010101" charset="-122"/>
                <a:ea typeface="黑体" panose="02010609060101010101" charset="-122"/>
                <a:cs typeface="黑体" panose="02010609060101010101" charset="-122"/>
              </a:rPr>
              <a:t>物体，无法真正融入人类环境进行复杂作业。</a:t>
            </a:r>
            <a:endParaRPr lang="zh-CN" altLang="en-US" sz="1800" dirty="0">
              <a:latin typeface="黑体" panose="02010609060101010101" charset="-122"/>
              <a:ea typeface="黑体" panose="02010609060101010101" charset="-122"/>
              <a:cs typeface="黑体" panose="02010609060101010101" charset="-122"/>
            </a:endParaRPr>
          </a:p>
          <a:p>
            <a:pPr marL="0" indent="457200">
              <a:buNone/>
            </a:pPr>
            <a:r>
              <a:rPr lang="zh-CN" altLang="en-US" sz="1800" dirty="0">
                <a:latin typeface="黑体" panose="02010609060101010101" charset="-122"/>
                <a:ea typeface="黑体" panose="02010609060101010101" charset="-122"/>
                <a:cs typeface="黑体" panose="02010609060101010101" charset="-122"/>
              </a:rPr>
              <a:t>常用型号：</a:t>
            </a:r>
            <a:endParaRPr lang="zh-CN" altLang="en-US" sz="1800" dirty="0">
              <a:latin typeface="黑体" panose="02010609060101010101" charset="-122"/>
              <a:ea typeface="黑体" panose="02010609060101010101" charset="-122"/>
              <a:cs typeface="黑体" panose="02010609060101010101" charset="-122"/>
            </a:endParaRPr>
          </a:p>
          <a:p>
            <a:pPr marL="0" indent="457200">
              <a:buNone/>
            </a:pPr>
            <a:r>
              <a:rPr lang="en-US" altLang="zh-CN" sz="1800" dirty="0">
                <a:latin typeface="黑体" panose="02010609060101010101" charset="-122"/>
                <a:ea typeface="黑体" panose="02010609060101010101" charset="-122"/>
                <a:cs typeface="黑体" panose="02010609060101010101" charset="-122"/>
              </a:rPr>
              <a:t>Shadow Hand</a:t>
            </a:r>
            <a:r>
              <a:rPr lang="zh-CN" altLang="en-US" sz="1800" dirty="0">
                <a:latin typeface="黑体" panose="02010609060101010101" charset="-122"/>
                <a:ea typeface="黑体" panose="02010609060101010101" charset="-122"/>
                <a:cs typeface="黑体" panose="02010609060101010101" charset="-122"/>
              </a:rPr>
              <a:t>：灵巧手界的</a:t>
            </a:r>
            <a:r>
              <a:rPr lang="en-US" altLang="zh-CN" sz="1800" dirty="0">
                <a:latin typeface="黑体" panose="02010609060101010101" charset="-122"/>
                <a:ea typeface="黑体" panose="02010609060101010101" charset="-122"/>
                <a:cs typeface="黑体" panose="02010609060101010101" charset="-122"/>
              </a:rPr>
              <a:t>“</a:t>
            </a:r>
            <a:r>
              <a:rPr lang="zh-CN" altLang="en-US" sz="1800" dirty="0">
                <a:latin typeface="黑体" panose="02010609060101010101" charset="-122"/>
                <a:ea typeface="黑体" panose="02010609060101010101" charset="-122"/>
                <a:cs typeface="黑体" panose="02010609060101010101" charset="-122"/>
              </a:rPr>
              <a:t>劳斯莱斯</a:t>
            </a:r>
            <a:r>
              <a:rPr lang="en-US" altLang="zh-CN" sz="1800" dirty="0">
                <a:latin typeface="黑体" panose="02010609060101010101" charset="-122"/>
                <a:ea typeface="黑体" panose="02010609060101010101" charset="-122"/>
                <a:cs typeface="黑体" panose="02010609060101010101" charset="-122"/>
              </a:rPr>
              <a:t>”</a:t>
            </a:r>
            <a:r>
              <a:rPr lang="zh-CN" altLang="en-US" sz="1800" dirty="0">
                <a:latin typeface="黑体" panose="02010609060101010101" charset="-122"/>
                <a:ea typeface="黑体" panose="02010609060101010101" charset="-122"/>
                <a:cs typeface="黑体" panose="02010609060101010101" charset="-122"/>
              </a:rPr>
              <a:t>。它拥有极高的自由度（通常</a:t>
            </a:r>
            <a:r>
              <a:rPr lang="en-US" altLang="zh-CN" sz="1800" dirty="0">
                <a:latin typeface="黑体" panose="02010609060101010101" charset="-122"/>
                <a:ea typeface="黑体" panose="02010609060101010101" charset="-122"/>
                <a:cs typeface="黑体" panose="02010609060101010101" charset="-122"/>
              </a:rPr>
              <a:t>20+</a:t>
            </a:r>
            <a:r>
              <a:rPr lang="zh-CN" altLang="en-US" sz="1800" dirty="0">
                <a:latin typeface="黑体" panose="02010609060101010101" charset="-122"/>
                <a:ea typeface="黑体" panose="02010609060101010101" charset="-122"/>
                <a:cs typeface="黑体" panose="02010609060101010101" charset="-122"/>
              </a:rPr>
              <a:t>），采用腱绳驱动，结构最接近人手。是学术界最常用的验证平台，很多经典论文（如</a:t>
            </a:r>
            <a:r>
              <a:rPr lang="en-US" altLang="zh-CN" sz="1800" dirty="0">
                <a:latin typeface="黑体" panose="02010609060101010101" charset="-122"/>
                <a:ea typeface="黑体" panose="02010609060101010101" charset="-122"/>
                <a:cs typeface="黑体" panose="02010609060101010101" charset="-122"/>
              </a:rPr>
              <a:t>DexNet</a:t>
            </a:r>
            <a:r>
              <a:rPr lang="zh-CN" altLang="en-US" sz="1800" dirty="0">
                <a:latin typeface="黑体" panose="02010609060101010101" charset="-122"/>
                <a:ea typeface="黑体" panose="02010609060101010101" charset="-122"/>
                <a:cs typeface="黑体" panose="02010609060101010101" charset="-122"/>
              </a:rPr>
              <a:t>的部分实验）都是基于它进行的。</a:t>
            </a:r>
            <a:endParaRPr lang="zh-CN" altLang="en-US" sz="1800" dirty="0">
              <a:latin typeface="黑体" panose="02010609060101010101" charset="-122"/>
              <a:ea typeface="黑体" panose="02010609060101010101" charset="-122"/>
              <a:cs typeface="黑体" panose="02010609060101010101" charset="-122"/>
            </a:endParaRPr>
          </a:p>
          <a:p>
            <a:pPr marL="0" indent="457200">
              <a:buNone/>
            </a:pPr>
            <a:r>
              <a:rPr lang="en-US" altLang="zh-CN" sz="1800" dirty="0">
                <a:latin typeface="黑体" panose="02010609060101010101" charset="-122"/>
                <a:ea typeface="黑体" panose="02010609060101010101" charset="-122"/>
                <a:cs typeface="黑体" panose="02010609060101010101" charset="-122"/>
              </a:rPr>
              <a:t>Barrett Hand (BH8-280)</a:t>
            </a:r>
            <a:r>
              <a:rPr lang="zh-CN" altLang="en-US" sz="1800" dirty="0">
                <a:latin typeface="黑体" panose="02010609060101010101" charset="-122"/>
                <a:ea typeface="黑体" panose="02010609060101010101" charset="-122"/>
                <a:cs typeface="黑体" panose="02010609060101010101" charset="-122"/>
              </a:rPr>
              <a:t>：经典的三指灵巧手。虽然自由度不如五指手，但结构坚固，控制相对简单。</a:t>
            </a:r>
            <a:endParaRPr lang="zh-CN" altLang="en-US" sz="1800" dirty="0">
              <a:latin typeface="黑体" panose="02010609060101010101" charset="-122"/>
              <a:ea typeface="黑体" panose="02010609060101010101" charset="-122"/>
              <a:cs typeface="黑体" panose="02010609060101010101" charset="-122"/>
            </a:endParaRPr>
          </a:p>
        </p:txBody>
      </p:sp>
      <p:grpSp>
        <p:nvGrpSpPr>
          <p:cNvPr id="175" name="组合 35"/>
          <p:cNvGrpSpPr/>
          <p:nvPr/>
        </p:nvGrpSpPr>
        <p:grpSpPr>
          <a:xfrm>
            <a:off x="0" y="161931"/>
            <a:ext cx="11940390" cy="456069"/>
            <a:chOff x="0" y="161931"/>
            <a:chExt cx="11940390" cy="456069"/>
          </a:xfrm>
        </p:grpSpPr>
        <p:grpSp>
          <p:nvGrpSpPr>
            <p:cNvPr id="176" name="组合 36"/>
            <p:cNvGrpSpPr/>
            <p:nvPr/>
          </p:nvGrpSpPr>
          <p:grpSpPr>
            <a:xfrm>
              <a:off x="0" y="202277"/>
              <a:ext cx="9666514" cy="375920"/>
              <a:chOff x="0" y="294640"/>
              <a:chExt cx="9666514" cy="375920"/>
            </a:xfrm>
          </p:grpSpPr>
          <p:grpSp>
            <p:nvGrpSpPr>
              <p:cNvPr id="177" name="组合 38"/>
              <p:cNvGrpSpPr/>
              <p:nvPr/>
            </p:nvGrpSpPr>
            <p:grpSpPr>
              <a:xfrm>
                <a:off x="0" y="294640"/>
                <a:ext cx="880552" cy="375920"/>
                <a:chOff x="0" y="294640"/>
                <a:chExt cx="1094740" cy="467360"/>
              </a:xfrm>
              <a:solidFill>
                <a:srgbClr val="EE8A10"/>
              </a:solidFill>
            </p:grpSpPr>
            <p:sp>
              <p:nvSpPr>
                <p:cNvPr id="104886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4886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4886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78" name="组合 40"/>
              <p:cNvGrpSpPr/>
              <p:nvPr/>
            </p:nvGrpSpPr>
            <p:grpSpPr>
              <a:xfrm>
                <a:off x="3356076" y="408709"/>
                <a:ext cx="1749361" cy="147782"/>
                <a:chOff x="635462" y="775854"/>
                <a:chExt cx="1749361" cy="147782"/>
              </a:xfrm>
              <a:solidFill>
                <a:srgbClr val="EE8A10"/>
              </a:solidFill>
            </p:grpSpPr>
            <p:sp>
              <p:nvSpPr>
                <p:cNvPr id="1048863" name="椭圆 42"/>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864" name="椭圆 43"/>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865" name="椭圆 44"/>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866" name="椭圆 45"/>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867" name="椭圆 46"/>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cxnSp>
            <p:nvCxnSpPr>
              <p:cNvPr id="3145741" name="直接连接符 41"/>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86" name="图片 37"/>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1048868" name="文本框 1"/>
          <p:cNvSpPr txBox="1"/>
          <p:nvPr/>
        </p:nvSpPr>
        <p:spPr>
          <a:xfrm>
            <a:off x="972489" y="156335"/>
            <a:ext cx="2702560" cy="497839"/>
          </a:xfrm>
          <a:prstGeom prst="rect">
            <a:avLst/>
          </a:prstGeom>
          <a:noFill/>
        </p:spPr>
        <p:txBody>
          <a:bodyPr wrap="square" rtlCol="0">
            <a:spAutoFit/>
          </a:bodyPr>
          <a:p>
            <a:r>
              <a:rPr lang="en-US" altLang="zh-CN" sz="2400" b="1" spc="600" dirty="0">
                <a:latin typeface="锐字工房云字库细圆GBK" panose="02010604000000000000" pitchFamily="2" charset="-122"/>
                <a:ea typeface="锐字工房云字库细圆GBK" panose="02010604000000000000" pitchFamily="2" charset="-122"/>
              </a:rPr>
              <a:t>Part five</a:t>
            </a:r>
            <a:endParaRPr lang="en-US" altLang="zh-CN" sz="2400" b="1" spc="600" dirty="0">
              <a:latin typeface="锐字工房云字库细圆GBK" panose="02010604000000000000" pitchFamily="2" charset="-122"/>
              <a:ea typeface="锐字工房云字库细圆GBK" panose="02010604000000000000" pitchFamily="2"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84" name=""/>
        <p:cNvGrpSpPr/>
        <p:nvPr/>
      </p:nvGrpSpPr>
      <p:grpSpPr>
        <a:xfrm>
          <a:off x="0" y="0"/>
          <a:ext cx="0" cy="0"/>
          <a:chOff x="0" y="0"/>
          <a:chExt cx="0" cy="0"/>
        </a:xfrm>
      </p:grpSpPr>
      <p:sp>
        <p:nvSpPr>
          <p:cNvPr id="1048879" name="矩形 7"/>
          <p:cNvSpPr/>
          <p:nvPr/>
        </p:nvSpPr>
        <p:spPr>
          <a:xfrm>
            <a:off x="0" y="1205865"/>
            <a:ext cx="12192000" cy="3091815"/>
          </a:xfrm>
          <a:prstGeom prst="rect">
            <a:avLst/>
          </a:prstGeom>
        </p:spPr>
        <p:style>
          <a:lnRef idx="0">
            <a:srgbClr val="FFFFFF"/>
          </a:lnRef>
          <a:fillRef idx="1">
            <a:schemeClr val="accent1"/>
          </a:fillRef>
          <a:effectRef idx="0">
            <a:srgbClr val="FFFFFF"/>
          </a:effectRef>
          <a:fontRef idx="minor">
            <a:schemeClr val="lt1"/>
          </a:fontRef>
        </p:style>
        <p:txBody>
          <a:bodyPr rtlCol="0" anchor="ctr"/>
          <a:p>
            <a:pPr algn="ctr"/>
            <a:endParaRPr lang="zh-CN" altLang="en-US">
              <a:latin typeface="造字工房力黑（非商用）常规体" pitchFamily="50" charset="-122"/>
              <a:ea typeface="造字工房力黑（非商用）常规体" pitchFamily="50" charset="-122"/>
              <a:cs typeface="+mn-ea"/>
              <a:sym typeface="+mn-lt"/>
            </a:endParaRPr>
          </a:p>
        </p:txBody>
      </p:sp>
      <p:pic>
        <p:nvPicPr>
          <p:cNvPr id="2097189" name="图片 9"/>
          <p:cNvPicPr>
            <a:picLocks noChangeAspect="1"/>
          </p:cNvPicPr>
          <p:nvPr/>
        </p:nvPicPr>
        <p:blipFill>
          <a:blip r:embed="rId1" cstate="print"/>
          <a:srcRect/>
          <a:stretch>
            <a:fillRect/>
          </a:stretch>
        </p:blipFill>
        <p:spPr>
          <a:xfrm>
            <a:off x="5003162" y="374347"/>
            <a:ext cx="2174882" cy="456069"/>
          </a:xfrm>
          <a:prstGeom prst="rect">
            <a:avLst/>
          </a:prstGeom>
        </p:spPr>
      </p:pic>
      <p:sp>
        <p:nvSpPr>
          <p:cNvPr id="1048880" name="文本框 10"/>
          <p:cNvSpPr txBox="1"/>
          <p:nvPr/>
        </p:nvSpPr>
        <p:spPr>
          <a:xfrm>
            <a:off x="556203" y="4858385"/>
            <a:ext cx="7197090" cy="645160"/>
          </a:xfrm>
          <a:prstGeom prst="rect">
            <a:avLst/>
          </a:prstGeom>
          <a:noFill/>
        </p:spPr>
        <p:txBody>
          <a:bodyPr wrap="square" rtlCol="0">
            <a:spAutoFit/>
          </a:bodyPr>
          <a:p>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小组成员</a:t>
            </a:r>
            <a:r>
              <a:rPr lang="en-US" altLang="zh-CN"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汇报顺序</a:t>
            </a:r>
            <a:r>
              <a:rPr lang="en-US" altLang="zh-CN"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：沈仕伟、</a:t>
            </a:r>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王玉峰、韩育霖</a:t>
            </a:r>
            <a:endPar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48881" name="文本框 11"/>
          <p:cNvSpPr txBox="1"/>
          <p:nvPr/>
        </p:nvSpPr>
        <p:spPr>
          <a:xfrm>
            <a:off x="5409565" y="6225540"/>
            <a:ext cx="1372235" cy="368300"/>
          </a:xfrm>
          <a:prstGeom prst="rect">
            <a:avLst/>
          </a:prstGeom>
          <a:noFill/>
        </p:spPr>
        <p:txBody>
          <a:bodyPr wrap="square" rtlCol="0">
            <a:spAutoFit/>
          </a:bodyPr>
          <a:p>
            <a:r>
              <a:rPr lang="en-US"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2026.4.8</a:t>
            </a:r>
            <a:endParaRPr lang="en-US"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48882" name="文本框 12"/>
          <p:cNvSpPr txBox="1"/>
          <p:nvPr/>
        </p:nvSpPr>
        <p:spPr>
          <a:xfrm>
            <a:off x="9238672" y="4858443"/>
            <a:ext cx="2397125" cy="368300"/>
          </a:xfrm>
          <a:prstGeom prst="rect">
            <a:avLst/>
          </a:prstGeom>
          <a:noFill/>
        </p:spPr>
        <p:txBody>
          <a:bodyPr wrap="square" rtlCol="0">
            <a:spAutoFit/>
          </a:bodyPr>
          <a:p>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汇报小组：第</a:t>
            </a:r>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三组</a:t>
            </a:r>
            <a:endPar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48883" name="文本框 13"/>
          <p:cNvSpPr txBox="1"/>
          <p:nvPr/>
        </p:nvSpPr>
        <p:spPr>
          <a:xfrm>
            <a:off x="2054257" y="2367051"/>
            <a:ext cx="8407413" cy="768350"/>
          </a:xfrm>
          <a:prstGeom prst="rect">
            <a:avLst/>
          </a:prstGeom>
          <a:noFill/>
        </p:spPr>
        <p:txBody>
          <a:bodyPr wrap="square" rtlCol="0">
            <a:spAutoFit/>
          </a:bodyPr>
          <a:p>
            <a:pPr algn="ctr"/>
            <a:r>
              <a:rPr lang="zh-CN" altLang="en-US" sz="4400" b="1" dirty="0">
                <a:solidFill>
                  <a:schemeClr val="bg1"/>
                </a:solidFill>
                <a:latin typeface="微软雅黑" panose="020B0503020204020204" pitchFamily="34" charset="-122"/>
                <a:ea typeface="微软雅黑" panose="020B0503020204020204" pitchFamily="34" charset="-122"/>
              </a:rPr>
              <a:t>感谢指正与</a:t>
            </a:r>
            <a:r>
              <a:rPr lang="zh-CN" altLang="en-US" sz="4400" b="1" dirty="0">
                <a:solidFill>
                  <a:schemeClr val="bg1"/>
                </a:solidFill>
                <a:latin typeface="微软雅黑" panose="020B0503020204020204" pitchFamily="34" charset="-122"/>
                <a:ea typeface="微软雅黑" panose="020B0503020204020204" pitchFamily="34" charset="-122"/>
              </a:rPr>
              <a:t>批评</a:t>
            </a:r>
            <a:endParaRPr lang="zh-CN" altLang="en-US" sz="44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tags/tag1.xml><?xml version="1.0" encoding="utf-8"?>
<p:tagLst xmlns:p="http://schemas.openxmlformats.org/presentationml/2006/main">
  <p:tag name="KSO_WM_DIAGRAM_VIRTUALLY_FRAME" val="{&quot;height&quot;:405.3244094488189,&quot;left&quot;:151.7,&quot;top&quot;:91.6255905511811,&quot;width&quot;:424.4837795275591}"/>
</p:tagLst>
</file>

<file path=ppt/tags/tag2.xml><?xml version="1.0" encoding="utf-8"?>
<p:tagLst xmlns:p="http://schemas.openxmlformats.org/presentationml/2006/main">
  <p:tag name="KSO_WM_DIAGRAM_VIRTUALLY_FRAME" val="{&quot;height&quot;:405.3244094488189,&quot;left&quot;:151.7,&quot;top&quot;:91.6255905511811,&quot;width&quot;:424.4837795275591}"/>
</p:tagLst>
</file>

<file path=ppt/tags/tag3.xml><?xml version="1.0" encoding="utf-8"?>
<p:tagLst xmlns:p="http://schemas.openxmlformats.org/presentationml/2006/main">
  <p:tag name="KSO_WM_DIAGRAM_VIRTUALLY_FRAME" val="{&quot;height&quot;:405.3244094488189,&quot;left&quot;:151.7,&quot;top&quot;:91.6255905511811,&quot;width&quot;:424.4837795275591}"/>
</p:tagLst>
</file>

<file path=ppt/tags/tag4.xml><?xml version="1.0" encoding="utf-8"?>
<p:tagLst xmlns:p="http://schemas.openxmlformats.org/presentationml/2006/main">
  <p:tag name="KSO_WM_DIAGRAM_VIRTUALLY_FRAME" val="{&quot;height&quot;:405.3244094488189,&quot;left&quot;:151.7,&quot;top&quot;:91.6255905511811,&quot;width&quot;:424.4837795275591}"/>
</p:tagLst>
</file>

<file path=ppt/tags/tag5.xml><?xml version="1.0" encoding="utf-8"?>
<p:tagLst xmlns:p="http://schemas.openxmlformats.org/presentationml/2006/main">
  <p:tag name="KSO_WM_DIAGRAM_VIRTUALLY_FRAME" val="{&quot;height&quot;:405.3244094488189,&quot;left&quot;:151.7,&quot;top&quot;:91.6255905511811,&quot;width&quot;:424.4837795275591}"/>
</p:tagLst>
</file>

<file path=ppt/tags/tag6.xml><?xml version="1.0" encoding="utf-8"?>
<p:tagLst xmlns:p="http://schemas.openxmlformats.org/presentationml/2006/main">
  <p:tag name="KSO_WM_DIAGRAM_VIRTUALLY_FRAME" val="{&quot;height&quot;:405.3244094488189,&quot;left&quot;:151.7,&quot;top&quot;:91.6255905511811,&quot;width&quot;:424.4837795275591}"/>
</p:tagLst>
</file>

<file path=ppt/tags/tag7.xml><?xml version="1.0" encoding="utf-8"?>
<p:tagLst xmlns:p="http://schemas.openxmlformats.org/presentationml/2006/main">
  <p:tag name="KSO_WM_DIAGRAM_VIRTUALLY_FRAME" val="{&quot;height&quot;:405.3244094488189,&quot;left&quot;:151.7,&quot;top&quot;:91.6255905511811,&quot;width&quot;:424.4837795275591}"/>
</p:tagLst>
</file>

<file path=ppt/tags/tag8.xml><?xml version="1.0" encoding="utf-8"?>
<p:tagLst xmlns:p="http://schemas.openxmlformats.org/presentationml/2006/main">
  <p:tag name="KSO_WM_DIAGRAM_VIRTUALLY_FRAME" val="{&quot;height&quot;:405.3244094488189,&quot;left&quot;:151.7,&quot;top&quot;:91.6255905511811,&quot;width&quot;:424.4837795275591}"/>
</p:tagLst>
</file>

<file path=ppt/tags/tag9.xml><?xml version="1.0" encoding="utf-8"?>
<p:tagLst xmlns:p="http://schemas.openxmlformats.org/presentationml/2006/main">
  <p:tag name="KSO_WM_DIAGRAM_VIRTUALLY_FRAME" val="{&quot;height&quot;:405.3244094488189,&quot;left&quot;:151.7,&quot;top&quot;:91.6255905511811,&quot;width&quot;:424.4837795275591}"/>
</p:tagLst>
</file>

<file path=ppt/tags/tag10.xml><?xml version="1.0" encoding="utf-8"?>
<p:tagLst xmlns:p="http://schemas.openxmlformats.org/presentationml/2006/main">
  <p:tag name="KSO_WM_DIAGRAM_VIRTUALLY_FRAME" val="{&quot;height&quot;:405.3244094488189,&quot;left&quot;:151.7,&quot;top&quot;:91.6255905511811,&quot;width&quot;:424.4837795275591}"/>
</p:tagLst>
</file>

<file path=ppt/tags/tag11.xml><?xml version="1.0" encoding="utf-8"?>
<p:tagLst xmlns:p="http://schemas.openxmlformats.org/presentationml/2006/main">
  <p:tag name="KSO_WM_BEAUTIFY_FLAG" val="#fgm#"/>
  <p:tag name="KSO_WM_FIGMA_FLAG" val="#fgm#"/>
  <p:tag name="KSO_WM_UNIT_INDEX" val="1"/>
  <p:tag name="KSO_WM_UNIT_TYPE" val="a"/>
  <p:tag name="KSO_WM_LAYOUT_CHECK_HASH" val="d598b3f8c2034e9bc6df32d0865f37dca86900ee"/>
  <p:tag name="KSO_WM_NEWLAYOUT_ID" val="slide_eb3a68e03bcdf3d9"/>
</p:tagLst>
</file>

<file path=ppt/tags/tag12.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3.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4.xml><?xml version="1.0" encoding="utf-8"?>
<p:tagLst xmlns:p="http://schemas.openxmlformats.org/presentationml/2006/main">
  <p:tag name="KSO_WM_BEAUTIFY_FLAG" val="#fgm#"/>
  <p:tag name="KSO_WM_FIGMA_FLAG" val="#fgm#"/>
  <p:tag name="KSO_WM_UNIT_INDEX" val="1"/>
  <p:tag name="KSO_WM_UNIT_TYPE" val="a"/>
  <p:tag name="KSO_WM_LAYOUT_CHECK_HASH" val="5539c4e0d3ce57b96189d35c9094ffaebf036924"/>
  <p:tag name="KSO_WM_NEWLAYOUT_GROUP_ID" val="layout_59"/>
  <p:tag name="KSO_WM_NEWLAYOUT_ID" val="slide_a37e02253c1e1e31"/>
  <p:tag name="KSO_WM_UNIT_PRESET_TEXT" val="单击此处添加标题"/>
</p:tagLst>
</file>

<file path=ppt/tags/tag15.xml><?xml version="1.0" encoding="utf-8"?>
<p:tagLst xmlns:p="http://schemas.openxmlformats.org/presentationml/2006/main">
  <p:tag name="KSO_WM_BEAUTIFY_FLAG" val="#fgm#"/>
  <p:tag name="KSO_WM_FIGMA_FLAG" val="#fgm#"/>
  <p:tag name="KSO_WM_UNIT_INDEX" val="1"/>
  <p:tag name="KSO_WM_UNIT_TYPE" val="a"/>
  <p:tag name="KSO_WM_LAYOUT_CHECK_HASH" val="4fe5668eb3e23ec15b849857bb8c93b10dcb72cd"/>
  <p:tag name="KSO_WM_NEWLAYOUT_GROUP_ID" val="layout_51"/>
  <p:tag name="KSO_WM_NEWLAYOUT_ID" val="slide_54fafa5e2dac5e66"/>
  <p:tag name="KSO_WM_UNIT_PRESET_TEXT" val="单击此处添加标题"/>
</p:tagLst>
</file>

<file path=ppt/tags/tag16.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17.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18.xml><?xml version="1.0" encoding="utf-8"?>
<p:tagLst xmlns:p="http://schemas.openxmlformats.org/presentationml/2006/main">
  <p:tag name="KSO_WM_BEAUTIFY_FLAG" val="#fgm#"/>
  <p:tag name="KSO_WM_FIGMA_FLAG" val="#fgm#"/>
  <p:tag name="KSO_WM_UNIT_INDEX" val="1"/>
  <p:tag name="KSO_WM_UNIT_TYPE" val="a"/>
  <p:tag name="KSO_WM_LAYOUT_CHECK_HASH" val="4fe5668eb3e23ec15b849857bb8c93b10dcb72cd"/>
  <p:tag name="KSO_WM_NEWLAYOUT_GROUP_ID" val="layout_51"/>
  <p:tag name="KSO_WM_NEWLAYOUT_ID" val="slide_54fafa5e2dac5e66"/>
  <p:tag name="KSO_WM_UNIT_PRESET_TEXT" val="单击此处添加标题"/>
</p:tagLst>
</file>

<file path=ppt/tags/tag19.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20.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21.xml><?xml version="1.0" encoding="utf-8"?>
<p:tagLst xmlns:p="http://schemas.openxmlformats.org/presentationml/2006/main">
  <p:tag name="KSO_WM_BEAUTIFY_FLAG" val="#fgm#"/>
  <p:tag name="KSO_WM_FIGMA_FLAG" val="#fgm#"/>
  <p:tag name="KSO_WM_UNIT_INDEX" val="1"/>
  <p:tag name="KSO_WM_UNIT_TYPE" val="a"/>
  <p:tag name="KSO_WM_LAYOUT_CHECK_HASH" val="4fe5668eb3e23ec15b849857bb8c93b10dcb72cd"/>
  <p:tag name="KSO_WM_NEWLAYOUT_GROUP_ID" val="layout_51"/>
  <p:tag name="KSO_WM_NEWLAYOUT_ID" val="slide_54fafa5e2dac5e66"/>
  <p:tag name="KSO_WM_UNIT_PRESET_TEXT" val="单击此处添加标题"/>
</p:tagLst>
</file>

<file path=ppt/tags/tag22.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23.xml><?xml version="1.0" encoding="utf-8"?>
<p:tagLst xmlns:p="http://schemas.openxmlformats.org/presentationml/2006/main">
  <p:tag name="KSO_WM_BEAUTIFY_FLAG" val="#fgm#"/>
  <p:tag name="KSO_WM_FIGMA_FLAG" val="#fgm#"/>
  <p:tag name="KSO_WM_UNIT_INDEX" val="1"/>
  <p:tag name="KSO_WM_UNIT_TYPE" val="a"/>
  <p:tag name="KSO_WM_LAYOUT_CHECK_HASH" val="4fe5668eb3e23ec15b849857bb8c93b10dcb72cd"/>
  <p:tag name="KSO_WM_NEWLAYOUT_GROUP_ID" val="layout_51"/>
  <p:tag name="KSO_WM_NEWLAYOUT_ID" val="slide_54fafa5e2dac5e66"/>
  <p:tag name="KSO_WM_UNIT_PRESET_TEXT" val="单击此处添加标题"/>
</p:tagLst>
</file>

<file path=ppt/tags/tag24.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25.xml><?xml version="1.0" encoding="utf-8"?>
<p:tagLst xmlns:p="http://schemas.openxmlformats.org/presentationml/2006/main">
  <p:tag name="KSO_WM_BEAUTIFY_FLAG" val="#fgm#"/>
  <p:tag name="KSO_WM_FIGMA_FLAG" val="#fgm#"/>
  <p:tag name="KSO_WM_UNIT_INDEX" val="1"/>
  <p:tag name="KSO_WM_UNIT_TYPE" val="a"/>
  <p:tag name="KSO_WM_LAYOUT_CHECK_HASH" val="4fe5668eb3e23ec15b849857bb8c93b10dcb72cd"/>
  <p:tag name="KSO_WM_NEWLAYOUT_GROUP_ID" val="layout_51"/>
  <p:tag name="KSO_WM_NEWLAYOUT_ID" val="slide_54fafa5e2dac5e66"/>
  <p:tag name="KSO_WM_UNIT_PRESET_TEXT" val="单击此处添加标题"/>
</p:tagLst>
</file>

<file path=ppt/tags/tag26.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27.xml><?xml version="1.0" encoding="utf-8"?>
<p:tagLst xmlns:p="http://schemas.openxmlformats.org/presentationml/2006/main">
  <p:tag name="KSO_WM_BEAUTIFY_FLAG" val="#fgm#"/>
  <p:tag name="KSO_WM_FIGMA_FLAG" val="#fgm#"/>
  <p:tag name="KSO_WM_UNIT_INDEX" val="1"/>
  <p:tag name="KSO_WM_UNIT_TYPE" val="a"/>
  <p:tag name="KSO_WM_LAYOUT_CHECK_HASH" val="4fe5668eb3e23ec15b849857bb8c93b10dcb72cd"/>
  <p:tag name="KSO_WM_NEWLAYOUT_GROUP_ID" val="layout_51"/>
  <p:tag name="KSO_WM_NEWLAYOUT_ID" val="slide_54fafa5e2dac5e66"/>
  <p:tag name="KSO_WM_UNIT_PRESET_TEXT" val="单击此处添加标题"/>
</p:tagLst>
</file>

<file path=ppt/tags/tag28.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29.xml><?xml version="1.0" encoding="utf-8"?>
<p:tagLst xmlns:p="http://schemas.openxmlformats.org/presentationml/2006/main">
  <p:tag name="KSO_WM_BEAUTIFY_FLAG" val="#fgm#"/>
  <p:tag name="KSO_WM_FIGMA_FLAG" val="#fgm#"/>
  <p:tag name="KSO_WM_UNIT_INDEX" val="1"/>
  <p:tag name="KSO_WM_UNIT_TYPE" val="a"/>
  <p:tag name="KSO_WM_LAYOUT_CHECK_HASH" val="4fe5668eb3e23ec15b849857bb8c93b10dcb72cd"/>
  <p:tag name="KSO_WM_NEWLAYOUT_GROUP_ID" val="layout_51"/>
  <p:tag name="KSO_WM_NEWLAYOUT_ID" val="slide_54fafa5e2dac5e66"/>
  <p:tag name="KSO_WM_UNIT_PRESET_TEXT" val="单击此处添加标题"/>
</p:tagLst>
</file>

<file path=ppt/tags/tag30.xml><?xml version="1.0" encoding="utf-8"?>
<p:tagLst xmlns:p="http://schemas.openxmlformats.org/presentationml/2006/main">
  <p:tag name="KSO_WM_BEAUTIFY_FLAG" val="#fgm#"/>
  <p:tag name="KSO_WM_FIGMA_FLAG" val="#fgm#"/>
  <p:tag name="KSO_WM_UNIT_INDEX" val="1"/>
  <p:tag name="KSO_WM_UNIT_TYPE" val="a"/>
  <p:tag name="KSO_WM_LAYOUT_CHECK_HASH" val="4fe5668eb3e23ec15b849857bb8c93b10dcb72cd"/>
  <p:tag name="KSO_WM_NEWLAYOUT_GROUP_ID" val="layout_51"/>
  <p:tag name="KSO_WM_NEWLAYOUT_ID" val="slide_54fafa5e2dac5e66"/>
  <p:tag name="KSO_WM_UNIT_PRESET_TEXT" val="单击此处添加标题"/>
</p:tagLst>
</file>

<file path=ppt/tags/tag31.xml><?xml version="1.0" encoding="utf-8"?>
<p:tagLst xmlns:p="http://schemas.openxmlformats.org/presentationml/2006/main">
  <p:tag name="KSO_WM_DIAGRAM_VIRTUALLY_FRAME" val="{&quot;height&quot;:472.85,&quot;left&quot;:1.8000787401574805,&quot;top&quot;:42.5,&quot;width&quot;:944.9999212598425}"/>
</p:tagLst>
</file>

<file path=ppt/tags/tag32.xml><?xml version="1.0" encoding="utf-8"?>
<p:tagLst xmlns:p="http://schemas.openxmlformats.org/presentationml/2006/main">
  <p:tag name="KSO_WM_DIAGRAM_VIRTUALLY_FRAME" val="{&quot;height&quot;:472.85,&quot;left&quot;:1.8000787401574805,&quot;top&quot;:42.5,&quot;width&quot;:944.9999212598425}"/>
</p:tagLst>
</file>

<file path=ppt/tags/tag33.xml><?xml version="1.0" encoding="utf-8"?>
<p:tagLst xmlns:p="http://schemas.openxmlformats.org/presentationml/2006/main">
  <p:tag name="KSO_WM_DIAGRAM_VIRTUALLY_FRAME" val="{&quot;height&quot;:472.85,&quot;left&quot;:1.8000787401574805,&quot;top&quot;:42.5,&quot;width&quot;:944.9999212598425}"/>
</p:tagLst>
</file>

<file path=ppt/tags/tag34.xml><?xml version="1.0" encoding="utf-8"?>
<p:tagLst xmlns:p="http://schemas.openxmlformats.org/presentationml/2006/main">
  <p:tag name="KSO_WM_DIAGRAM_VIRTUALLY_FRAME" val="{&quot;height&quot;:472.85,&quot;left&quot;:1.8000787401574805,&quot;top&quot;:42.5,&quot;width&quot;:944.9999212598425}"/>
</p:tagLst>
</file>

<file path=ppt/tags/tag35.xml><?xml version="1.0" encoding="utf-8"?>
<p:tagLst xmlns:p="http://schemas.openxmlformats.org/presentationml/2006/main">
  <p:tag name="KSO_WM_DIAGRAM_VIRTUALLY_FRAME" val="{&quot;height&quot;:472.85,&quot;left&quot;:1.8000787401574805,&quot;top&quot;:42.5,&quot;width&quot;:944.9999212598425}"/>
</p:tagLst>
</file>

<file path=ppt/tags/tag36.xml><?xml version="1.0" encoding="utf-8"?>
<p:tagLst xmlns:p="http://schemas.openxmlformats.org/presentationml/2006/main">
  <p:tag name="KSO_WM_DIAGRAM_VIRTUALLY_FRAME" val="{&quot;height&quot;:472.85,&quot;left&quot;:1.8000787401574805,&quot;top&quot;:42.5,&quot;width&quot;:944.9999212598425}"/>
</p:tagLst>
</file>

<file path=ppt/tags/tag37.xml><?xml version="1.0" encoding="utf-8"?>
<p:tagLst xmlns:p="http://schemas.openxmlformats.org/presentationml/2006/main">
  <p:tag name="KSO_WM_DIAGRAM_VIRTUALLY_FRAME" val="{&quot;height&quot;:472.85,&quot;left&quot;:1.8000787401574805,&quot;top&quot;:42.5,&quot;width&quot;:944.9999212598425}"/>
</p:tagLst>
</file>

<file path=ppt/tags/tag38.xml><?xml version="1.0" encoding="utf-8"?>
<p:tagLst xmlns:p="http://schemas.openxmlformats.org/presentationml/2006/main">
  <p:tag name="KSO_WM_DIAGRAM_VIRTUALLY_FRAME" val="{&quot;height&quot;:472.85,&quot;left&quot;:1.8000787401574805,&quot;top&quot;:42.5,&quot;width&quot;:944.9999212598425}"/>
</p:tagLst>
</file>

<file path=ppt/tags/tag39.xml><?xml version="1.0" encoding="utf-8"?>
<p:tagLst xmlns:p="http://schemas.openxmlformats.org/presentationml/2006/main">
  <p:tag name="KSO_WM_DIAGRAM_VIRTUALLY_FRAME" val="{&quot;height&quot;:472.85,&quot;left&quot;:1.8000787401574805,&quot;top&quot;:42.5,&quot;width&quot;:944.9999212598425}"/>
</p:tagLst>
</file>

<file path=ppt/tags/tag40.xml><?xml version="1.0" encoding="utf-8"?>
<p:tagLst xmlns:p="http://schemas.openxmlformats.org/presentationml/2006/main">
  <p:tag name="KSO_WM_DIAGRAM_VIRTUALLY_FRAME" val="{&quot;height&quot;:472.85,&quot;left&quot;:1.8000787401574805,&quot;top&quot;:42.5,&quot;width&quot;:944.9999212598425}"/>
</p:tagLst>
</file>

<file path=ppt/tags/tag41.xml><?xml version="1.0" encoding="utf-8"?>
<p:tagLst xmlns:p="http://schemas.openxmlformats.org/presentationml/2006/main">
  <p:tag name="KSO_WM_DIAGRAM_VIRTUALLY_FRAME" val="{&quot;height&quot;:472.85,&quot;left&quot;:1.8000787401574805,&quot;top&quot;:42.5,&quot;width&quot;:944.9999212598425}"/>
</p:tagLst>
</file>

<file path=ppt/tags/tag42.xml><?xml version="1.0" encoding="utf-8"?>
<p:tagLst xmlns:p="http://schemas.openxmlformats.org/presentationml/2006/main">
  <p:tag name="KSO_WM_DIAGRAM_VIRTUALLY_FRAME" val="{&quot;height&quot;:472.85,&quot;left&quot;:1.8000787401574805,&quot;top&quot;:42.5,&quot;width&quot;:944.9999212598425}"/>
</p:tagLst>
</file>

<file path=ppt/tags/tag43.xml><?xml version="1.0" encoding="utf-8"?>
<p:tagLst xmlns:p="http://schemas.openxmlformats.org/presentationml/2006/main">
  <p:tag name="KSO_WM_DIAGRAM_VIRTUALLY_FRAME" val="{&quot;height&quot;:472.85,&quot;left&quot;:1.8000787401574805,&quot;top&quot;:42.5,&quot;width&quot;:944.9999212598425}"/>
</p:tagLst>
</file>

<file path=ppt/tags/tag44.xml><?xml version="1.0" encoding="utf-8"?>
<p:tagLst xmlns:p="http://schemas.openxmlformats.org/presentationml/2006/main">
  <p:tag name="KSO_WM_DIAGRAM_VIRTUALLY_FRAME" val="{&quot;height&quot;:472.85,&quot;left&quot;:1.8000787401574805,&quot;top&quot;:42.5,&quot;width&quot;:944.9999212598425}"/>
</p:tagLst>
</file>

<file path=ppt/tags/tag45.xml><?xml version="1.0" encoding="utf-8"?>
<p:tagLst xmlns:p="http://schemas.openxmlformats.org/presentationml/2006/main">
  <p:tag name="KSO_WM_DIAGRAM_VIRTUALLY_FRAME" val="{&quot;height&quot;:472.85,&quot;left&quot;:1.8000787401574805,&quot;top&quot;:42.5,&quot;width&quot;:944.9999212598425}"/>
</p:tagLst>
</file>

<file path=ppt/tags/tag46.xml><?xml version="1.0" encoding="utf-8"?>
<p:tagLst xmlns:p="http://schemas.openxmlformats.org/presentationml/2006/main">
  <p:tag name="KSO_WM_DIAGRAM_VIRTUALLY_FRAME" val="{&quot;height&quot;:472.85,&quot;left&quot;:1.8000787401574805,&quot;top&quot;:42.5,&quot;width&quot;:944.9999212598425}"/>
</p:tagLst>
</file>

<file path=ppt/tags/tag47.xml><?xml version="1.0" encoding="utf-8"?>
<p:tagLst xmlns:p="http://schemas.openxmlformats.org/presentationml/2006/main">
  <p:tag name="KSO_WM_DIAGRAM_VIRTUALLY_FRAME" val="{&quot;height&quot;:472.85,&quot;left&quot;:1.8000787401574805,&quot;top&quot;:42.5,&quot;width&quot;:944.9999212598425}"/>
</p:tagLst>
</file>

<file path=ppt/tags/tag48.xml><?xml version="1.0" encoding="utf-8"?>
<p:tagLst xmlns:p="http://schemas.openxmlformats.org/presentationml/2006/main">
  <p:tag name="KSO_WM_DIAGRAM_VIRTUALLY_FRAME" val="{&quot;height&quot;:472.85,&quot;left&quot;:1.8000787401574805,&quot;top&quot;:42.5,&quot;width&quot;:944.9999212598425}"/>
</p:tagLst>
</file>

<file path=ppt/tags/tag49.xml><?xml version="1.0" encoding="utf-8"?>
<p:tagLst xmlns:p="http://schemas.openxmlformats.org/presentationml/2006/main">
  <p:tag name="KSO_WM_DIAGRAM_VIRTUALLY_FRAME" val="{&quot;height&quot;:472.85,&quot;left&quot;:1.8000787401574805,&quot;top&quot;:42.5,&quot;width&quot;:944.9999212598425}"/>
</p:tagLst>
</file>

<file path=ppt/tags/tag50.xml><?xml version="1.0" encoding="utf-8"?>
<p:tagLst xmlns:p="http://schemas.openxmlformats.org/presentationml/2006/main">
  <p:tag name="KSO_WM_DIAGRAM_VIRTUALLY_FRAME" val="{&quot;height&quot;:472.85,&quot;left&quot;:15.35,&quot;top&quot;:42.5,&quot;width&quot;:931.45}"/>
</p:tagLst>
</file>

<file path=ppt/tags/tag51.xml><?xml version="1.0" encoding="utf-8"?>
<p:tagLst xmlns:p="http://schemas.openxmlformats.org/presentationml/2006/main">
  <p:tag name="KSO_WM_DIAGRAM_VIRTUALLY_FRAME" val="{&quot;height&quot;:472.85,&quot;left&quot;:1.8000787401574805,&quot;top&quot;:42.5,&quot;width&quot;:944.9999212598425}"/>
</p:tagLst>
</file>

<file path=ppt/tags/tag52.xml><?xml version="1.0" encoding="utf-8"?>
<p:tagLst xmlns:p="http://schemas.openxmlformats.org/presentationml/2006/main">
  <p:tag name="KSO_WM_DIAGRAM_VIRTUALLY_FRAME" val="{&quot;height&quot;:472.85,&quot;left&quot;:1.8000787401574805,&quot;top&quot;:42.5,&quot;width&quot;:944.9999212598425}"/>
</p:tagLst>
</file>

<file path=ppt/tags/tag53.xml><?xml version="1.0" encoding="utf-8"?>
<p:tagLst xmlns:p="http://schemas.openxmlformats.org/presentationml/2006/main">
  <p:tag name="KSO_WM_DIAGRAM_VIRTUALLY_FRAME" val="{&quot;height&quot;:472.85,&quot;left&quot;:15.35,&quot;top&quot;:42.5,&quot;width&quot;:931.45}"/>
</p:tagLst>
</file>

<file path=ppt/tags/tag54.xml><?xml version="1.0" encoding="utf-8"?>
<p:tagLst xmlns:p="http://schemas.openxmlformats.org/presentationml/2006/main">
  <p:tag name="KSO_WM_DIAGRAM_VIRTUALLY_FRAME" val="{&quot;height&quot;:472.85,&quot;left&quot;:15.35,&quot;top&quot;:42.5,&quot;width&quot;:931.45}"/>
</p:tagLst>
</file>

<file path=ppt/theme/theme1.xml><?xml version="1.0" encoding="utf-8"?>
<a:theme xmlns:a="http://schemas.openxmlformats.org/drawingml/2006/main" name="Office 主题​​">
  <a:themeElements>
    <a:clrScheme name="Office">
      <a:dk1>
        <a:srgbClr val="000000"/>
      </a:dk1>
      <a:lt1>
        <a:srgbClr val="FFFFFF"/>
      </a:lt1>
      <a:dk2>
        <a:srgbClr val="768395"/>
      </a:dk2>
      <a:lt2>
        <a:srgbClr val="F0F0F0"/>
      </a:lt2>
      <a:accent1>
        <a:srgbClr val="1F5F8A"/>
      </a:accent1>
      <a:accent2>
        <a:srgbClr val="2980B9"/>
      </a:accent2>
      <a:accent3>
        <a:srgbClr val="4098D4"/>
      </a:accent3>
      <a:accent4>
        <a:srgbClr val="7AB7E0"/>
      </a:accent4>
      <a:accent5>
        <a:srgbClr val="9FCBE9"/>
      </a:accent5>
      <a:accent6>
        <a:srgbClr val="C6E0F2"/>
      </a:accent6>
      <a:hlink>
        <a:srgbClr val="1F5F8A"/>
      </a:hlink>
      <a:folHlink>
        <a:srgbClr val="BFBFBF"/>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rgbClr val="000000"/>
    </a:dk1>
    <a:lt1>
      <a:srgbClr val="FFFFFF"/>
    </a:lt1>
    <a:dk2>
      <a:srgbClr val="768395"/>
    </a:dk2>
    <a:lt2>
      <a:srgbClr val="F0F0F0"/>
    </a:lt2>
    <a:accent1>
      <a:srgbClr val="1F5F8A"/>
    </a:accent1>
    <a:accent2>
      <a:srgbClr val="2980B9"/>
    </a:accent2>
    <a:accent3>
      <a:srgbClr val="4098D4"/>
    </a:accent3>
    <a:accent4>
      <a:srgbClr val="7AB7E0"/>
    </a:accent4>
    <a:accent5>
      <a:srgbClr val="9FCBE9"/>
    </a:accent5>
    <a:accent6>
      <a:srgbClr val="C6E0F2"/>
    </a:accent6>
    <a:hlink>
      <a:srgbClr val="1F5F8A"/>
    </a:hlink>
    <a:folHlink>
      <a:srgbClr val="BFBFBF"/>
    </a:folHlink>
  </a:clrScheme>
</a:themeOverride>
</file>

<file path=ppt/theme/themeOverride2.xml><?xml version="1.0" encoding="utf-8"?>
<a:themeOverride xmlns:a="http://schemas.openxmlformats.org/drawingml/2006/main">
  <a:clrScheme name="Office">
    <a:dk1>
      <a:srgbClr val="000000"/>
    </a:dk1>
    <a:lt1>
      <a:srgbClr val="FFFFFF"/>
    </a:lt1>
    <a:dk2>
      <a:srgbClr val="768395"/>
    </a:dk2>
    <a:lt2>
      <a:srgbClr val="F0F0F0"/>
    </a:lt2>
    <a:accent1>
      <a:srgbClr val="1F5F8A"/>
    </a:accent1>
    <a:accent2>
      <a:srgbClr val="2980B9"/>
    </a:accent2>
    <a:accent3>
      <a:srgbClr val="4098D4"/>
    </a:accent3>
    <a:accent4>
      <a:srgbClr val="7AB7E0"/>
    </a:accent4>
    <a:accent5>
      <a:srgbClr val="9FCBE9"/>
    </a:accent5>
    <a:accent6>
      <a:srgbClr val="C6E0F2"/>
    </a:accent6>
    <a:hlink>
      <a:srgbClr val="1F5F8A"/>
    </a:hlink>
    <a:folHlink>
      <a:srgbClr val="BFBFBF"/>
    </a:folHlink>
  </a:clrScheme>
</a:themeOverride>
</file>

<file path=ppt/theme/themeOverride3.xml><?xml version="1.0" encoding="utf-8"?>
<a:themeOverride xmlns:a="http://schemas.openxmlformats.org/drawingml/2006/main">
  <a:clrScheme name="Office">
    <a:dk1>
      <a:srgbClr val="000000"/>
    </a:dk1>
    <a:lt1>
      <a:srgbClr val="FFFFFF"/>
    </a:lt1>
    <a:dk2>
      <a:srgbClr val="768395"/>
    </a:dk2>
    <a:lt2>
      <a:srgbClr val="F0F0F0"/>
    </a:lt2>
    <a:accent1>
      <a:srgbClr val="1F5F8A"/>
    </a:accent1>
    <a:accent2>
      <a:srgbClr val="2980B9"/>
    </a:accent2>
    <a:accent3>
      <a:srgbClr val="4098D4"/>
    </a:accent3>
    <a:accent4>
      <a:srgbClr val="7AB7E0"/>
    </a:accent4>
    <a:accent5>
      <a:srgbClr val="9FCBE9"/>
    </a:accent5>
    <a:accent6>
      <a:srgbClr val="C6E0F2"/>
    </a:accent6>
    <a:hlink>
      <a:srgbClr val="1F5F8A"/>
    </a:hlink>
    <a:folHlink>
      <a:srgbClr val="BFBFBF"/>
    </a:folHlink>
  </a:clrScheme>
</a:themeOverride>
</file>

<file path=ppt/theme/themeOverride4.xml><?xml version="1.0" encoding="utf-8"?>
<a:themeOverride xmlns:a="http://schemas.openxmlformats.org/drawingml/2006/main">
  <a:clrScheme name="Office">
    <a:dk1>
      <a:srgbClr val="000000"/>
    </a:dk1>
    <a:lt1>
      <a:srgbClr val="FFFFFF"/>
    </a:lt1>
    <a:dk2>
      <a:srgbClr val="768395"/>
    </a:dk2>
    <a:lt2>
      <a:srgbClr val="F0F0F0"/>
    </a:lt2>
    <a:accent1>
      <a:srgbClr val="1F5F8A"/>
    </a:accent1>
    <a:accent2>
      <a:srgbClr val="2980B9"/>
    </a:accent2>
    <a:accent3>
      <a:srgbClr val="4098D4"/>
    </a:accent3>
    <a:accent4>
      <a:srgbClr val="7AB7E0"/>
    </a:accent4>
    <a:accent5>
      <a:srgbClr val="9FCBE9"/>
    </a:accent5>
    <a:accent6>
      <a:srgbClr val="C6E0F2"/>
    </a:accent6>
    <a:hlink>
      <a:srgbClr val="1F5F8A"/>
    </a:hlink>
    <a:folHlink>
      <a:srgbClr val="BFBFBF"/>
    </a:folHlink>
  </a:clrScheme>
</a:themeOverride>
</file>

<file path=ppt/theme/themeOverride5.xml><?xml version="1.0" encoding="utf-8"?>
<a:themeOverride xmlns:a="http://schemas.openxmlformats.org/drawingml/2006/main">
  <a:clrScheme name="Office">
    <a:dk1>
      <a:srgbClr val="000000"/>
    </a:dk1>
    <a:lt1>
      <a:srgbClr val="FFFFFF"/>
    </a:lt1>
    <a:dk2>
      <a:srgbClr val="768395"/>
    </a:dk2>
    <a:lt2>
      <a:srgbClr val="F0F0F0"/>
    </a:lt2>
    <a:accent1>
      <a:srgbClr val="1F5F8A"/>
    </a:accent1>
    <a:accent2>
      <a:srgbClr val="2980B9"/>
    </a:accent2>
    <a:accent3>
      <a:srgbClr val="4098D4"/>
    </a:accent3>
    <a:accent4>
      <a:srgbClr val="7AB7E0"/>
    </a:accent4>
    <a:accent5>
      <a:srgbClr val="9FCBE9"/>
    </a:accent5>
    <a:accent6>
      <a:srgbClr val="C6E0F2"/>
    </a:accent6>
    <a:hlink>
      <a:srgbClr val="1F5F8A"/>
    </a:hlink>
    <a:folHlink>
      <a:srgbClr val="BFBFBF"/>
    </a:folHlink>
  </a:clrScheme>
</a:themeOverride>
</file>

<file path=ppt/theme/themeOverride6.xml><?xml version="1.0" encoding="utf-8"?>
<a:themeOverride xmlns:a="http://schemas.openxmlformats.org/drawingml/2006/main">
  <a:clrScheme name="Office">
    <a:dk1>
      <a:srgbClr val="000000"/>
    </a:dk1>
    <a:lt1>
      <a:srgbClr val="FFFFFF"/>
    </a:lt1>
    <a:dk2>
      <a:srgbClr val="768395"/>
    </a:dk2>
    <a:lt2>
      <a:srgbClr val="F0F0F0"/>
    </a:lt2>
    <a:accent1>
      <a:srgbClr val="1F5F8A"/>
    </a:accent1>
    <a:accent2>
      <a:srgbClr val="2980B9"/>
    </a:accent2>
    <a:accent3>
      <a:srgbClr val="4098D4"/>
    </a:accent3>
    <a:accent4>
      <a:srgbClr val="7AB7E0"/>
    </a:accent4>
    <a:accent5>
      <a:srgbClr val="9FCBE9"/>
    </a:accent5>
    <a:accent6>
      <a:srgbClr val="C6E0F2"/>
    </a:accent6>
    <a:hlink>
      <a:srgbClr val="1F5F8A"/>
    </a:hlink>
    <a:folHlink>
      <a:srgbClr val="BFBFBF"/>
    </a:folHlink>
  </a:clrScheme>
</a:themeOverride>
</file>

<file path=docProps/app.xml><?xml version="1.0" encoding="utf-8"?>
<Properties xmlns="http://schemas.openxmlformats.org/officeDocument/2006/extended-properties" xmlns:vt="http://schemas.openxmlformats.org/officeDocument/2006/docPropsVTypes">
  <TotalTime>0</TotalTime>
  <Words>10623</Words>
  <Application>WPS 演示</Application>
  <PresentationFormat/>
  <Paragraphs>470</Paragraphs>
  <Slides>43</Slides>
  <Notes>0</Notes>
  <HiddenSlides>0</HiddenSlides>
  <MMClips>0</MMClips>
  <ScaleCrop>false</ScaleCrop>
  <HeadingPairs>
    <vt:vector size="6" baseType="variant">
      <vt:variant>
        <vt:lpstr>已用的字体</vt:lpstr>
      </vt:variant>
      <vt:variant>
        <vt:i4>21</vt:i4>
      </vt:variant>
      <vt:variant>
        <vt:lpstr>主题</vt:lpstr>
      </vt:variant>
      <vt:variant>
        <vt:i4>1</vt:i4>
      </vt:variant>
      <vt:variant>
        <vt:lpstr>幻灯片标题</vt:lpstr>
      </vt:variant>
      <vt:variant>
        <vt:i4>43</vt:i4>
      </vt:variant>
    </vt:vector>
  </HeadingPairs>
  <TitlesOfParts>
    <vt:vector size="65" baseType="lpstr">
      <vt:lpstr>Arial</vt:lpstr>
      <vt:lpstr>宋体</vt:lpstr>
      <vt:lpstr>Wingdings</vt:lpstr>
      <vt:lpstr>微软雅黑</vt:lpstr>
      <vt:lpstr>造字工房力黑（非商用）常规体</vt:lpstr>
      <vt:lpstr>Times New Roman</vt:lpstr>
      <vt:lpstr>Agency FB</vt:lpstr>
      <vt:lpstr>微软雅黑 Light</vt:lpstr>
      <vt:lpstr>黑体</vt:lpstr>
      <vt:lpstr>锐字工房云字库细圆GBK</vt:lpstr>
      <vt:lpstr>MiSans Demibold</vt:lpstr>
      <vt:lpstr>MiSans Medium</vt:lpstr>
      <vt:lpstr>MiSans Normal</vt:lpstr>
      <vt:lpstr>Wingdings</vt:lpstr>
      <vt:lpstr>等线</vt:lpstr>
      <vt:lpstr>Arial Unicode MS</vt:lpstr>
      <vt:lpstr>Cambria Math</vt:lpstr>
      <vt:lpstr>等线 Light</vt:lpstr>
      <vt:lpstr>Calibri</vt:lpstr>
      <vt:lpstr>造字工房力黑（非商用）常规体</vt:lpstr>
      <vt:lpstr>造字工房体 常规体</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23113RKC6C</dc:creator>
  <cp:lastModifiedBy>Principle</cp:lastModifiedBy>
  <cp:revision>9</cp:revision>
  <dcterms:created xsi:type="dcterms:W3CDTF">2026-04-07T04:20:00Z</dcterms:created>
  <dcterms:modified xsi:type="dcterms:W3CDTF">2026-04-08T05:27:31Z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DDAE2939333946FDBA7FACFBF7DD5F47_13</vt:lpwstr>
  </property>
  <property fmtid="{D5CDD505-2E9C-101B-9397-08002B2CF9AE}" pid="3" name="KSOProductBuildVer">
    <vt:lpwstr>2052-12.1.0.25225</vt:lpwstr>
  </property>
</Properties>
</file>